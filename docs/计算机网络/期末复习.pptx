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notesSlides/notesSlide2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ink/ink11.xml" ContentType="application/inkml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3"/>
  </p:notesMasterIdLst>
  <p:sldIdLst>
    <p:sldId id="1657" r:id="rId2"/>
    <p:sldId id="257" r:id="rId3"/>
    <p:sldId id="590" r:id="rId4"/>
    <p:sldId id="396" r:id="rId5"/>
    <p:sldId id="369" r:id="rId6"/>
    <p:sldId id="637" r:id="rId7"/>
    <p:sldId id="565" r:id="rId8"/>
    <p:sldId id="566" r:id="rId9"/>
    <p:sldId id="643" r:id="rId10"/>
    <p:sldId id="642" r:id="rId11"/>
    <p:sldId id="258" r:id="rId12"/>
    <p:sldId id="1648" r:id="rId13"/>
    <p:sldId id="1545" r:id="rId14"/>
    <p:sldId id="1651" r:id="rId15"/>
    <p:sldId id="346" r:id="rId16"/>
    <p:sldId id="265" r:id="rId17"/>
    <p:sldId id="264" r:id="rId18"/>
    <p:sldId id="348" r:id="rId19"/>
    <p:sldId id="349" r:id="rId20"/>
    <p:sldId id="353" r:id="rId21"/>
    <p:sldId id="354" r:id="rId22"/>
    <p:sldId id="1578" r:id="rId23"/>
    <p:sldId id="1577" r:id="rId24"/>
    <p:sldId id="276" r:id="rId25"/>
    <p:sldId id="361" r:id="rId26"/>
    <p:sldId id="362" r:id="rId27"/>
    <p:sldId id="615" r:id="rId28"/>
    <p:sldId id="618" r:id="rId29"/>
    <p:sldId id="622" r:id="rId30"/>
    <p:sldId id="623" r:id="rId31"/>
    <p:sldId id="640" r:id="rId32"/>
    <p:sldId id="641" r:id="rId33"/>
    <p:sldId id="644" r:id="rId34"/>
    <p:sldId id="645" r:id="rId35"/>
    <p:sldId id="668" r:id="rId36"/>
    <p:sldId id="672" r:id="rId37"/>
    <p:sldId id="674" r:id="rId38"/>
    <p:sldId id="679" r:id="rId39"/>
    <p:sldId id="684" r:id="rId40"/>
    <p:sldId id="685" r:id="rId41"/>
    <p:sldId id="687" r:id="rId42"/>
    <p:sldId id="688" r:id="rId43"/>
    <p:sldId id="493" r:id="rId44"/>
    <p:sldId id="494" r:id="rId45"/>
    <p:sldId id="691" r:id="rId46"/>
    <p:sldId id="495" r:id="rId47"/>
    <p:sldId id="693" r:id="rId48"/>
    <p:sldId id="694" r:id="rId49"/>
    <p:sldId id="1658" r:id="rId50"/>
    <p:sldId id="1659" r:id="rId51"/>
    <p:sldId id="706" r:id="rId52"/>
    <p:sldId id="707" r:id="rId53"/>
    <p:sldId id="708" r:id="rId54"/>
    <p:sldId id="720" r:id="rId55"/>
    <p:sldId id="721" r:id="rId56"/>
    <p:sldId id="722" r:id="rId57"/>
    <p:sldId id="725" r:id="rId58"/>
    <p:sldId id="733" r:id="rId59"/>
    <p:sldId id="734" r:id="rId60"/>
    <p:sldId id="1660" r:id="rId61"/>
    <p:sldId id="1649" r:id="rId62"/>
    <p:sldId id="260" r:id="rId63"/>
    <p:sldId id="267" r:id="rId64"/>
    <p:sldId id="1645" r:id="rId65"/>
    <p:sldId id="1635" r:id="rId66"/>
    <p:sldId id="1637" r:id="rId67"/>
    <p:sldId id="306" r:id="rId68"/>
    <p:sldId id="309" r:id="rId69"/>
    <p:sldId id="658" r:id="rId70"/>
    <p:sldId id="316" r:id="rId71"/>
    <p:sldId id="662" r:id="rId72"/>
    <p:sldId id="701" r:id="rId73"/>
    <p:sldId id="703" r:id="rId74"/>
    <p:sldId id="704" r:id="rId75"/>
    <p:sldId id="1646" r:id="rId76"/>
    <p:sldId id="341" r:id="rId77"/>
    <p:sldId id="729" r:id="rId78"/>
    <p:sldId id="730" r:id="rId79"/>
    <p:sldId id="731" r:id="rId80"/>
    <p:sldId id="732" r:id="rId81"/>
    <p:sldId id="736" r:id="rId82"/>
    <p:sldId id="737" r:id="rId83"/>
    <p:sldId id="738" r:id="rId84"/>
    <p:sldId id="740" r:id="rId85"/>
    <p:sldId id="426" r:id="rId86"/>
    <p:sldId id="429" r:id="rId87"/>
    <p:sldId id="435" r:id="rId88"/>
    <p:sldId id="1654" r:id="rId89"/>
    <p:sldId id="459" r:id="rId90"/>
    <p:sldId id="460" r:id="rId91"/>
    <p:sldId id="758" r:id="rId92"/>
    <p:sldId id="756" r:id="rId93"/>
    <p:sldId id="476" r:id="rId94"/>
    <p:sldId id="781" r:id="rId95"/>
    <p:sldId id="782" r:id="rId96"/>
    <p:sldId id="259" r:id="rId97"/>
    <p:sldId id="261" r:id="rId98"/>
    <p:sldId id="1639" r:id="rId99"/>
    <p:sldId id="1640" r:id="rId100"/>
    <p:sldId id="1641" r:id="rId101"/>
    <p:sldId id="269" r:id="rId102"/>
    <p:sldId id="273" r:id="rId103"/>
    <p:sldId id="278" r:id="rId104"/>
    <p:sldId id="478" r:id="rId105"/>
    <p:sldId id="280" r:id="rId106"/>
    <p:sldId id="473" r:id="rId107"/>
    <p:sldId id="286" r:id="rId108"/>
    <p:sldId id="482" r:id="rId109"/>
    <p:sldId id="299" r:id="rId110"/>
    <p:sldId id="298" r:id="rId111"/>
    <p:sldId id="505" r:id="rId112"/>
    <p:sldId id="504" r:id="rId113"/>
    <p:sldId id="509" r:id="rId114"/>
    <p:sldId id="513" r:id="rId115"/>
    <p:sldId id="320" r:id="rId116"/>
    <p:sldId id="522" r:id="rId117"/>
    <p:sldId id="325" r:id="rId118"/>
    <p:sldId id="523" r:id="rId119"/>
    <p:sldId id="1655" r:id="rId120"/>
    <p:sldId id="347" r:id="rId121"/>
    <p:sldId id="546" r:id="rId122"/>
    <p:sldId id="374" r:id="rId123"/>
    <p:sldId id="571" r:id="rId124"/>
    <p:sldId id="376" r:id="rId125"/>
    <p:sldId id="377" r:id="rId126"/>
    <p:sldId id="378" r:id="rId127"/>
    <p:sldId id="583" r:id="rId128"/>
    <p:sldId id="592" r:id="rId129"/>
    <p:sldId id="727" r:id="rId130"/>
    <p:sldId id="398" r:id="rId131"/>
    <p:sldId id="399" r:id="rId132"/>
    <p:sldId id="552" r:id="rId133"/>
    <p:sldId id="424" r:id="rId134"/>
    <p:sldId id="425" r:id="rId135"/>
    <p:sldId id="1656" r:id="rId136"/>
    <p:sldId id="439" r:id="rId137"/>
    <p:sldId id="451" r:id="rId138"/>
    <p:sldId id="457" r:id="rId139"/>
    <p:sldId id="1642" r:id="rId140"/>
    <p:sldId id="1661" r:id="rId141"/>
    <p:sldId id="1662" r:id="rId1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4197" autoAdjust="0"/>
  </p:normalViewPr>
  <p:slideViewPr>
    <p:cSldViewPr snapToGrid="0">
      <p:cViewPr varScale="1">
        <p:scale>
          <a:sx n="65" d="100"/>
          <a:sy n="65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AC7329-3741-4C0E-A67D-ED7BCFA4EB35}" type="doc">
      <dgm:prSet loTypeId="urn:microsoft.com/office/officeart/2005/8/layout/lProcess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C3415912-6BFA-43BA-B0BE-472A84C43443}">
      <dgm:prSet phldrT="[文本]" custT="1"/>
      <dgm:spPr>
        <a:solidFill>
          <a:srgbClr val="33CCFF"/>
        </a:solidFill>
      </dgm:spPr>
      <dgm:t>
        <a:bodyPr/>
        <a:lstStyle/>
        <a:p>
          <a:r>
            <a:rPr lang="zh-CN" altLang="en-US" sz="16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提供不可靠的交付服务</a:t>
          </a:r>
        </a:p>
      </dgm:t>
    </dgm:pt>
    <dgm:pt modelId="{26D7D0C8-7A9E-4BDC-A8E7-283557320225}" type="parTrans" cxnId="{949ECB46-AD1B-406F-818E-5DD7F5F78998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7FB8C0-759E-4CAC-B09E-84355EA0FAA4}" type="sibTrans" cxnId="{949ECB46-AD1B-406F-818E-5DD7F5F78998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C67F560-D67B-48BB-827D-06E36A44522A}">
      <dgm:prSet phldrT="[文本]"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尽最大努力的交付。</a:t>
          </a:r>
        </a:p>
      </dgm:t>
    </dgm:pt>
    <dgm:pt modelId="{2A16A0A4-8D09-4ECB-A864-FEDD60939668}" type="parTrans" cxnId="{9054E268-1B08-40B7-AEE4-DB6D9104DD40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FCA8E6-EB9F-4F72-8BA3-6056C684A9E4}" type="sibTrans" cxnId="{9054E268-1B08-40B7-AEE4-DB6D9104DD40}">
      <dgm:prSet/>
      <dgm:spPr/>
      <dgm:t>
        <a:bodyPr/>
        <a:lstStyle/>
        <a:p>
          <a:pPr algn="l"/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7E0DEF-8E31-46A1-8BBF-59B1595A8275}">
      <dgm:prSet phldrT="[文本]" custT="1"/>
      <dgm:spPr>
        <a:solidFill>
          <a:srgbClr val="33CCFF"/>
        </a:solidFill>
      </dgm:spPr>
      <dgm:t>
        <a:bodyPr/>
        <a:lstStyle/>
        <a:p>
          <a:pPr algn="ctr"/>
          <a:r>
            <a:rPr lang="zh-CN" altLang="en-US" sz="16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同一时间只能允许一台计算机发送</a:t>
          </a:r>
        </a:p>
      </dgm:t>
    </dgm:pt>
    <dgm:pt modelId="{C2A1B27B-E137-4975-922B-C6D522DA155A}" type="parTrans" cxnId="{B869C928-3616-4986-A87F-F816AB638D6F}">
      <dgm:prSet/>
      <dgm:spPr/>
      <dgm:t>
        <a:bodyPr/>
        <a:lstStyle/>
        <a:p>
          <a:pPr algn="l"/>
          <a:endParaRPr lang="zh-CN" altLang="en-US"/>
        </a:p>
      </dgm:t>
    </dgm:pt>
    <dgm:pt modelId="{6766F69F-049F-4D92-BA7F-91106E33B26A}" type="sibTrans" cxnId="{B869C928-3616-4986-A87F-F816AB638D6F}">
      <dgm:prSet/>
      <dgm:spPr/>
      <dgm:t>
        <a:bodyPr/>
        <a:lstStyle/>
        <a:p>
          <a:pPr algn="l"/>
          <a:endParaRPr lang="zh-CN" altLang="en-US"/>
        </a:p>
      </dgm:t>
    </dgm:pt>
    <dgm:pt modelId="{D52BF3F9-9ABA-4241-AC77-8DC56655DE25}">
      <dgm:prSet phldrT="[文本]"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以太网采用最简单的随机接入。</a:t>
          </a:r>
        </a:p>
      </dgm:t>
    </dgm:pt>
    <dgm:pt modelId="{44393429-9FEA-41FC-9460-EE4061EC3C8F}" type="parTrans" cxnId="{1141F3DF-C711-4D48-9CE7-A488451BDA01}">
      <dgm:prSet/>
      <dgm:spPr/>
      <dgm:t>
        <a:bodyPr/>
        <a:lstStyle/>
        <a:p>
          <a:endParaRPr lang="zh-CN" altLang="en-US"/>
        </a:p>
      </dgm:t>
    </dgm:pt>
    <dgm:pt modelId="{F5368824-92C1-4D9E-AB74-3319C6317F2D}" type="sibTrans" cxnId="{1141F3DF-C711-4D48-9CE7-A488451BDA01}">
      <dgm:prSet/>
      <dgm:spPr/>
      <dgm:t>
        <a:bodyPr/>
        <a:lstStyle/>
        <a:p>
          <a:endParaRPr lang="zh-CN" altLang="en-US"/>
        </a:p>
      </dgm:t>
    </dgm:pt>
    <dgm:pt modelId="{47F9F22B-E4CE-49CC-8AD5-F7DDB9797057}">
      <dgm:prSet custT="1"/>
      <dgm:spPr/>
      <dgm:t>
        <a:bodyPr/>
        <a:lstStyle/>
        <a:p>
          <a:pPr algn="l"/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r>
            <a:rPr lang="en-US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CSMA/CD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协议减少冲突</a:t>
          </a:r>
        </a:p>
      </dgm:t>
    </dgm:pt>
    <dgm:pt modelId="{18B6DC75-4E1D-422C-BE2D-E83930CC0AF5}" type="parTrans" cxnId="{70F06C26-AD3B-4C0A-8AAF-108DC156DB05}">
      <dgm:prSet/>
      <dgm:spPr/>
      <dgm:t>
        <a:bodyPr/>
        <a:lstStyle/>
        <a:p>
          <a:endParaRPr lang="zh-CN" altLang="en-US"/>
        </a:p>
      </dgm:t>
    </dgm:pt>
    <dgm:pt modelId="{EDB25EB7-5941-4B33-9159-A506803AC255}" type="sibTrans" cxnId="{70F06C26-AD3B-4C0A-8AAF-108DC156DB05}">
      <dgm:prSet/>
      <dgm:spPr/>
      <dgm:t>
        <a:bodyPr/>
        <a:lstStyle/>
        <a:p>
          <a:endParaRPr lang="zh-CN" altLang="en-US"/>
        </a:p>
      </dgm:t>
    </dgm:pt>
    <dgm:pt modelId="{8F53F22D-2D58-4C71-BDAA-873CB882D5F3}" type="pres">
      <dgm:prSet presAssocID="{CFAC7329-3741-4C0E-A67D-ED7BCFA4EB35}" presName="theList" presStyleCnt="0">
        <dgm:presLayoutVars>
          <dgm:dir/>
          <dgm:animLvl val="lvl"/>
          <dgm:resizeHandles val="exact"/>
        </dgm:presLayoutVars>
      </dgm:prSet>
      <dgm:spPr/>
    </dgm:pt>
    <dgm:pt modelId="{C065151E-AC7B-4C64-A608-21968640FB41}" type="pres">
      <dgm:prSet presAssocID="{C3415912-6BFA-43BA-B0BE-472A84C43443}" presName="compNode" presStyleCnt="0"/>
      <dgm:spPr/>
    </dgm:pt>
    <dgm:pt modelId="{5CCE0585-D949-4566-BF76-D02D180BBC12}" type="pres">
      <dgm:prSet presAssocID="{C3415912-6BFA-43BA-B0BE-472A84C43443}" presName="aNode" presStyleLbl="bgShp" presStyleIdx="0" presStyleCnt="2"/>
      <dgm:spPr/>
    </dgm:pt>
    <dgm:pt modelId="{F75CC956-7E04-492A-912D-FC34FFB91C97}" type="pres">
      <dgm:prSet presAssocID="{C3415912-6BFA-43BA-B0BE-472A84C43443}" presName="textNode" presStyleLbl="bgShp" presStyleIdx="0" presStyleCnt="2"/>
      <dgm:spPr/>
    </dgm:pt>
    <dgm:pt modelId="{0416AFC6-B581-462D-8DDE-C303F0CC9F6F}" type="pres">
      <dgm:prSet presAssocID="{C3415912-6BFA-43BA-B0BE-472A84C43443}" presName="compChildNode" presStyleCnt="0"/>
      <dgm:spPr/>
    </dgm:pt>
    <dgm:pt modelId="{FF0FC2CC-5B09-487D-9A1F-D8D2C77B9663}" type="pres">
      <dgm:prSet presAssocID="{C3415912-6BFA-43BA-B0BE-472A84C43443}" presName="theInnerList" presStyleCnt="0"/>
      <dgm:spPr/>
    </dgm:pt>
    <dgm:pt modelId="{D183681B-6788-4510-8244-33ABDB9FA7A6}" type="pres">
      <dgm:prSet presAssocID="{3C67F560-D67B-48BB-827D-06E36A44522A}" presName="childNode" presStyleLbl="node1" presStyleIdx="0" presStyleCnt="3" custScaleX="111455">
        <dgm:presLayoutVars>
          <dgm:bulletEnabled val="1"/>
        </dgm:presLayoutVars>
      </dgm:prSet>
      <dgm:spPr/>
    </dgm:pt>
    <dgm:pt modelId="{D006BA4A-CFDC-42C3-A22E-6773F69E63C3}" type="pres">
      <dgm:prSet presAssocID="{C3415912-6BFA-43BA-B0BE-472A84C43443}" presName="aSpace" presStyleCnt="0"/>
      <dgm:spPr/>
    </dgm:pt>
    <dgm:pt modelId="{75F40420-7778-4C0C-80A2-4B27179AFCF0}" type="pres">
      <dgm:prSet presAssocID="{EA7E0DEF-8E31-46A1-8BBF-59B1595A8275}" presName="compNode" presStyleCnt="0"/>
      <dgm:spPr/>
    </dgm:pt>
    <dgm:pt modelId="{7585489D-9D2F-4D31-9D4C-5AB50C9A29FA}" type="pres">
      <dgm:prSet presAssocID="{EA7E0DEF-8E31-46A1-8BBF-59B1595A8275}" presName="aNode" presStyleLbl="bgShp" presStyleIdx="1" presStyleCnt="2" custLinFactNeighborY="476"/>
      <dgm:spPr/>
    </dgm:pt>
    <dgm:pt modelId="{4998B580-DF37-45D3-BBDA-B2B85FE9A112}" type="pres">
      <dgm:prSet presAssocID="{EA7E0DEF-8E31-46A1-8BBF-59B1595A8275}" presName="textNode" presStyleLbl="bgShp" presStyleIdx="1" presStyleCnt="2"/>
      <dgm:spPr/>
    </dgm:pt>
    <dgm:pt modelId="{C3BAEA19-DDA7-48E6-A503-5600CE08E564}" type="pres">
      <dgm:prSet presAssocID="{EA7E0DEF-8E31-46A1-8BBF-59B1595A8275}" presName="compChildNode" presStyleCnt="0"/>
      <dgm:spPr/>
    </dgm:pt>
    <dgm:pt modelId="{D09523D3-8970-471E-AEA7-60F681A853D6}" type="pres">
      <dgm:prSet presAssocID="{EA7E0DEF-8E31-46A1-8BBF-59B1595A8275}" presName="theInnerList" presStyleCnt="0"/>
      <dgm:spPr/>
    </dgm:pt>
    <dgm:pt modelId="{2308D4B3-8A94-4F01-A1CD-6D3FE0E6B3D3}" type="pres">
      <dgm:prSet presAssocID="{D52BF3F9-9ABA-4241-AC77-8DC56655DE25}" presName="childNode" presStyleLbl="node1" presStyleIdx="1" presStyleCnt="3" custScaleX="111455">
        <dgm:presLayoutVars>
          <dgm:bulletEnabled val="1"/>
        </dgm:presLayoutVars>
      </dgm:prSet>
      <dgm:spPr/>
    </dgm:pt>
    <dgm:pt modelId="{C6902A0F-2D66-4666-A151-BF293D009642}" type="pres">
      <dgm:prSet presAssocID="{D52BF3F9-9ABA-4241-AC77-8DC56655DE25}" presName="aSpace2" presStyleCnt="0"/>
      <dgm:spPr/>
    </dgm:pt>
    <dgm:pt modelId="{33ECD6FF-F077-4874-B06E-403BF190822C}" type="pres">
      <dgm:prSet presAssocID="{47F9F22B-E4CE-49CC-8AD5-F7DDB9797057}" presName="childNode" presStyleLbl="node1" presStyleIdx="2" presStyleCnt="3" custScaleX="111455">
        <dgm:presLayoutVars>
          <dgm:bulletEnabled val="1"/>
        </dgm:presLayoutVars>
      </dgm:prSet>
      <dgm:spPr/>
    </dgm:pt>
  </dgm:ptLst>
  <dgm:cxnLst>
    <dgm:cxn modelId="{FB6FD507-77CC-4ED2-84F7-461EA49771E2}" type="presOf" srcId="{C3415912-6BFA-43BA-B0BE-472A84C43443}" destId="{F75CC956-7E04-492A-912D-FC34FFB91C97}" srcOrd="1" destOrd="0" presId="urn:microsoft.com/office/officeart/2005/8/layout/lProcess2"/>
    <dgm:cxn modelId="{70F06C26-AD3B-4C0A-8AAF-108DC156DB05}" srcId="{EA7E0DEF-8E31-46A1-8BBF-59B1595A8275}" destId="{47F9F22B-E4CE-49CC-8AD5-F7DDB9797057}" srcOrd="1" destOrd="0" parTransId="{18B6DC75-4E1D-422C-BE2D-E83930CC0AF5}" sibTransId="{EDB25EB7-5941-4B33-9159-A506803AC255}"/>
    <dgm:cxn modelId="{B869C928-3616-4986-A87F-F816AB638D6F}" srcId="{CFAC7329-3741-4C0E-A67D-ED7BCFA4EB35}" destId="{EA7E0DEF-8E31-46A1-8BBF-59B1595A8275}" srcOrd="1" destOrd="0" parTransId="{C2A1B27B-E137-4975-922B-C6D522DA155A}" sibTransId="{6766F69F-049F-4D92-BA7F-91106E33B26A}"/>
    <dgm:cxn modelId="{949ECB46-AD1B-406F-818E-5DD7F5F78998}" srcId="{CFAC7329-3741-4C0E-A67D-ED7BCFA4EB35}" destId="{C3415912-6BFA-43BA-B0BE-472A84C43443}" srcOrd="0" destOrd="0" parTransId="{26D7D0C8-7A9E-4BDC-A8E7-283557320225}" sibTransId="{BC7FB8C0-759E-4CAC-B09E-84355EA0FAA4}"/>
    <dgm:cxn modelId="{9054E268-1B08-40B7-AEE4-DB6D9104DD40}" srcId="{C3415912-6BFA-43BA-B0BE-472A84C43443}" destId="{3C67F560-D67B-48BB-827D-06E36A44522A}" srcOrd="0" destOrd="0" parTransId="{2A16A0A4-8D09-4ECB-A864-FEDD60939668}" sibTransId="{B2FCA8E6-EB9F-4F72-8BA3-6056C684A9E4}"/>
    <dgm:cxn modelId="{6C7C8955-AEC1-4FCE-B432-0E3F1C0E16A2}" type="presOf" srcId="{47F9F22B-E4CE-49CC-8AD5-F7DDB9797057}" destId="{33ECD6FF-F077-4874-B06E-403BF190822C}" srcOrd="0" destOrd="0" presId="urn:microsoft.com/office/officeart/2005/8/layout/lProcess2"/>
    <dgm:cxn modelId="{210D98AC-0117-4B9C-8872-01F2E95AD1F0}" type="presOf" srcId="{3C67F560-D67B-48BB-827D-06E36A44522A}" destId="{D183681B-6788-4510-8244-33ABDB9FA7A6}" srcOrd="0" destOrd="0" presId="urn:microsoft.com/office/officeart/2005/8/layout/lProcess2"/>
    <dgm:cxn modelId="{FD010EAE-F711-439C-94AF-68D5FFB3A4BC}" type="presOf" srcId="{EA7E0DEF-8E31-46A1-8BBF-59B1595A8275}" destId="{4998B580-DF37-45D3-BBDA-B2B85FE9A112}" srcOrd="1" destOrd="0" presId="urn:microsoft.com/office/officeart/2005/8/layout/lProcess2"/>
    <dgm:cxn modelId="{222EBBC2-39C2-485E-8654-609B1A8BA243}" type="presOf" srcId="{C3415912-6BFA-43BA-B0BE-472A84C43443}" destId="{5CCE0585-D949-4566-BF76-D02D180BBC12}" srcOrd="0" destOrd="0" presId="urn:microsoft.com/office/officeart/2005/8/layout/lProcess2"/>
    <dgm:cxn modelId="{4938A2C8-8F26-44C3-B657-B10E764D9DD5}" type="presOf" srcId="{EA7E0DEF-8E31-46A1-8BBF-59B1595A8275}" destId="{7585489D-9D2F-4D31-9D4C-5AB50C9A29FA}" srcOrd="0" destOrd="0" presId="urn:microsoft.com/office/officeart/2005/8/layout/lProcess2"/>
    <dgm:cxn modelId="{4885A6CA-12A8-4D9D-BDAF-7F48A159AD45}" type="presOf" srcId="{D52BF3F9-9ABA-4241-AC77-8DC56655DE25}" destId="{2308D4B3-8A94-4F01-A1CD-6D3FE0E6B3D3}" srcOrd="0" destOrd="0" presId="urn:microsoft.com/office/officeart/2005/8/layout/lProcess2"/>
    <dgm:cxn modelId="{728B4ED7-2032-459C-ACF0-19134C7FD833}" type="presOf" srcId="{CFAC7329-3741-4C0E-A67D-ED7BCFA4EB35}" destId="{8F53F22D-2D58-4C71-BDAA-873CB882D5F3}" srcOrd="0" destOrd="0" presId="urn:microsoft.com/office/officeart/2005/8/layout/lProcess2"/>
    <dgm:cxn modelId="{1141F3DF-C711-4D48-9CE7-A488451BDA01}" srcId="{EA7E0DEF-8E31-46A1-8BBF-59B1595A8275}" destId="{D52BF3F9-9ABA-4241-AC77-8DC56655DE25}" srcOrd="0" destOrd="0" parTransId="{44393429-9FEA-41FC-9460-EE4061EC3C8F}" sibTransId="{F5368824-92C1-4D9E-AB74-3319C6317F2D}"/>
    <dgm:cxn modelId="{7A467E5F-11D3-448E-A73B-9E6635575FE2}" type="presParOf" srcId="{8F53F22D-2D58-4C71-BDAA-873CB882D5F3}" destId="{C065151E-AC7B-4C64-A608-21968640FB41}" srcOrd="0" destOrd="0" presId="urn:microsoft.com/office/officeart/2005/8/layout/lProcess2"/>
    <dgm:cxn modelId="{5EE82450-8CA0-4AC1-90DD-FA11CCF996F7}" type="presParOf" srcId="{C065151E-AC7B-4C64-A608-21968640FB41}" destId="{5CCE0585-D949-4566-BF76-D02D180BBC12}" srcOrd="0" destOrd="0" presId="urn:microsoft.com/office/officeart/2005/8/layout/lProcess2"/>
    <dgm:cxn modelId="{21119237-F77C-4ACF-BA85-1384DBB358F3}" type="presParOf" srcId="{C065151E-AC7B-4C64-A608-21968640FB41}" destId="{F75CC956-7E04-492A-912D-FC34FFB91C97}" srcOrd="1" destOrd="0" presId="urn:microsoft.com/office/officeart/2005/8/layout/lProcess2"/>
    <dgm:cxn modelId="{4F9282FC-DBD2-4970-9C10-C274EDEBE6A5}" type="presParOf" srcId="{C065151E-AC7B-4C64-A608-21968640FB41}" destId="{0416AFC6-B581-462D-8DDE-C303F0CC9F6F}" srcOrd="2" destOrd="0" presId="urn:microsoft.com/office/officeart/2005/8/layout/lProcess2"/>
    <dgm:cxn modelId="{74BB2A31-A510-4CE1-94EF-B5D3F03358A5}" type="presParOf" srcId="{0416AFC6-B581-462D-8DDE-C303F0CC9F6F}" destId="{FF0FC2CC-5B09-487D-9A1F-D8D2C77B9663}" srcOrd="0" destOrd="0" presId="urn:microsoft.com/office/officeart/2005/8/layout/lProcess2"/>
    <dgm:cxn modelId="{55550BCE-48F0-40C2-815B-4B27E9639F13}" type="presParOf" srcId="{FF0FC2CC-5B09-487D-9A1F-D8D2C77B9663}" destId="{D183681B-6788-4510-8244-33ABDB9FA7A6}" srcOrd="0" destOrd="0" presId="urn:microsoft.com/office/officeart/2005/8/layout/lProcess2"/>
    <dgm:cxn modelId="{E9B13334-8F96-4380-84BC-39DF525FDC9B}" type="presParOf" srcId="{8F53F22D-2D58-4C71-BDAA-873CB882D5F3}" destId="{D006BA4A-CFDC-42C3-A22E-6773F69E63C3}" srcOrd="1" destOrd="0" presId="urn:microsoft.com/office/officeart/2005/8/layout/lProcess2"/>
    <dgm:cxn modelId="{88D6A59D-F48C-45DC-8ED3-5ED00AA37790}" type="presParOf" srcId="{8F53F22D-2D58-4C71-BDAA-873CB882D5F3}" destId="{75F40420-7778-4C0C-80A2-4B27179AFCF0}" srcOrd="2" destOrd="0" presId="urn:microsoft.com/office/officeart/2005/8/layout/lProcess2"/>
    <dgm:cxn modelId="{7F64A8B4-0F2B-408B-991F-EB9B70B81638}" type="presParOf" srcId="{75F40420-7778-4C0C-80A2-4B27179AFCF0}" destId="{7585489D-9D2F-4D31-9D4C-5AB50C9A29FA}" srcOrd="0" destOrd="0" presId="urn:microsoft.com/office/officeart/2005/8/layout/lProcess2"/>
    <dgm:cxn modelId="{9F8374B0-E2E3-41BE-BDA2-54ABB70B355B}" type="presParOf" srcId="{75F40420-7778-4C0C-80A2-4B27179AFCF0}" destId="{4998B580-DF37-45D3-BBDA-B2B85FE9A112}" srcOrd="1" destOrd="0" presId="urn:microsoft.com/office/officeart/2005/8/layout/lProcess2"/>
    <dgm:cxn modelId="{3D990148-1609-4FCB-BF29-A9569C2416C1}" type="presParOf" srcId="{75F40420-7778-4C0C-80A2-4B27179AFCF0}" destId="{C3BAEA19-DDA7-48E6-A503-5600CE08E564}" srcOrd="2" destOrd="0" presId="urn:microsoft.com/office/officeart/2005/8/layout/lProcess2"/>
    <dgm:cxn modelId="{B1139D54-A856-453E-97A8-45E031EFA8CE}" type="presParOf" srcId="{C3BAEA19-DDA7-48E6-A503-5600CE08E564}" destId="{D09523D3-8970-471E-AEA7-60F681A853D6}" srcOrd="0" destOrd="0" presId="urn:microsoft.com/office/officeart/2005/8/layout/lProcess2"/>
    <dgm:cxn modelId="{E6AAA26F-F86E-4EB0-896D-723D6EA5C977}" type="presParOf" srcId="{D09523D3-8970-471E-AEA7-60F681A853D6}" destId="{2308D4B3-8A94-4F01-A1CD-6D3FE0E6B3D3}" srcOrd="0" destOrd="0" presId="urn:microsoft.com/office/officeart/2005/8/layout/lProcess2"/>
    <dgm:cxn modelId="{5917E27F-5EA0-4E13-9262-ED5B509BF984}" type="presParOf" srcId="{D09523D3-8970-471E-AEA7-60F681A853D6}" destId="{C6902A0F-2D66-4666-A151-BF293D009642}" srcOrd="1" destOrd="0" presId="urn:microsoft.com/office/officeart/2005/8/layout/lProcess2"/>
    <dgm:cxn modelId="{35281C20-420C-4C92-AEF8-182D3214174C}" type="presParOf" srcId="{D09523D3-8970-471E-AEA7-60F681A853D6}" destId="{33ECD6FF-F077-4874-B06E-403BF190822C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6ED680-18EC-43E7-B724-4EC3EAF692AF}" type="doc">
      <dgm:prSet loTypeId="urn:microsoft.com/office/officeart/2008/layout/Picture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9C4D550C-952F-41F3-8AFD-1A5114351F84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以太网存在的主要问题</a:t>
          </a:r>
        </a:p>
      </dgm:t>
    </dgm:pt>
    <dgm:pt modelId="{5A496ED4-914D-473E-B167-A03488A6A798}" type="parTrans" cxnId="{CC8B0642-A782-4EBC-B070-8B9E797C7BBE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4C9B543-4E31-455A-8177-B38A791E6442}" type="sibTrans" cxnId="{CC8B0642-A782-4EBC-B070-8B9E797C7BBE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1B1CED8-968B-46B9-9CA3-29F4A640EC64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广播风暴</a:t>
          </a:r>
        </a:p>
      </dgm:t>
    </dgm:pt>
    <dgm:pt modelId="{FC1F6C29-B248-4D27-8483-6FBEF4C09964}" type="parTrans" cxnId="{D66CFE62-B6A7-4810-BA12-6F2FD58D163D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6F71E51-8775-4246-91CC-34B522EBF644}" type="sibTrans" cxnId="{D66CFE62-B6A7-4810-BA12-6F2FD58D163D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E122D9-0EFD-4A0E-AD9B-558EA3DB6689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管理困难 等</a:t>
          </a:r>
        </a:p>
      </dgm:t>
    </dgm:pt>
    <dgm:pt modelId="{7BCD9CB7-11CD-408A-9D13-E0C0261A3AFB}" type="parTrans" cxnId="{B2D28C54-4450-4029-B292-E7D17FEA6A02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2D0D590-9E76-48C3-8C71-49F6FF9D2593}" type="sibTrans" cxnId="{B2D28C54-4450-4029-B292-E7D17FEA6A02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0DF90B9-BB31-4832-9E88-471FA32447B7}">
      <dgm:prSet custT="1"/>
      <dgm:spPr/>
      <dgm:t>
        <a:bodyPr/>
        <a:lstStyle/>
        <a:p>
          <a:r>
            <a: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安全问题</a:t>
          </a:r>
        </a:p>
      </dgm:t>
    </dgm:pt>
    <dgm:pt modelId="{10F25385-DE1A-44C7-878E-6797F5421568}" type="parTrans" cxnId="{0A5C9FFC-3EDC-4CB3-A3F0-6752C4FDDF42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D33064F6-ACB6-4772-9009-6D745DAF31EF}" type="sibTrans" cxnId="{0A5C9FFC-3EDC-4CB3-A3F0-6752C4FDDF42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0E0D025-DCA6-425F-8E0B-8EA5BF59390A}" type="pres">
      <dgm:prSet presAssocID="{696ED680-18EC-43E7-B724-4EC3EAF692AF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9E5F89C5-C991-4647-8E03-02567A5B47C5}" type="pres">
      <dgm:prSet presAssocID="{9C4D550C-952F-41F3-8AFD-1A5114351F84}" presName="root" presStyleCnt="0">
        <dgm:presLayoutVars>
          <dgm:chMax/>
          <dgm:chPref val="4"/>
        </dgm:presLayoutVars>
      </dgm:prSet>
      <dgm:spPr/>
    </dgm:pt>
    <dgm:pt modelId="{21D66B4D-424B-43DD-97D8-E7DC36D2F88E}" type="pres">
      <dgm:prSet presAssocID="{9C4D550C-952F-41F3-8AFD-1A5114351F84}" presName="rootComposite" presStyleCnt="0">
        <dgm:presLayoutVars/>
      </dgm:prSet>
      <dgm:spPr/>
    </dgm:pt>
    <dgm:pt modelId="{1DB1E9D0-3339-4A9D-B405-729BDEBEF42B}" type="pres">
      <dgm:prSet presAssocID="{9C4D550C-952F-41F3-8AFD-1A5114351F84}" presName="rootText" presStyleLbl="node0" presStyleIdx="0" presStyleCnt="1">
        <dgm:presLayoutVars>
          <dgm:chMax/>
          <dgm:chPref val="4"/>
        </dgm:presLayoutVars>
      </dgm:prSet>
      <dgm:spPr/>
    </dgm:pt>
    <dgm:pt modelId="{93DC03D1-82A4-42CA-84E3-171835A27C76}" type="pres">
      <dgm:prSet presAssocID="{9C4D550C-952F-41F3-8AFD-1A5114351F84}" presName="childShape" presStyleCnt="0">
        <dgm:presLayoutVars>
          <dgm:chMax val="0"/>
          <dgm:chPref val="0"/>
        </dgm:presLayoutVars>
      </dgm:prSet>
      <dgm:spPr/>
    </dgm:pt>
    <dgm:pt modelId="{6EBC4C0D-CD50-4FE7-BE3F-DE01CF00D802}" type="pres">
      <dgm:prSet presAssocID="{01B1CED8-968B-46B9-9CA3-29F4A640EC64}" presName="childComposite" presStyleCnt="0">
        <dgm:presLayoutVars>
          <dgm:chMax val="0"/>
          <dgm:chPref val="0"/>
        </dgm:presLayoutVars>
      </dgm:prSet>
      <dgm:spPr/>
    </dgm:pt>
    <dgm:pt modelId="{CD749DB9-A3DA-4BAE-A943-A6CBF8D11D51}" type="pres">
      <dgm:prSet presAssocID="{01B1CED8-968B-46B9-9CA3-29F4A640EC64}" presName="Image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0C2F456-D28D-4B2C-B6C1-C950F98B60F5}" type="pres">
      <dgm:prSet presAssocID="{01B1CED8-968B-46B9-9CA3-29F4A640EC64}" presName="childText" presStyleLbl="lnNode1" presStyleIdx="0" presStyleCnt="3">
        <dgm:presLayoutVars>
          <dgm:chMax val="0"/>
          <dgm:chPref val="0"/>
          <dgm:bulletEnabled val="1"/>
        </dgm:presLayoutVars>
      </dgm:prSet>
      <dgm:spPr/>
    </dgm:pt>
    <dgm:pt modelId="{64CF024C-F4A1-483B-B464-7122D4F00D95}" type="pres">
      <dgm:prSet presAssocID="{70DF90B9-BB31-4832-9E88-471FA32447B7}" presName="childComposite" presStyleCnt="0">
        <dgm:presLayoutVars>
          <dgm:chMax val="0"/>
          <dgm:chPref val="0"/>
        </dgm:presLayoutVars>
      </dgm:prSet>
      <dgm:spPr/>
    </dgm:pt>
    <dgm:pt modelId="{B5E1697C-B7F9-432F-8B8C-2C72CB3A8DB2}" type="pres">
      <dgm:prSet presAssocID="{70DF90B9-BB31-4832-9E88-471FA32447B7}" presName="Image" presStyleLbl="node1" presStyleIdx="1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C7DA71B-6517-4DAC-B756-9D99ECEF317E}" type="pres">
      <dgm:prSet presAssocID="{70DF90B9-BB31-4832-9E88-471FA32447B7}" presName="childText" presStyleLbl="lnNode1" presStyleIdx="1" presStyleCnt="3">
        <dgm:presLayoutVars>
          <dgm:chMax val="0"/>
          <dgm:chPref val="0"/>
          <dgm:bulletEnabled val="1"/>
        </dgm:presLayoutVars>
      </dgm:prSet>
      <dgm:spPr/>
    </dgm:pt>
    <dgm:pt modelId="{D538157A-0694-48D5-9E5D-9DEFC0066D95}" type="pres">
      <dgm:prSet presAssocID="{5DE122D9-0EFD-4A0E-AD9B-558EA3DB6689}" presName="childComposite" presStyleCnt="0">
        <dgm:presLayoutVars>
          <dgm:chMax val="0"/>
          <dgm:chPref val="0"/>
        </dgm:presLayoutVars>
      </dgm:prSet>
      <dgm:spPr/>
    </dgm:pt>
    <dgm:pt modelId="{14191CB4-CBF2-4672-8D7E-4805CD0EC527}" type="pres">
      <dgm:prSet presAssocID="{5DE122D9-0EFD-4A0E-AD9B-558EA3DB6689}" presName="Image" presStyleLbl="node1" presStyleIdx="2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F45535F-D8E0-422C-ADEA-B4B65A834513}" type="pres">
      <dgm:prSet presAssocID="{5DE122D9-0EFD-4A0E-AD9B-558EA3DB6689}" presName="childText" presStyleLbl="ln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9573A513-6738-42F3-B049-9E40CEAC3F7E}" type="presOf" srcId="{5DE122D9-0EFD-4A0E-AD9B-558EA3DB6689}" destId="{FF45535F-D8E0-422C-ADEA-B4B65A834513}" srcOrd="0" destOrd="0" presId="urn:microsoft.com/office/officeart/2008/layout/PictureAccentList"/>
    <dgm:cxn modelId="{CC8B0642-A782-4EBC-B070-8B9E797C7BBE}" srcId="{696ED680-18EC-43E7-B724-4EC3EAF692AF}" destId="{9C4D550C-952F-41F3-8AFD-1A5114351F84}" srcOrd="0" destOrd="0" parTransId="{5A496ED4-914D-473E-B167-A03488A6A798}" sibTransId="{24C9B543-4E31-455A-8177-B38A791E6442}"/>
    <dgm:cxn modelId="{182E9B62-5127-419F-AD80-04071B938B1F}" type="presOf" srcId="{696ED680-18EC-43E7-B724-4EC3EAF692AF}" destId="{A0E0D025-DCA6-425F-8E0B-8EA5BF59390A}" srcOrd="0" destOrd="0" presId="urn:microsoft.com/office/officeart/2008/layout/PictureAccentList"/>
    <dgm:cxn modelId="{D66CFE62-B6A7-4810-BA12-6F2FD58D163D}" srcId="{9C4D550C-952F-41F3-8AFD-1A5114351F84}" destId="{01B1CED8-968B-46B9-9CA3-29F4A640EC64}" srcOrd="0" destOrd="0" parTransId="{FC1F6C29-B248-4D27-8483-6FBEF4C09964}" sibTransId="{76F71E51-8775-4246-91CC-34B522EBF644}"/>
    <dgm:cxn modelId="{7F6C3970-45D9-4CCB-907A-61BFACA2604D}" type="presOf" srcId="{01B1CED8-968B-46B9-9CA3-29F4A640EC64}" destId="{00C2F456-D28D-4B2C-B6C1-C950F98B60F5}" srcOrd="0" destOrd="0" presId="urn:microsoft.com/office/officeart/2008/layout/PictureAccentList"/>
    <dgm:cxn modelId="{B2D28C54-4450-4029-B292-E7D17FEA6A02}" srcId="{9C4D550C-952F-41F3-8AFD-1A5114351F84}" destId="{5DE122D9-0EFD-4A0E-AD9B-558EA3DB6689}" srcOrd="2" destOrd="0" parTransId="{7BCD9CB7-11CD-408A-9D13-E0C0261A3AFB}" sibTransId="{82D0D590-9E76-48C3-8C71-49F6FF9D2593}"/>
    <dgm:cxn modelId="{B846E990-322F-4243-B232-6CCAEFD9D40A}" type="presOf" srcId="{9C4D550C-952F-41F3-8AFD-1A5114351F84}" destId="{1DB1E9D0-3339-4A9D-B405-729BDEBEF42B}" srcOrd="0" destOrd="0" presId="urn:microsoft.com/office/officeart/2008/layout/PictureAccentList"/>
    <dgm:cxn modelId="{39FB5AF3-32C2-49BF-9A75-D17EAA83D1FF}" type="presOf" srcId="{70DF90B9-BB31-4832-9E88-471FA32447B7}" destId="{CC7DA71B-6517-4DAC-B756-9D99ECEF317E}" srcOrd="0" destOrd="0" presId="urn:microsoft.com/office/officeart/2008/layout/PictureAccentList"/>
    <dgm:cxn modelId="{0A5C9FFC-3EDC-4CB3-A3F0-6752C4FDDF42}" srcId="{9C4D550C-952F-41F3-8AFD-1A5114351F84}" destId="{70DF90B9-BB31-4832-9E88-471FA32447B7}" srcOrd="1" destOrd="0" parTransId="{10F25385-DE1A-44C7-878E-6797F5421568}" sibTransId="{D33064F6-ACB6-4772-9009-6D745DAF31EF}"/>
    <dgm:cxn modelId="{A7D65854-1CE7-44F7-B108-4B049E23B1BD}" type="presParOf" srcId="{A0E0D025-DCA6-425F-8E0B-8EA5BF59390A}" destId="{9E5F89C5-C991-4647-8E03-02567A5B47C5}" srcOrd="0" destOrd="0" presId="urn:microsoft.com/office/officeart/2008/layout/PictureAccentList"/>
    <dgm:cxn modelId="{6A5FEA5E-82E3-4F74-AA35-48F034BC38FC}" type="presParOf" srcId="{9E5F89C5-C991-4647-8E03-02567A5B47C5}" destId="{21D66B4D-424B-43DD-97D8-E7DC36D2F88E}" srcOrd="0" destOrd="0" presId="urn:microsoft.com/office/officeart/2008/layout/PictureAccentList"/>
    <dgm:cxn modelId="{D812BCC8-BD4F-4A73-A280-DD8205407045}" type="presParOf" srcId="{21D66B4D-424B-43DD-97D8-E7DC36D2F88E}" destId="{1DB1E9D0-3339-4A9D-B405-729BDEBEF42B}" srcOrd="0" destOrd="0" presId="urn:microsoft.com/office/officeart/2008/layout/PictureAccentList"/>
    <dgm:cxn modelId="{6CF3A7D8-3DFE-44AD-AFFC-8F9FF8BB039A}" type="presParOf" srcId="{9E5F89C5-C991-4647-8E03-02567A5B47C5}" destId="{93DC03D1-82A4-42CA-84E3-171835A27C76}" srcOrd="1" destOrd="0" presId="urn:microsoft.com/office/officeart/2008/layout/PictureAccentList"/>
    <dgm:cxn modelId="{DE93CFAC-3F29-419C-A482-BB4233E3AA36}" type="presParOf" srcId="{93DC03D1-82A4-42CA-84E3-171835A27C76}" destId="{6EBC4C0D-CD50-4FE7-BE3F-DE01CF00D802}" srcOrd="0" destOrd="0" presId="urn:microsoft.com/office/officeart/2008/layout/PictureAccentList"/>
    <dgm:cxn modelId="{0477ADDD-6DC1-405C-919E-D1A54FD2CFF0}" type="presParOf" srcId="{6EBC4C0D-CD50-4FE7-BE3F-DE01CF00D802}" destId="{CD749DB9-A3DA-4BAE-A943-A6CBF8D11D51}" srcOrd="0" destOrd="0" presId="urn:microsoft.com/office/officeart/2008/layout/PictureAccentList"/>
    <dgm:cxn modelId="{2E80B807-8DDE-4B4D-9D44-D7DDAF4E06FF}" type="presParOf" srcId="{6EBC4C0D-CD50-4FE7-BE3F-DE01CF00D802}" destId="{00C2F456-D28D-4B2C-B6C1-C950F98B60F5}" srcOrd="1" destOrd="0" presId="urn:microsoft.com/office/officeart/2008/layout/PictureAccentList"/>
    <dgm:cxn modelId="{890A0312-603E-47AC-92C9-9213D31F944D}" type="presParOf" srcId="{93DC03D1-82A4-42CA-84E3-171835A27C76}" destId="{64CF024C-F4A1-483B-B464-7122D4F00D95}" srcOrd="1" destOrd="0" presId="urn:microsoft.com/office/officeart/2008/layout/PictureAccentList"/>
    <dgm:cxn modelId="{3BB59801-491B-4ED3-9755-24C5FA9FD7A3}" type="presParOf" srcId="{64CF024C-F4A1-483B-B464-7122D4F00D95}" destId="{B5E1697C-B7F9-432F-8B8C-2C72CB3A8DB2}" srcOrd="0" destOrd="0" presId="urn:microsoft.com/office/officeart/2008/layout/PictureAccentList"/>
    <dgm:cxn modelId="{1BE2E497-67F5-408E-B664-1AE175812B81}" type="presParOf" srcId="{64CF024C-F4A1-483B-B464-7122D4F00D95}" destId="{CC7DA71B-6517-4DAC-B756-9D99ECEF317E}" srcOrd="1" destOrd="0" presId="urn:microsoft.com/office/officeart/2008/layout/PictureAccentList"/>
    <dgm:cxn modelId="{496B06E8-FAC2-4D87-BB55-90839E837D5E}" type="presParOf" srcId="{93DC03D1-82A4-42CA-84E3-171835A27C76}" destId="{D538157A-0694-48D5-9E5D-9DEFC0066D95}" srcOrd="2" destOrd="0" presId="urn:microsoft.com/office/officeart/2008/layout/PictureAccentList"/>
    <dgm:cxn modelId="{74A747A4-7CDE-4D9D-B76A-3AEDB33805EE}" type="presParOf" srcId="{D538157A-0694-48D5-9E5D-9DEFC0066D95}" destId="{14191CB4-CBF2-4672-8D7E-4805CD0EC527}" srcOrd="0" destOrd="0" presId="urn:microsoft.com/office/officeart/2008/layout/PictureAccentList"/>
    <dgm:cxn modelId="{46D7AD81-B44F-4AF8-BDCB-8594AB078C1C}" type="presParOf" srcId="{D538157A-0694-48D5-9E5D-9DEFC0066D95}" destId="{FF45535F-D8E0-422C-ADEA-B4B65A83451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708020-4687-41CF-9D7F-6F2391C11BAA}" type="doc">
      <dgm:prSet loTypeId="urn:microsoft.com/office/officeart/2005/8/layout/hList1" loCatId="list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zh-CN" altLang="en-US"/>
        </a:p>
      </dgm:t>
    </dgm:pt>
    <dgm:pt modelId="{99011571-F4E1-4446-A8BE-18E70C05927B}">
      <dgm:prSet phldrT="[文本]" custT="1"/>
      <dgm:spPr/>
      <dgm:t>
        <a:bodyPr/>
        <a:lstStyle/>
        <a:p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gm:t>
    </dgm:pt>
    <dgm:pt modelId="{4C539E80-9E04-44A9-8367-F7E03B34B249}" type="parTrans" cxnId="{C8E5120F-C10C-4AB6-8450-9F3E16AB7EB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7FCDC9-D001-4CEE-A5E4-71C7F184525C}" type="sibTrans" cxnId="{C8E5120F-C10C-4AB6-8450-9F3E16AB7EB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D62A53-8D22-4EE5-8913-0BBACA2364E4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虚拟地址、软件地址、逻辑地址。</a:t>
          </a:r>
        </a:p>
      </dgm:t>
    </dgm:pt>
    <dgm:pt modelId="{54C85AAA-179D-4E68-BF2A-FFEED0DDB07F}" type="parTrans" cxnId="{940E770D-49F6-4FC5-86C8-41A8CE548E4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5217E7-DE89-4742-BCCD-8BFF0AF57BAD}" type="sibTrans" cxnId="{940E770D-49F6-4FC5-86C8-41A8CE548E4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40657A4-D7B8-468B-A5F4-A2D889160995}">
      <dgm:prSet phldrT="[文本]" custT="1"/>
      <dgm:spPr/>
      <dgm:t>
        <a:bodyPr/>
        <a:lstStyle/>
        <a:p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gm:t>
    </dgm:pt>
    <dgm:pt modelId="{A7FDB1D6-023E-42DF-BB39-2015EF26DC0F}" type="parTrans" cxnId="{CBF248CA-6463-4657-9F43-AF669DCBF514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09BF549-D68B-48BC-A9E0-62B2344773D6}" type="sibTrans" cxnId="{CBF248CA-6463-4657-9F43-AF669DCBF514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79BE541-745A-4292-8465-C36F8EDD321B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固化在网卡上的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ROM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中。</a:t>
          </a:r>
        </a:p>
      </dgm:t>
    </dgm:pt>
    <dgm:pt modelId="{5FBA12F4-C84B-4A28-AE84-34210DDD6316}" type="parTrans" cxnId="{12E18449-C8D2-4FBD-A252-91AE228C6AF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E35C864-7EA2-4C2D-AC52-3EE5ABADC5B9}" type="sibTrans" cxnId="{12E18449-C8D2-4FBD-A252-91AE228C6AF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3B3BA4-3778-4402-B1E1-C8CFA33A382D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硬件地址、物理地址。</a:t>
          </a:r>
        </a:p>
      </dgm:t>
    </dgm:pt>
    <dgm:pt modelId="{A03C24AB-8B7A-424E-9BC6-9376C33A0BF3}" type="parTrans" cxnId="{FEDB8DEC-B553-4BBF-92EA-A2D2D5DF7CE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CC1D41-9035-4D7E-9009-AC68C1CAF263}" type="sibTrans" cxnId="{FEDB8DEC-B553-4BBF-92EA-A2D2D5DF7CE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E000F3-D6C1-4803-A1E5-DC524A4AE48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数据链路层使用。</a:t>
          </a:r>
        </a:p>
      </dgm:t>
    </dgm:pt>
    <dgm:pt modelId="{C64D28C4-25B8-4CDC-8A89-C1CF980BB5C1}" type="parTrans" cxnId="{EF82BF05-16DC-4EA5-9A44-1323F3F73B87}">
      <dgm:prSet/>
      <dgm:spPr/>
      <dgm:t>
        <a:bodyPr/>
        <a:lstStyle/>
        <a:p>
          <a:endParaRPr lang="zh-CN" altLang="en-US"/>
        </a:p>
      </dgm:t>
    </dgm:pt>
    <dgm:pt modelId="{30D97064-16C7-4998-BF1A-DB22B53CF04E}" type="sibTrans" cxnId="{EF82BF05-16DC-4EA5-9A44-1323F3F73B87}">
      <dgm:prSet/>
      <dgm:spPr/>
      <dgm:t>
        <a:bodyPr/>
        <a:lstStyle/>
        <a:p>
          <a:endParaRPr lang="zh-CN" altLang="en-US"/>
        </a:p>
      </dgm:t>
    </dgm:pt>
    <dgm:pt modelId="{09A8615C-F22C-48F1-9E19-B8FC9AF13FE9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网络层和以上各层使用。</a:t>
          </a:r>
        </a:p>
      </dgm:t>
    </dgm:pt>
    <dgm:pt modelId="{5BD54EF1-4FAB-4065-92C9-BCE2DE81E584}" type="parTrans" cxnId="{A458A4B0-84AA-49EA-8BDC-E4ABE46A7F6F}">
      <dgm:prSet/>
      <dgm:spPr/>
      <dgm:t>
        <a:bodyPr/>
        <a:lstStyle/>
        <a:p>
          <a:endParaRPr lang="zh-CN" altLang="en-US"/>
        </a:p>
      </dgm:t>
    </dgm:pt>
    <dgm:pt modelId="{FB609984-1C85-4848-A207-F57B125554A5}" type="sibTrans" cxnId="{A458A4B0-84AA-49EA-8BDC-E4ABE46A7F6F}">
      <dgm:prSet/>
      <dgm:spPr/>
      <dgm:t>
        <a:bodyPr/>
        <a:lstStyle/>
        <a:p>
          <a:endParaRPr lang="zh-CN" altLang="en-US"/>
        </a:p>
      </dgm:t>
    </dgm:pt>
    <dgm:pt modelId="{323295A5-C594-443E-A7E6-624EA925430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数据报的首部。</a:t>
          </a:r>
        </a:p>
      </dgm:t>
    </dgm:pt>
    <dgm:pt modelId="{200A6130-5C46-4C63-9F44-D454E24722AF}" type="parTrans" cxnId="{2A705B60-B7F3-4BE3-9093-3C1BB2EBCFB5}">
      <dgm:prSet/>
      <dgm:spPr/>
      <dgm:t>
        <a:bodyPr/>
        <a:lstStyle/>
        <a:p>
          <a:endParaRPr lang="zh-CN" altLang="en-US"/>
        </a:p>
      </dgm:t>
    </dgm:pt>
    <dgm:pt modelId="{3830A99E-A088-46F1-9D7A-13AD7413F170}" type="sibTrans" cxnId="{2A705B60-B7F3-4BE3-9093-3C1BB2EBCFB5}">
      <dgm:prSet/>
      <dgm:spPr/>
      <dgm:t>
        <a:bodyPr/>
        <a:lstStyle/>
        <a:p>
          <a:endParaRPr lang="zh-CN" altLang="en-US"/>
        </a:p>
      </dgm:t>
    </dgm:pt>
    <dgm:pt modelId="{0185F6EB-9C9F-4E3E-A388-326818E44F8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帧的首部。</a:t>
          </a:r>
        </a:p>
      </dgm:t>
    </dgm:pt>
    <dgm:pt modelId="{572D545C-3C53-4B90-9A13-8FCA514B982D}" type="parTrans" cxnId="{C181352A-C0B0-4BDB-AF70-349C9595E6B5}">
      <dgm:prSet/>
      <dgm:spPr/>
      <dgm:t>
        <a:bodyPr/>
        <a:lstStyle/>
        <a:p>
          <a:endParaRPr lang="zh-CN" altLang="en-US"/>
        </a:p>
      </dgm:t>
    </dgm:pt>
    <dgm:pt modelId="{130173EF-01ED-485B-B8BB-D3163CE124C9}" type="sibTrans" cxnId="{C181352A-C0B0-4BDB-AF70-349C9595E6B5}">
      <dgm:prSet/>
      <dgm:spPr/>
      <dgm:t>
        <a:bodyPr/>
        <a:lstStyle/>
        <a:p>
          <a:endParaRPr lang="zh-CN" altLang="en-US"/>
        </a:p>
      </dgm:t>
    </dgm:pt>
    <dgm:pt modelId="{F3972236-93CB-4A8C-9066-D6256CD361C1}" type="pres">
      <dgm:prSet presAssocID="{AD708020-4687-41CF-9D7F-6F2391C11BAA}" presName="Name0" presStyleCnt="0">
        <dgm:presLayoutVars>
          <dgm:dir/>
          <dgm:animLvl val="lvl"/>
          <dgm:resizeHandles val="exact"/>
        </dgm:presLayoutVars>
      </dgm:prSet>
      <dgm:spPr/>
    </dgm:pt>
    <dgm:pt modelId="{E2C272DD-8977-4A4D-9E5A-865A155C8D0C}" type="pres">
      <dgm:prSet presAssocID="{99011571-F4E1-4446-A8BE-18E70C05927B}" presName="composite" presStyleCnt="0"/>
      <dgm:spPr/>
    </dgm:pt>
    <dgm:pt modelId="{8A93C829-AB1E-47B7-AF09-3489EE20D87D}" type="pres">
      <dgm:prSet presAssocID="{99011571-F4E1-4446-A8BE-18E70C05927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DDE5FA6-A293-4009-AA1F-EF295D5FC61B}" type="pres">
      <dgm:prSet presAssocID="{99011571-F4E1-4446-A8BE-18E70C05927B}" presName="desTx" presStyleLbl="alignAccFollowNode1" presStyleIdx="0" presStyleCnt="2">
        <dgm:presLayoutVars>
          <dgm:bulletEnabled val="1"/>
        </dgm:presLayoutVars>
      </dgm:prSet>
      <dgm:spPr/>
    </dgm:pt>
    <dgm:pt modelId="{8F0BA76D-270F-46B0-A163-3FD6D431D901}" type="pres">
      <dgm:prSet presAssocID="{CF7FCDC9-D001-4CEE-A5E4-71C7F184525C}" presName="space" presStyleCnt="0"/>
      <dgm:spPr/>
    </dgm:pt>
    <dgm:pt modelId="{A71985B1-1665-4492-8E93-44CC7EFEB5EB}" type="pres">
      <dgm:prSet presAssocID="{240657A4-D7B8-468B-A5F4-A2D889160995}" presName="composite" presStyleCnt="0"/>
      <dgm:spPr/>
    </dgm:pt>
    <dgm:pt modelId="{A906942F-4CD9-406B-9703-826231E59346}" type="pres">
      <dgm:prSet presAssocID="{240657A4-D7B8-468B-A5F4-A2D88916099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B0E6FE9-FDF1-417E-907E-1431E3C22379}" type="pres">
      <dgm:prSet presAssocID="{240657A4-D7B8-468B-A5F4-A2D88916099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F82BF05-16DC-4EA5-9A44-1323F3F73B87}" srcId="{240657A4-D7B8-468B-A5F4-A2D889160995}" destId="{8DE000F3-D6C1-4803-A1E5-DC524A4AE480}" srcOrd="2" destOrd="0" parTransId="{C64D28C4-25B8-4CDC-8A89-C1CF980BB5C1}" sibTransId="{30D97064-16C7-4998-BF1A-DB22B53CF04E}"/>
    <dgm:cxn modelId="{940E770D-49F6-4FC5-86C8-41A8CE548E49}" srcId="{99011571-F4E1-4446-A8BE-18E70C05927B}" destId="{9AD62A53-8D22-4EE5-8913-0BBACA2364E4}" srcOrd="0" destOrd="0" parTransId="{54C85AAA-179D-4E68-BF2A-FFEED0DDB07F}" sibTransId="{1B5217E7-DE89-4742-BCCD-8BFF0AF57BAD}"/>
    <dgm:cxn modelId="{100BB30D-DE2F-47C8-9C30-7B9A2130442F}" type="presOf" srcId="{A79BE541-745A-4292-8465-C36F8EDD321B}" destId="{2B0E6FE9-FDF1-417E-907E-1431E3C22379}" srcOrd="0" destOrd="0" presId="urn:microsoft.com/office/officeart/2005/8/layout/hList1"/>
    <dgm:cxn modelId="{C8E5120F-C10C-4AB6-8450-9F3E16AB7EB6}" srcId="{AD708020-4687-41CF-9D7F-6F2391C11BAA}" destId="{99011571-F4E1-4446-A8BE-18E70C05927B}" srcOrd="0" destOrd="0" parTransId="{4C539E80-9E04-44A9-8367-F7E03B34B249}" sibTransId="{CF7FCDC9-D001-4CEE-A5E4-71C7F184525C}"/>
    <dgm:cxn modelId="{E4FB4313-6C06-4EAF-8D9B-228838EC9797}" type="presOf" srcId="{8DE000F3-D6C1-4803-A1E5-DC524A4AE480}" destId="{2B0E6FE9-FDF1-417E-907E-1431E3C22379}" srcOrd="0" destOrd="2" presId="urn:microsoft.com/office/officeart/2005/8/layout/hList1"/>
    <dgm:cxn modelId="{1A44C014-EBAC-4613-804E-BF0BB88899E3}" type="presOf" srcId="{9AD62A53-8D22-4EE5-8913-0BBACA2364E4}" destId="{ADDE5FA6-A293-4009-AA1F-EF295D5FC61B}" srcOrd="0" destOrd="0" presId="urn:microsoft.com/office/officeart/2005/8/layout/hList1"/>
    <dgm:cxn modelId="{C181352A-C0B0-4BDB-AF70-349C9595E6B5}" srcId="{240657A4-D7B8-468B-A5F4-A2D889160995}" destId="{0185F6EB-9C9F-4E3E-A388-326818E44F8C}" srcOrd="3" destOrd="0" parTransId="{572D545C-3C53-4B90-9A13-8FCA514B982D}" sibTransId="{130173EF-01ED-485B-B8BB-D3163CE124C9}"/>
    <dgm:cxn modelId="{27B67B3E-051F-4D31-B5F5-C79A604E3D16}" type="presOf" srcId="{0185F6EB-9C9F-4E3E-A388-326818E44F8C}" destId="{2B0E6FE9-FDF1-417E-907E-1431E3C22379}" srcOrd="0" destOrd="3" presId="urn:microsoft.com/office/officeart/2005/8/layout/hList1"/>
    <dgm:cxn modelId="{2A705B60-B7F3-4BE3-9093-3C1BB2EBCFB5}" srcId="{99011571-F4E1-4446-A8BE-18E70C05927B}" destId="{323295A5-C594-443E-A7E6-624EA9254300}" srcOrd="2" destOrd="0" parTransId="{200A6130-5C46-4C63-9F44-D454E24722AF}" sibTransId="{3830A99E-A088-46F1-9D7A-13AD7413F170}"/>
    <dgm:cxn modelId="{12E18449-C8D2-4FBD-A252-91AE228C6AF5}" srcId="{240657A4-D7B8-468B-A5F4-A2D889160995}" destId="{A79BE541-745A-4292-8465-C36F8EDD321B}" srcOrd="0" destOrd="0" parTransId="{5FBA12F4-C84B-4A28-AE84-34210DDD6316}" sibTransId="{7E35C864-7EA2-4C2D-AC52-3EE5ABADC5B9}"/>
    <dgm:cxn modelId="{DDF1F850-80F6-4F9D-9863-46C86ADA4419}" type="presOf" srcId="{99011571-F4E1-4446-A8BE-18E70C05927B}" destId="{8A93C829-AB1E-47B7-AF09-3489EE20D87D}" srcOrd="0" destOrd="0" presId="urn:microsoft.com/office/officeart/2005/8/layout/hList1"/>
    <dgm:cxn modelId="{023F1E57-C472-4AFE-BA8E-552A2F3C1394}" type="presOf" srcId="{240657A4-D7B8-468B-A5F4-A2D889160995}" destId="{A906942F-4CD9-406B-9703-826231E59346}" srcOrd="0" destOrd="0" presId="urn:microsoft.com/office/officeart/2005/8/layout/hList1"/>
    <dgm:cxn modelId="{A28AD17C-328B-47C1-B697-997B944516EA}" type="presOf" srcId="{AD708020-4687-41CF-9D7F-6F2391C11BAA}" destId="{F3972236-93CB-4A8C-9066-D6256CD361C1}" srcOrd="0" destOrd="0" presId="urn:microsoft.com/office/officeart/2005/8/layout/hList1"/>
    <dgm:cxn modelId="{E1E0D985-A4D3-4EDE-A0B8-5EEBE6AE8892}" type="presOf" srcId="{033B3BA4-3778-4402-B1E1-C8CFA33A382D}" destId="{2B0E6FE9-FDF1-417E-907E-1431E3C22379}" srcOrd="0" destOrd="1" presId="urn:microsoft.com/office/officeart/2005/8/layout/hList1"/>
    <dgm:cxn modelId="{A458A4B0-84AA-49EA-8BDC-E4ABE46A7F6F}" srcId="{99011571-F4E1-4446-A8BE-18E70C05927B}" destId="{09A8615C-F22C-48F1-9E19-B8FC9AF13FE9}" srcOrd="1" destOrd="0" parTransId="{5BD54EF1-4FAB-4065-92C9-BCE2DE81E584}" sibTransId="{FB609984-1C85-4848-A207-F57B125554A5}"/>
    <dgm:cxn modelId="{CBF248CA-6463-4657-9F43-AF669DCBF514}" srcId="{AD708020-4687-41CF-9D7F-6F2391C11BAA}" destId="{240657A4-D7B8-468B-A5F4-A2D889160995}" srcOrd="1" destOrd="0" parTransId="{A7FDB1D6-023E-42DF-BB39-2015EF26DC0F}" sibTransId="{D09BF549-D68B-48BC-A9E0-62B2344773D6}"/>
    <dgm:cxn modelId="{A4AF79CA-B25E-4F05-82A1-3910C09D6251}" type="presOf" srcId="{09A8615C-F22C-48F1-9E19-B8FC9AF13FE9}" destId="{ADDE5FA6-A293-4009-AA1F-EF295D5FC61B}" srcOrd="0" destOrd="1" presId="urn:microsoft.com/office/officeart/2005/8/layout/hList1"/>
    <dgm:cxn modelId="{FEDB8DEC-B553-4BBF-92EA-A2D2D5DF7CE5}" srcId="{240657A4-D7B8-468B-A5F4-A2D889160995}" destId="{033B3BA4-3778-4402-B1E1-C8CFA33A382D}" srcOrd="1" destOrd="0" parTransId="{A03C24AB-8B7A-424E-9BC6-9376C33A0BF3}" sibTransId="{4BCC1D41-9035-4D7E-9009-AC68C1CAF263}"/>
    <dgm:cxn modelId="{A9D14BF2-E0BB-46D8-845C-FCF21D2BA831}" type="presOf" srcId="{323295A5-C594-443E-A7E6-624EA9254300}" destId="{ADDE5FA6-A293-4009-AA1F-EF295D5FC61B}" srcOrd="0" destOrd="2" presId="urn:microsoft.com/office/officeart/2005/8/layout/hList1"/>
    <dgm:cxn modelId="{1BD00B3F-CC87-45D5-8068-2A12062FAD02}" type="presParOf" srcId="{F3972236-93CB-4A8C-9066-D6256CD361C1}" destId="{E2C272DD-8977-4A4D-9E5A-865A155C8D0C}" srcOrd="0" destOrd="0" presId="urn:microsoft.com/office/officeart/2005/8/layout/hList1"/>
    <dgm:cxn modelId="{149624C9-1A75-44B1-9CFB-47B78E38453E}" type="presParOf" srcId="{E2C272DD-8977-4A4D-9E5A-865A155C8D0C}" destId="{8A93C829-AB1E-47B7-AF09-3489EE20D87D}" srcOrd="0" destOrd="0" presId="urn:microsoft.com/office/officeart/2005/8/layout/hList1"/>
    <dgm:cxn modelId="{C46F3658-24CA-48BE-AB2D-71A4709B311B}" type="presParOf" srcId="{E2C272DD-8977-4A4D-9E5A-865A155C8D0C}" destId="{ADDE5FA6-A293-4009-AA1F-EF295D5FC61B}" srcOrd="1" destOrd="0" presId="urn:microsoft.com/office/officeart/2005/8/layout/hList1"/>
    <dgm:cxn modelId="{A4CE841F-0440-440F-B346-027E34CE9AD6}" type="presParOf" srcId="{F3972236-93CB-4A8C-9066-D6256CD361C1}" destId="{8F0BA76D-270F-46B0-A163-3FD6D431D901}" srcOrd="1" destOrd="0" presId="urn:microsoft.com/office/officeart/2005/8/layout/hList1"/>
    <dgm:cxn modelId="{96A28BED-B426-4E80-8492-DA8F6E83919D}" type="presParOf" srcId="{F3972236-93CB-4A8C-9066-D6256CD361C1}" destId="{A71985B1-1665-4492-8E93-44CC7EFEB5EB}" srcOrd="2" destOrd="0" presId="urn:microsoft.com/office/officeart/2005/8/layout/hList1"/>
    <dgm:cxn modelId="{09D1CB4E-1BB2-4798-8737-C5280060228D}" type="presParOf" srcId="{A71985B1-1665-4492-8E93-44CC7EFEB5EB}" destId="{A906942F-4CD9-406B-9703-826231E59346}" srcOrd="0" destOrd="0" presId="urn:microsoft.com/office/officeart/2005/8/layout/hList1"/>
    <dgm:cxn modelId="{E4145535-F9B1-4E96-8A9A-E1BD35DFCE2B}" type="presParOf" srcId="{A71985B1-1665-4492-8E93-44CC7EFEB5EB}" destId="{2B0E6FE9-FDF1-417E-907E-1431E3C223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2BEBDF-C69E-49A9-B731-0929408024D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EE007B2-F612-44FB-B13F-E78B8586155B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拥塞控制</a:t>
          </a:r>
        </a:p>
      </dgm:t>
    </dgm:pt>
    <dgm:pt modelId="{72B0F351-ECBB-41B6-83F8-2E44095783F4}" type="parTrans" cxnId="{1A846D18-8F00-461A-939E-949F0AB8AB0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3030B4-A5E0-40C1-9AE1-02B25975AA00}" type="sibTrans" cxnId="{1A846D18-8F00-461A-939E-949F0AB8AB0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10B3081-F341-4301-9185-BE738C183BBB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防止过多的数据注入到网络中，避免网络中的路由器或链路过载。</a:t>
          </a:r>
        </a:p>
      </dgm:t>
    </dgm:pt>
    <dgm:pt modelId="{B9937F06-A3DB-4499-9BB1-8E62176A896E}" type="parTrans" cxnId="{74E18B3E-A839-4FBD-B46E-F54F7588502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D13681-61CB-42A0-AAD2-CF508B0ED4F0}" type="sibTrans" cxnId="{74E18B3E-A839-4FBD-B46E-F54F7588502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376B25E-A50F-4935-9A84-A2AE7897CCCF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是一个全局性的过程，涉及到所有的主机、路由器，以及与降低网络传输性能有关的所有因素。</a:t>
          </a:r>
        </a:p>
      </dgm:t>
    </dgm:pt>
    <dgm:pt modelId="{26269EE4-3ED5-4DE1-B6F2-BC870B778E5F}" type="parTrans" cxnId="{38263262-CABC-4074-A5F3-D3F1E4C03317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F637746-0510-4A3C-90B7-D93A16B92D57}" type="sibTrans" cxnId="{38263262-CABC-4074-A5F3-D3F1E4C03317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CD2956-BF18-4584-AF2D-3FD839777DF7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流量控制</a:t>
          </a:r>
        </a:p>
      </dgm:t>
    </dgm:pt>
    <dgm:pt modelId="{98DB6D87-467D-4D2D-AF82-D4E303370A2F}" type="parTrans" cxnId="{06F307EA-748F-443B-9B61-7B9DD73BB96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FE01F61-F8E8-44D6-97EE-DEA0356464A7}" type="sibTrans" cxnId="{06F307EA-748F-443B-9B61-7B9DD73BB96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41A8C11-D03E-479A-A84F-C3458AEF2E9A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点对点通信量的控制，是个端到端的问题。</a:t>
          </a:r>
        </a:p>
      </dgm:t>
    </dgm:pt>
    <dgm:pt modelId="{A7821D57-E876-4757-939B-CE33CAD146D4}" type="parTrans" cxnId="{47FAB983-5AC4-402F-9B23-9B04750BCF80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553568A-AD7C-418C-9424-82556C1E75C3}" type="sibTrans" cxnId="{47FAB983-5AC4-402F-9B23-9B04750BCF80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38BB22-10D0-455B-AB19-4EC1F24B8A2F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抑制发送端发送数据的速率，以使接收端来得及接收。</a:t>
          </a:r>
        </a:p>
      </dgm:t>
    </dgm:pt>
    <dgm:pt modelId="{6383180C-1983-48A1-B1E4-F574E14CDBD1}" type="parTrans" cxnId="{E9F7BDEC-B0B2-4D70-9C76-A3B73A9A92CD}">
      <dgm:prSet/>
      <dgm:spPr/>
      <dgm:t>
        <a:bodyPr/>
        <a:lstStyle/>
        <a:p>
          <a:endParaRPr lang="zh-CN" altLang="en-US"/>
        </a:p>
      </dgm:t>
    </dgm:pt>
    <dgm:pt modelId="{0F0ABCB1-B289-4DF9-9D7E-62CB7D38863E}" type="sibTrans" cxnId="{E9F7BDEC-B0B2-4D70-9C76-A3B73A9A92CD}">
      <dgm:prSet/>
      <dgm:spPr/>
      <dgm:t>
        <a:bodyPr/>
        <a:lstStyle/>
        <a:p>
          <a:endParaRPr lang="zh-CN" altLang="en-US"/>
        </a:p>
      </dgm:t>
    </dgm:pt>
    <dgm:pt modelId="{74DCD11F-98DA-4BA1-A4EB-9AB34E9C3C9D}" type="pres">
      <dgm:prSet presAssocID="{112BEBDF-C69E-49A9-B731-0929408024D8}" presName="Name0" presStyleCnt="0">
        <dgm:presLayoutVars>
          <dgm:dir/>
          <dgm:animLvl val="lvl"/>
          <dgm:resizeHandles val="exact"/>
        </dgm:presLayoutVars>
      </dgm:prSet>
      <dgm:spPr/>
    </dgm:pt>
    <dgm:pt modelId="{9AD73B97-8ACA-4262-93A6-3717227818DB}" type="pres">
      <dgm:prSet presAssocID="{4EE007B2-F612-44FB-B13F-E78B8586155B}" presName="composite" presStyleCnt="0"/>
      <dgm:spPr/>
    </dgm:pt>
    <dgm:pt modelId="{14B10E15-5814-42D3-93FB-FED52DF5F41F}" type="pres">
      <dgm:prSet presAssocID="{4EE007B2-F612-44FB-B13F-E78B8586155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2C5BA33-78B4-45DE-B9CA-22A272DDBE2C}" type="pres">
      <dgm:prSet presAssocID="{4EE007B2-F612-44FB-B13F-E78B8586155B}" presName="desTx" presStyleLbl="alignAccFollowNode1" presStyleIdx="0" presStyleCnt="2">
        <dgm:presLayoutVars>
          <dgm:bulletEnabled val="1"/>
        </dgm:presLayoutVars>
      </dgm:prSet>
      <dgm:spPr/>
    </dgm:pt>
    <dgm:pt modelId="{DC394C6D-CF2B-4266-B39A-654D1A34AF80}" type="pres">
      <dgm:prSet presAssocID="{B73030B4-A5E0-40C1-9AE1-02B25975AA00}" presName="space" presStyleCnt="0"/>
      <dgm:spPr/>
    </dgm:pt>
    <dgm:pt modelId="{7FE4DA29-AAF2-4F50-871A-FAE73406F695}" type="pres">
      <dgm:prSet presAssocID="{DACD2956-BF18-4584-AF2D-3FD839777DF7}" presName="composite" presStyleCnt="0"/>
      <dgm:spPr/>
    </dgm:pt>
    <dgm:pt modelId="{3ACFDD6B-963A-45AA-AED6-29B2C66DA9EB}" type="pres">
      <dgm:prSet presAssocID="{DACD2956-BF18-4584-AF2D-3FD839777DF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AB91EAD-75AE-4168-8A7F-B7A023AD8367}" type="pres">
      <dgm:prSet presAssocID="{DACD2956-BF18-4584-AF2D-3FD839777DF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A846D18-8F00-461A-939E-949F0AB8AB06}" srcId="{112BEBDF-C69E-49A9-B731-0929408024D8}" destId="{4EE007B2-F612-44FB-B13F-E78B8586155B}" srcOrd="0" destOrd="0" parTransId="{72B0F351-ECBB-41B6-83F8-2E44095783F4}" sibTransId="{B73030B4-A5E0-40C1-9AE1-02B25975AA00}"/>
    <dgm:cxn modelId="{F6938530-079E-4F28-907C-9DAADFB08D0E}" type="presOf" srcId="{112BEBDF-C69E-49A9-B731-0929408024D8}" destId="{74DCD11F-98DA-4BA1-A4EB-9AB34E9C3C9D}" srcOrd="0" destOrd="0" presId="urn:microsoft.com/office/officeart/2005/8/layout/hList1"/>
    <dgm:cxn modelId="{74E18B3E-A839-4FBD-B46E-F54F7588502B}" srcId="{4EE007B2-F612-44FB-B13F-E78B8586155B}" destId="{710B3081-F341-4301-9185-BE738C183BBB}" srcOrd="0" destOrd="0" parTransId="{B9937F06-A3DB-4499-9BB1-8E62176A896E}" sibTransId="{A8D13681-61CB-42A0-AAD2-CF508B0ED4F0}"/>
    <dgm:cxn modelId="{38263262-CABC-4074-A5F3-D3F1E4C03317}" srcId="{4EE007B2-F612-44FB-B13F-E78B8586155B}" destId="{3376B25E-A50F-4935-9A84-A2AE7897CCCF}" srcOrd="1" destOrd="0" parTransId="{26269EE4-3ED5-4DE1-B6F2-BC870B778E5F}" sibTransId="{BF637746-0510-4A3C-90B7-D93A16B92D57}"/>
    <dgm:cxn modelId="{47FAB983-5AC4-402F-9B23-9B04750BCF80}" srcId="{DACD2956-BF18-4584-AF2D-3FD839777DF7}" destId="{541A8C11-D03E-479A-A84F-C3458AEF2E9A}" srcOrd="1" destOrd="0" parTransId="{A7821D57-E876-4757-939B-CE33CAD146D4}" sibTransId="{9553568A-AD7C-418C-9424-82556C1E75C3}"/>
    <dgm:cxn modelId="{D99E9A86-7A1F-44E7-B3D8-4ED992367D2C}" type="presOf" srcId="{710B3081-F341-4301-9185-BE738C183BBB}" destId="{72C5BA33-78B4-45DE-B9CA-22A272DDBE2C}" srcOrd="0" destOrd="0" presId="urn:microsoft.com/office/officeart/2005/8/layout/hList1"/>
    <dgm:cxn modelId="{DA9EC09F-C043-4CCF-8D0C-5BA0D9DBA06B}" type="presOf" srcId="{DACD2956-BF18-4584-AF2D-3FD839777DF7}" destId="{3ACFDD6B-963A-45AA-AED6-29B2C66DA9EB}" srcOrd="0" destOrd="0" presId="urn:microsoft.com/office/officeart/2005/8/layout/hList1"/>
    <dgm:cxn modelId="{B1F575A2-BDF2-4BC4-B2E5-16FCD1B4EA37}" type="presOf" srcId="{4EE007B2-F612-44FB-B13F-E78B8586155B}" destId="{14B10E15-5814-42D3-93FB-FED52DF5F41F}" srcOrd="0" destOrd="0" presId="urn:microsoft.com/office/officeart/2005/8/layout/hList1"/>
    <dgm:cxn modelId="{203096C6-3161-47EF-A15A-B83C30ADE451}" type="presOf" srcId="{541A8C11-D03E-479A-A84F-C3458AEF2E9A}" destId="{AAB91EAD-75AE-4168-8A7F-B7A023AD8367}" srcOrd="0" destOrd="1" presId="urn:microsoft.com/office/officeart/2005/8/layout/hList1"/>
    <dgm:cxn modelId="{06F307EA-748F-443B-9B61-7B9DD73BB963}" srcId="{112BEBDF-C69E-49A9-B731-0929408024D8}" destId="{DACD2956-BF18-4584-AF2D-3FD839777DF7}" srcOrd="1" destOrd="0" parTransId="{98DB6D87-467D-4D2D-AF82-D4E303370A2F}" sibTransId="{AFE01F61-F8E8-44D6-97EE-DEA0356464A7}"/>
    <dgm:cxn modelId="{E9F7BDEC-B0B2-4D70-9C76-A3B73A9A92CD}" srcId="{DACD2956-BF18-4584-AF2D-3FD839777DF7}" destId="{7B38BB22-10D0-455B-AB19-4EC1F24B8A2F}" srcOrd="0" destOrd="0" parTransId="{6383180C-1983-48A1-B1E4-F574E14CDBD1}" sibTransId="{0F0ABCB1-B289-4DF9-9D7E-62CB7D38863E}"/>
    <dgm:cxn modelId="{52A635F8-657C-4EDB-8288-F1C84154CA98}" type="presOf" srcId="{3376B25E-A50F-4935-9A84-A2AE7897CCCF}" destId="{72C5BA33-78B4-45DE-B9CA-22A272DDBE2C}" srcOrd="0" destOrd="1" presId="urn:microsoft.com/office/officeart/2005/8/layout/hList1"/>
    <dgm:cxn modelId="{06D3AEFD-1506-435F-AD4C-70B757C12748}" type="presOf" srcId="{7B38BB22-10D0-455B-AB19-4EC1F24B8A2F}" destId="{AAB91EAD-75AE-4168-8A7F-B7A023AD8367}" srcOrd="0" destOrd="0" presId="urn:microsoft.com/office/officeart/2005/8/layout/hList1"/>
    <dgm:cxn modelId="{9B9B519E-80A2-41A6-A2C8-5C67E74A0D39}" type="presParOf" srcId="{74DCD11F-98DA-4BA1-A4EB-9AB34E9C3C9D}" destId="{9AD73B97-8ACA-4262-93A6-3717227818DB}" srcOrd="0" destOrd="0" presId="urn:microsoft.com/office/officeart/2005/8/layout/hList1"/>
    <dgm:cxn modelId="{BF000874-7E99-4EE5-A451-A03219D4705C}" type="presParOf" srcId="{9AD73B97-8ACA-4262-93A6-3717227818DB}" destId="{14B10E15-5814-42D3-93FB-FED52DF5F41F}" srcOrd="0" destOrd="0" presId="urn:microsoft.com/office/officeart/2005/8/layout/hList1"/>
    <dgm:cxn modelId="{E9D031F2-91B9-4A16-96A5-F7E12FB1570D}" type="presParOf" srcId="{9AD73B97-8ACA-4262-93A6-3717227818DB}" destId="{72C5BA33-78B4-45DE-B9CA-22A272DDBE2C}" srcOrd="1" destOrd="0" presId="urn:microsoft.com/office/officeart/2005/8/layout/hList1"/>
    <dgm:cxn modelId="{00231281-3170-4EF9-9FE3-353315749628}" type="presParOf" srcId="{74DCD11F-98DA-4BA1-A4EB-9AB34E9C3C9D}" destId="{DC394C6D-CF2B-4266-B39A-654D1A34AF80}" srcOrd="1" destOrd="0" presId="urn:microsoft.com/office/officeart/2005/8/layout/hList1"/>
    <dgm:cxn modelId="{780E4640-35DF-4066-82A3-76CC21266D18}" type="presParOf" srcId="{74DCD11F-98DA-4BA1-A4EB-9AB34E9C3C9D}" destId="{7FE4DA29-AAF2-4F50-871A-FAE73406F695}" srcOrd="2" destOrd="0" presId="urn:microsoft.com/office/officeart/2005/8/layout/hList1"/>
    <dgm:cxn modelId="{FF90B366-896E-48A1-A2A3-3C8501453F6B}" type="presParOf" srcId="{7FE4DA29-AAF2-4F50-871A-FAE73406F695}" destId="{3ACFDD6B-963A-45AA-AED6-29B2C66DA9EB}" srcOrd="0" destOrd="0" presId="urn:microsoft.com/office/officeart/2005/8/layout/hList1"/>
    <dgm:cxn modelId="{EA7B9838-D68C-4BBA-9A17-0F494CC94549}" type="presParOf" srcId="{7FE4DA29-AAF2-4F50-871A-FAE73406F695}" destId="{AAB91EAD-75AE-4168-8A7F-B7A023AD836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2BEBDF-C69E-49A9-B731-0929408024D8}" type="doc">
      <dgm:prSet loTypeId="urn:microsoft.com/office/officeart/2005/8/layout/vList5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4EE007B2-F612-44FB-B13F-E78B8586155B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超时重传计时器超时</a:t>
          </a:r>
        </a:p>
      </dgm:t>
    </dgm:pt>
    <dgm:pt modelId="{72B0F351-ECBB-41B6-83F8-2E44095783F4}" type="parTrans" cxnId="{1A846D18-8F00-461A-939E-949F0AB8AB0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3030B4-A5E0-40C1-9AE1-02B25975AA00}" type="sibTrans" cxnId="{1A846D18-8F00-461A-939E-949F0AB8AB0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10B3081-F341-4301-9185-BE738C183BBB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网络已经出现了拥塞。</a:t>
          </a:r>
        </a:p>
      </dgm:t>
    </dgm:pt>
    <dgm:pt modelId="{B9937F06-A3DB-4499-9BB1-8E62176A896E}" type="parTrans" cxnId="{74E18B3E-A839-4FBD-B46E-F54F7588502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D13681-61CB-42A0-AAD2-CF508B0ED4F0}" type="sibTrans" cxnId="{74E18B3E-A839-4FBD-B46E-F54F7588502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CD2956-BF18-4584-AF2D-3FD839777DF7}">
      <dgm:prSet phldrT="[文本]" custT="1"/>
      <dgm:spPr/>
      <dgm:t>
        <a:bodyPr/>
        <a:lstStyle/>
        <a:p>
          <a:r>
            <a: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</a:rPr>
            <a:t>收到</a:t>
          </a:r>
          <a:r>
            <a:rPr lang="en-US" altLang="en-US" sz="1800" b="1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</a:rPr>
            <a:t>个重复的确认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DB6D87-467D-4D2D-AF82-D4E303370A2F}" type="parTrans" cxnId="{06F307EA-748F-443B-9B61-7B9DD73BB96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FE01F61-F8E8-44D6-97EE-DEA0356464A7}" type="sibTrans" cxnId="{06F307EA-748F-443B-9B61-7B9DD73BB96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38BB22-10D0-455B-AB19-4EC1F24B8A2F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预示网络可能会出现拥塞。</a:t>
          </a:r>
        </a:p>
      </dgm:t>
    </dgm:pt>
    <dgm:pt modelId="{6383180C-1983-48A1-B1E4-F574E14CDBD1}" type="parTrans" cxnId="{E9F7BDEC-B0B2-4D70-9C76-A3B73A9A92CD}">
      <dgm:prSet/>
      <dgm:spPr/>
      <dgm:t>
        <a:bodyPr/>
        <a:lstStyle/>
        <a:p>
          <a:endParaRPr lang="zh-CN" altLang="en-US" sz="1800"/>
        </a:p>
      </dgm:t>
    </dgm:pt>
    <dgm:pt modelId="{0F0ABCB1-B289-4DF9-9D7E-62CB7D38863E}" type="sibTrans" cxnId="{E9F7BDEC-B0B2-4D70-9C76-A3B73A9A92CD}">
      <dgm:prSet/>
      <dgm:spPr/>
      <dgm:t>
        <a:bodyPr/>
        <a:lstStyle/>
        <a:p>
          <a:endParaRPr lang="zh-CN" altLang="en-US" sz="1800"/>
        </a:p>
      </dgm:t>
    </dgm:pt>
    <dgm:pt modelId="{C564FC20-C6E3-4CAE-946B-A83F6E8038BC}" type="pres">
      <dgm:prSet presAssocID="{112BEBDF-C69E-49A9-B731-0929408024D8}" presName="Name0" presStyleCnt="0">
        <dgm:presLayoutVars>
          <dgm:dir/>
          <dgm:animLvl val="lvl"/>
          <dgm:resizeHandles val="exact"/>
        </dgm:presLayoutVars>
      </dgm:prSet>
      <dgm:spPr/>
    </dgm:pt>
    <dgm:pt modelId="{395CF0BF-C9D2-45EE-B71D-7D7ABD3952E9}" type="pres">
      <dgm:prSet presAssocID="{4EE007B2-F612-44FB-B13F-E78B8586155B}" presName="linNode" presStyleCnt="0"/>
      <dgm:spPr/>
    </dgm:pt>
    <dgm:pt modelId="{5ED00335-F589-4BA4-BB17-2781BB242E82}" type="pres">
      <dgm:prSet presAssocID="{4EE007B2-F612-44FB-B13F-E78B8586155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512784D-6662-4391-87B7-A8A7A5C6CD55}" type="pres">
      <dgm:prSet presAssocID="{4EE007B2-F612-44FB-B13F-E78B8586155B}" presName="descendantText" presStyleLbl="alignAccFollowNode1" presStyleIdx="0" presStyleCnt="2">
        <dgm:presLayoutVars>
          <dgm:bulletEnabled val="1"/>
        </dgm:presLayoutVars>
      </dgm:prSet>
      <dgm:spPr/>
    </dgm:pt>
    <dgm:pt modelId="{A632911B-FCAC-415E-AF61-977E94D9EEE1}" type="pres">
      <dgm:prSet presAssocID="{B73030B4-A5E0-40C1-9AE1-02B25975AA00}" presName="sp" presStyleCnt="0"/>
      <dgm:spPr/>
    </dgm:pt>
    <dgm:pt modelId="{2A5AB3E8-DAF4-4A11-9BC2-049225AF2EEB}" type="pres">
      <dgm:prSet presAssocID="{DACD2956-BF18-4584-AF2D-3FD839777DF7}" presName="linNode" presStyleCnt="0"/>
      <dgm:spPr/>
    </dgm:pt>
    <dgm:pt modelId="{A154C679-5D7E-4C77-AEB3-2EDD606A8CBC}" type="pres">
      <dgm:prSet presAssocID="{DACD2956-BF18-4584-AF2D-3FD839777DF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5B4962A-C5E4-485B-B75C-CD9AAA63DA58}" type="pres">
      <dgm:prSet presAssocID="{DACD2956-BF18-4584-AF2D-3FD839777DF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A846D18-8F00-461A-939E-949F0AB8AB06}" srcId="{112BEBDF-C69E-49A9-B731-0929408024D8}" destId="{4EE007B2-F612-44FB-B13F-E78B8586155B}" srcOrd="0" destOrd="0" parTransId="{72B0F351-ECBB-41B6-83F8-2E44095783F4}" sibTransId="{B73030B4-A5E0-40C1-9AE1-02B25975AA00}"/>
    <dgm:cxn modelId="{FA35CF31-4473-4EE2-B5DD-A540C9B99CEB}" type="presOf" srcId="{112BEBDF-C69E-49A9-B731-0929408024D8}" destId="{C564FC20-C6E3-4CAE-946B-A83F6E8038BC}" srcOrd="0" destOrd="0" presId="urn:microsoft.com/office/officeart/2005/8/layout/vList5"/>
    <dgm:cxn modelId="{74E18B3E-A839-4FBD-B46E-F54F7588502B}" srcId="{4EE007B2-F612-44FB-B13F-E78B8586155B}" destId="{710B3081-F341-4301-9185-BE738C183BBB}" srcOrd="0" destOrd="0" parTransId="{B9937F06-A3DB-4499-9BB1-8E62176A896E}" sibTransId="{A8D13681-61CB-42A0-AAD2-CF508B0ED4F0}"/>
    <dgm:cxn modelId="{A2ACEA76-06A3-4479-A736-4EC1198A69EB}" type="presOf" srcId="{DACD2956-BF18-4584-AF2D-3FD839777DF7}" destId="{A154C679-5D7E-4C77-AEB3-2EDD606A8CBC}" srcOrd="0" destOrd="0" presId="urn:microsoft.com/office/officeart/2005/8/layout/vList5"/>
    <dgm:cxn modelId="{8EA4B857-75D3-4D56-BC1C-25BFE0E28391}" type="presOf" srcId="{7B38BB22-10D0-455B-AB19-4EC1F24B8A2F}" destId="{45B4962A-C5E4-485B-B75C-CD9AAA63DA58}" srcOrd="0" destOrd="0" presId="urn:microsoft.com/office/officeart/2005/8/layout/vList5"/>
    <dgm:cxn modelId="{06F307EA-748F-443B-9B61-7B9DD73BB963}" srcId="{112BEBDF-C69E-49A9-B731-0929408024D8}" destId="{DACD2956-BF18-4584-AF2D-3FD839777DF7}" srcOrd="1" destOrd="0" parTransId="{98DB6D87-467D-4D2D-AF82-D4E303370A2F}" sibTransId="{AFE01F61-F8E8-44D6-97EE-DEA0356464A7}"/>
    <dgm:cxn modelId="{E9F7BDEC-B0B2-4D70-9C76-A3B73A9A92CD}" srcId="{DACD2956-BF18-4584-AF2D-3FD839777DF7}" destId="{7B38BB22-10D0-455B-AB19-4EC1F24B8A2F}" srcOrd="0" destOrd="0" parTransId="{6383180C-1983-48A1-B1E4-F574E14CDBD1}" sibTransId="{0F0ABCB1-B289-4DF9-9D7E-62CB7D38863E}"/>
    <dgm:cxn modelId="{47F58FEF-09EB-49F5-A456-67A625DBAAA8}" type="presOf" srcId="{710B3081-F341-4301-9185-BE738C183BBB}" destId="{A512784D-6662-4391-87B7-A8A7A5C6CD55}" srcOrd="0" destOrd="0" presId="urn:microsoft.com/office/officeart/2005/8/layout/vList5"/>
    <dgm:cxn modelId="{5485FEFD-C078-4726-933D-5B9B2AE81CDA}" type="presOf" srcId="{4EE007B2-F612-44FB-B13F-E78B8586155B}" destId="{5ED00335-F589-4BA4-BB17-2781BB242E82}" srcOrd="0" destOrd="0" presId="urn:microsoft.com/office/officeart/2005/8/layout/vList5"/>
    <dgm:cxn modelId="{943ABE90-8388-4378-9350-5147907CF0BA}" type="presParOf" srcId="{C564FC20-C6E3-4CAE-946B-A83F6E8038BC}" destId="{395CF0BF-C9D2-45EE-B71D-7D7ABD3952E9}" srcOrd="0" destOrd="0" presId="urn:microsoft.com/office/officeart/2005/8/layout/vList5"/>
    <dgm:cxn modelId="{F76D8D80-C8AF-4238-B3EB-D72698B0E51C}" type="presParOf" srcId="{395CF0BF-C9D2-45EE-B71D-7D7ABD3952E9}" destId="{5ED00335-F589-4BA4-BB17-2781BB242E82}" srcOrd="0" destOrd="0" presId="urn:microsoft.com/office/officeart/2005/8/layout/vList5"/>
    <dgm:cxn modelId="{57DF685F-1B95-439A-AD2F-1D59E380B704}" type="presParOf" srcId="{395CF0BF-C9D2-45EE-B71D-7D7ABD3952E9}" destId="{A512784D-6662-4391-87B7-A8A7A5C6CD55}" srcOrd="1" destOrd="0" presId="urn:microsoft.com/office/officeart/2005/8/layout/vList5"/>
    <dgm:cxn modelId="{2BC3CE4B-EA7E-461A-A3BC-5C58474ECD2E}" type="presParOf" srcId="{C564FC20-C6E3-4CAE-946B-A83F6E8038BC}" destId="{A632911B-FCAC-415E-AF61-977E94D9EEE1}" srcOrd="1" destOrd="0" presId="urn:microsoft.com/office/officeart/2005/8/layout/vList5"/>
    <dgm:cxn modelId="{1DA4CD5D-4525-4911-BC59-649280EAA66F}" type="presParOf" srcId="{C564FC20-C6E3-4CAE-946B-A83F6E8038BC}" destId="{2A5AB3E8-DAF4-4A11-9BC2-049225AF2EEB}" srcOrd="2" destOrd="0" presId="urn:microsoft.com/office/officeart/2005/8/layout/vList5"/>
    <dgm:cxn modelId="{FC41A692-14E7-4095-A2F2-D70B911DD5D8}" type="presParOf" srcId="{2A5AB3E8-DAF4-4A11-9BC2-049225AF2EEB}" destId="{A154C679-5D7E-4C77-AEB3-2EDD606A8CBC}" srcOrd="0" destOrd="0" presId="urn:microsoft.com/office/officeart/2005/8/layout/vList5"/>
    <dgm:cxn modelId="{ABF4989C-6D36-438E-BE49-D45D2E828992}" type="presParOf" srcId="{2A5AB3E8-DAF4-4A11-9BC2-049225AF2EEB}" destId="{45B4962A-C5E4-485B-B75C-CD9AAA63DA5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E0585-D949-4566-BF76-D02D180BBC12}">
      <dsp:nvSpPr>
        <dsp:cNvPr id="0" name=""/>
        <dsp:cNvSpPr/>
      </dsp:nvSpPr>
      <dsp:spPr>
        <a:xfrm>
          <a:off x="4855" y="0"/>
          <a:ext cx="4670973" cy="2362325"/>
        </a:xfrm>
        <a:prstGeom prst="roundRect">
          <a:avLst>
            <a:gd name="adj" fmla="val 10000"/>
          </a:avLst>
        </a:prstGeom>
        <a:solidFill>
          <a:srgbClr val="33C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提供不可靠的交付服务</a:t>
          </a:r>
        </a:p>
      </dsp:txBody>
      <dsp:txXfrm>
        <a:off x="4855" y="0"/>
        <a:ext cx="4670973" cy="708697"/>
      </dsp:txXfrm>
    </dsp:sp>
    <dsp:sp modelId="{D183681B-6788-4510-8244-33ABDB9FA7A6}">
      <dsp:nvSpPr>
        <dsp:cNvPr id="0" name=""/>
        <dsp:cNvSpPr/>
      </dsp:nvSpPr>
      <dsp:spPr>
        <a:xfrm>
          <a:off x="257929" y="708697"/>
          <a:ext cx="4164826" cy="1535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尽最大努力的交付。</a:t>
          </a:r>
        </a:p>
      </dsp:txBody>
      <dsp:txXfrm>
        <a:off x="302903" y="753671"/>
        <a:ext cx="4074878" cy="1445563"/>
      </dsp:txXfrm>
    </dsp:sp>
    <dsp:sp modelId="{7585489D-9D2F-4D31-9D4C-5AB50C9A29FA}">
      <dsp:nvSpPr>
        <dsp:cNvPr id="0" name=""/>
        <dsp:cNvSpPr/>
      </dsp:nvSpPr>
      <dsp:spPr>
        <a:xfrm>
          <a:off x="5026151" y="0"/>
          <a:ext cx="4670973" cy="2362325"/>
        </a:xfrm>
        <a:prstGeom prst="roundRect">
          <a:avLst>
            <a:gd name="adj" fmla="val 10000"/>
          </a:avLst>
        </a:prstGeom>
        <a:solidFill>
          <a:srgbClr val="33C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同一时间只能允许一台计算机发送</a:t>
          </a:r>
        </a:p>
      </dsp:txBody>
      <dsp:txXfrm>
        <a:off x="5026151" y="0"/>
        <a:ext cx="4670973" cy="708697"/>
      </dsp:txXfrm>
    </dsp:sp>
    <dsp:sp modelId="{2308D4B3-8A94-4F01-A1CD-6D3FE0E6B3D3}">
      <dsp:nvSpPr>
        <dsp:cNvPr id="0" name=""/>
        <dsp:cNvSpPr/>
      </dsp:nvSpPr>
      <dsp:spPr>
        <a:xfrm>
          <a:off x="5279225" y="709389"/>
          <a:ext cx="4164826" cy="712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以太网采用最简单的随机接入。</a:t>
          </a:r>
        </a:p>
      </dsp:txBody>
      <dsp:txXfrm>
        <a:off x="5300087" y="730251"/>
        <a:ext cx="4123102" cy="670549"/>
      </dsp:txXfrm>
    </dsp:sp>
    <dsp:sp modelId="{33ECD6FF-F077-4874-B06E-403BF190822C}">
      <dsp:nvSpPr>
        <dsp:cNvPr id="0" name=""/>
        <dsp:cNvSpPr/>
      </dsp:nvSpPr>
      <dsp:spPr>
        <a:xfrm>
          <a:off x="5279225" y="1531243"/>
          <a:ext cx="4164826" cy="712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r>
            <a:rPr lang="en-US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CSMA/CD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协议减少冲突</a:t>
          </a:r>
        </a:p>
      </dsp:txBody>
      <dsp:txXfrm>
        <a:off x="5300087" y="1552105"/>
        <a:ext cx="4123102" cy="6705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1E9D0-3339-4A9D-B405-729BDEBEF42B}">
      <dsp:nvSpPr>
        <dsp:cNvPr id="0" name=""/>
        <dsp:cNvSpPr/>
      </dsp:nvSpPr>
      <dsp:spPr>
        <a:xfrm>
          <a:off x="328196" y="1006"/>
          <a:ext cx="6202244" cy="6049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以太网存在的主要问题</a:t>
          </a:r>
        </a:p>
      </dsp:txBody>
      <dsp:txXfrm>
        <a:off x="345914" y="18724"/>
        <a:ext cx="6166808" cy="569500"/>
      </dsp:txXfrm>
    </dsp:sp>
    <dsp:sp modelId="{CD749DB9-A3DA-4BAE-A943-A6CBF8D11D51}">
      <dsp:nvSpPr>
        <dsp:cNvPr id="0" name=""/>
        <dsp:cNvSpPr/>
      </dsp:nvSpPr>
      <dsp:spPr>
        <a:xfrm>
          <a:off x="328196" y="714831"/>
          <a:ext cx="604936" cy="60493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2F456-D28D-4B2C-B6C1-C950F98B60F5}">
      <dsp:nvSpPr>
        <dsp:cNvPr id="0" name=""/>
        <dsp:cNvSpPr/>
      </dsp:nvSpPr>
      <dsp:spPr>
        <a:xfrm>
          <a:off x="969429" y="714831"/>
          <a:ext cx="5561010" cy="604936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广播风暴</a:t>
          </a:r>
        </a:p>
      </dsp:txBody>
      <dsp:txXfrm>
        <a:off x="998965" y="744367"/>
        <a:ext cx="5501938" cy="545864"/>
      </dsp:txXfrm>
    </dsp:sp>
    <dsp:sp modelId="{B5E1697C-B7F9-432F-8B8C-2C72CB3A8DB2}">
      <dsp:nvSpPr>
        <dsp:cNvPr id="0" name=""/>
        <dsp:cNvSpPr/>
      </dsp:nvSpPr>
      <dsp:spPr>
        <a:xfrm>
          <a:off x="328196" y="1392360"/>
          <a:ext cx="604936" cy="60493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DA71B-6517-4DAC-B756-9D99ECEF317E}">
      <dsp:nvSpPr>
        <dsp:cNvPr id="0" name=""/>
        <dsp:cNvSpPr/>
      </dsp:nvSpPr>
      <dsp:spPr>
        <a:xfrm>
          <a:off x="969429" y="1392360"/>
          <a:ext cx="5561010" cy="604936"/>
        </a:xfrm>
        <a:prstGeom prst="roundRect">
          <a:avLst>
            <a:gd name="adj" fmla="val 1667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安全问题</a:t>
          </a:r>
        </a:p>
      </dsp:txBody>
      <dsp:txXfrm>
        <a:off x="998965" y="1421896"/>
        <a:ext cx="5501938" cy="545864"/>
      </dsp:txXfrm>
    </dsp:sp>
    <dsp:sp modelId="{14191CB4-CBF2-4672-8D7E-4805CD0EC527}">
      <dsp:nvSpPr>
        <dsp:cNvPr id="0" name=""/>
        <dsp:cNvSpPr/>
      </dsp:nvSpPr>
      <dsp:spPr>
        <a:xfrm>
          <a:off x="328196" y="2069890"/>
          <a:ext cx="604936" cy="60493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5535F-D8E0-422C-ADEA-B4B65A834513}">
      <dsp:nvSpPr>
        <dsp:cNvPr id="0" name=""/>
        <dsp:cNvSpPr/>
      </dsp:nvSpPr>
      <dsp:spPr>
        <a:xfrm>
          <a:off x="969429" y="2069890"/>
          <a:ext cx="5561010" cy="604936"/>
        </a:xfrm>
        <a:prstGeom prst="roundRect">
          <a:avLst>
            <a:gd name="adj" fmla="val 1667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管理困难 等</a:t>
          </a:r>
        </a:p>
      </dsp:txBody>
      <dsp:txXfrm>
        <a:off x="998965" y="2099426"/>
        <a:ext cx="5501938" cy="5458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3C829-AB1E-47B7-AF09-3489EE20D87D}">
      <dsp:nvSpPr>
        <dsp:cNvPr id="0" name=""/>
        <dsp:cNvSpPr/>
      </dsp:nvSpPr>
      <dsp:spPr>
        <a:xfrm>
          <a:off x="43" y="23965"/>
          <a:ext cx="4167154" cy="132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sp:txBody>
      <dsp:txXfrm>
        <a:off x="43" y="23965"/>
        <a:ext cx="4167154" cy="1324800"/>
      </dsp:txXfrm>
    </dsp:sp>
    <dsp:sp modelId="{ADDE5FA6-A293-4009-AA1F-EF295D5FC61B}">
      <dsp:nvSpPr>
        <dsp:cNvPr id="0" name=""/>
        <dsp:cNvSpPr/>
      </dsp:nvSpPr>
      <dsp:spPr>
        <a:xfrm>
          <a:off x="43" y="1348766"/>
          <a:ext cx="4167154" cy="2020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虚拟地址、软件地址、逻辑地址。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网络层和以上各层使用。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IP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数据报的首部。</a:t>
          </a:r>
        </a:p>
      </dsp:txBody>
      <dsp:txXfrm>
        <a:off x="43" y="1348766"/>
        <a:ext cx="4167154" cy="2020320"/>
      </dsp:txXfrm>
    </dsp:sp>
    <dsp:sp modelId="{A906942F-4CD9-406B-9703-826231E59346}">
      <dsp:nvSpPr>
        <dsp:cNvPr id="0" name=""/>
        <dsp:cNvSpPr/>
      </dsp:nvSpPr>
      <dsp:spPr>
        <a:xfrm>
          <a:off x="4750599" y="23965"/>
          <a:ext cx="4167154" cy="132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sp:txBody>
      <dsp:txXfrm>
        <a:off x="4750599" y="23965"/>
        <a:ext cx="4167154" cy="1324800"/>
      </dsp:txXfrm>
    </dsp:sp>
    <dsp:sp modelId="{2B0E6FE9-FDF1-417E-907E-1431E3C22379}">
      <dsp:nvSpPr>
        <dsp:cNvPr id="0" name=""/>
        <dsp:cNvSpPr/>
      </dsp:nvSpPr>
      <dsp:spPr>
        <a:xfrm>
          <a:off x="4750599" y="1348766"/>
          <a:ext cx="4167154" cy="20203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固化在网卡上的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ROM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中。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硬件地址、物理地址。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数据链路层使用。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放在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MAC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帧的首部。</a:t>
          </a:r>
        </a:p>
      </dsp:txBody>
      <dsp:txXfrm>
        <a:off x="4750599" y="1348766"/>
        <a:ext cx="4167154" cy="2020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10E15-5814-42D3-93FB-FED52DF5F41F}">
      <dsp:nvSpPr>
        <dsp:cNvPr id="0" name=""/>
        <dsp:cNvSpPr/>
      </dsp:nvSpPr>
      <dsp:spPr>
        <a:xfrm>
          <a:off x="46" y="5020"/>
          <a:ext cx="4430456" cy="17721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拥塞控制</a:t>
          </a:r>
        </a:p>
      </dsp:txBody>
      <dsp:txXfrm>
        <a:off x="46" y="5020"/>
        <a:ext cx="4430456" cy="1772182"/>
      </dsp:txXfrm>
    </dsp:sp>
    <dsp:sp modelId="{72C5BA33-78B4-45DE-B9CA-22A272DDBE2C}">
      <dsp:nvSpPr>
        <dsp:cNvPr id="0" name=""/>
        <dsp:cNvSpPr/>
      </dsp:nvSpPr>
      <dsp:spPr>
        <a:xfrm>
          <a:off x="46" y="1777202"/>
          <a:ext cx="4430456" cy="28108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防止过多的数据注入到网络中，避免网络中的路由器或链路过载。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是一个全局性的过程，涉及到所有的主机、路由器，以及与降低网络传输性能有关的所有因素。</a:t>
          </a:r>
        </a:p>
      </dsp:txBody>
      <dsp:txXfrm>
        <a:off x="46" y="1777202"/>
        <a:ext cx="4430456" cy="2810880"/>
      </dsp:txXfrm>
    </dsp:sp>
    <dsp:sp modelId="{3ACFDD6B-963A-45AA-AED6-29B2C66DA9EB}">
      <dsp:nvSpPr>
        <dsp:cNvPr id="0" name=""/>
        <dsp:cNvSpPr/>
      </dsp:nvSpPr>
      <dsp:spPr>
        <a:xfrm>
          <a:off x="5050766" y="5020"/>
          <a:ext cx="4430456" cy="177218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流量控制</a:t>
          </a:r>
        </a:p>
      </dsp:txBody>
      <dsp:txXfrm>
        <a:off x="5050766" y="5020"/>
        <a:ext cx="4430456" cy="1772182"/>
      </dsp:txXfrm>
    </dsp:sp>
    <dsp:sp modelId="{AAB91EAD-75AE-4168-8A7F-B7A023AD8367}">
      <dsp:nvSpPr>
        <dsp:cNvPr id="0" name=""/>
        <dsp:cNvSpPr/>
      </dsp:nvSpPr>
      <dsp:spPr>
        <a:xfrm>
          <a:off x="5050766" y="1777202"/>
          <a:ext cx="4430456" cy="281088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抑制发送端发送数据的速率，以使接收端来得及接收。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点对点通信量的控制，是个端到端的问题。</a:t>
          </a:r>
        </a:p>
      </dsp:txBody>
      <dsp:txXfrm>
        <a:off x="5050766" y="1777202"/>
        <a:ext cx="4430456" cy="2810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2784D-6662-4391-87B7-A8A7A5C6CD55}">
      <dsp:nvSpPr>
        <dsp:cNvPr id="0" name=""/>
        <dsp:cNvSpPr/>
      </dsp:nvSpPr>
      <dsp:spPr>
        <a:xfrm rot="5400000">
          <a:off x="6326716" y="-2657859"/>
          <a:ext cx="819574" cy="634023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网络已经出现了拥塞。</a:t>
          </a:r>
        </a:p>
      </dsp:txBody>
      <dsp:txXfrm rot="-5400000">
        <a:off x="3566384" y="142481"/>
        <a:ext cx="6300231" cy="739558"/>
      </dsp:txXfrm>
    </dsp:sp>
    <dsp:sp modelId="{5ED00335-F589-4BA4-BB17-2781BB242E82}">
      <dsp:nvSpPr>
        <dsp:cNvPr id="0" name=""/>
        <dsp:cNvSpPr/>
      </dsp:nvSpPr>
      <dsp:spPr>
        <a:xfrm>
          <a:off x="0" y="25"/>
          <a:ext cx="3566384" cy="102446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超时重传计时器超时</a:t>
          </a:r>
        </a:p>
      </dsp:txBody>
      <dsp:txXfrm>
        <a:off x="50010" y="50035"/>
        <a:ext cx="3466364" cy="924448"/>
      </dsp:txXfrm>
    </dsp:sp>
    <dsp:sp modelId="{45B4962A-C5E4-485B-B75C-CD9AAA63DA58}">
      <dsp:nvSpPr>
        <dsp:cNvPr id="0" name=""/>
        <dsp:cNvSpPr/>
      </dsp:nvSpPr>
      <dsp:spPr>
        <a:xfrm rot="5400000">
          <a:off x="6326716" y="-1582167"/>
          <a:ext cx="819574" cy="6340239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预示网络可能会出现拥塞。</a:t>
          </a:r>
        </a:p>
      </dsp:txBody>
      <dsp:txXfrm rot="-5400000">
        <a:off x="3566384" y="1218173"/>
        <a:ext cx="6300231" cy="739558"/>
      </dsp:txXfrm>
    </dsp:sp>
    <dsp:sp modelId="{A154C679-5D7E-4C77-AEB3-2EDD606A8CBC}">
      <dsp:nvSpPr>
        <dsp:cNvPr id="0" name=""/>
        <dsp:cNvSpPr/>
      </dsp:nvSpPr>
      <dsp:spPr>
        <a:xfrm>
          <a:off x="0" y="1075717"/>
          <a:ext cx="3566384" cy="1024468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收到</a:t>
          </a:r>
          <a:r>
            <a:rPr lang="en-US" altLang="en-US" sz="18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18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个重复的确认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0010" y="1125727"/>
        <a:ext cx="3466364" cy="9244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3:52:2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1 896,'0'0'128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3:54:5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1060 6 2385,'0'0'-93,"-8"-4"1010,-68 4 996,-15-1-1289,-1 4 1,-134 19-1,-2 21-293,117-30 21,-82 14-272,162-24-99,27-2-96,12-1 12,7 1 68,95 19-66,25 3-17,268-11 102,-195-12 54,-208 0 82,-3 0 0,-637 0 525,639 0-501,5 0-955,394 8 601,48-8 306,-841 0 56,390 0-203,-1-1-1,2 1 1,-1 0 0,0 0 0,1 1 0,-2-1 0,1 1 0,1 1-1,-1-1 1,1 0 0,-2 1 0,2 0 0,0 0 0,-1 0-1,1 1 1,-5 4 0,-22 25-1843,-9-4-1190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3:55:2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4 448,'0'0'3063,"0"-3"-1571,11 12-1277,18 34-192,2 0-1,2-2 1,2-1-1,54 47 0,-6-19-6,-75-63 1446,-7-5-1441,-1-1-1,1 1 1,1 0-1,-2 0 0,1 0 1,-1-2-1,1 2 0,1 0 1,-2-1-1,1 1 0,-1 0 1,1-1-1,-1 1 1,2-2-1,-2 2 0,1-1 1,-1 1-1,1-1 0,-1 1 1,0-2-1,2 1 0,-2 1 1,1-3-1,7-22-84,-5 17 98,2-11-35,-2 10 3,-1 1 0,2-1-1,-1-1 1,1 2-1,0 0 1,1-1 0,1 1-1,7-11 1,-5 14-14,0 1 1,0-1-1,1 1 1,-1 0-1,2 0 1,-1 1-1,-1 0 1,1 1-1,18-2 1,-7 0-127,1 2 1,-1 1-1,0 1 0,30 3 1,-44-2 138,1 2 0,0-1 1,-2 1-1,2 1 1,-1-1-1,0 1 0,-1 0 1,0 0-1,1 1 1,-1-1-1,8 11 1,22 15 18,190 128-7,-211-149-15,-1-1-1,2 0 0,19 9 1,-32-15 3,-1-2 1,2 1-1,-2-1 1,0 0-1,2 0 1,-2 1 0,1-1-1,0 0 1,0 0-1,-1 0 1,2 0-1,-2 0 1,0 0-1,2-1 1,-2 1-1,1 0 1,0-1 0,0 1-1,-1-2 1,0 1-1,3 0 1,0-3 0,0 1 0,0-1-1,-1 0 1,1 0 0,-1 0 0,2-4 0,2 0 9,19-31 43,-7 13-53,0 0 1,1 1 0,0 1-1,37-32 1,-37 43-90,-17 11 160,6 4-54,-5-1-29,1 2 0,-1-2 0,0 2-1,0-1 1,0 1 0,0 0-1,-1-1 1,6 6 0,7 6 6,118 83 10,-65-46 3,-61-46-7,1 0 0,1 1 0,-1-1 0,0-1 0,1 0 0,-1 0 0,2 0 0,15 3 0,-19-7-16,0 1 1,-1-1-1,1 0 0,0 0 1,-1 0-1,1-1 1,-2-1-1,2 2 1,0-2-1,-1 0 1,0 0-1,0 0 1,0 0-1,0-2 0,9-6 1,1-2-207,-1-1 0,-2 0 0,0-2 0,1-1 0,14-23 0,92-147-2695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3:56:1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1249,'0'0'3919,"-16"0"-3004,-71 0 1857,86 0-2409,2 3-387,1-3 23,-2 1 1,1 0 0,-1-1-1,1 2 1,-1-2 0,2 1-1,-1-1 1,-1 1 0,1-1 0,1 0-1,-2 2 1,1-2 0,0 0-1,1 0 1,-2 1 0,1-1-1,2 0 1,130 23 129,-94-18-66,245 16 121,4-21-143,-130-1-10,550 1 1,-706 0-32,-2-1 0,1 1 0,0 0 0,-1 0-1,2 0 1,-1 0 0,0 0 0,-1 0-1,2 0 1,-1 0 0,-1 1 0,1-1-1,1 0 1,-1 0 0,-1 0 0,1 1 0,1-1-1,-2 0 1,1 2 0,-1-2 0,1 1-1,1-1 1,-2 1 0,1-1 0,-1 2-1,1-2 1,-1 1 0,0-1 0,2 1 0,-2 1-1,1-2 1,-1 1 0,0 0 0,1 1-1,2 0 177,-3-2-237,0 0 0,0 0-1,0 0 1,0 0-1,0 0 1,1 0-1,-1 0 1,0 0 0,0 0-1,0 0 1,0 0-1,0 0 1,2 0 0,-2 0-1,0 2 1,0-2-1,0 0 1,0 0-1,0 0 1,0 0 0,0 0-1,0 0 1,1 0-1,-1 0 1,0 1-1,0-1 1,0 0 0,0 0-1,0 0 1,0 0-1,0 0 1,0 0 0,0 1-1,0-1 1,0 0-1,0 0 1,0 0-1,0 0 1,0 0 0,0 2-1,0-2 1,0 0-1,0 0 1,0 16-3295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4:04:0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64 0,'0'0'1654,"-1"-11"-1472,-3-30 68,3 30-4,-21 11 461,22 7-841,-1 83 116,4 117 503,-1-190-462,1 2 0,1-2 0,1 1 0,9 20 0,-6-16 57,9 42 0,-14-46 101,-3 2-1,0 31 1,-2-14-160,1-19 40,0 0-1,-2 0 1,-5 19-1,1-5-3,6-12-58,1 7-4,0-26-27,0-6-851,0-21-435,0-15-888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4:04:04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0 352,'0'0'360,"0"37"-141,0 119-155,0 200 1305,-11-204-874,1-2-331,10-8 92,-2-127 139,2-15-384,0 0 0,0 0-1,0 0 1,0 0 0,0 0-1,0 0 1,0 0 0,0 0-1,0 0 1,0 0 0,0 0 0,-1 0-1,1 0 1,0 0 0,0 0-1,0 0 1,0 0 0,0 1-1,0-1 1,0 0 0,0 0-1,0 0 1,0 0 0,0 0-1,0 0 1,0 0 0,0 0-1,-1 0 1,1 0 0,0 0-1,0 0 1,0 0 0,0 0-1,0 0 1,0-1 0,0 1-1,0 0 1,0 0 0,0 0-1,0 0 1,0 0 0,0 0-1,0 0 1,0 0 0,-2 0-1,2 0 1,0 0 0,0 0-1,0 0 1,0 0 0,0 0-1,0 0 1,0 0 0,0 0-1,0 0 1,0-1 0,0 1-1,-9-22 184,6 13-270,-1-3-459,0 0 1,-4-24-1,7 4-1392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4:04:0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1 512,'0'0'432,"0"237"-368,0-185 0,0-9-64,0 1 16,0-8 1,-8-4-17,8-5-257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4:04:1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17 352,'0'0'3869,"-1"0"-3805,-5 0-30,6 0 361,-4 0-288,-22 0 1229,19 2-650,19 0-390,32 4-269,51-2 0,-3-2 13,-51 1-25,71 9-14,-43-1 271,1-5 1,108-2-1,-168-4-153,-13-8 345,2 6-455,-2 0 0,0 0 0,1 0 0,-2 0 0,1 0 0,0 1 0,1 0 0,-2-1 0,1 1 0,0 1 0,-1-1 0,-4-1 0,-4 0-3,-41-10-5,-2 2-1,1 5 1,-72-2 0,54 5 17,-220-1 49,116 4-56,175-1-3,6 2-705,269 40 420,-196-31-72,2-4 0,124-5-1,-125-2-1670,-71 0-1552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4:04:3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5619,'0'0'544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04:04:3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5811,'0'0'416,"195"19"-1168,-113-19-3074</inkml:trace>
  <inkml:trace contextRef="#ctx0" brushRef="#br0" timeOffset="1">881 72 5202,'0'0'1969,"76"0"-5778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1-25T06:10:58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6027 1850 528 0,'0'0'47'15,"0"0"7"-15,0 0-26 16,0 0 11-16,0 0 18 15,0 0-24-15,0 0-21 16,-20-14-8-16,20 14 3 16,0 0-2-16,0 0-1 0,-15 18-1 15,-21 42 5-15,-22 36-4 16,-20 33 14-16,-19 20 10 16,-4 3 4-16,-1-5-15 15,12-15-4-15,12-14-5 16,20-16-3-16,11-10-3 15,13-10-2-15,1-4 0 16,6-3-2-16,4-7 1 16,8-15-3-16,2-15-4 15,6-20-7-15,7-12-4 16,0-6-4-16,0 0 0 16,0 0-12-16,0 0-26 15,0-26-24-15,0-23 30 0,16-19-9 16,22-12-93-1,9 5-96-15</inkml:trace>
  <inkml:trace contextRef="#ctx0" brushRef="#br0" timeOffset="398.02">6191 2674 398 0,'0'0'37'16,"0"0"-17"-16,0 0 21 16,0 151 18-16,0-84-8 0,8-5-34 15,8-13 6-15,4-10 5 16,1-15-15-16,8-10-13 16,6-10-3-16,12-4-6 15,11-2 7-15,19-36 2 16,17-15 1-16,4-19 5 15,-4-6-1-15,-25-2 4 16,-22 2-1-16,-38 11 0 16,-9 13 19-16,-60 12 19 15,-37 18 19-15,-32 13-33 16,-16 11-21-16,-14 8-3 16,4 35-7-16,17 8-1 15,42-7 0-15,44-8-8 0,38-9-14 16,14-7-59-16,14-6 1 15,53-8-12-15,23-6-70 16,26-13-104-16</inkml:trace>
  <inkml:trace contextRef="#ctx0" brushRef="#br0" timeOffset="878">7575 2326 527 0,'0'0'49'15,"0"0"-18"-15,0 0 25 16,0 0-17-16,0 0 7 16,-246-91-46-16,192 98-4 15,-1 24-3-15,5 7 0 16,10 7 1-16,17-1-8 16,12-2 7-16,11 3-3 15,0-5 10-15,27 2 0 16,20-2 0-16,11-2-3 15,9-5 2-15,-13-5 2 0,-7-4-1 16,-16-2 4-16,-11 1 6 16,-20 3-3-16,0 8 1 15,-24 6 10-15,-43 9-3 16,-11 2-2-16,-10-6-6 16,14-14-2-16,30-18-5 15,21-13 0-15,23 0-24 16,0-35-93-16,50-30-27 15,35-22-268-15</inkml:trace>
  <inkml:trace contextRef="#ctx0" brushRef="#br0" timeOffset="1417.04">7919 2115 646 0,'0'0'66'0,"0"0"-54"15,0 0-2-15,0 0 9 16,0 0 7-16,0 0-13 15,240 0-13-15,-142 0-7 16,-11 0-32-16,-13-7-37 16,-13 0-56-16,-21 1-171 15</inkml:trace>
  <inkml:trace contextRef="#ctx0" brushRef="#br0" timeOffset="1960.08">8175 2202 206 0,'0'0'133'0,"0"0"-7"16,0 0-42-16,0 0-19 16,0 0-6-16,0 0-18 0,0-5-22 15,-3 5-8-15,3 0-1 16,0 0 3-16,0 0 1 16,-4 0-4-16,-5 16-5 15,2 30 4-15,-9 39 4 16,1 38 12-16,-1 28 4 15,1 5-11-15,3-4-6 16,8-21-5-16,4-28 0 16,0-19-6-16,0-24-1 15,4-19 4-15,3-19-4 16,-2-13-2-16,-1-7 2 16,-4-2 2-16,0 0-1 15,0 0 4-15,0 0-4 16,0 0 3-16,0 0-4 15,0 0-1-15,0 0-5 0,0 0-7 16,0 0-9-16,0 0-13 16,0 0-7-16,0 0 7 15,0 0 2-15,0-2-26 16,0-28-19-16,0-18-76 16,0-21-130-16</inkml:trace>
  <inkml:trace contextRef="#ctx0" brushRef="#br0" timeOffset="2371.77">8253 2393 256 0,'0'0'108'15,"0"0"-20"-15,0 0-45 16,0 0 3-16,0 0-10 16,0 0-19-16,36-71-1 15,-5 65-10-15,13 6-6 16,6 0 0-16,12 23 0 16,1 16 0-16,-12 3 0 15,-13 7 0-15,-15-4 9 16,-16-3-3-16,-7-4-3 0,0-5-3 15,-3 0 19-15,-44 8 21 16,-27 3 4-16,-24 3-1 16,-14-5-7-16,-2-6 14 15,18-12-15-15,29-12-24 16,24-10-6-16,19-2-5 16,17 0-25-16,7-2-22 15,0-27-52-15,34-18-23 16,37-18-59-16,19-4-156 15</inkml:trace>
  <inkml:trace contextRef="#ctx0" brushRef="#br0" timeOffset="2655.31">8816 2291 531 0,'0'0'28'15,"0"0"-22"-15,0 0 11 16,0 0 15-16,0 0-24 0,237-58-8 15,-190 58-5-15,0 0-33 16,-17 0-50-16,-10 17-155 16</inkml:trace>
  <inkml:trace contextRef="#ctx0" brushRef="#br0" timeOffset="2930.93">8932 2400 515 0,'0'0'57'0,"0"0"-5"15,0 0-28-15,-38 118 24 16,25-31 12-16,2 13-22 16,-2 0-22-16,13-6-2 15,0-10-11-15,0-10-3 16,0-14 0-16,0-11-1 15,9-13-15-15,-1-14-21 16,-1-13-13-16,-4-5-22 16,-3-4-20-16,0-4-89 15,0-20-2-15</inkml:trace>
  <inkml:trace contextRef="#ctx0" brushRef="#br0" timeOffset="3150.46">8884 2837 422 0,'0'0'97'16,"0"0"-64"-16,0 0 11 15,0 0 3-15,0 0-21 16,0 0 4-16,158-20 15 16,-70 13-33-16,-10 5-12 15,-11 2 2-15,-13 0-2 16,-10 0-1-16,-13 0-17 15,-8 0-27-15,-16 4-46 16,-7 9-29-16,0 1-130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29729-546A-412A-AB29-A53012835F6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FE48E-3F7B-4D1E-A832-69BF7CE88E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85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FE48E-3F7B-4D1E-A832-69BF7CE88E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41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FE48E-3F7B-4D1E-A832-69BF7CE88EE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39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15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99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8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8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8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378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87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900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849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FE48E-3F7B-4D1E-A832-69BF7CE88EE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628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FE48E-3F7B-4D1E-A832-69BF7CE88EE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934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068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54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86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5380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810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798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031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794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4094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69540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836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000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92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11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104911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3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493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31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31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75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75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8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78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78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8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82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83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83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1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13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20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20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2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10502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1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3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503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43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43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4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47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0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50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50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0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50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50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1257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6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56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105057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8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58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58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9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59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59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9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6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5069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4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74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105074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76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076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7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76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7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77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6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96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96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7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9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10509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98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98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3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103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5103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1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131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131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2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13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13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01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20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5201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880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8228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4956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EF53D5-EC70-4BC0-9B02-35066A2D8D88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031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3909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3234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5780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30842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8509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1843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76530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0224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2567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2858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98367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217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0381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67678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7148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80271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23147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00133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30720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13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13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23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23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99506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3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83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983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109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4496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36710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28748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23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23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74065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9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59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59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772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80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180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18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0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290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290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9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299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299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00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300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300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01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30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30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83790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0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480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480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05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505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505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CD96A-A6EF-4B0B-9885-C22D65D2CD20}" type="slidenum">
              <a:rPr lang="zh-CN" altLang="en-US" smtClean="0"/>
              <a:t>137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D6B6E-C93F-2A91-F222-45D3EA91E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E37FD0-4DDC-E21C-993C-49E0D2BF6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4DB89C-87C1-41E9-7CC9-FDB4285B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A3514-0605-9658-1A76-3CDFF4F5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87B99-FEAB-DFC5-BAFE-56864E9A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28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1C189-41D0-FA2E-6937-AB9C342E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17CEE-30A6-E5EC-4367-FE27335B5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2297D-E882-F87D-672E-77E097E4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6764D-744C-9551-619B-FC4A6682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07776D-AD53-1971-696D-EE2593E8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87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F6378-6A9C-6825-4533-8D0936F5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74273B-595E-E2DE-AE89-700118C41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A46FA-31ED-FA56-26B2-6CFABF53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19D6E8-3A6C-A0B5-19A4-3D75E865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F20E2-DF4B-EA43-85BC-3BBA9343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7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2E792-5AF0-321C-7C4D-BC6830A2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B80AA3-0E0E-9B17-3179-92C5B96BE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D62226-820D-3103-395A-D4BC99FBE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4F2F66-C577-0C48-81FA-D8A74A87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6B573-D2F1-51D3-B70E-5B0C61CA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D48944-0C98-7514-8E69-C92ED067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20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E48FB-EBAA-F803-BFBB-2D7A5476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7330C1-A007-2A18-4D3A-91F716E54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821C9B-6DCA-3297-3C8A-6C02DCFE1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597E07-F7A3-862F-9E20-03D877A85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81B7E6-3063-D1ED-EAA5-7B3EBDFB5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9B8F99-290D-3F07-BEE3-F882A3C5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9F3DD5-1C56-DC64-2872-03689A33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6A9C07-5CD2-8D1F-A6EF-98F60F92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578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B8F69-80B6-3BD2-B30A-3B743860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900690-235C-6F7D-1E60-17C87E36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382EB0-07B2-1E34-5681-EF7CBA17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7135C8-F092-8AD7-CBC6-2D456DB3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5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32630B-FB28-FBA9-0A05-E6435B0B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AAA1A-C500-F521-0D20-D5CDA307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E8410-17EF-355A-94E0-A5FDAD55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45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5C708-2104-F484-5586-305CC6B5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C672A-1990-B6C2-E945-323C5622C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E923B-E2C4-508D-8DC5-87AFD882F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EBE014-9535-2E52-986F-90205F71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4A462F-4033-A574-5442-B2F9DCCA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F901D8-EBA1-CAF5-612C-3967C6BC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16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65857-6D8B-2D61-1EFE-25B6D07B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1692A2-8CBF-00F1-3702-76F04AE1E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4C73D8-1B32-09B7-A003-86F95A208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EF6D16-B17E-08F4-A8A7-F255ED16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840D03-CEF6-AAC0-1952-9A580780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659D1F-3CB9-D9DE-F47A-0196F0B7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62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83086-3AEB-4AA4-9156-4B2F6DEE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54B96E-7288-8ABD-C1A1-10441387E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52C3F-C765-A48F-59E3-75144FD7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56A96-60F9-00F6-7CAA-1E09E9D6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08BDB2-BFF2-3BFC-19CE-A839AB74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6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6AA92E-0910-6E2E-3F12-C19BC454C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C6D6D7-EA45-80B0-4D66-7DD0E0360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7A438-C451-69B2-C8A1-032B0F99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DFC8B0-0F66-7DA5-7771-F68766DF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80B5BE-0ACB-E850-BDAE-2DB0AD4D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484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43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621792" y="812359"/>
            <a:ext cx="10838688" cy="47201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621792" y="1292835"/>
            <a:ext cx="10838688" cy="4519831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ts val="4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667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>
              <a:lnSpc>
                <a:spcPts val="4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962" indent="-304792">
              <a:lnSpc>
                <a:spcPts val="4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2133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4000"/>
              </a:lnSpc>
              <a:spcBef>
                <a:spcPts val="0"/>
              </a:spcBef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4000"/>
              </a:lnSpc>
              <a:spcBef>
                <a:spcPts val="0"/>
              </a:spcBef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666122" y="812359"/>
            <a:ext cx="8843433" cy="4720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979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621792" y="812359"/>
            <a:ext cx="10838688" cy="47201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666122" y="812359"/>
            <a:ext cx="8843433" cy="4720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5426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621792" y="819778"/>
            <a:ext cx="10838688" cy="563033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666122" y="858766"/>
            <a:ext cx="8843433" cy="49029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4630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AutoShape 12"/>
          <p:cNvSpPr>
            <a:spLocks noChangeArrowheads="1"/>
          </p:cNvSpPr>
          <p:nvPr userDrawn="1"/>
        </p:nvSpPr>
        <p:spPr bwMode="auto">
          <a:xfrm>
            <a:off x="621792" y="819778"/>
            <a:ext cx="10838688" cy="563033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8620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666122" y="858766"/>
            <a:ext cx="8843433" cy="49029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048621" name="内容占位符 7"/>
          <p:cNvSpPr>
            <a:spLocks noGrp="1"/>
          </p:cNvSpPr>
          <p:nvPr>
            <p:ph sz="quarter" idx="11"/>
          </p:nvPr>
        </p:nvSpPr>
        <p:spPr>
          <a:xfrm>
            <a:off x="621792" y="1387279"/>
            <a:ext cx="10838688" cy="4399628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667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962" indent="-304792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2133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2884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FF5346-6FC7-8300-1909-41CB24AC2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AA3CA-CB87-F46E-EFC3-B38E2D299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8D7224-F023-2991-E6B1-9CD27C796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FEC55-1629-449F-9CD3-2F400671132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F8D156-3EF0-4C53-9E3C-CBD373783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33337-5F30-822B-C35C-B4642E95E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5D535-13C6-4F59-957F-07E01AF49C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84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customXml" Target="../ink/ink3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10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8.xml"/><Relationship Id="rId1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0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936BB-B4E4-C565-7EDF-E1254E01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期末复习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2BE90-5A92-755B-5839-F615ACCEA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3971" y="3349487"/>
            <a:ext cx="8729870" cy="1540565"/>
          </a:xfrm>
        </p:spPr>
        <p:txBody>
          <a:bodyPr>
            <a:normAutofit/>
          </a:bodyPr>
          <a:lstStyle/>
          <a:p>
            <a:r>
              <a:rPr lang="zh-CN" altLang="en-US" dirty="0"/>
              <a:t>复习不要局限于这个</a:t>
            </a:r>
            <a:r>
              <a:rPr lang="en-US" altLang="zh-CN" dirty="0"/>
              <a:t>ppt</a:t>
            </a:r>
            <a:r>
              <a:rPr lang="zh-CN" altLang="en-US" dirty="0"/>
              <a:t>，将给出内容复习透彻</a:t>
            </a:r>
            <a:endParaRPr lang="en-US" altLang="zh-CN" dirty="0"/>
          </a:p>
          <a:p>
            <a:r>
              <a:rPr lang="zh-CN" altLang="en-US" dirty="0"/>
              <a:t>要结合课后作业，将所有作业复习到位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58D48FC-219A-24EC-2240-A4E5849076A2}"/>
              </a:ext>
            </a:extLst>
          </p:cNvPr>
          <p:cNvSpPr txBox="1">
            <a:spLocks/>
          </p:cNvSpPr>
          <p:nvPr/>
        </p:nvSpPr>
        <p:spPr>
          <a:xfrm>
            <a:off x="1963971" y="2086555"/>
            <a:ext cx="8729870" cy="1540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800" b="1" dirty="0">
                <a:solidFill>
                  <a:srgbClr val="FF0000"/>
                </a:solidFill>
              </a:rPr>
              <a:t>！！！！注意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10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936BB-B4E4-C565-7EDF-E1254E01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第一章（填空选择和判断）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2BE90-5A92-755B-5839-F615ACCEA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362"/>
            <a:ext cx="10515600" cy="4376275"/>
          </a:xfrm>
        </p:spPr>
        <p:txBody>
          <a:bodyPr>
            <a:normAutofit/>
          </a:bodyPr>
          <a:lstStyle/>
          <a:p>
            <a:r>
              <a:rPr lang="zh-CN" altLang="en-US" dirty="0"/>
              <a:t>互联网概述</a:t>
            </a:r>
            <a:endParaRPr lang="en-US" altLang="zh-CN" dirty="0"/>
          </a:p>
          <a:p>
            <a:pPr lvl="1"/>
            <a:r>
              <a:rPr lang="zh-CN" altLang="en-US" dirty="0"/>
              <a:t>概念与组成。网络边缘</a:t>
            </a:r>
            <a:r>
              <a:rPr lang="en-US" altLang="zh-CN" dirty="0"/>
              <a:t>+</a:t>
            </a:r>
            <a:r>
              <a:rPr lang="zh-CN" altLang="en-US" dirty="0"/>
              <a:t>网络核心</a:t>
            </a:r>
            <a:endParaRPr lang="en-US" altLang="zh-CN" dirty="0"/>
          </a:p>
          <a:p>
            <a:pPr lvl="1"/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zh-CN" altLang="en-US" dirty="0"/>
              <a:t>指标：速率、带宽、吞吐量、时延</a:t>
            </a:r>
            <a:endParaRPr lang="en-US" altLang="zh-CN" dirty="0"/>
          </a:p>
          <a:p>
            <a:r>
              <a:rPr lang="zh-CN" altLang="en-US" dirty="0"/>
              <a:t>计算机体系结构</a:t>
            </a:r>
            <a:endParaRPr lang="en-US" altLang="zh-CN" dirty="0"/>
          </a:p>
          <a:p>
            <a:pPr lvl="1"/>
            <a:r>
              <a:rPr lang="en-US" altLang="zh-CN" dirty="0"/>
              <a:t>OSI</a:t>
            </a:r>
            <a:r>
              <a:rPr lang="zh-CN" altLang="en-US" dirty="0"/>
              <a:t>与</a:t>
            </a:r>
            <a:r>
              <a:rPr lang="en-US" altLang="zh-CN" dirty="0"/>
              <a:t>TCP/IP</a:t>
            </a:r>
            <a:r>
              <a:rPr lang="zh-CN" altLang="en-US" dirty="0"/>
              <a:t>体系结构，层内重点协议，各层在网络通信过程中的作用</a:t>
            </a:r>
            <a:endParaRPr lang="en-US" altLang="zh-CN" dirty="0"/>
          </a:p>
          <a:p>
            <a:pPr lvl="1"/>
            <a:r>
              <a:rPr lang="zh-CN" altLang="en-US" dirty="0"/>
              <a:t>对等层、对等实体、服务与</a:t>
            </a:r>
            <a:r>
              <a:rPr lang="zh-CN" altLang="en-US" b="1" dirty="0"/>
              <a:t>网络协议</a:t>
            </a:r>
            <a:r>
              <a:rPr lang="zh-CN" altLang="en-US" dirty="0"/>
              <a:t>等关键概念</a:t>
            </a:r>
            <a:endParaRPr lang="en-US" altLang="zh-CN" dirty="0"/>
          </a:p>
          <a:p>
            <a:r>
              <a:rPr lang="zh-CN" altLang="en-US" dirty="0"/>
              <a:t>通信模型</a:t>
            </a:r>
            <a:endParaRPr lang="en-US" altLang="zh-CN" dirty="0"/>
          </a:p>
          <a:p>
            <a:pPr lvl="1"/>
            <a:r>
              <a:rPr lang="en-US" altLang="zh-CN" dirty="0"/>
              <a:t>C/S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414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1.7.3  </a:t>
            </a:r>
            <a:r>
              <a:rPr lang="zh-CN" altLang="en-US" dirty="0"/>
              <a:t>具有五层协议的体系结构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673430" y="1560577"/>
            <a:ext cx="10845141" cy="42671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076452" y="2164681"/>
            <a:ext cx="1788584" cy="3069167"/>
            <a:chOff x="1557339" y="1623511"/>
            <a:chExt cx="1341438" cy="2301875"/>
          </a:xfrm>
        </p:grpSpPr>
        <p:sp>
          <p:nvSpPr>
            <p:cNvPr id="7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1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2006602" y="2661736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7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18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19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41817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20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21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25062" cy="221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1542164" y="1715948"/>
            <a:ext cx="2824812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67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867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4576791" y="1701131"/>
            <a:ext cx="3214598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2657422" y="5233848"/>
            <a:ext cx="4635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5770922" y="5233848"/>
            <a:ext cx="4812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8874627" y="5244543"/>
            <a:ext cx="450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47" name="Text Box 113"/>
          <p:cNvSpPr txBox="1">
            <a:spLocks noChangeArrowheads="1"/>
          </p:cNvSpPr>
          <p:nvPr/>
        </p:nvSpPr>
        <p:spPr bwMode="auto">
          <a:xfrm>
            <a:off x="7928477" y="1694781"/>
            <a:ext cx="2334293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8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4771631" y="2122349"/>
            <a:ext cx="2633191" cy="3117849"/>
            <a:chOff x="3578724" y="1591761"/>
            <a:chExt cx="1974894" cy="2338387"/>
          </a:xfrm>
        </p:grpSpPr>
        <p:sp>
          <p:nvSpPr>
            <p:cNvPr id="23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6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7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3693324" y="2104523"/>
              <a:ext cx="1631600" cy="407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31" name="Text Box 41"/>
            <p:cNvSpPr txBox="1">
              <a:spLocks noChangeArrowheads="1"/>
            </p:cNvSpPr>
            <p:nvPr/>
          </p:nvSpPr>
          <p:spPr bwMode="auto">
            <a:xfrm>
              <a:off x="3656395" y="2709361"/>
              <a:ext cx="1734369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26462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7112332" y="4391637"/>
            <a:ext cx="1252957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12332" y="5229948"/>
            <a:ext cx="1252957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8290429" y="2164793"/>
            <a:ext cx="1788583" cy="3067051"/>
            <a:chOff x="6217820" y="1623594"/>
            <a:chExt cx="1341437" cy="2300288"/>
          </a:xfrm>
        </p:grpSpPr>
        <p:sp>
          <p:nvSpPr>
            <p:cNvPr id="3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8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1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42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43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44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41817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45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560490" cy="23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467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46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25061" cy="2274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4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4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4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038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33417" y="1344791"/>
            <a:ext cx="9765211" cy="397807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8551" name="Rectangle 7"/>
          <p:cNvSpPr>
            <a:spLocks noChangeArrowheads="1"/>
          </p:cNvSpPr>
          <p:nvPr/>
        </p:nvSpPr>
        <p:spPr bwMode="auto">
          <a:xfrm>
            <a:off x="4008929" y="4040831"/>
            <a:ext cx="5132916" cy="226483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rgbClr val="CDF3CD"/>
              </a:gs>
              <a:gs pos="100000">
                <a:srgbClr val="339933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2830510" y="3582631"/>
            <a:ext cx="1262724" cy="1142443"/>
          </a:xfrm>
          <a:prstGeom prst="ellipse">
            <a:avLst/>
          </a:prstGeom>
          <a:gradFill flip="none" rotWithShape="1">
            <a:gsLst>
              <a:gs pos="2000">
                <a:srgbClr val="CDF3CD"/>
              </a:gs>
              <a:gs pos="100000">
                <a:srgbClr val="339933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a typeface="黑体" pitchFamily="2" charset="-122"/>
            </a:endParaRPr>
          </a:p>
        </p:txBody>
      </p:sp>
      <p:sp>
        <p:nvSpPr>
          <p:cNvPr id="108555" name="Oval 10"/>
          <p:cNvSpPr>
            <a:spLocks noChangeArrowheads="1"/>
          </p:cNvSpPr>
          <p:nvPr/>
        </p:nvSpPr>
        <p:spPr bwMode="auto">
          <a:xfrm>
            <a:off x="9057177" y="3583631"/>
            <a:ext cx="1263651" cy="1140883"/>
          </a:xfrm>
          <a:prstGeom prst="ellipse">
            <a:avLst/>
          </a:prstGeom>
          <a:gradFill rotWithShape="1">
            <a:gsLst>
              <a:gs pos="0">
                <a:srgbClr val="85D1F7"/>
              </a:gs>
              <a:gs pos="100000">
                <a:srgbClr val="0070C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grpSp>
        <p:nvGrpSpPr>
          <p:cNvPr id="108556" name="Group 11"/>
          <p:cNvGrpSpPr>
            <a:grpSpLocks/>
          </p:cNvGrpSpPr>
          <p:nvPr/>
        </p:nvGrpSpPr>
        <p:grpSpPr bwMode="auto">
          <a:xfrm>
            <a:off x="3166495" y="3932881"/>
            <a:ext cx="673100" cy="393700"/>
            <a:chOff x="1567" y="1056"/>
            <a:chExt cx="384" cy="336"/>
          </a:xfrm>
        </p:grpSpPr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664" y="1056"/>
              <a:ext cx="287" cy="336"/>
            </a:xfrm>
            <a:prstGeom prst="rect">
              <a:avLst/>
            </a:prstGeom>
            <a:solidFill>
              <a:srgbClr val="85D1F7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黑体" pitchFamily="2" charset="-122"/>
              </a:endParaRPr>
            </a:p>
          </p:txBody>
        </p:sp>
        <p:sp>
          <p:nvSpPr>
            <p:cNvPr id="108579" name="Freeform 13"/>
            <p:cNvSpPr>
              <a:spLocks/>
            </p:cNvSpPr>
            <p:nvPr/>
          </p:nvSpPr>
          <p:spPr bwMode="auto">
            <a:xfrm>
              <a:off x="1567" y="1056"/>
              <a:ext cx="384" cy="336"/>
            </a:xfrm>
            <a:custGeom>
              <a:avLst/>
              <a:gdLst>
                <a:gd name="T0" fmla="*/ 0 w 384"/>
                <a:gd name="T1" fmla="*/ 0 h 336"/>
                <a:gd name="T2" fmla="*/ 384 w 384"/>
                <a:gd name="T3" fmla="*/ 0 h 336"/>
                <a:gd name="T4" fmla="*/ 384 w 384"/>
                <a:gd name="T5" fmla="*/ 336 h 336"/>
                <a:gd name="T6" fmla="*/ 0 w 384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336">
                  <a:moveTo>
                    <a:pt x="0" y="0"/>
                  </a:moveTo>
                  <a:lnTo>
                    <a:pt x="384" y="0"/>
                  </a:lnTo>
                  <a:lnTo>
                    <a:pt x="384" y="336"/>
                  </a:lnTo>
                  <a:lnTo>
                    <a:pt x="0" y="336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80" name="Line 14"/>
            <p:cNvSpPr>
              <a:spLocks noChangeShapeType="1"/>
            </p:cNvSpPr>
            <p:nvPr/>
          </p:nvSpPr>
          <p:spPr bwMode="auto">
            <a:xfrm>
              <a:off x="1855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81" name="Line 15"/>
            <p:cNvSpPr>
              <a:spLocks noChangeShapeType="1"/>
            </p:cNvSpPr>
            <p:nvPr/>
          </p:nvSpPr>
          <p:spPr bwMode="auto">
            <a:xfrm>
              <a:off x="1759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82" name="Line 16"/>
            <p:cNvSpPr>
              <a:spLocks noChangeShapeType="1"/>
            </p:cNvSpPr>
            <p:nvPr/>
          </p:nvSpPr>
          <p:spPr bwMode="auto">
            <a:xfrm>
              <a:off x="1663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08557" name="Line 17"/>
          <p:cNvSpPr>
            <a:spLocks noChangeShapeType="1"/>
          </p:cNvSpPr>
          <p:nvPr/>
        </p:nvSpPr>
        <p:spPr bwMode="auto">
          <a:xfrm>
            <a:off x="3835361" y="4144548"/>
            <a:ext cx="251883" cy="423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08558" name="Rectangle 18"/>
          <p:cNvSpPr>
            <a:spLocks noChangeArrowheads="1"/>
          </p:cNvSpPr>
          <p:nvPr/>
        </p:nvSpPr>
        <p:spPr bwMode="auto">
          <a:xfrm>
            <a:off x="3903095" y="4064114"/>
            <a:ext cx="158749" cy="165100"/>
          </a:xfrm>
          <a:prstGeom prst="rect">
            <a:avLst/>
          </a:prstGeom>
          <a:solidFill>
            <a:srgbClr val="9AFEA6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59" name="AutoShape 21"/>
          <p:cNvSpPr>
            <a:spLocks noChangeArrowheads="1"/>
          </p:cNvSpPr>
          <p:nvPr/>
        </p:nvSpPr>
        <p:spPr bwMode="auto">
          <a:xfrm>
            <a:off x="4597361" y="4085280"/>
            <a:ext cx="1176867" cy="152400"/>
          </a:xfrm>
          <a:prstGeom prst="rightArrow">
            <a:avLst>
              <a:gd name="adj1" fmla="val 50000"/>
              <a:gd name="adj2" fmla="val 178219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60" name="AutoShape 26"/>
          <p:cNvSpPr>
            <a:spLocks noChangeArrowheads="1"/>
          </p:cNvSpPr>
          <p:nvPr/>
        </p:nvSpPr>
        <p:spPr bwMode="auto">
          <a:xfrm>
            <a:off x="2271144" y="4085280"/>
            <a:ext cx="1060451" cy="152400"/>
          </a:xfrm>
          <a:prstGeom prst="rightArrow">
            <a:avLst>
              <a:gd name="adj1" fmla="val 50000"/>
              <a:gd name="adj2" fmla="val 178436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61" name="AutoShape 27"/>
          <p:cNvSpPr>
            <a:spLocks noChangeArrowheads="1"/>
          </p:cNvSpPr>
          <p:nvPr/>
        </p:nvSpPr>
        <p:spPr bwMode="auto">
          <a:xfrm>
            <a:off x="8417944" y="4078931"/>
            <a:ext cx="1176867" cy="150283"/>
          </a:xfrm>
          <a:prstGeom prst="rightArrow">
            <a:avLst>
              <a:gd name="adj1" fmla="val 50000"/>
              <a:gd name="adj2" fmla="val 180730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63" name="Text Box 29"/>
          <p:cNvSpPr txBox="1">
            <a:spLocks noChangeArrowheads="1"/>
          </p:cNvSpPr>
          <p:nvPr/>
        </p:nvSpPr>
        <p:spPr bwMode="auto">
          <a:xfrm>
            <a:off x="7298228" y="3843980"/>
            <a:ext cx="42832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en-US" altLang="zh-CN" sz="2667" b="1">
                <a:ea typeface="黑体" pitchFamily="49" charset="-122"/>
              </a:rPr>
              <a:t>…</a:t>
            </a:r>
          </a:p>
        </p:txBody>
      </p:sp>
      <p:sp>
        <p:nvSpPr>
          <p:cNvPr id="108564" name="Text Box 32"/>
          <p:cNvSpPr txBox="1">
            <a:spLocks noChangeArrowheads="1"/>
          </p:cNvSpPr>
          <p:nvPr/>
        </p:nvSpPr>
        <p:spPr bwMode="auto">
          <a:xfrm>
            <a:off x="4364529" y="4495913"/>
            <a:ext cx="901209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>
                <a:latin typeface="微软雅黑" pitchFamily="34" charset="-122"/>
                <a:ea typeface="微软雅黑" pitchFamily="34" charset="-122"/>
              </a:rPr>
              <a:t>发送器</a:t>
            </a:r>
          </a:p>
        </p:txBody>
      </p:sp>
      <p:sp>
        <p:nvSpPr>
          <p:cNvPr id="108565" name="Text Box 34"/>
          <p:cNvSpPr txBox="1">
            <a:spLocks noChangeArrowheads="1"/>
          </p:cNvSpPr>
          <p:nvPr/>
        </p:nvSpPr>
        <p:spPr bwMode="auto">
          <a:xfrm>
            <a:off x="3185545" y="4290656"/>
            <a:ext cx="665567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 dirty="0">
                <a:ea typeface="黑体" pitchFamily="49" charset="-122"/>
              </a:rPr>
              <a:t>队列</a:t>
            </a:r>
          </a:p>
        </p:txBody>
      </p:sp>
      <p:grpSp>
        <p:nvGrpSpPr>
          <p:cNvPr id="25" name="Group 45"/>
          <p:cNvGrpSpPr>
            <a:grpSpLocks/>
          </p:cNvGrpSpPr>
          <p:nvPr/>
        </p:nvGrpSpPr>
        <p:grpSpPr bwMode="auto">
          <a:xfrm>
            <a:off x="6814183" y="2511791"/>
            <a:ext cx="2192064" cy="1383459"/>
            <a:chOff x="3363" y="1933"/>
            <a:chExt cx="1486" cy="1016"/>
          </a:xfrm>
          <a:solidFill>
            <a:srgbClr val="0070C0"/>
          </a:solidFill>
        </p:grpSpPr>
        <p:sp>
          <p:nvSpPr>
            <p:cNvPr id="26" name="Line 33"/>
            <p:cNvSpPr>
              <a:spLocks noChangeShapeType="1"/>
            </p:cNvSpPr>
            <p:nvPr/>
          </p:nvSpPr>
          <p:spPr bwMode="auto">
            <a:xfrm flipH="1">
              <a:off x="3363" y="2369"/>
              <a:ext cx="322" cy="580"/>
            </a:xfrm>
            <a:prstGeom prst="line">
              <a:avLst/>
            </a:prstGeom>
            <a:grp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133" b="1">
                <a:ln>
                  <a:solidFill>
                    <a:srgbClr val="993300"/>
                  </a:solidFill>
                </a:ln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Text Box 36"/>
            <p:cNvSpPr txBox="1">
              <a:spLocks noChangeArrowheads="1"/>
            </p:cNvSpPr>
            <p:nvPr/>
          </p:nvSpPr>
          <p:spPr bwMode="auto">
            <a:xfrm>
              <a:off x="3506" y="1933"/>
              <a:ext cx="1343" cy="490"/>
            </a:xfrm>
            <a:prstGeom prst="rect">
              <a:avLst/>
            </a:prstGeom>
            <a:solidFill>
              <a:srgbClr val="663300"/>
            </a:solidFill>
            <a:ln w="76200" cmpd="tri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在链路上产生</a:t>
              </a:r>
            </a:p>
            <a:p>
              <a:pPr algn="ctr">
                <a:defRPr/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传播时延</a:t>
              </a:r>
            </a:p>
          </p:txBody>
        </p:sp>
      </p:grpSp>
      <p:sp>
        <p:nvSpPr>
          <p:cNvPr id="108567" name="Text Box 37"/>
          <p:cNvSpPr txBox="1">
            <a:spLocks noChangeArrowheads="1"/>
          </p:cNvSpPr>
          <p:nvPr/>
        </p:nvSpPr>
        <p:spPr bwMode="auto">
          <a:xfrm>
            <a:off x="9188411" y="4746768"/>
            <a:ext cx="1002197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结点 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8568" name="Text Box 38"/>
          <p:cNvSpPr txBox="1">
            <a:spLocks noChangeArrowheads="1"/>
          </p:cNvSpPr>
          <p:nvPr/>
        </p:nvSpPr>
        <p:spPr bwMode="auto">
          <a:xfrm>
            <a:off x="2945155" y="4740715"/>
            <a:ext cx="1019831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结点 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grpSp>
        <p:nvGrpSpPr>
          <p:cNvPr id="30" name="Group 44"/>
          <p:cNvGrpSpPr>
            <a:grpSpLocks/>
          </p:cNvGrpSpPr>
          <p:nvPr/>
        </p:nvGrpSpPr>
        <p:grpSpPr bwMode="auto">
          <a:xfrm>
            <a:off x="3983218" y="2304365"/>
            <a:ext cx="2670010" cy="1839619"/>
            <a:chOff x="1118" y="1781"/>
            <a:chExt cx="1810" cy="1351"/>
          </a:xfrm>
          <a:solidFill>
            <a:srgbClr val="0070C0"/>
          </a:solidFill>
        </p:grpSpPr>
        <p:sp>
          <p:nvSpPr>
            <p:cNvPr id="32" name="Line 40"/>
            <p:cNvSpPr>
              <a:spLocks noChangeShapeType="1"/>
            </p:cNvSpPr>
            <p:nvPr/>
          </p:nvSpPr>
          <p:spPr bwMode="auto">
            <a:xfrm flipH="1">
              <a:off x="1118" y="2195"/>
              <a:ext cx="122" cy="937"/>
            </a:xfrm>
            <a:prstGeom prst="line">
              <a:avLst/>
            </a:prstGeom>
            <a:grp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133" b="1"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1184" y="1781"/>
              <a:ext cx="1744" cy="490"/>
            </a:xfrm>
            <a:prstGeom prst="rect">
              <a:avLst/>
            </a:prstGeom>
            <a:solidFill>
              <a:srgbClr val="006600"/>
            </a:solidFill>
            <a:ln w="76200" cmpd="tri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在发送器产生发送时延</a:t>
              </a:r>
            </a:p>
            <a:p>
              <a:pPr algn="ctr">
                <a:defRPr/>
              </a:pP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即传输时延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</p:grpSp>
      <p:sp>
        <p:nvSpPr>
          <p:cNvPr id="108570" name="Line 41"/>
          <p:cNvSpPr>
            <a:spLocks noChangeShapeType="1"/>
          </p:cNvSpPr>
          <p:nvPr/>
        </p:nvSpPr>
        <p:spPr bwMode="auto">
          <a:xfrm flipH="1" flipV="1">
            <a:off x="4036443" y="4237681"/>
            <a:ext cx="374648" cy="486831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108571" name="组合 40"/>
          <p:cNvGrpSpPr>
            <a:grpSpLocks/>
          </p:cNvGrpSpPr>
          <p:nvPr/>
        </p:nvGrpSpPr>
        <p:grpSpPr bwMode="auto">
          <a:xfrm>
            <a:off x="1292383" y="2235807"/>
            <a:ext cx="2334293" cy="1845799"/>
            <a:chOff x="948464" y="1819146"/>
            <a:chExt cx="1750981" cy="1384449"/>
          </a:xfrm>
        </p:grpSpPr>
        <p:sp>
          <p:nvSpPr>
            <p:cNvPr id="108576" name="Line 39"/>
            <p:cNvSpPr>
              <a:spLocks noChangeShapeType="1"/>
            </p:cNvSpPr>
            <p:nvPr/>
          </p:nvSpPr>
          <p:spPr bwMode="auto">
            <a:xfrm>
              <a:off x="2011307" y="2293868"/>
              <a:ext cx="673995" cy="909727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77" name="Text Box 42"/>
            <p:cNvSpPr txBox="1">
              <a:spLocks noChangeArrowheads="1"/>
            </p:cNvSpPr>
            <p:nvPr/>
          </p:nvSpPr>
          <p:spPr bwMode="auto">
            <a:xfrm>
              <a:off x="948464" y="1819146"/>
              <a:ext cx="1750981" cy="50026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76200" cmpd="tri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在这里产生</a:t>
              </a:r>
            </a:p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处理时延和排队时延</a:t>
              </a:r>
            </a:p>
          </p:txBody>
        </p:sp>
      </p:grpSp>
      <p:sp>
        <p:nvSpPr>
          <p:cNvPr id="108572" name="Text Box 46"/>
          <p:cNvSpPr txBox="1">
            <a:spLocks noChangeArrowheads="1"/>
          </p:cNvSpPr>
          <p:nvPr/>
        </p:nvSpPr>
        <p:spPr bwMode="auto">
          <a:xfrm>
            <a:off x="2220345" y="4326580"/>
            <a:ext cx="662361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>
                <a:latin typeface="微软雅黑" pitchFamily="34" charset="-122"/>
                <a:ea typeface="微软雅黑" pitchFamily="34" charset="-122"/>
              </a:rPr>
              <a:t>数据</a:t>
            </a:r>
          </a:p>
        </p:txBody>
      </p:sp>
      <p:sp>
        <p:nvSpPr>
          <p:cNvPr id="108573" name="Text Box 47"/>
          <p:cNvSpPr txBox="1">
            <a:spLocks noChangeArrowheads="1"/>
          </p:cNvSpPr>
          <p:nvPr/>
        </p:nvSpPr>
        <p:spPr bwMode="auto">
          <a:xfrm>
            <a:off x="3022119" y="1336581"/>
            <a:ext cx="5790956" cy="51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>
              <a:lnSpc>
                <a:spcPts val="3600"/>
              </a:lnSpc>
              <a:spcBef>
                <a:spcPts val="8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假设从结点 </a:t>
            </a:r>
            <a:r>
              <a:rPr kumimoji="1"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向结点 </a:t>
            </a:r>
            <a:r>
              <a:rPr kumimoji="1"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kumimoji="1"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发送数据</a:t>
            </a:r>
          </a:p>
        </p:txBody>
      </p:sp>
      <p:sp>
        <p:nvSpPr>
          <p:cNvPr id="108574" name="Text Box 48"/>
          <p:cNvSpPr txBox="1">
            <a:spLocks noChangeArrowheads="1"/>
          </p:cNvSpPr>
          <p:nvPr/>
        </p:nvSpPr>
        <p:spPr bwMode="auto">
          <a:xfrm>
            <a:off x="6070562" y="4307531"/>
            <a:ext cx="662361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>
                <a:latin typeface="微软雅黑" pitchFamily="34" charset="-122"/>
                <a:ea typeface="微软雅黑" pitchFamily="34" charset="-122"/>
              </a:rPr>
              <a:t>链路</a:t>
            </a:r>
          </a:p>
        </p:txBody>
      </p:sp>
      <p:sp>
        <p:nvSpPr>
          <p:cNvPr id="108575" name="矩形 38"/>
          <p:cNvSpPr>
            <a:spLocks noChangeArrowheads="1"/>
          </p:cNvSpPr>
          <p:nvPr/>
        </p:nvSpPr>
        <p:spPr bwMode="auto">
          <a:xfrm>
            <a:off x="3022119" y="5371848"/>
            <a:ext cx="60968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种时延产生的地方不一样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093233" y="3708876"/>
            <a:ext cx="0" cy="3827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057177" y="3708876"/>
            <a:ext cx="0" cy="3827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093233" y="3895249"/>
            <a:ext cx="491314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119"/>
          <p:cNvSpPr>
            <a:spLocks/>
          </p:cNvSpPr>
          <p:nvPr/>
        </p:nvSpPr>
        <p:spPr bwMode="auto">
          <a:xfrm>
            <a:off x="5829790" y="4087133"/>
            <a:ext cx="1341629" cy="128513"/>
          </a:xfrm>
          <a:custGeom>
            <a:avLst/>
            <a:gdLst>
              <a:gd name="T0" fmla="*/ 0 w 680"/>
              <a:gd name="T1" fmla="*/ 90 h 90"/>
              <a:gd name="T2" fmla="*/ 45 w 680"/>
              <a:gd name="T3" fmla="*/ 90 h 90"/>
              <a:gd name="T4" fmla="*/ 45 w 680"/>
              <a:gd name="T5" fmla="*/ 0 h 90"/>
              <a:gd name="T6" fmla="*/ 91 w 680"/>
              <a:gd name="T7" fmla="*/ 0 h 90"/>
              <a:gd name="T8" fmla="*/ 91 w 680"/>
              <a:gd name="T9" fmla="*/ 90 h 90"/>
              <a:gd name="T10" fmla="*/ 136 w 680"/>
              <a:gd name="T11" fmla="*/ 90 h 90"/>
              <a:gd name="T12" fmla="*/ 136 w 680"/>
              <a:gd name="T13" fmla="*/ 0 h 90"/>
              <a:gd name="T14" fmla="*/ 181 w 680"/>
              <a:gd name="T15" fmla="*/ 0 h 90"/>
              <a:gd name="T16" fmla="*/ 181 w 680"/>
              <a:gd name="T17" fmla="*/ 90 h 90"/>
              <a:gd name="T18" fmla="*/ 227 w 680"/>
              <a:gd name="T19" fmla="*/ 90 h 90"/>
              <a:gd name="T20" fmla="*/ 227 w 680"/>
              <a:gd name="T21" fmla="*/ 0 h 90"/>
              <a:gd name="T22" fmla="*/ 317 w 680"/>
              <a:gd name="T23" fmla="*/ 0 h 90"/>
              <a:gd name="T24" fmla="*/ 317 w 680"/>
              <a:gd name="T25" fmla="*/ 90 h 90"/>
              <a:gd name="T26" fmla="*/ 363 w 680"/>
              <a:gd name="T27" fmla="*/ 90 h 90"/>
              <a:gd name="T28" fmla="*/ 363 w 680"/>
              <a:gd name="T29" fmla="*/ 0 h 90"/>
              <a:gd name="T30" fmla="*/ 408 w 680"/>
              <a:gd name="T31" fmla="*/ 0 h 90"/>
              <a:gd name="T32" fmla="*/ 408 w 680"/>
              <a:gd name="T33" fmla="*/ 90 h 90"/>
              <a:gd name="T34" fmla="*/ 499 w 680"/>
              <a:gd name="T35" fmla="*/ 90 h 90"/>
              <a:gd name="T36" fmla="*/ 499 w 680"/>
              <a:gd name="T37" fmla="*/ 0 h 90"/>
              <a:gd name="T38" fmla="*/ 544 w 680"/>
              <a:gd name="T39" fmla="*/ 0 h 90"/>
              <a:gd name="T40" fmla="*/ 544 w 680"/>
              <a:gd name="T41" fmla="*/ 90 h 90"/>
              <a:gd name="T42" fmla="*/ 589 w 680"/>
              <a:gd name="T43" fmla="*/ 90 h 90"/>
              <a:gd name="T44" fmla="*/ 589 w 680"/>
              <a:gd name="T45" fmla="*/ 0 h 90"/>
              <a:gd name="T46" fmla="*/ 635 w 680"/>
              <a:gd name="T47" fmla="*/ 0 h 90"/>
              <a:gd name="T48" fmla="*/ 635 w 680"/>
              <a:gd name="T49" fmla="*/ 90 h 90"/>
              <a:gd name="T50" fmla="*/ 680 w 680"/>
              <a:gd name="T51" fmla="*/ 90 h 9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680"/>
              <a:gd name="T79" fmla="*/ 0 h 90"/>
              <a:gd name="T80" fmla="*/ 680 w 680"/>
              <a:gd name="T81" fmla="*/ 90 h 90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680" h="90">
                <a:moveTo>
                  <a:pt x="0" y="90"/>
                </a:moveTo>
                <a:lnTo>
                  <a:pt x="45" y="90"/>
                </a:lnTo>
                <a:lnTo>
                  <a:pt x="45" y="0"/>
                </a:lnTo>
                <a:lnTo>
                  <a:pt x="91" y="0"/>
                </a:lnTo>
                <a:lnTo>
                  <a:pt x="91" y="90"/>
                </a:lnTo>
                <a:lnTo>
                  <a:pt x="136" y="90"/>
                </a:lnTo>
                <a:lnTo>
                  <a:pt x="136" y="0"/>
                </a:lnTo>
                <a:lnTo>
                  <a:pt x="181" y="0"/>
                </a:lnTo>
                <a:lnTo>
                  <a:pt x="181" y="90"/>
                </a:lnTo>
                <a:lnTo>
                  <a:pt x="227" y="90"/>
                </a:lnTo>
                <a:lnTo>
                  <a:pt x="227" y="0"/>
                </a:lnTo>
                <a:lnTo>
                  <a:pt x="317" y="0"/>
                </a:lnTo>
                <a:lnTo>
                  <a:pt x="317" y="90"/>
                </a:lnTo>
                <a:lnTo>
                  <a:pt x="363" y="90"/>
                </a:lnTo>
                <a:lnTo>
                  <a:pt x="363" y="0"/>
                </a:lnTo>
                <a:lnTo>
                  <a:pt x="408" y="0"/>
                </a:lnTo>
                <a:lnTo>
                  <a:pt x="408" y="90"/>
                </a:lnTo>
                <a:lnTo>
                  <a:pt x="499" y="90"/>
                </a:lnTo>
                <a:lnTo>
                  <a:pt x="499" y="0"/>
                </a:lnTo>
                <a:lnTo>
                  <a:pt x="544" y="0"/>
                </a:lnTo>
                <a:lnTo>
                  <a:pt x="544" y="90"/>
                </a:lnTo>
                <a:lnTo>
                  <a:pt x="589" y="90"/>
                </a:lnTo>
                <a:lnTo>
                  <a:pt x="589" y="0"/>
                </a:lnTo>
                <a:lnTo>
                  <a:pt x="635" y="0"/>
                </a:lnTo>
                <a:lnTo>
                  <a:pt x="635" y="90"/>
                </a:lnTo>
                <a:lnTo>
                  <a:pt x="680" y="9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四种时延产生的地方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801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1.7.2  </a:t>
            </a:r>
            <a:r>
              <a:rPr lang="zh-CN" altLang="zh-CN" dirty="0"/>
              <a:t>协议与划分层次</a:t>
            </a:r>
            <a:endParaRPr lang="zh-CN" altLang="en-US" dirty="0"/>
          </a:p>
        </p:txBody>
      </p:sp>
      <p:sp>
        <p:nvSpPr>
          <p:cNvPr id="1050802" name="内容占位符 3"/>
          <p:cNvSpPr>
            <a:spLocks noGrp="1"/>
          </p:cNvSpPr>
          <p:nvPr>
            <p:ph sz="quarter" idx="11"/>
          </p:nvPr>
        </p:nvSpPr>
        <p:spPr>
          <a:xfrm>
            <a:off x="621792" y="1387279"/>
            <a:ext cx="7998923" cy="4399628"/>
          </a:xfrm>
        </p:spPr>
        <p:txBody>
          <a:bodyPr/>
          <a:lstStyle/>
          <a:p>
            <a:pPr>
              <a:lnSpc>
                <a:spcPts val="3733"/>
              </a:lnSpc>
            </a:pPr>
            <a:r>
              <a:rPr lang="zh-CN" altLang="en-US" dirty="0">
                <a:solidFill>
                  <a:srgbClr val="C00000"/>
                </a:solidFill>
              </a:rPr>
              <a:t>网络协议</a:t>
            </a:r>
            <a:r>
              <a:rPr lang="zh-CN" altLang="en-US" dirty="0"/>
              <a:t> </a:t>
            </a:r>
            <a:r>
              <a:rPr lang="en-US" altLang="zh-CN" dirty="0"/>
              <a:t>(network protocol)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协议</a:t>
            </a:r>
            <a:r>
              <a:rPr lang="zh-CN" altLang="en-US" dirty="0"/>
              <a:t>，是为进行网络中的数据交换而建立的规则、标准或约定。</a:t>
            </a:r>
            <a:endParaRPr lang="en-US" altLang="zh-CN" dirty="0"/>
          </a:p>
          <a:p>
            <a:pPr>
              <a:lnSpc>
                <a:spcPts val="3733"/>
              </a:lnSpc>
            </a:pPr>
            <a:r>
              <a:rPr lang="zh-CN" altLang="en-US" dirty="0">
                <a:solidFill>
                  <a:srgbClr val="C00000"/>
                </a:solidFill>
              </a:rPr>
              <a:t>三个组成要素：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ts val="3733"/>
              </a:lnSpc>
            </a:pPr>
            <a:r>
              <a:rPr lang="zh-CN" altLang="en-US" dirty="0">
                <a:solidFill>
                  <a:srgbClr val="0000FF"/>
                </a:solidFill>
              </a:rPr>
              <a:t>语法：</a:t>
            </a:r>
            <a:r>
              <a:rPr lang="zh-CN" altLang="en-US" dirty="0"/>
              <a:t>数据与控制信息的结构或格式 。 </a:t>
            </a:r>
          </a:p>
          <a:p>
            <a:pPr lvl="1">
              <a:lnSpc>
                <a:spcPts val="3733"/>
              </a:lnSpc>
            </a:pPr>
            <a:r>
              <a:rPr lang="zh-CN" altLang="en-US" dirty="0">
                <a:solidFill>
                  <a:srgbClr val="0000FF"/>
                </a:solidFill>
              </a:rPr>
              <a:t>语义：</a:t>
            </a:r>
            <a:r>
              <a:rPr lang="zh-CN" altLang="en-US" dirty="0"/>
              <a:t>解释控制信息每个部分的意义。</a:t>
            </a:r>
          </a:p>
          <a:p>
            <a:pPr lvl="1">
              <a:lnSpc>
                <a:spcPts val="3733"/>
              </a:lnSpc>
            </a:pPr>
            <a:r>
              <a:rPr lang="zh-CN" altLang="en-US" dirty="0">
                <a:solidFill>
                  <a:srgbClr val="0000FF"/>
                </a:solidFill>
              </a:rPr>
              <a:t>时序（同步）：</a:t>
            </a:r>
            <a:r>
              <a:rPr lang="zh-CN" altLang="en-US" dirty="0"/>
              <a:t>事件实现顺序的详细说明。 </a:t>
            </a:r>
          </a:p>
          <a:p>
            <a:pPr>
              <a:lnSpc>
                <a:spcPts val="3733"/>
              </a:lnSpc>
            </a:pPr>
            <a:endParaRPr lang="zh-CN" altLang="en-US" dirty="0"/>
          </a:p>
        </p:txBody>
      </p:sp>
      <p:grpSp>
        <p:nvGrpSpPr>
          <p:cNvPr id="725" name="组合 54"/>
          <p:cNvGrpSpPr/>
          <p:nvPr/>
        </p:nvGrpSpPr>
        <p:grpSpPr>
          <a:xfrm>
            <a:off x="8799275" y="1673344"/>
            <a:ext cx="2764516" cy="3827497"/>
            <a:chOff x="6246699" y="1147924"/>
            <a:chExt cx="2195405" cy="2870623"/>
          </a:xfrm>
        </p:grpSpPr>
        <p:sp>
          <p:nvSpPr>
            <p:cNvPr id="1050803" name="Text Box 29"/>
            <p:cNvSpPr txBox="1">
              <a:spLocks noChangeArrowheads="1"/>
            </p:cNvSpPr>
            <p:nvPr/>
          </p:nvSpPr>
          <p:spPr bwMode="auto">
            <a:xfrm rot="540000">
              <a:off x="6540332" y="1728921"/>
              <a:ext cx="1780221" cy="2308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hangingPunct="0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 connection req.</a:t>
              </a:r>
            </a:p>
          </p:txBody>
        </p:sp>
        <p:sp>
          <p:nvSpPr>
            <p:cNvPr id="1050804" name="Line 30"/>
            <p:cNvSpPr>
              <a:spLocks noChangeShapeType="1"/>
            </p:cNvSpPr>
            <p:nvPr/>
          </p:nvSpPr>
          <p:spPr bwMode="auto">
            <a:xfrm flipV="1">
              <a:off x="6460287" y="3327225"/>
              <a:ext cx="1773324" cy="5747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805" name="Line 31"/>
            <p:cNvSpPr>
              <a:spLocks noChangeShapeType="1"/>
            </p:cNvSpPr>
            <p:nvPr/>
          </p:nvSpPr>
          <p:spPr bwMode="auto">
            <a:xfrm>
              <a:off x="6460287" y="1807064"/>
              <a:ext cx="1773324" cy="281951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806" name="Line 32"/>
            <p:cNvSpPr>
              <a:spLocks noChangeShapeType="1"/>
            </p:cNvSpPr>
            <p:nvPr/>
          </p:nvSpPr>
          <p:spPr bwMode="auto">
            <a:xfrm flipV="1">
              <a:off x="6460287" y="2283803"/>
              <a:ext cx="1773324" cy="4289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807" name="Text Box 35"/>
            <p:cNvSpPr txBox="1">
              <a:spLocks noChangeArrowheads="1"/>
            </p:cNvSpPr>
            <p:nvPr/>
          </p:nvSpPr>
          <p:spPr bwMode="auto">
            <a:xfrm rot="20700000">
              <a:off x="6421820" y="2254467"/>
              <a:ext cx="1867209" cy="2308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400" dirty="0"/>
                <a:t>TCP connection reply.</a:t>
              </a:r>
            </a:p>
          </p:txBody>
        </p:sp>
        <p:sp>
          <p:nvSpPr>
            <p:cNvPr id="1050808" name="Line 36"/>
            <p:cNvSpPr>
              <a:spLocks noChangeShapeType="1"/>
            </p:cNvSpPr>
            <p:nvPr/>
          </p:nvSpPr>
          <p:spPr bwMode="auto">
            <a:xfrm>
              <a:off x="6460288" y="2859821"/>
              <a:ext cx="1773324" cy="39312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1467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809" name="Text Box 39"/>
            <p:cNvSpPr txBox="1">
              <a:spLocks noChangeArrowheads="1"/>
            </p:cNvSpPr>
            <p:nvPr/>
          </p:nvSpPr>
          <p:spPr bwMode="auto">
            <a:xfrm rot="720000">
              <a:off x="6714568" y="2822586"/>
              <a:ext cx="1398635" cy="2308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400" dirty="0"/>
                <a:t>get plan.pdf</a:t>
              </a:r>
            </a:p>
          </p:txBody>
        </p:sp>
        <p:pic>
          <p:nvPicPr>
            <p:cNvPr id="2097370" name="Picture 246" descr="jisuanji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46699" y="1203201"/>
              <a:ext cx="435820" cy="4150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371" name="图片 38"/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098885" y="1147924"/>
              <a:ext cx="343219" cy="50239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45908" name="直接连接符 47"/>
            <p:cNvCxnSpPr>
              <a:cxnSpLocks/>
              <a:stCxn id="2097370" idx="2"/>
            </p:cNvCxnSpPr>
            <p:nvPr/>
          </p:nvCxnSpPr>
          <p:spPr>
            <a:xfrm flipH="1">
              <a:off x="6430765" y="1618286"/>
              <a:ext cx="33844" cy="2400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909" name="直接连接符 48"/>
            <p:cNvCxnSpPr>
              <a:cxnSpLocks/>
              <a:stCxn id="2097371" idx="2"/>
            </p:cNvCxnSpPr>
            <p:nvPr/>
          </p:nvCxnSpPr>
          <p:spPr>
            <a:xfrm flipH="1">
              <a:off x="8262001" y="1650319"/>
              <a:ext cx="8494" cy="236822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0810" name="Text Box 39"/>
            <p:cNvSpPr txBox="1">
              <a:spLocks noChangeArrowheads="1"/>
            </p:cNvSpPr>
            <p:nvPr/>
          </p:nvSpPr>
          <p:spPr bwMode="auto">
            <a:xfrm rot="20501025">
              <a:off x="6706154" y="3350860"/>
              <a:ext cx="1398635" cy="2308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400" dirty="0"/>
                <a:t>&lt; plan.pdf &gt;</a:t>
              </a:r>
            </a:p>
          </p:txBody>
        </p:sp>
      </p:grpSp>
      <p:grpSp>
        <p:nvGrpSpPr>
          <p:cNvPr id="726" name="组合 57"/>
          <p:cNvGrpSpPr/>
          <p:nvPr/>
        </p:nvGrpSpPr>
        <p:grpSpPr>
          <a:xfrm>
            <a:off x="906458" y="5268095"/>
            <a:ext cx="7429591" cy="862464"/>
            <a:chOff x="595996" y="3877027"/>
            <a:chExt cx="5572193" cy="646848"/>
          </a:xfrm>
        </p:grpSpPr>
        <p:sp>
          <p:nvSpPr>
            <p:cNvPr id="1050811" name="对角圆角矩形 55"/>
            <p:cNvSpPr/>
            <p:nvPr/>
          </p:nvSpPr>
          <p:spPr>
            <a:xfrm>
              <a:off x="595996" y="3877027"/>
              <a:ext cx="5572193" cy="646848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50812" name="矩形 5"/>
            <p:cNvSpPr>
              <a:spLocks noChangeArrowheads="1"/>
            </p:cNvSpPr>
            <p:nvPr/>
          </p:nvSpPr>
          <p:spPr bwMode="auto">
            <a:xfrm>
              <a:off x="729916" y="3987587"/>
              <a:ext cx="5309938" cy="3838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zh-CN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网络协议是计算机网络的不可缺少的组成部分。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661557" y="1497635"/>
            <a:ext cx="10738283" cy="4266828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1165727" y="3565359"/>
            <a:ext cx="9678736" cy="1661176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prstDash val="dash"/>
            <a:rou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>
              <a:defRPr/>
            </a:pPr>
            <a:endParaRPr lang="zh-CN" altLang="en-US" sz="1867" b="1" dirty="0">
              <a:solidFill>
                <a:srgbClr val="368AD6"/>
              </a:solidFill>
              <a:ea typeface="黑体" panose="02010609060101010101" pitchFamily="49" charset="-122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2510256" y="4204368"/>
            <a:ext cx="6400800" cy="762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endParaRPr kumimoji="1" lang="zh-CN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6"/>
          <p:cNvSpPr>
            <a:spLocks noChangeArrowheads="1"/>
          </p:cNvSpPr>
          <p:nvPr/>
        </p:nvSpPr>
        <p:spPr bwMode="auto">
          <a:xfrm>
            <a:off x="3458523" y="4064668"/>
            <a:ext cx="251883" cy="254000"/>
          </a:xfrm>
          <a:prstGeom prst="rect">
            <a:avLst/>
          </a:prstGeom>
          <a:solidFill>
            <a:srgbClr val="CC00CC"/>
          </a:solidFill>
          <a:ln w="19050">
            <a:noFill/>
            <a:miter lim="800000"/>
          </a:ln>
        </p:spPr>
        <p:txBody>
          <a:bodyPr wrap="none" anchor="ctr"/>
          <a:lstStyle/>
          <a:p>
            <a:endParaRPr lang="zh-CN" altLang="en-US" sz="2133" b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37"/>
          <p:cNvSpPr>
            <a:spLocks noChangeShapeType="1"/>
          </p:cNvSpPr>
          <p:nvPr/>
        </p:nvSpPr>
        <p:spPr bwMode="auto">
          <a:xfrm>
            <a:off x="4379272" y="2312068"/>
            <a:ext cx="2717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4955006" y="2064420"/>
            <a:ext cx="1678517" cy="420564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 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2133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</a:t>
            </a:r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3640556" y="3647685"/>
            <a:ext cx="734496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133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</a:p>
        </p:txBody>
      </p:sp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6993356" y="3673085"/>
            <a:ext cx="734496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133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</a:p>
        </p:txBody>
      </p:sp>
      <p:sp>
        <p:nvSpPr>
          <p:cNvPr id="11" name="Text Box 41"/>
          <p:cNvSpPr txBox="1">
            <a:spLocks noChangeArrowheads="1"/>
          </p:cNvSpPr>
          <p:nvPr/>
        </p:nvSpPr>
        <p:spPr bwMode="auto">
          <a:xfrm>
            <a:off x="3601677" y="2690071"/>
            <a:ext cx="1829347" cy="42056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交换服务原语</a:t>
            </a:r>
          </a:p>
        </p:txBody>
      </p:sp>
      <p:sp>
        <p:nvSpPr>
          <p:cNvPr id="12" name="AutoShape 42"/>
          <p:cNvSpPr>
            <a:spLocks noChangeArrowheads="1"/>
          </p:cNvSpPr>
          <p:nvPr/>
        </p:nvSpPr>
        <p:spPr bwMode="auto">
          <a:xfrm>
            <a:off x="3490272" y="2610519"/>
            <a:ext cx="171451" cy="1432983"/>
          </a:xfrm>
          <a:prstGeom prst="upDownArrow">
            <a:avLst>
              <a:gd name="adj1" fmla="val 50000"/>
              <a:gd name="adj2" fmla="val 181090"/>
            </a:avLst>
          </a:prstGeom>
          <a:solidFill>
            <a:srgbClr val="0098F6"/>
          </a:solidFill>
          <a:ln w="12700">
            <a:solidFill>
              <a:schemeClr val="tx1"/>
            </a:solidFill>
            <a:miter lim="800000"/>
            <a:headEnd type="none" w="med" len="lg"/>
            <a:tailEnd type="none" w="med" len="lg"/>
          </a:ln>
        </p:spPr>
        <p:txBody>
          <a:bodyPr vert="eaVert" wrap="none" anchor="ctr"/>
          <a:lstStyle/>
          <a:p>
            <a:endParaRPr lang="zh-CN" altLang="en-US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43"/>
          <p:cNvSpPr>
            <a:spLocks noChangeArrowheads="1"/>
          </p:cNvSpPr>
          <p:nvPr/>
        </p:nvSpPr>
        <p:spPr bwMode="auto">
          <a:xfrm>
            <a:off x="7672806" y="4064668"/>
            <a:ext cx="256117" cy="254000"/>
          </a:xfrm>
          <a:prstGeom prst="rect">
            <a:avLst/>
          </a:prstGeom>
          <a:solidFill>
            <a:srgbClr val="CC00CC"/>
          </a:solidFill>
          <a:ln w="19050">
            <a:noFill/>
            <a:miter lim="800000"/>
          </a:ln>
        </p:spPr>
        <p:txBody>
          <a:bodyPr wrap="none" anchor="ctr"/>
          <a:lstStyle/>
          <a:p>
            <a:endParaRPr lang="zh-CN" altLang="en-US" sz="2133" b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44"/>
          <p:cNvSpPr>
            <a:spLocks noChangeArrowheads="1"/>
          </p:cNvSpPr>
          <p:nvPr/>
        </p:nvSpPr>
        <p:spPr bwMode="auto">
          <a:xfrm>
            <a:off x="7702439" y="2610519"/>
            <a:ext cx="173567" cy="1432983"/>
          </a:xfrm>
          <a:prstGeom prst="upDownArrow">
            <a:avLst>
              <a:gd name="adj1" fmla="val 50000"/>
              <a:gd name="adj2" fmla="val 178882"/>
            </a:avLst>
          </a:prstGeom>
          <a:solidFill>
            <a:srgbClr val="0098F6"/>
          </a:solidFill>
          <a:ln w="12700">
            <a:solidFill>
              <a:schemeClr val="tx1"/>
            </a:solidFill>
            <a:miter lim="800000"/>
            <a:headEnd type="none" w="med" len="lg"/>
            <a:tailEnd type="none" w="med" len="lg"/>
          </a:ln>
        </p:spPr>
        <p:txBody>
          <a:bodyPr vert="eaVert" wrap="none" anchor="ctr"/>
          <a:lstStyle/>
          <a:p>
            <a:endParaRPr lang="zh-CN" altLang="en-US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45"/>
          <p:cNvSpPr txBox="1">
            <a:spLocks noChangeArrowheads="1"/>
          </p:cNvSpPr>
          <p:nvPr/>
        </p:nvSpPr>
        <p:spPr bwMode="auto">
          <a:xfrm>
            <a:off x="5917534" y="2690071"/>
            <a:ext cx="1829347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交换服务原语</a:t>
            </a: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2817172" y="2079235"/>
            <a:ext cx="1534584" cy="5270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47"/>
          <p:cNvSpPr txBox="1">
            <a:spLocks noChangeArrowheads="1"/>
          </p:cNvSpPr>
          <p:nvPr/>
        </p:nvSpPr>
        <p:spPr bwMode="auto">
          <a:xfrm>
            <a:off x="2859506" y="2153319"/>
            <a:ext cx="1545616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867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+ 1)</a:t>
            </a:r>
          </a:p>
        </p:txBody>
      </p:sp>
      <p:sp>
        <p:nvSpPr>
          <p:cNvPr id="18" name="Text Box 48"/>
          <p:cNvSpPr txBox="1">
            <a:spLocks noChangeArrowheads="1"/>
          </p:cNvSpPr>
          <p:nvPr/>
        </p:nvSpPr>
        <p:spPr bwMode="auto">
          <a:xfrm>
            <a:off x="1377840" y="4102768"/>
            <a:ext cx="1132417" cy="74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kumimoji="1"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提供者</a:t>
            </a:r>
          </a:p>
        </p:txBody>
      </p:sp>
      <p:sp>
        <p:nvSpPr>
          <p:cNvPr id="19" name="Line 49"/>
          <p:cNvSpPr>
            <a:spLocks noChangeShapeType="1"/>
          </p:cNvSpPr>
          <p:nvPr/>
        </p:nvSpPr>
        <p:spPr bwMode="auto">
          <a:xfrm>
            <a:off x="673429" y="3326175"/>
            <a:ext cx="10738283" cy="0"/>
          </a:xfrm>
          <a:prstGeom prst="line">
            <a:avLst/>
          </a:prstGeom>
          <a:noFill/>
          <a:ln w="28575">
            <a:solidFill>
              <a:srgbClr val="000066"/>
            </a:solidFill>
            <a:prstDash val="dash"/>
            <a:round/>
            <a:headEnd type="non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Text Box 50"/>
          <p:cNvSpPr txBox="1">
            <a:spLocks noChangeArrowheads="1"/>
          </p:cNvSpPr>
          <p:nvPr/>
        </p:nvSpPr>
        <p:spPr bwMode="auto">
          <a:xfrm>
            <a:off x="9300523" y="4297501"/>
            <a:ext cx="1074333" cy="42056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kumimoji="1" lang="en-US" altLang="zh-CN" sz="2133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21" name="Text Box 51"/>
          <p:cNvSpPr txBox="1">
            <a:spLocks noChangeArrowheads="1"/>
          </p:cNvSpPr>
          <p:nvPr/>
        </p:nvSpPr>
        <p:spPr bwMode="auto">
          <a:xfrm>
            <a:off x="8989372" y="2102519"/>
            <a:ext cx="1451038" cy="42056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kumimoji="1" lang="en-US" altLang="zh-CN" sz="2133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 </a:t>
            </a:r>
            <a:r>
              <a:rPr kumimoji="1"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22" name="Rectangle 52"/>
          <p:cNvSpPr>
            <a:spLocks noChangeArrowheads="1"/>
          </p:cNvSpPr>
          <p:nvPr/>
        </p:nvSpPr>
        <p:spPr bwMode="auto">
          <a:xfrm>
            <a:off x="7046272" y="2079235"/>
            <a:ext cx="1532467" cy="5270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Box 53"/>
          <p:cNvSpPr txBox="1">
            <a:spLocks noChangeArrowheads="1"/>
          </p:cNvSpPr>
          <p:nvPr/>
        </p:nvSpPr>
        <p:spPr bwMode="auto">
          <a:xfrm>
            <a:off x="7088606" y="2151201"/>
            <a:ext cx="1545616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867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+ 1)</a:t>
            </a:r>
          </a:p>
        </p:txBody>
      </p:sp>
      <p:sp>
        <p:nvSpPr>
          <p:cNvPr id="24" name="Text Box 54"/>
          <p:cNvSpPr txBox="1">
            <a:spLocks noChangeArrowheads="1"/>
          </p:cNvSpPr>
          <p:nvPr/>
        </p:nvSpPr>
        <p:spPr bwMode="auto">
          <a:xfrm>
            <a:off x="7744772" y="1903552"/>
            <a:ext cx="166549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kumimoji="1" lang="zh-CN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55"/>
          <p:cNvSpPr txBox="1">
            <a:spLocks noChangeArrowheads="1"/>
          </p:cNvSpPr>
          <p:nvPr/>
        </p:nvSpPr>
        <p:spPr bwMode="auto">
          <a:xfrm>
            <a:off x="1377839" y="1975519"/>
            <a:ext cx="899584" cy="74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服务用户</a:t>
            </a:r>
          </a:p>
        </p:txBody>
      </p:sp>
      <p:sp>
        <p:nvSpPr>
          <p:cNvPr id="26" name="Rectangle 56"/>
          <p:cNvSpPr>
            <a:spLocks noChangeArrowheads="1"/>
          </p:cNvSpPr>
          <p:nvPr/>
        </p:nvSpPr>
        <p:spPr bwMode="auto">
          <a:xfrm>
            <a:off x="2817172" y="4312320"/>
            <a:ext cx="1534584" cy="527049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57"/>
          <p:cNvSpPr>
            <a:spLocks noChangeArrowheads="1"/>
          </p:cNvSpPr>
          <p:nvPr/>
        </p:nvSpPr>
        <p:spPr bwMode="auto">
          <a:xfrm>
            <a:off x="7016639" y="4312320"/>
            <a:ext cx="1534584" cy="527049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58"/>
          <p:cNvSpPr txBox="1">
            <a:spLocks noChangeArrowheads="1"/>
          </p:cNvSpPr>
          <p:nvPr/>
        </p:nvSpPr>
        <p:spPr bwMode="auto">
          <a:xfrm>
            <a:off x="2965339" y="4376041"/>
            <a:ext cx="1074333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867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9" name="Text Box 59"/>
          <p:cNvSpPr txBox="1">
            <a:spLocks noChangeArrowheads="1"/>
          </p:cNvSpPr>
          <p:nvPr/>
        </p:nvSpPr>
        <p:spPr bwMode="auto">
          <a:xfrm>
            <a:off x="7245239" y="4376041"/>
            <a:ext cx="1074333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867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0" name="Line 60"/>
          <p:cNvSpPr>
            <a:spLocks noChangeShapeType="1"/>
          </p:cNvSpPr>
          <p:nvPr/>
        </p:nvSpPr>
        <p:spPr bwMode="auto">
          <a:xfrm>
            <a:off x="4355990" y="4562085"/>
            <a:ext cx="266064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1" name="Text Box 61"/>
          <p:cNvSpPr txBox="1">
            <a:spLocks noChangeArrowheads="1"/>
          </p:cNvSpPr>
          <p:nvPr/>
        </p:nvSpPr>
        <p:spPr bwMode="auto">
          <a:xfrm>
            <a:off x="5156090" y="4341540"/>
            <a:ext cx="1122423" cy="4205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kumimoji="1"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2133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相邻两层之间的关系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3130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>
              <a:lnSpc>
                <a:spcPts val="3733"/>
              </a:lnSpc>
            </a:pPr>
            <a:r>
              <a:rPr lang="zh-CN" altLang="en-US" sz="2400" dirty="0"/>
              <a:t>结点 </a:t>
            </a:r>
            <a:r>
              <a:rPr lang="en-US" altLang="zh-CN" sz="2400" dirty="0"/>
              <a:t>A </a:t>
            </a:r>
            <a:r>
              <a:rPr lang="zh-CN" altLang="en-US" sz="2400" dirty="0"/>
              <a:t>要将一个数据块通过 </a:t>
            </a:r>
            <a:r>
              <a:rPr lang="en-US" altLang="zh-CN" sz="2400" dirty="0"/>
              <a:t>1000 km </a:t>
            </a:r>
            <a:r>
              <a:rPr lang="zh-CN" altLang="en-US" sz="2400" dirty="0"/>
              <a:t>的光纤链路发送给结点 </a:t>
            </a:r>
            <a:r>
              <a:rPr lang="en-US" altLang="zh-CN" sz="2400" dirty="0"/>
              <a:t>B</a:t>
            </a:r>
            <a:r>
              <a:rPr lang="zh-CN" altLang="en-US" sz="2400" dirty="0"/>
              <a:t>。假设忽略处理时延和排队时延。请分别计算下列情况时的总时延，并验证“数据的发送速率越高，其传送的总时延就越小”的说法是否正确。</a:t>
            </a:r>
            <a:endParaRPr lang="en-US" altLang="zh-CN" sz="2400" dirty="0"/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1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100 MB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 Mbit/s </a:t>
            </a:r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2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100 MB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100 Mbit/s</a:t>
            </a:r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3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 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 Mbit/s </a:t>
            </a:r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4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 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 </a:t>
            </a:r>
            <a:r>
              <a:rPr lang="en-US" altLang="zh-CN" sz="2133" dirty="0" err="1"/>
              <a:t>Gbit</a:t>
            </a:r>
            <a:r>
              <a:rPr lang="en-US" altLang="zh-CN" sz="2133" dirty="0"/>
              <a:t>/s</a:t>
            </a:r>
          </a:p>
          <a:p>
            <a:pPr>
              <a:lnSpc>
                <a:spcPts val="3733"/>
              </a:lnSpc>
            </a:pPr>
            <a:endParaRPr lang="zh-CN" altLang="en-US" sz="24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分析举例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923036" y="1449463"/>
            <a:ext cx="6269234" cy="1163668"/>
            <a:chOff x="2163416" y="1246399"/>
            <a:chExt cx="4701925" cy="872751"/>
          </a:xfrm>
        </p:grpSpPr>
        <p:sp>
          <p:nvSpPr>
            <p:cNvPr id="4" name="椭圆 3"/>
            <p:cNvSpPr/>
            <p:nvPr/>
          </p:nvSpPr>
          <p:spPr>
            <a:xfrm>
              <a:off x="2360014" y="1375948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" name="椭圆 4"/>
            <p:cNvSpPr/>
            <p:nvPr/>
          </p:nvSpPr>
          <p:spPr>
            <a:xfrm>
              <a:off x="6287580" y="1375948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7" name="直接连接符 6"/>
            <p:cNvCxnSpPr>
              <a:stCxn id="4" idx="6"/>
              <a:endCxn id="5" idx="2"/>
            </p:cNvCxnSpPr>
            <p:nvPr/>
          </p:nvCxnSpPr>
          <p:spPr>
            <a:xfrm>
              <a:off x="2778022" y="1584953"/>
              <a:ext cx="35095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618544" y="1246399"/>
              <a:ext cx="1913023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光纤链路 </a:t>
              </a:r>
              <a:r>
                <a:rPr lang="en-US" altLang="zh-CN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 km</a:t>
              </a:r>
              <a:endPara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37"/>
            <p:cNvSpPr txBox="1">
              <a:spLocks noChangeArrowheads="1"/>
            </p:cNvSpPr>
            <p:nvPr/>
          </p:nvSpPr>
          <p:spPr bwMode="auto">
            <a:xfrm>
              <a:off x="6113693" y="1803727"/>
              <a:ext cx="751648" cy="3154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结点 </a:t>
              </a:r>
              <a:r>
                <a:rPr kumimoji="1" lang="en-US" altLang="zh-CN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2163416" y="1803727"/>
              <a:ext cx="764873" cy="3154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结点 </a:t>
              </a:r>
              <a:r>
                <a:rPr kumimoji="1" lang="en-US" altLang="zh-CN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92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分析举例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3467"/>
              </a:lnSpc>
            </a:pPr>
            <a:r>
              <a:rPr lang="zh-CN" altLang="en-US" sz="2400" dirty="0"/>
              <a:t>解：</a:t>
            </a:r>
            <a:endParaRPr lang="en-US" altLang="zh-CN" sz="2400" dirty="0"/>
          </a:p>
          <a:p>
            <a:pPr marL="0" lvl="1" indent="0">
              <a:lnSpc>
                <a:spcPts val="3467"/>
              </a:lnSpc>
              <a:buClr>
                <a:srgbClr val="0066CC"/>
              </a:buClr>
              <a:buNone/>
            </a:pPr>
            <a:r>
              <a:rPr lang="zh-CN" altLang="en-US" sz="2267" dirty="0"/>
              <a:t>     </a:t>
            </a:r>
            <a:r>
              <a:rPr lang="zh-CN" altLang="en-US" sz="2267" dirty="0">
                <a:solidFill>
                  <a:srgbClr val="0000FF"/>
                </a:solidFill>
              </a:rPr>
              <a:t>传播时延 </a:t>
            </a:r>
            <a:r>
              <a:rPr lang="en-US" altLang="zh-CN" sz="2267" dirty="0"/>
              <a:t>= 1000 km / 2.0 </a:t>
            </a:r>
            <a:r>
              <a:rPr lang="zh-CN" altLang="en-US" sz="2267" dirty="0"/>
              <a:t>ⅹ </a:t>
            </a:r>
            <a:r>
              <a:rPr lang="en-US" altLang="zh-CN" sz="2267" dirty="0"/>
              <a:t>10</a:t>
            </a:r>
            <a:r>
              <a:rPr lang="en-US" altLang="zh-CN" sz="2267" baseline="30000" dirty="0"/>
              <a:t>5</a:t>
            </a:r>
            <a:r>
              <a:rPr lang="en-US" altLang="zh-CN" sz="2267" dirty="0"/>
              <a:t> km/s =</a:t>
            </a:r>
            <a:r>
              <a:rPr lang="zh-CN" altLang="en-US" sz="2267" dirty="0"/>
              <a:t> </a:t>
            </a:r>
            <a:r>
              <a:rPr lang="en-US" altLang="zh-CN" sz="2267" dirty="0"/>
              <a:t>5 </a:t>
            </a:r>
            <a:r>
              <a:rPr lang="en-US" altLang="zh-CN" sz="2267" dirty="0" err="1"/>
              <a:t>ms</a:t>
            </a:r>
            <a:r>
              <a:rPr lang="zh-CN" altLang="en-US" sz="2267" dirty="0"/>
              <a:t>。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1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100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2</a:t>
            </a:r>
            <a:r>
              <a:rPr lang="en-US" altLang="zh-CN" sz="2267" baseline="30000" dirty="0"/>
              <a:t>20</a:t>
            </a:r>
            <a:r>
              <a:rPr lang="en-US" altLang="zh-CN" sz="2267" dirty="0"/>
              <a:t>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6</a:t>
            </a:r>
            <a:r>
              <a:rPr lang="en-US" altLang="zh-CN" sz="2267" dirty="0"/>
              <a:t> = 838.9 s</a:t>
            </a:r>
            <a:r>
              <a:rPr lang="zh-CN" altLang="en-US" sz="2267" dirty="0"/>
              <a:t>，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/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838.9 + 0.005 ≈ 838.9 s</a:t>
            </a:r>
            <a:r>
              <a:rPr lang="zh-CN" altLang="en-US" sz="2267" dirty="0"/>
              <a:t>。</a:t>
            </a:r>
            <a:endParaRPr lang="zh-CN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2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100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2</a:t>
            </a:r>
            <a:r>
              <a:rPr lang="en-US" altLang="zh-CN" sz="2267" baseline="30000" dirty="0"/>
              <a:t>20</a:t>
            </a:r>
            <a:r>
              <a:rPr lang="en-US" altLang="zh-CN" sz="2267" dirty="0"/>
              <a:t>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8</a:t>
            </a:r>
            <a:r>
              <a:rPr lang="en-US" altLang="zh-CN" sz="2267" dirty="0"/>
              <a:t> = 8.389 s</a:t>
            </a:r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/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8.389 + 0.005</a:t>
            </a:r>
            <a:r>
              <a:rPr lang="zh-CN" altLang="en-US" sz="2267" dirty="0"/>
              <a:t> </a:t>
            </a:r>
            <a:r>
              <a:rPr lang="en-US" altLang="zh-CN" sz="2267" dirty="0"/>
              <a:t>= 8.394 s</a:t>
            </a:r>
            <a:r>
              <a:rPr lang="zh-CN" altLang="en-US" sz="2267" dirty="0"/>
              <a:t>。</a:t>
            </a:r>
            <a:r>
              <a:rPr lang="zh-CN" altLang="en-US" sz="2267" dirty="0">
                <a:solidFill>
                  <a:srgbClr val="0000FF"/>
                </a:solidFill>
              </a:rPr>
              <a:t>缩小到（</a:t>
            </a:r>
            <a:r>
              <a:rPr lang="en-US" altLang="zh-CN" sz="2267" dirty="0">
                <a:solidFill>
                  <a:srgbClr val="0000FF"/>
                </a:solidFill>
              </a:rPr>
              <a:t>1</a:t>
            </a:r>
            <a:r>
              <a:rPr lang="zh-CN" altLang="en-US" sz="2267" dirty="0">
                <a:solidFill>
                  <a:srgbClr val="0000FF"/>
                </a:solidFill>
              </a:rPr>
              <a:t>）的近 </a:t>
            </a:r>
            <a:r>
              <a:rPr lang="en-US" altLang="zh-CN" sz="2267" dirty="0">
                <a:solidFill>
                  <a:srgbClr val="0000FF"/>
                </a:solidFill>
              </a:rPr>
              <a:t>1/100</a:t>
            </a:r>
            <a:r>
              <a:rPr lang="zh-CN" altLang="en-US" sz="2267" dirty="0">
                <a:solidFill>
                  <a:srgbClr val="0000FF"/>
                </a:solidFill>
              </a:rPr>
              <a:t>。</a:t>
            </a:r>
            <a:endParaRPr lang="en-US" altLang="zh-CN" sz="2267" dirty="0">
              <a:solidFill>
                <a:srgbClr val="0000FF"/>
              </a:solidFill>
            </a:endParaRPr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3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6</a:t>
            </a:r>
            <a:r>
              <a:rPr lang="en-US" altLang="zh-CN" sz="2267" dirty="0"/>
              <a:t> = 8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–6 </a:t>
            </a:r>
            <a:r>
              <a:rPr lang="en-US" altLang="zh-CN" sz="2267" dirty="0"/>
              <a:t>s = 8 </a:t>
            </a:r>
            <a:r>
              <a:rPr lang="en-US" altLang="zh-CN" sz="2267" dirty="0">
                <a:sym typeface="Symbol" panose="05050102010706020507" pitchFamily="18" charset="2"/>
              </a:rPr>
              <a:t></a:t>
            </a:r>
            <a:r>
              <a:rPr lang="en-US" altLang="zh-CN" sz="2267" dirty="0"/>
              <a:t>s, </a:t>
            </a:r>
            <a:r>
              <a:rPr lang="zh-CN" altLang="en-US" sz="2267" dirty="0"/>
              <a:t> 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>
                <a:solidFill>
                  <a:srgbClr val="C00000"/>
                </a:solidFill>
              </a:rPr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0.008 + 5 = 5.008 </a:t>
            </a:r>
            <a:r>
              <a:rPr lang="en-US" altLang="zh-CN" sz="2267" dirty="0" err="1"/>
              <a:t>ms</a:t>
            </a:r>
            <a:r>
              <a:rPr lang="zh-CN" altLang="en-US" sz="2267" dirty="0"/>
              <a:t>。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4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9</a:t>
            </a:r>
            <a:r>
              <a:rPr lang="en-US" altLang="zh-CN" sz="2267" dirty="0"/>
              <a:t> = 8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–9 </a:t>
            </a:r>
            <a:r>
              <a:rPr lang="en-US" altLang="zh-CN" sz="2267" dirty="0"/>
              <a:t>s = 0.008 </a:t>
            </a:r>
            <a:r>
              <a:rPr lang="en-US" altLang="zh-CN" sz="2267" dirty="0">
                <a:sym typeface="Symbol" panose="05050102010706020507" pitchFamily="18" charset="2"/>
              </a:rPr>
              <a:t></a:t>
            </a:r>
            <a:r>
              <a:rPr lang="en-US" altLang="zh-CN" sz="2267" dirty="0"/>
              <a:t>s</a:t>
            </a:r>
            <a:endParaRPr lang="zh-CN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>
                <a:solidFill>
                  <a:srgbClr val="C00000"/>
                </a:solidFill>
              </a:rPr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0.000008 + 5 = 5.000008 </a:t>
            </a:r>
            <a:r>
              <a:rPr lang="en-US" altLang="zh-CN" sz="2267" dirty="0" err="1"/>
              <a:t>ms</a:t>
            </a:r>
            <a:r>
              <a:rPr lang="zh-CN" altLang="en-US" sz="2267" dirty="0"/>
              <a:t>。</a:t>
            </a:r>
            <a:r>
              <a:rPr lang="zh-CN" altLang="en-US" sz="2267" dirty="0">
                <a:solidFill>
                  <a:srgbClr val="0000FF"/>
                </a:solidFill>
              </a:rPr>
              <a:t>与（</a:t>
            </a:r>
            <a:r>
              <a:rPr lang="en-US" altLang="zh-CN" sz="2267" dirty="0">
                <a:solidFill>
                  <a:srgbClr val="0000FF"/>
                </a:solidFill>
              </a:rPr>
              <a:t>3</a:t>
            </a:r>
            <a:r>
              <a:rPr lang="zh-CN" altLang="en-US" sz="2267" dirty="0">
                <a:solidFill>
                  <a:srgbClr val="0000FF"/>
                </a:solidFill>
              </a:rPr>
              <a:t>）相比没有明显减小。</a:t>
            </a:r>
          </a:p>
        </p:txBody>
      </p:sp>
      <p:sp>
        <p:nvSpPr>
          <p:cNvPr id="8" name="矩形 7"/>
          <p:cNvSpPr/>
          <p:nvPr/>
        </p:nvSpPr>
        <p:spPr>
          <a:xfrm>
            <a:off x="8013107" y="1822002"/>
            <a:ext cx="3640183" cy="1470403"/>
          </a:xfrm>
          <a:prstGeom prst="rect">
            <a:avLst/>
          </a:prstGeom>
          <a:solidFill>
            <a:srgbClr val="FFFF99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733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不能笼统地认为：“数据的发送速率越高，其传送的总时延就越小”。</a:t>
            </a:r>
          </a:p>
        </p:txBody>
      </p:sp>
    </p:spTree>
    <p:extLst>
      <p:ext uri="{BB962C8B-B14F-4D97-AF65-F5344CB8AC3E}">
        <p14:creationId xmlns:p14="http://schemas.microsoft.com/office/powerpoint/2010/main" val="146454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 bwMode="auto">
          <a:xfrm>
            <a:off x="1678058" y="3263419"/>
            <a:ext cx="6636661" cy="2716658"/>
            <a:chOff x="1166919" y="2653839"/>
            <a:chExt cx="4977696" cy="2036914"/>
          </a:xfrm>
        </p:grpSpPr>
        <p:sp>
          <p:nvSpPr>
            <p:cNvPr id="5" name="Text Box 37"/>
            <p:cNvSpPr txBox="1">
              <a:spLocks noChangeArrowheads="1"/>
            </p:cNvSpPr>
            <p:nvPr/>
          </p:nvSpPr>
          <p:spPr bwMode="auto">
            <a:xfrm>
              <a:off x="1166919" y="4384938"/>
              <a:ext cx="4977696" cy="30581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over Everything</a:t>
              </a:r>
              <a:r>
                <a:rPr lang="zh-CN" altLang="en-US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协议可以在多种类型的网络上运行</a:t>
              </a:r>
            </a:p>
          </p:txBody>
        </p:sp>
        <p:sp>
          <p:nvSpPr>
            <p:cNvPr id="6" name="AutoShape 2"/>
            <p:cNvSpPr>
              <a:spLocks noChangeArrowheads="1"/>
            </p:cNvSpPr>
            <p:nvPr/>
          </p:nvSpPr>
          <p:spPr bwMode="auto">
            <a:xfrm>
              <a:off x="1283573" y="2653839"/>
              <a:ext cx="4724528" cy="1692581"/>
            </a:xfrm>
            <a:prstGeom prst="triangle">
              <a:avLst>
                <a:gd name="adj" fmla="val 50000"/>
              </a:avLst>
            </a:prstGeom>
            <a:solidFill>
              <a:srgbClr val="ABEBD7"/>
            </a:solidFill>
            <a:ln w="9525">
              <a:solidFill>
                <a:srgbClr val="339933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1678057" y="1540821"/>
            <a:ext cx="6636663" cy="2995764"/>
            <a:chOff x="1093314" y="1740194"/>
            <a:chExt cx="6917709" cy="3122074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 flipV="1">
              <a:off x="1246437" y="2269258"/>
              <a:ext cx="6566083" cy="2593010"/>
            </a:xfrm>
            <a:prstGeom prst="triangle">
              <a:avLst>
                <a:gd name="adj" fmla="val 50000"/>
              </a:avLst>
            </a:prstGeom>
            <a:solidFill>
              <a:srgbClr val="ABEBD7"/>
            </a:solidFill>
            <a:ln w="9525">
              <a:solidFill>
                <a:srgbClr val="339933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1093314" y="1740194"/>
              <a:ext cx="6917709" cy="425066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339933"/>
              </a:solidFill>
              <a:miter lim="800000"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Everything over IP </a:t>
              </a:r>
              <a:r>
                <a:rPr lang="zh-CN" altLang="en-US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层可以支持多种的运输层协议</a:t>
              </a:r>
            </a:p>
          </p:txBody>
        </p:sp>
      </p:grp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783933" y="2201901"/>
            <a:ext cx="709083" cy="3175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18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130133" y="2201901"/>
            <a:ext cx="711200" cy="3175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18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124967" y="2201901"/>
            <a:ext cx="709083" cy="3175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18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6471167" y="2201901"/>
            <a:ext cx="711200" cy="3175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18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RTP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421050" y="2961785"/>
            <a:ext cx="709084" cy="315383"/>
          </a:xfrm>
          <a:prstGeom prst="rect">
            <a:avLst/>
          </a:prstGeom>
          <a:solidFill>
            <a:srgbClr val="0098F6"/>
          </a:solidFill>
          <a:ln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18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5834050" y="2961785"/>
            <a:ext cx="709084" cy="315383"/>
          </a:xfrm>
          <a:prstGeom prst="rect">
            <a:avLst/>
          </a:prstGeom>
          <a:solidFill>
            <a:srgbClr val="0098F6"/>
          </a:solidFill>
          <a:ln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18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2783934" y="4909118"/>
            <a:ext cx="1134533" cy="3069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kumimoji="1" lang="zh-CN" altLang="zh-CN" sz="2133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74067" y="4909118"/>
            <a:ext cx="1134533" cy="3069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kumimoji="1" lang="zh-CN" altLang="zh-CN" sz="2133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6047834" y="4909118"/>
            <a:ext cx="1134533" cy="3069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kumimoji="1" lang="zh-CN" altLang="zh-CN" sz="2133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1763701" y="4420167"/>
            <a:ext cx="6385983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1763701" y="3596784"/>
            <a:ext cx="6385983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1763701" y="2771284"/>
            <a:ext cx="6385983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1263762" y="3755534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网际层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1126179" y="4769416"/>
            <a:ext cx="12105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1263762" y="2946967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1263762" y="2193434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3603083" y="2134167"/>
            <a:ext cx="42832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667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5950467" y="2134167"/>
            <a:ext cx="42832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667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5554649" y="4864667"/>
            <a:ext cx="378630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133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3126834" y="2540567"/>
            <a:ext cx="444500" cy="44026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>
            <a:off x="5463634" y="2555384"/>
            <a:ext cx="512233" cy="39793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 flipH="1">
            <a:off x="3965033" y="2542685"/>
            <a:ext cx="508000" cy="41698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H="1">
            <a:off x="6329350" y="2542684"/>
            <a:ext cx="497417" cy="42333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3772416" y="3302567"/>
            <a:ext cx="1001184" cy="5334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 flipH="1">
            <a:off x="5194817" y="3315267"/>
            <a:ext cx="1003300" cy="5207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5232917" y="4208501"/>
            <a:ext cx="1418167" cy="67521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 flipH="1">
            <a:off x="3266534" y="4202151"/>
            <a:ext cx="1432983" cy="68156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 flipH="1">
            <a:off x="4771483" y="4166167"/>
            <a:ext cx="211667" cy="717551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2764248" y="4877367"/>
            <a:ext cx="1192955" cy="338554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 </a:t>
            </a:r>
            <a:r>
              <a:rPr kumimoji="1"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4258615" y="4877367"/>
            <a:ext cx="1192955" cy="338554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 </a:t>
            </a:r>
            <a:r>
              <a:rPr kumimoji="1"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6045081" y="4877367"/>
            <a:ext cx="1192955" cy="338554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 </a:t>
            </a:r>
            <a:r>
              <a:rPr kumimoji="1"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21716" y="3799984"/>
            <a:ext cx="848784" cy="378883"/>
          </a:xfrm>
          <a:prstGeom prst="rect">
            <a:avLst/>
          </a:prstGeom>
          <a:solidFill>
            <a:srgbClr val="CC00CC"/>
          </a:solidFill>
          <a:ln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kumimoji="1" lang="en-US" altLang="zh-CN" sz="2667" b="1">
                <a:solidFill>
                  <a:schemeClr val="bg1"/>
                </a:solidFill>
                <a:ea typeface="黑体" panose="02010609060101010101" pitchFamily="49" charset="-122"/>
              </a:rPr>
              <a:t>IP</a:t>
            </a:r>
          </a:p>
        </p:txBody>
      </p:sp>
      <p:sp>
        <p:nvSpPr>
          <p:cNvPr id="81" name="矩形 80"/>
          <p:cNvSpPr/>
          <p:nvPr/>
        </p:nvSpPr>
        <p:spPr>
          <a:xfrm>
            <a:off x="8369753" y="3483099"/>
            <a:ext cx="3097313" cy="9411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设计理念：网络核心部分越简单越好。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沙漏计时器形状的 </a:t>
            </a:r>
            <a:r>
              <a:rPr lang="en-US" altLang="zh-CN" dirty="0"/>
              <a:t>TCP/IP </a:t>
            </a:r>
            <a:r>
              <a:rPr lang="zh-CN" altLang="en-US" dirty="0"/>
              <a:t>协议族</a:t>
            </a:r>
          </a:p>
        </p:txBody>
      </p:sp>
    </p:spTree>
    <p:extLst>
      <p:ext uri="{BB962C8B-B14F-4D97-AF65-F5344CB8AC3E}">
        <p14:creationId xmlns:p14="http://schemas.microsoft.com/office/powerpoint/2010/main" val="216511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现在</a:t>
            </a:r>
            <a:r>
              <a:rPr lang="en-US" altLang="zh-CN" dirty="0"/>
              <a:t>TCP/IP </a:t>
            </a:r>
            <a:r>
              <a:rPr lang="zh-CN" altLang="en-US" dirty="0"/>
              <a:t>体系结构已经发生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了演变，部分进程可以直接使用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IP </a:t>
            </a:r>
            <a:r>
              <a:rPr lang="zh-CN" altLang="en-US" dirty="0"/>
              <a:t>层，或甚至直接使用最下面的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网络接口层。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TCP/IP </a:t>
            </a:r>
            <a:r>
              <a:rPr lang="zh-CN" altLang="en-US" dirty="0"/>
              <a:t>体系结构的另一种表示方法</a:t>
            </a: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348080" y="3552750"/>
            <a:ext cx="4399520" cy="2591029"/>
            <a:chOff x="2778939" y="3395364"/>
            <a:chExt cx="3502942" cy="212859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778939" y="3395364"/>
              <a:ext cx="3502942" cy="2128590"/>
            </a:xfrm>
            <a:prstGeom prst="rect">
              <a:avLst/>
            </a:prstGeom>
            <a:ln w="38100">
              <a:solidFill>
                <a:srgbClr val="339933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778939" y="5010251"/>
              <a:ext cx="3502942" cy="0"/>
            </a:xfrm>
            <a:prstGeom prst="line">
              <a:avLst/>
            </a:prstGeom>
            <a:ln w="38100">
              <a:solidFill>
                <a:srgbClr val="339933"/>
              </a:solidFill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778939" y="4460452"/>
              <a:ext cx="2589890" cy="531751"/>
            </a:xfrm>
            <a:custGeom>
              <a:avLst/>
              <a:gdLst>
                <a:gd name="T0" fmla="*/ 0 w 1542"/>
                <a:gd name="T1" fmla="*/ 0 h 318"/>
                <a:gd name="T2" fmla="*/ 1542 w 1542"/>
                <a:gd name="T3" fmla="*/ 0 h 318"/>
                <a:gd name="T4" fmla="*/ 1542 w 1542"/>
                <a:gd name="T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2" h="318">
                  <a:moveTo>
                    <a:pt x="0" y="0"/>
                  </a:moveTo>
                  <a:lnTo>
                    <a:pt x="1542" y="0"/>
                  </a:lnTo>
                  <a:lnTo>
                    <a:pt x="1542" y="318"/>
                  </a:lnTo>
                </a:path>
              </a:pathLst>
            </a:custGeom>
            <a:ln w="38100">
              <a:solidFill>
                <a:srgbClr val="33993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2778939" y="3910655"/>
              <a:ext cx="1675251" cy="530957"/>
            </a:xfrm>
            <a:custGeom>
              <a:avLst/>
              <a:gdLst>
                <a:gd name="T0" fmla="*/ 0 w 1542"/>
                <a:gd name="T1" fmla="*/ 0 h 318"/>
                <a:gd name="T2" fmla="*/ 1542 w 1542"/>
                <a:gd name="T3" fmla="*/ 0 h 318"/>
                <a:gd name="T4" fmla="*/ 1542 w 1542"/>
                <a:gd name="T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2" h="318">
                  <a:moveTo>
                    <a:pt x="0" y="0"/>
                  </a:moveTo>
                  <a:lnTo>
                    <a:pt x="1542" y="0"/>
                  </a:lnTo>
                  <a:lnTo>
                    <a:pt x="1542" y="318"/>
                  </a:lnTo>
                </a:path>
              </a:pathLst>
            </a:custGeom>
            <a:ln w="38100">
              <a:solidFill>
                <a:srgbClr val="33993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616890" y="3928350"/>
              <a:ext cx="0" cy="53131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900239" y="3991336"/>
              <a:ext cx="1452052" cy="379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   UDP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804968" y="4550166"/>
              <a:ext cx="389535" cy="379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14" name="Text Box 4"/>
            <p:cNvSpPr txBox="1">
              <a:spLocks noChangeArrowheads="1"/>
            </p:cNvSpPr>
            <p:nvPr/>
          </p:nvSpPr>
          <p:spPr bwMode="auto">
            <a:xfrm>
              <a:off x="4149216" y="3470787"/>
              <a:ext cx="882198" cy="379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328057" y="5068067"/>
              <a:ext cx="2597581" cy="379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网络接口层（子网层）</a:t>
              </a:r>
            </a:p>
          </p:txBody>
        </p:sp>
      </p:grpSp>
      <p:pic>
        <p:nvPicPr>
          <p:cNvPr id="16" name="Picture 5" descr="0106">
            <a:extLst>
              <a:ext uri="{FF2B5EF4-FFF2-40B4-BE49-F238E27FC236}">
                <a16:creationId xmlns:a16="http://schemas.microsoft.com/office/drawing/2014/main" id="{83B71894-E588-426F-AFD2-B1B54E356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4004"/>
            <a:ext cx="5782267" cy="4757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285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751343-CE84-96F2-EE50-7DDD8B88A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7680"/>
            <a:ext cx="4467258" cy="37814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8CB976-FCF5-F7BD-0740-916F735E2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359" y="248840"/>
            <a:ext cx="5657891" cy="20288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7A8A14E-B2C0-D469-28D8-07C820850B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265"/>
          <a:stretch/>
        </p:blipFill>
        <p:spPr>
          <a:xfrm>
            <a:off x="5650150" y="2722970"/>
            <a:ext cx="5319751" cy="32861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93DBA3C-25A5-EC65-053A-0FC31E3B7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5092" y="3480505"/>
            <a:ext cx="5014949" cy="4286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B251BB5-BD09-7C18-2AFD-6C8D596874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71" y="4217218"/>
            <a:ext cx="4100542" cy="67628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5F20CB2-F5B0-A2B7-02F5-16FECF640B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2795" y="4596653"/>
            <a:ext cx="4195793" cy="80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6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936BB-B4E4-C565-7EDF-E1254E01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79167"/>
            <a:ext cx="10515600" cy="1325563"/>
          </a:xfrm>
        </p:spPr>
        <p:txBody>
          <a:bodyPr/>
          <a:lstStyle/>
          <a:p>
            <a:r>
              <a:rPr lang="zh-CN" altLang="en-US" dirty="0"/>
              <a:t>第二三章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2BE90-5A92-755B-5839-F615ACCEA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05" y="1269045"/>
            <a:ext cx="10515600" cy="532169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物理层（选择判断）</a:t>
            </a:r>
            <a:endParaRPr lang="en-US" altLang="zh-CN" dirty="0"/>
          </a:p>
          <a:p>
            <a:pPr lvl="1"/>
            <a:r>
              <a:rPr lang="zh-CN" altLang="en-US" dirty="0"/>
              <a:t>信道基本概念、分类</a:t>
            </a:r>
            <a:endParaRPr lang="en-US" altLang="zh-CN" dirty="0"/>
          </a:p>
          <a:p>
            <a:pPr lvl="1"/>
            <a:r>
              <a:rPr lang="zh-CN" altLang="en-US" dirty="0"/>
              <a:t>常用编码方法</a:t>
            </a:r>
            <a:endParaRPr lang="en-US" altLang="zh-CN" dirty="0"/>
          </a:p>
          <a:p>
            <a:pPr lvl="1"/>
            <a:r>
              <a:rPr lang="zh-CN" altLang="en-US" dirty="0"/>
              <a:t>信道极限容量</a:t>
            </a:r>
            <a:endParaRPr lang="en-US" altLang="zh-CN" dirty="0"/>
          </a:p>
          <a:p>
            <a:pPr lvl="1"/>
            <a:r>
              <a:rPr lang="zh-CN" altLang="en-US" dirty="0"/>
              <a:t>传输介质与基本复用技术</a:t>
            </a:r>
            <a:endParaRPr lang="en-US" altLang="zh-CN" dirty="0"/>
          </a:p>
          <a:p>
            <a:r>
              <a:rPr lang="zh-CN" altLang="en-US" dirty="0"/>
              <a:t>链路层（选择填空和判断）</a:t>
            </a:r>
            <a:endParaRPr lang="en-US" altLang="zh-CN" dirty="0"/>
          </a:p>
          <a:p>
            <a:pPr lvl="1"/>
            <a:r>
              <a:rPr lang="zh-CN" altLang="en-US" dirty="0"/>
              <a:t>三个基本问题：成帧、透明传输、校验</a:t>
            </a:r>
            <a:r>
              <a:rPr lang="en-US" altLang="zh-CN" dirty="0"/>
              <a:t>CRC</a:t>
            </a:r>
          </a:p>
          <a:p>
            <a:pPr lvl="1"/>
            <a:r>
              <a:rPr lang="zh-CN" altLang="en-US" dirty="0"/>
              <a:t>广播信道的链路层</a:t>
            </a:r>
            <a:endParaRPr lang="en-US" altLang="zh-CN" dirty="0"/>
          </a:p>
          <a:p>
            <a:pPr lvl="2"/>
            <a:r>
              <a:rPr lang="zh-CN" altLang="en-US" dirty="0"/>
              <a:t>信道共享技术</a:t>
            </a:r>
            <a:endParaRPr lang="en-US" altLang="zh-CN" dirty="0"/>
          </a:p>
          <a:p>
            <a:pPr lvl="2"/>
            <a:r>
              <a:rPr lang="en-US" altLang="zh-CN" dirty="0"/>
              <a:t>CSMA/CD</a:t>
            </a:r>
          </a:p>
          <a:p>
            <a:pPr lvl="2"/>
            <a:r>
              <a:rPr lang="zh-CN" altLang="en-US" dirty="0"/>
              <a:t>争用期</a:t>
            </a:r>
            <a:endParaRPr lang="en-US" altLang="zh-CN" dirty="0"/>
          </a:p>
          <a:p>
            <a:pPr lvl="1"/>
            <a:r>
              <a:rPr lang="zh-CN" altLang="en-US" dirty="0"/>
              <a:t>以太网</a:t>
            </a:r>
            <a:endParaRPr lang="en-US" altLang="zh-CN" dirty="0"/>
          </a:p>
          <a:p>
            <a:pPr lvl="2"/>
            <a:r>
              <a:rPr lang="zh-CN" altLang="en-US" dirty="0"/>
              <a:t>不同层次对以太网扩展方式</a:t>
            </a:r>
            <a:endParaRPr lang="en-US" altLang="zh-CN" dirty="0"/>
          </a:p>
          <a:p>
            <a:pPr lvl="2"/>
            <a:r>
              <a:rPr lang="zh-CN" altLang="en-US" dirty="0"/>
              <a:t>数据帧格式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109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726859" y="2757831"/>
            <a:ext cx="10738283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机械特性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：指明接口所用接线器的形状和尺寸、引线数目和排列、固定、锁定装置等。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电气特性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：指明在接口电缆的各条线上出现的电压的范围。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功能特性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：指明某条线上出现的某一电平的电压的意义。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过程特性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：指明对于不同功能的各种可能事件的出现顺序。 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26859" y="1134425"/>
            <a:ext cx="10738283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48633" y="1090144"/>
            <a:ext cx="29161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物理层的主要任务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对角圆角矩形 9"/>
          <p:cNvSpPr/>
          <p:nvPr/>
        </p:nvSpPr>
        <p:spPr>
          <a:xfrm>
            <a:off x="726859" y="1872426"/>
            <a:ext cx="10738283" cy="849159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矩形 10"/>
          <p:cNvSpPr/>
          <p:nvPr/>
        </p:nvSpPr>
        <p:spPr>
          <a:xfrm>
            <a:off x="1011245" y="2025692"/>
            <a:ext cx="8797695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Bef>
                <a:spcPts val="8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物理层接口协议：确定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DTE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DCE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之间的接口特性。</a:t>
            </a:r>
          </a:p>
        </p:txBody>
      </p:sp>
    </p:spTree>
    <p:extLst>
      <p:ext uri="{BB962C8B-B14F-4D97-AF65-F5344CB8AC3E}">
        <p14:creationId xmlns:p14="http://schemas.microsoft.com/office/powerpoint/2010/main" val="2616902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726860" y="1460878"/>
            <a:ext cx="10738281" cy="433550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726859" y="836409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5141253" y="780047"/>
            <a:ext cx="19094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2.2.1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</a:p>
        </p:txBody>
      </p:sp>
      <p:sp>
        <p:nvSpPr>
          <p:cNvPr id="17" name="矩形 16"/>
          <p:cNvSpPr/>
          <p:nvPr/>
        </p:nvSpPr>
        <p:spPr>
          <a:xfrm>
            <a:off x="1435370" y="1576063"/>
            <a:ext cx="9188375" cy="615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一个数据通信系统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包括</a:t>
            </a:r>
            <a:r>
              <a:rPr lang="zh-CN" altLang="zh-CN" sz="1600" b="1" dirty="0">
                <a:latin typeface="微软雅黑" pitchFamily="34" charset="-122"/>
                <a:ea typeface="微软雅黑" pitchFamily="34" charset="-122"/>
              </a:rPr>
              <a:t>三大部分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源系统（或发送端、发送方）、传输系统（或传输网络）和目的系统（或接收端、接收方）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5" name="Line 26"/>
          <p:cNvSpPr>
            <a:spLocks noChangeShapeType="1"/>
          </p:cNvSpPr>
          <p:nvPr/>
        </p:nvSpPr>
        <p:spPr bwMode="auto">
          <a:xfrm>
            <a:off x="4226075" y="3089405"/>
            <a:ext cx="3409023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27"/>
          <p:cNvSpPr>
            <a:spLocks noChangeShapeType="1"/>
          </p:cNvSpPr>
          <p:nvPr/>
        </p:nvSpPr>
        <p:spPr bwMode="auto">
          <a:xfrm>
            <a:off x="2523680" y="3092012"/>
            <a:ext cx="1384784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Rectangle 28"/>
          <p:cNvSpPr>
            <a:spLocks noChangeArrowheads="1"/>
          </p:cNvSpPr>
          <p:nvPr/>
        </p:nvSpPr>
        <p:spPr bwMode="auto">
          <a:xfrm>
            <a:off x="3298287" y="3267919"/>
            <a:ext cx="1204099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sp>
        <p:nvSpPr>
          <p:cNvPr id="48" name="Line 29"/>
          <p:cNvSpPr>
            <a:spLocks noChangeShapeType="1"/>
          </p:cNvSpPr>
          <p:nvPr/>
        </p:nvSpPr>
        <p:spPr bwMode="auto">
          <a:xfrm>
            <a:off x="8102339" y="3089405"/>
            <a:ext cx="1638207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Rectangle 42"/>
          <p:cNvSpPr>
            <a:spLocks noChangeArrowheads="1"/>
          </p:cNvSpPr>
          <p:nvPr/>
        </p:nvSpPr>
        <p:spPr bwMode="auto">
          <a:xfrm>
            <a:off x="1735264" y="3327858"/>
            <a:ext cx="1138848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r>
              <a:rPr kumimoji="1" lang="en-US" altLang="zh-CN" sz="1333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pic>
        <p:nvPicPr>
          <p:cNvPr id="69" name="Picture 4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491" y="2893954"/>
            <a:ext cx="758032" cy="433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" name="Rectangle 46"/>
          <p:cNvSpPr>
            <a:spLocks noChangeArrowheads="1"/>
          </p:cNvSpPr>
          <p:nvPr/>
        </p:nvSpPr>
        <p:spPr bwMode="auto">
          <a:xfrm>
            <a:off x="7272159" y="3291374"/>
            <a:ext cx="1198452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grpSp>
        <p:nvGrpSpPr>
          <p:cNvPr id="72" name="Group 47"/>
          <p:cNvGrpSpPr>
            <a:grpSpLocks/>
          </p:cNvGrpSpPr>
          <p:nvPr/>
        </p:nvGrpSpPr>
        <p:grpSpPr bwMode="auto">
          <a:xfrm>
            <a:off x="4416641" y="2733682"/>
            <a:ext cx="580169" cy="278847"/>
            <a:chOff x="2315" y="3965"/>
            <a:chExt cx="496" cy="254"/>
          </a:xfrm>
        </p:grpSpPr>
        <p:sp>
          <p:nvSpPr>
            <p:cNvPr id="73" name="Freeform 48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Freeform 49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Freeform 50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Freeform 51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7" name="Freeform 52"/>
          <p:cNvSpPr>
            <a:spLocks/>
          </p:cNvSpPr>
          <p:nvPr/>
        </p:nvSpPr>
        <p:spPr bwMode="auto">
          <a:xfrm>
            <a:off x="2845673" y="2817073"/>
            <a:ext cx="659219" cy="135515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Rectangle 53"/>
          <p:cNvSpPr>
            <a:spLocks noChangeArrowheads="1"/>
          </p:cNvSpPr>
          <p:nvPr/>
        </p:nvSpPr>
        <p:spPr bwMode="auto">
          <a:xfrm>
            <a:off x="2581351" y="2417049"/>
            <a:ext cx="1290207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latin typeface="微软雅黑" pitchFamily="34" charset="-122"/>
                <a:ea typeface="微软雅黑" pitchFamily="34" charset="-122"/>
              </a:rPr>
              <a:t>比特流数据</a:t>
            </a:r>
          </a:p>
        </p:txBody>
      </p:sp>
      <p:sp>
        <p:nvSpPr>
          <p:cNvPr id="79" name="Rectangle 54"/>
          <p:cNvSpPr>
            <a:spLocks noChangeArrowheads="1"/>
          </p:cNvSpPr>
          <p:nvPr/>
        </p:nvSpPr>
        <p:spPr bwMode="auto">
          <a:xfrm>
            <a:off x="8319774" y="2417049"/>
            <a:ext cx="1263385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latin typeface="微软雅黑" pitchFamily="34" charset="-122"/>
                <a:ea typeface="微软雅黑" pitchFamily="34" charset="-122"/>
              </a:rPr>
              <a:t>比特流数据</a:t>
            </a:r>
          </a:p>
        </p:txBody>
      </p:sp>
      <p:sp>
        <p:nvSpPr>
          <p:cNvPr id="80" name="Rectangle 55"/>
          <p:cNvSpPr>
            <a:spLocks noChangeArrowheads="1"/>
          </p:cNvSpPr>
          <p:nvPr/>
        </p:nvSpPr>
        <p:spPr bwMode="auto">
          <a:xfrm>
            <a:off x="4172955" y="2417049"/>
            <a:ext cx="1071407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latin typeface="微软雅黑" pitchFamily="34" charset="-122"/>
                <a:ea typeface="微软雅黑" pitchFamily="34" charset="-122"/>
              </a:rPr>
              <a:t>模拟信号</a:t>
            </a:r>
          </a:p>
        </p:txBody>
      </p:sp>
      <p:sp>
        <p:nvSpPr>
          <p:cNvPr id="81" name="Rectangle 56"/>
          <p:cNvSpPr>
            <a:spLocks noChangeArrowheads="1"/>
          </p:cNvSpPr>
          <p:nvPr/>
        </p:nvSpPr>
        <p:spPr bwMode="auto">
          <a:xfrm>
            <a:off x="6586099" y="2417049"/>
            <a:ext cx="1084112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latin typeface="微软雅黑" pitchFamily="34" charset="-122"/>
                <a:ea typeface="微软雅黑" pitchFamily="34" charset="-122"/>
              </a:rPr>
              <a:t>模拟信号 </a:t>
            </a:r>
          </a:p>
        </p:txBody>
      </p:sp>
      <p:sp>
        <p:nvSpPr>
          <p:cNvPr id="82" name="Rectangle 57"/>
          <p:cNvSpPr>
            <a:spLocks noChangeArrowheads="1"/>
          </p:cNvSpPr>
          <p:nvPr/>
        </p:nvSpPr>
        <p:spPr bwMode="auto">
          <a:xfrm>
            <a:off x="1102063" y="2806147"/>
            <a:ext cx="1022845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latin typeface="微软雅黑" pitchFamily="34" charset="-122"/>
                <a:ea typeface="微软雅黑" pitchFamily="34" charset="-122"/>
              </a:rPr>
              <a:t>输入信息</a:t>
            </a:r>
          </a:p>
        </p:txBody>
      </p:sp>
      <p:sp>
        <p:nvSpPr>
          <p:cNvPr id="83" name="Rectangle 58"/>
          <p:cNvSpPr>
            <a:spLocks noChangeArrowheads="1"/>
          </p:cNvSpPr>
          <p:nvPr/>
        </p:nvSpPr>
        <p:spPr bwMode="auto">
          <a:xfrm>
            <a:off x="10058517" y="2806147"/>
            <a:ext cx="1061284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latin typeface="微软雅黑" pitchFamily="34" charset="-122"/>
                <a:ea typeface="微软雅黑" pitchFamily="34" charset="-122"/>
              </a:rPr>
              <a:t>显示信息</a:t>
            </a:r>
          </a:p>
        </p:txBody>
      </p:sp>
      <p:sp>
        <p:nvSpPr>
          <p:cNvPr id="84" name="Freeform 59"/>
          <p:cNvSpPr>
            <a:spLocks/>
          </p:cNvSpPr>
          <p:nvPr/>
        </p:nvSpPr>
        <p:spPr bwMode="auto">
          <a:xfrm>
            <a:off x="8621133" y="2834013"/>
            <a:ext cx="660631" cy="135515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5" name="Group 60"/>
          <p:cNvGrpSpPr>
            <a:grpSpLocks/>
          </p:cNvGrpSpPr>
          <p:nvPr/>
        </p:nvGrpSpPr>
        <p:grpSpPr bwMode="auto">
          <a:xfrm>
            <a:off x="6859783" y="2733682"/>
            <a:ext cx="581581" cy="278847"/>
            <a:chOff x="2315" y="3965"/>
            <a:chExt cx="496" cy="254"/>
          </a:xfrm>
        </p:grpSpPr>
        <p:sp>
          <p:nvSpPr>
            <p:cNvPr id="86" name="Freeform 61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Freeform 62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Freeform 63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Freeform 64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02" name="Picture 7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541" y="2935649"/>
            <a:ext cx="758031" cy="43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7" name="Rectangle 79"/>
          <p:cNvSpPr>
            <a:spLocks noChangeArrowheads="1"/>
          </p:cNvSpPr>
          <p:nvPr/>
        </p:nvSpPr>
        <p:spPr bwMode="auto">
          <a:xfrm>
            <a:off x="9470752" y="3325251"/>
            <a:ext cx="910688" cy="32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333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endParaRPr kumimoji="1" lang="en-US" altLang="zh-CN" sz="1333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567939" y="5344981"/>
            <a:ext cx="3024965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数据通信系统的模型</a:t>
            </a:r>
            <a:endParaRPr lang="zh-CN" altLang="en-US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71" y="2713520"/>
            <a:ext cx="670983" cy="67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691" y="2713520"/>
            <a:ext cx="670983" cy="67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5" name="Group 1356"/>
          <p:cNvGrpSpPr>
            <a:grpSpLocks/>
          </p:cNvGrpSpPr>
          <p:nvPr/>
        </p:nvGrpSpPr>
        <p:grpSpPr bwMode="auto">
          <a:xfrm>
            <a:off x="5235966" y="2578181"/>
            <a:ext cx="1331364" cy="916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126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27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28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29" name="Oval 1360"/>
            <p:cNvSpPr>
              <a:spLocks noChangeArrowheads="1"/>
            </p:cNvSpPr>
            <p:nvPr/>
          </p:nvSpPr>
          <p:spPr bwMode="auto">
            <a:xfrm rot="-156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30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31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32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33" name="Oval 1364"/>
            <p:cNvSpPr>
              <a:spLocks noChangeArrowheads="1"/>
            </p:cNvSpPr>
            <p:nvPr/>
          </p:nvSpPr>
          <p:spPr bwMode="auto">
            <a:xfrm rot="-186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667" b="1">
                <a:solidFill>
                  <a:srgbClr val="000000"/>
                </a:solidFill>
              </a:endParaRPr>
            </a:p>
          </p:txBody>
        </p:sp>
        <p:sp>
          <p:nvSpPr>
            <p:cNvPr id="134" name="Freeform 1365"/>
            <p:cNvSpPr>
              <a:spLocks/>
            </p:cNvSpPr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5" name="Freeform 1366"/>
            <p:cNvSpPr>
              <a:spLocks/>
            </p:cNvSpPr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6" name="Freeform 1367"/>
            <p:cNvSpPr>
              <a:spLocks/>
            </p:cNvSpPr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68" name="Rectangle 43"/>
          <p:cNvSpPr>
            <a:spLocks noChangeArrowheads="1"/>
          </p:cNvSpPr>
          <p:nvPr/>
        </p:nvSpPr>
        <p:spPr bwMode="auto">
          <a:xfrm>
            <a:off x="5289844" y="2893608"/>
            <a:ext cx="1181416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latin typeface="微软雅黑" pitchFamily="34" charset="-122"/>
                <a:ea typeface="微软雅黑" pitchFamily="34" charset="-122"/>
              </a:rPr>
              <a:t>公用电话网</a:t>
            </a:r>
          </a:p>
        </p:txBody>
      </p:sp>
      <p:grpSp>
        <p:nvGrpSpPr>
          <p:cNvPr id="137" name="Group 113"/>
          <p:cNvGrpSpPr>
            <a:grpSpLocks/>
          </p:cNvGrpSpPr>
          <p:nvPr/>
        </p:nvGrpSpPr>
        <p:grpSpPr bwMode="auto">
          <a:xfrm>
            <a:off x="1246277" y="2112723"/>
            <a:ext cx="9612505" cy="364965"/>
            <a:chOff x="409" y="1268"/>
            <a:chExt cx="3939" cy="149"/>
          </a:xfrm>
        </p:grpSpPr>
        <p:sp>
          <p:nvSpPr>
            <p:cNvPr id="138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CC"/>
                </a:solidFill>
                <a:ea typeface="黑体" pitchFamily="2" charset="-122"/>
              </a:endParaRPr>
            </a:p>
          </p:txBody>
        </p:sp>
        <p:sp>
          <p:nvSpPr>
            <p:cNvPr id="139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1" tIns="59267" rIns="120651" bIns="59267">
              <a:spAutoFit/>
            </a:bodyPr>
            <a:lstStyle/>
            <a:p>
              <a:pPr algn="ctr" defTabSz="1015975" eaLnBrk="0" hangingPunct="0"/>
              <a:r>
                <a:rPr kumimoji="1"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数据通信系统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A41E2AF-2233-40E3-ADB0-D71DA103CC9A}"/>
              </a:ext>
            </a:extLst>
          </p:cNvPr>
          <p:cNvGrpSpPr/>
          <p:nvPr/>
        </p:nvGrpSpPr>
        <p:grpSpPr>
          <a:xfrm>
            <a:off x="1613195" y="3131102"/>
            <a:ext cx="8976389" cy="1416381"/>
            <a:chOff x="1613195" y="3131102"/>
            <a:chExt cx="8976389" cy="1416381"/>
          </a:xfrm>
        </p:grpSpPr>
        <p:grpSp>
          <p:nvGrpSpPr>
            <p:cNvPr id="95" name="Group 101"/>
            <p:cNvGrpSpPr>
              <a:grpSpLocks/>
            </p:cNvGrpSpPr>
            <p:nvPr/>
          </p:nvGrpSpPr>
          <p:grpSpPr bwMode="auto">
            <a:xfrm>
              <a:off x="6877067" y="3730484"/>
              <a:ext cx="3712517" cy="345298"/>
              <a:chOff x="3491" y="2533"/>
              <a:chExt cx="2630" cy="265"/>
            </a:xfrm>
          </p:grpSpPr>
          <p:sp>
            <p:nvSpPr>
              <p:cNvPr id="96" name="Line 70"/>
              <p:cNvSpPr>
                <a:spLocks noChangeShapeType="1"/>
              </p:cNvSpPr>
              <p:nvPr/>
            </p:nvSpPr>
            <p:spPr bwMode="auto">
              <a:xfrm>
                <a:off x="3491" y="2660"/>
                <a:ext cx="2630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7" name="Rectangle 73"/>
              <p:cNvSpPr>
                <a:spLocks noChangeArrowheads="1"/>
              </p:cNvSpPr>
              <p:nvPr/>
            </p:nvSpPr>
            <p:spPr bwMode="auto">
              <a:xfrm>
                <a:off x="4448" y="2533"/>
                <a:ext cx="712" cy="265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目的系统</a:t>
                </a:r>
              </a:p>
            </p:txBody>
          </p:sp>
        </p:grpSp>
        <p:grpSp>
          <p:nvGrpSpPr>
            <p:cNvPr id="98" name="Group 100"/>
            <p:cNvGrpSpPr>
              <a:grpSpLocks/>
            </p:cNvGrpSpPr>
            <p:nvPr/>
          </p:nvGrpSpPr>
          <p:grpSpPr bwMode="auto">
            <a:xfrm>
              <a:off x="4858474" y="3131102"/>
              <a:ext cx="2018593" cy="1416381"/>
              <a:chOff x="2061" y="2073"/>
              <a:chExt cx="1430" cy="1087"/>
            </a:xfrm>
          </p:grpSpPr>
          <p:sp>
            <p:nvSpPr>
              <p:cNvPr id="99" name="Line 69"/>
              <p:cNvSpPr>
                <a:spLocks noChangeShapeType="1"/>
              </p:cNvSpPr>
              <p:nvPr/>
            </p:nvSpPr>
            <p:spPr bwMode="auto">
              <a:xfrm>
                <a:off x="2061" y="2660"/>
                <a:ext cx="1430" cy="0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0" name="Rectangle 72"/>
              <p:cNvSpPr>
                <a:spLocks noChangeArrowheads="1"/>
              </p:cNvSpPr>
              <p:nvPr/>
            </p:nvSpPr>
            <p:spPr bwMode="auto">
              <a:xfrm>
                <a:off x="2418" y="2533"/>
                <a:ext cx="734" cy="265"/>
              </a:xfrm>
              <a:prstGeom prst="rect">
                <a:avLst/>
              </a:prstGeom>
              <a:solidFill>
                <a:srgbClr val="6666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传输系统</a:t>
                </a:r>
              </a:p>
            </p:txBody>
          </p:sp>
          <p:sp>
            <p:nvSpPr>
              <p:cNvPr id="101" name="Line 74"/>
              <p:cNvSpPr>
                <a:spLocks noChangeShapeType="1"/>
              </p:cNvSpPr>
              <p:nvPr/>
            </p:nvSpPr>
            <p:spPr bwMode="auto">
              <a:xfrm flipH="1">
                <a:off x="3486" y="2073"/>
                <a:ext cx="5" cy="108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90" name="Group 99"/>
            <p:cNvGrpSpPr>
              <a:grpSpLocks/>
            </p:cNvGrpSpPr>
            <p:nvPr/>
          </p:nvGrpSpPr>
          <p:grpSpPr bwMode="auto">
            <a:xfrm>
              <a:off x="1613195" y="3154558"/>
              <a:ext cx="3245277" cy="1362959"/>
              <a:chOff x="-238" y="2091"/>
              <a:chExt cx="2299" cy="1046"/>
            </a:xfrm>
          </p:grpSpPr>
          <p:sp>
            <p:nvSpPr>
              <p:cNvPr id="91" name="Line 68"/>
              <p:cNvSpPr>
                <a:spLocks noChangeShapeType="1"/>
              </p:cNvSpPr>
              <p:nvPr/>
            </p:nvSpPr>
            <p:spPr bwMode="auto">
              <a:xfrm>
                <a:off x="2061" y="2091"/>
                <a:ext cx="0" cy="104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92" name="Group 98"/>
              <p:cNvGrpSpPr>
                <a:grpSpLocks/>
              </p:cNvGrpSpPr>
              <p:nvPr/>
            </p:nvGrpSpPr>
            <p:grpSpPr bwMode="auto">
              <a:xfrm>
                <a:off x="-238" y="2523"/>
                <a:ext cx="2299" cy="265"/>
                <a:chOff x="-238" y="2523"/>
                <a:chExt cx="2299" cy="265"/>
              </a:xfrm>
            </p:grpSpPr>
            <p:sp>
              <p:nvSpPr>
                <p:cNvPr id="93" name="Line 67"/>
                <p:cNvSpPr>
                  <a:spLocks noChangeShapeType="1"/>
                </p:cNvSpPr>
                <p:nvPr/>
              </p:nvSpPr>
              <p:spPr bwMode="auto">
                <a:xfrm>
                  <a:off x="-238" y="2660"/>
                  <a:ext cx="2299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 type="triangle" w="sm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67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94" name="Rectangle 71"/>
                <p:cNvSpPr>
                  <a:spLocks noChangeArrowheads="1"/>
                </p:cNvSpPr>
                <p:nvPr/>
              </p:nvSpPr>
              <p:spPr bwMode="auto">
                <a:xfrm>
                  <a:off x="530" y="2523"/>
                  <a:ext cx="620" cy="265"/>
                </a:xfrm>
                <a:prstGeom prst="rect">
                  <a:avLst/>
                </a:prstGeom>
                <a:solidFill>
                  <a:srgbClr val="0070C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20651" tIns="59267" rIns="120651" bIns="59267">
                  <a:spAutoFit/>
                </a:bodyPr>
                <a:lstStyle/>
                <a:p>
                  <a:pPr algn="ctr" defTabSz="1015975" eaLnBrk="0" hangingPunct="0"/>
                  <a:r>
                    <a:rPr kumimoji="1" lang="zh-CN" altLang="en-US" sz="1467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源系统</a:t>
                  </a:r>
                </a:p>
              </p:txBody>
            </p:sp>
          </p:grp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8615DB1-1DA9-4340-BC42-C1B3DE00E331}"/>
              </a:ext>
            </a:extLst>
          </p:cNvPr>
          <p:cNvGrpSpPr/>
          <p:nvPr/>
        </p:nvGrpSpPr>
        <p:grpSpPr>
          <a:xfrm>
            <a:off x="1080655" y="4249093"/>
            <a:ext cx="9509184" cy="1300421"/>
            <a:chOff x="1080655" y="4249093"/>
            <a:chExt cx="9509184" cy="1300421"/>
          </a:xfrm>
        </p:grpSpPr>
        <p:grpSp>
          <p:nvGrpSpPr>
            <p:cNvPr id="21" name="Group 104"/>
            <p:cNvGrpSpPr>
              <a:grpSpLocks/>
            </p:cNvGrpSpPr>
            <p:nvPr/>
          </p:nvGrpSpPr>
          <p:grpSpPr bwMode="auto">
            <a:xfrm>
              <a:off x="2651056" y="4547493"/>
              <a:ext cx="921779" cy="942085"/>
              <a:chOff x="730" y="3160"/>
              <a:chExt cx="653" cy="723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864" y="3161"/>
                <a:ext cx="357" cy="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algn="ctr" defTabSz="1015975" eaLnBrk="0" hangingPunct="0"/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输入数据</a:t>
                </a:r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>
                <a:off x="730" y="3160"/>
                <a:ext cx="65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333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4" name="Group 106"/>
            <p:cNvGrpSpPr>
              <a:grpSpLocks/>
            </p:cNvGrpSpPr>
            <p:nvPr/>
          </p:nvGrpSpPr>
          <p:grpSpPr bwMode="auto">
            <a:xfrm>
              <a:off x="4197760" y="4547485"/>
              <a:ext cx="1329305" cy="586359"/>
              <a:chOff x="1599" y="3160"/>
              <a:chExt cx="911" cy="450"/>
            </a:xfrm>
          </p:grpSpPr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1599" y="3203"/>
                <a:ext cx="911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0651" tIns="59267" rIns="120651" bIns="59267">
                <a:spAutoFit/>
              </a:bodyPr>
              <a:lstStyle/>
              <a:p>
                <a:pPr algn="ctr" defTabSz="1015975" eaLnBrk="0" hangingPunct="0"/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发送信号</a:t>
                </a:r>
                <a:endParaRPr kumimoji="1" lang="en-US" altLang="zh-CN" sz="1333" b="1" dirty="0">
                  <a:latin typeface="微软雅黑" pitchFamily="34" charset="-122"/>
                  <a:ea typeface="微软雅黑" pitchFamily="34" charset="-122"/>
                </a:endParaRPr>
              </a:p>
              <a:p>
                <a:pPr algn="ctr" defTabSz="1015975" eaLnBrk="0" hangingPunct="0"/>
                <a:r>
                  <a:rPr kumimoji="1" lang="en-US" altLang="zh-CN" sz="1333" b="1" dirty="0">
                    <a:latin typeface="微软雅黑" pitchFamily="34" charset="-122"/>
                    <a:ea typeface="微软雅黑" pitchFamily="34" charset="-122"/>
                  </a:rPr>
                  <a:t>(</a:t>
                </a:r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数字或模拟</a:t>
                </a:r>
                <a:r>
                  <a:rPr kumimoji="1" lang="en-US" altLang="zh-CN" sz="1333" b="1" dirty="0">
                    <a:latin typeface="微软雅黑" pitchFamily="34" charset="-122"/>
                    <a:ea typeface="微软雅黑" pitchFamily="34" charset="-122"/>
                  </a:rPr>
                  <a:t>)</a:t>
                </a:r>
                <a:endParaRPr kumimoji="1" lang="zh-CN" altLang="en-US" sz="1333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" name="Line 19"/>
              <p:cNvSpPr>
                <a:spLocks noChangeShapeType="1"/>
              </p:cNvSpPr>
              <p:nvPr/>
            </p:nvSpPr>
            <p:spPr bwMode="auto">
              <a:xfrm>
                <a:off x="1686" y="3160"/>
                <a:ext cx="777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333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Group 108"/>
            <p:cNvGrpSpPr>
              <a:grpSpLocks/>
            </p:cNvGrpSpPr>
            <p:nvPr/>
          </p:nvGrpSpPr>
          <p:grpSpPr bwMode="auto">
            <a:xfrm>
              <a:off x="6133315" y="4547491"/>
              <a:ext cx="1475999" cy="561805"/>
              <a:chOff x="2991" y="3160"/>
              <a:chExt cx="824" cy="382"/>
            </a:xfrm>
          </p:grpSpPr>
          <p:sp>
            <p:nvSpPr>
              <p:cNvPr id="28" name="Rectangle 10"/>
              <p:cNvSpPr>
                <a:spLocks noChangeArrowheads="1"/>
              </p:cNvSpPr>
              <p:nvPr/>
            </p:nvSpPr>
            <p:spPr bwMode="auto">
              <a:xfrm>
                <a:off x="2991" y="3182"/>
                <a:ext cx="824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0651" tIns="59267" rIns="120651" bIns="59267">
                <a:spAutoFit/>
              </a:bodyPr>
              <a:lstStyle/>
              <a:p>
                <a:pPr algn="ctr" defTabSz="1015975" eaLnBrk="0" hangingPunct="0"/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接收信号</a:t>
                </a:r>
                <a:endParaRPr kumimoji="1" lang="en-US" altLang="zh-CN" sz="1333" b="1" dirty="0">
                  <a:latin typeface="微软雅黑" pitchFamily="34" charset="-122"/>
                  <a:ea typeface="微软雅黑" pitchFamily="34" charset="-122"/>
                </a:endParaRPr>
              </a:p>
              <a:p>
                <a:pPr algn="ctr" defTabSz="1015975" eaLnBrk="0" hangingPunct="0"/>
                <a:r>
                  <a:rPr kumimoji="1" lang="en-US" altLang="zh-CN" sz="1333" b="1" dirty="0">
                    <a:latin typeface="微软雅黑" pitchFamily="34" charset="-122"/>
                    <a:ea typeface="微软雅黑" pitchFamily="34" charset="-122"/>
                  </a:rPr>
                  <a:t>(</a:t>
                </a:r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数字或模拟</a:t>
                </a:r>
                <a:r>
                  <a:rPr kumimoji="1" lang="en-US" altLang="zh-CN" sz="1333" b="1" dirty="0">
                    <a:latin typeface="微软雅黑" pitchFamily="34" charset="-122"/>
                    <a:ea typeface="微软雅黑" pitchFamily="34" charset="-122"/>
                  </a:rPr>
                  <a:t>)</a:t>
                </a:r>
                <a:endParaRPr kumimoji="1" lang="zh-CN" altLang="en-US" sz="1333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Line 20"/>
              <p:cNvSpPr>
                <a:spLocks noChangeShapeType="1"/>
              </p:cNvSpPr>
              <p:nvPr/>
            </p:nvSpPr>
            <p:spPr bwMode="auto">
              <a:xfrm>
                <a:off x="3091" y="3160"/>
                <a:ext cx="650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333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30" name="Group 110"/>
            <p:cNvGrpSpPr>
              <a:grpSpLocks/>
            </p:cNvGrpSpPr>
            <p:nvPr/>
          </p:nvGrpSpPr>
          <p:grpSpPr bwMode="auto">
            <a:xfrm>
              <a:off x="8201179" y="4547490"/>
              <a:ext cx="839907" cy="1002024"/>
              <a:chOff x="4318" y="3160"/>
              <a:chExt cx="595" cy="769"/>
            </a:xfrm>
          </p:grpSpPr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4442" y="3207"/>
                <a:ext cx="357" cy="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algn="ctr" defTabSz="1015975" eaLnBrk="0" hangingPunct="0"/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输出数据</a:t>
                </a:r>
              </a:p>
            </p:txBody>
          </p:sp>
          <p:sp>
            <p:nvSpPr>
              <p:cNvPr id="32" name="Line 21"/>
              <p:cNvSpPr>
                <a:spLocks noChangeShapeType="1"/>
              </p:cNvSpPr>
              <p:nvPr/>
            </p:nvSpPr>
            <p:spPr bwMode="auto">
              <a:xfrm>
                <a:off x="4318" y="3160"/>
                <a:ext cx="595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333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33" name="Group 103"/>
            <p:cNvGrpSpPr>
              <a:grpSpLocks/>
            </p:cNvGrpSpPr>
            <p:nvPr/>
          </p:nvGrpSpPr>
          <p:grpSpPr bwMode="auto">
            <a:xfrm>
              <a:off x="1902211" y="4249094"/>
              <a:ext cx="756620" cy="596783"/>
              <a:chOff x="407" y="2931"/>
              <a:chExt cx="536" cy="458"/>
            </a:xfrm>
            <a:solidFill>
              <a:srgbClr val="0070C0"/>
            </a:solidFill>
          </p:grpSpPr>
          <p:sp>
            <p:nvSpPr>
              <p:cNvPr id="34" name="AutoShape 11"/>
              <p:cNvSpPr>
                <a:spLocks noChangeArrowheads="1"/>
              </p:cNvSpPr>
              <p:nvPr/>
            </p:nvSpPr>
            <p:spPr bwMode="auto">
              <a:xfrm>
                <a:off x="407" y="2931"/>
                <a:ext cx="536" cy="458"/>
              </a:xfrm>
              <a:prstGeom prst="cube">
                <a:avLst>
                  <a:gd name="adj" fmla="val 13069"/>
                </a:avLst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431" y="3059"/>
                <a:ext cx="447" cy="26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源点</a:t>
                </a:r>
              </a:p>
            </p:txBody>
          </p:sp>
        </p:grpSp>
        <p:grpSp>
          <p:nvGrpSpPr>
            <p:cNvPr id="36" name="Group 111"/>
            <p:cNvGrpSpPr>
              <a:grpSpLocks/>
            </p:cNvGrpSpPr>
            <p:nvPr/>
          </p:nvGrpSpPr>
          <p:grpSpPr bwMode="auto">
            <a:xfrm>
              <a:off x="8978109" y="4249098"/>
              <a:ext cx="756620" cy="596783"/>
              <a:chOff x="4654" y="2931"/>
              <a:chExt cx="536" cy="458"/>
            </a:xfrm>
            <a:solidFill>
              <a:srgbClr val="008000"/>
            </a:solidFill>
          </p:grpSpPr>
          <p:sp>
            <p:nvSpPr>
              <p:cNvPr id="37" name="AutoShape 15"/>
              <p:cNvSpPr>
                <a:spLocks noChangeArrowheads="1"/>
              </p:cNvSpPr>
              <p:nvPr/>
            </p:nvSpPr>
            <p:spPr bwMode="auto">
              <a:xfrm>
                <a:off x="4654" y="2931"/>
                <a:ext cx="536" cy="458"/>
              </a:xfrm>
              <a:prstGeom prst="cube">
                <a:avLst>
                  <a:gd name="adj" fmla="val 13069"/>
                </a:avLst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" name="Rectangle 23"/>
              <p:cNvSpPr>
                <a:spLocks noChangeArrowheads="1"/>
              </p:cNvSpPr>
              <p:nvPr/>
            </p:nvSpPr>
            <p:spPr bwMode="auto">
              <a:xfrm>
                <a:off x="4681" y="3061"/>
                <a:ext cx="446" cy="26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终点</a:t>
                </a:r>
              </a:p>
            </p:txBody>
          </p:sp>
        </p:grpSp>
        <p:grpSp>
          <p:nvGrpSpPr>
            <p:cNvPr id="39" name="Group 105"/>
            <p:cNvGrpSpPr>
              <a:grpSpLocks/>
            </p:cNvGrpSpPr>
            <p:nvPr/>
          </p:nvGrpSpPr>
          <p:grpSpPr bwMode="auto">
            <a:xfrm>
              <a:off x="3527498" y="4249094"/>
              <a:ext cx="822965" cy="596783"/>
              <a:chOff x="1210" y="2931"/>
              <a:chExt cx="583" cy="458"/>
            </a:xfrm>
            <a:solidFill>
              <a:srgbClr val="0070C0"/>
            </a:solidFill>
          </p:grpSpPr>
          <p:sp>
            <p:nvSpPr>
              <p:cNvPr id="40" name="AutoShape 12"/>
              <p:cNvSpPr>
                <a:spLocks noChangeArrowheads="1"/>
              </p:cNvSpPr>
              <p:nvPr/>
            </p:nvSpPr>
            <p:spPr bwMode="auto">
              <a:xfrm>
                <a:off x="1256" y="2931"/>
                <a:ext cx="537" cy="458"/>
              </a:xfrm>
              <a:prstGeom prst="cube">
                <a:avLst>
                  <a:gd name="adj" fmla="val 13069"/>
                </a:avLst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Rectangle 24"/>
              <p:cNvSpPr>
                <a:spLocks noChangeArrowheads="1"/>
              </p:cNvSpPr>
              <p:nvPr/>
            </p:nvSpPr>
            <p:spPr bwMode="auto">
              <a:xfrm>
                <a:off x="1210" y="3068"/>
                <a:ext cx="581" cy="26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发送器</a:t>
                </a:r>
              </a:p>
            </p:txBody>
          </p:sp>
        </p:grpSp>
        <p:grpSp>
          <p:nvGrpSpPr>
            <p:cNvPr id="42" name="Group 109"/>
            <p:cNvGrpSpPr>
              <a:grpSpLocks/>
            </p:cNvGrpSpPr>
            <p:nvPr/>
          </p:nvGrpSpPr>
          <p:grpSpPr bwMode="auto">
            <a:xfrm>
              <a:off x="7413501" y="4249094"/>
              <a:ext cx="820143" cy="596783"/>
              <a:chOff x="3760" y="2931"/>
              <a:chExt cx="581" cy="458"/>
            </a:xfrm>
            <a:solidFill>
              <a:srgbClr val="008000"/>
            </a:solidFill>
          </p:grpSpPr>
          <p:sp>
            <p:nvSpPr>
              <p:cNvPr id="43" name="AutoShape 14"/>
              <p:cNvSpPr>
                <a:spLocks noChangeArrowheads="1"/>
              </p:cNvSpPr>
              <p:nvPr/>
            </p:nvSpPr>
            <p:spPr bwMode="auto">
              <a:xfrm>
                <a:off x="3805" y="2931"/>
                <a:ext cx="535" cy="458"/>
              </a:xfrm>
              <a:prstGeom prst="cube">
                <a:avLst>
                  <a:gd name="adj" fmla="val 13069"/>
                </a:avLst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Rectangle 25"/>
              <p:cNvSpPr>
                <a:spLocks noChangeArrowheads="1"/>
              </p:cNvSpPr>
              <p:nvPr/>
            </p:nvSpPr>
            <p:spPr bwMode="auto">
              <a:xfrm>
                <a:off x="3760" y="3059"/>
                <a:ext cx="581" cy="26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接收器</a:t>
                </a:r>
              </a:p>
            </p:txBody>
          </p:sp>
        </p:grpSp>
        <p:grpSp>
          <p:nvGrpSpPr>
            <p:cNvPr id="104" name="Group 112"/>
            <p:cNvGrpSpPr>
              <a:grpSpLocks/>
            </p:cNvGrpSpPr>
            <p:nvPr/>
          </p:nvGrpSpPr>
          <p:grpSpPr bwMode="auto">
            <a:xfrm>
              <a:off x="9734404" y="4547490"/>
              <a:ext cx="855435" cy="1002024"/>
              <a:chOff x="5154" y="3160"/>
              <a:chExt cx="606" cy="769"/>
            </a:xfrm>
          </p:grpSpPr>
          <p:sp>
            <p:nvSpPr>
              <p:cNvPr id="105" name="Rectangle 6"/>
              <p:cNvSpPr>
                <a:spLocks noChangeArrowheads="1"/>
              </p:cNvSpPr>
              <p:nvPr/>
            </p:nvSpPr>
            <p:spPr bwMode="auto">
              <a:xfrm>
                <a:off x="5175" y="3207"/>
                <a:ext cx="357" cy="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algn="ctr" defTabSz="1015975" eaLnBrk="0" hangingPunct="0"/>
                <a:r>
                  <a:rPr kumimoji="1" lang="zh-CN" altLang="en-US" sz="1333" b="1" dirty="0">
                    <a:latin typeface="微软雅黑" pitchFamily="34" charset="-122"/>
                    <a:ea typeface="微软雅黑" pitchFamily="34" charset="-122"/>
                  </a:rPr>
                  <a:t>输出信息</a:t>
                </a:r>
              </a:p>
            </p:txBody>
          </p:sp>
          <p:sp>
            <p:nvSpPr>
              <p:cNvPr id="106" name="Line 77"/>
              <p:cNvSpPr>
                <a:spLocks noChangeShapeType="1"/>
              </p:cNvSpPr>
              <p:nvPr/>
            </p:nvSpPr>
            <p:spPr bwMode="auto">
              <a:xfrm>
                <a:off x="5154" y="3160"/>
                <a:ext cx="606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333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8" name="Group 107"/>
            <p:cNvGrpSpPr>
              <a:grpSpLocks/>
            </p:cNvGrpSpPr>
            <p:nvPr/>
          </p:nvGrpSpPr>
          <p:grpSpPr bwMode="auto">
            <a:xfrm>
              <a:off x="5425939" y="4249093"/>
              <a:ext cx="911896" cy="622843"/>
              <a:chOff x="2463" y="2931"/>
              <a:chExt cx="646" cy="478"/>
            </a:xfrm>
          </p:grpSpPr>
          <p:sp>
            <p:nvSpPr>
              <p:cNvPr id="19" name="AutoShape 13"/>
              <p:cNvSpPr>
                <a:spLocks noChangeArrowheads="1"/>
              </p:cNvSpPr>
              <p:nvPr/>
            </p:nvSpPr>
            <p:spPr bwMode="auto">
              <a:xfrm>
                <a:off x="2463" y="2931"/>
                <a:ext cx="646" cy="458"/>
              </a:xfrm>
              <a:prstGeom prst="cube">
                <a:avLst>
                  <a:gd name="adj" fmla="val 13069"/>
                </a:avLst>
              </a:prstGeom>
              <a:solidFill>
                <a:srgbClr val="6666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2546" y="2971"/>
                <a:ext cx="508" cy="43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传输</a:t>
                </a:r>
              </a:p>
              <a:p>
                <a:pPr defTabSz="1015975" eaLnBrk="0" hangingPunct="0"/>
                <a:r>
                  <a:rPr kumimoji="1" lang="zh-CN" altLang="en-US" sz="1467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系统</a:t>
                </a:r>
              </a:p>
            </p:txBody>
          </p:sp>
        </p:grpSp>
        <p:sp>
          <p:nvSpPr>
            <p:cNvPr id="103" name="Line 77">
              <a:extLst>
                <a:ext uri="{FF2B5EF4-FFF2-40B4-BE49-F238E27FC236}">
                  <a16:creationId xmlns:a16="http://schemas.microsoft.com/office/drawing/2014/main" id="{146D44E9-2FAA-4E48-BE09-C93C9B2DF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55" y="4547483"/>
              <a:ext cx="85543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3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Rectangle 6">
              <a:extLst>
                <a:ext uri="{FF2B5EF4-FFF2-40B4-BE49-F238E27FC236}">
                  <a16:creationId xmlns:a16="http://schemas.microsoft.com/office/drawing/2014/main" id="{33CD0AF3-2D35-4E42-BFF1-73ABCD2E7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19" y="4506987"/>
              <a:ext cx="503944" cy="940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0651" tIns="59267" rIns="120651" bIns="59267">
              <a:spAutoFit/>
            </a:bodyPr>
            <a:lstStyle/>
            <a:p>
              <a:pPr algn="ctr" defTabSz="1015975" eaLnBrk="0" hangingPunct="0"/>
              <a:r>
                <a:rPr kumimoji="1" lang="zh-CN" altLang="en-US" sz="1333" b="1" dirty="0">
                  <a:latin typeface="微软雅黑" pitchFamily="34" charset="-122"/>
                  <a:ea typeface="微软雅黑" pitchFamily="34" charset="-122"/>
                </a:rPr>
                <a:t>输入信息</a:t>
              </a:r>
            </a:p>
          </p:txBody>
        </p:sp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EC641F1-4987-4F28-9D0B-9610BF3F7FDA}"/>
              </a:ext>
            </a:extLst>
          </p:cNvPr>
          <p:cNvSpPr txBox="1"/>
          <p:nvPr/>
        </p:nvSpPr>
        <p:spPr>
          <a:xfrm>
            <a:off x="1752270" y="5968698"/>
            <a:ext cx="873877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数据通信离不开计算机，因此常把数据通信与计算机通信这两名词混用。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546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621792" y="1382281"/>
            <a:ext cx="10799581" cy="4230255"/>
          </a:xfrm>
        </p:spPr>
        <p:txBody>
          <a:bodyPr/>
          <a:lstStyle/>
          <a:p>
            <a:pPr marL="380990" indent="-38099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信道：</a:t>
            </a:r>
            <a:r>
              <a:rPr lang="zh-CN" altLang="en-US" dirty="0"/>
              <a:t>一般用来表示向某一个方向传送信息的媒体。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621792" y="2026166"/>
            <a:ext cx="7265329" cy="423025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buClr>
                <a:srgbClr val="0070C0"/>
              </a:buClr>
            </a:pPr>
            <a:r>
              <a:rPr lang="zh-CN" altLang="en-US" sz="2667" dirty="0">
                <a:solidFill>
                  <a:srgbClr val="0000FF"/>
                </a:solidFill>
              </a:rPr>
              <a:t>单向通信（单工通信）：</a:t>
            </a:r>
            <a:r>
              <a:rPr lang="zh-CN" altLang="en-US" sz="2667" dirty="0">
                <a:solidFill>
                  <a:srgbClr val="C00000"/>
                </a:solidFill>
              </a:rPr>
              <a:t>只能有一个方向</a:t>
            </a:r>
            <a:r>
              <a:rPr lang="zh-CN" altLang="en-US" sz="2667" dirty="0"/>
              <a:t>的通信，没有反方向的交互。</a:t>
            </a:r>
          </a:p>
          <a:p>
            <a:pPr marL="380990" indent="-380990">
              <a:buClr>
                <a:srgbClr val="0070C0"/>
              </a:buClr>
            </a:pPr>
            <a:r>
              <a:rPr lang="zh-CN" altLang="en-US" sz="2667" dirty="0">
                <a:solidFill>
                  <a:srgbClr val="0000FF"/>
                </a:solidFill>
              </a:rPr>
              <a:t>双向交替通信（半双工通信）：</a:t>
            </a:r>
            <a:r>
              <a:rPr lang="zh-CN" altLang="en-US" sz="2667" dirty="0"/>
              <a:t>通信的双方都可以发送信息，但双方</a:t>
            </a:r>
            <a:r>
              <a:rPr lang="zh-CN" altLang="en-US" sz="2667" dirty="0">
                <a:solidFill>
                  <a:srgbClr val="C00000"/>
                </a:solidFill>
              </a:rPr>
              <a:t>不能同时</a:t>
            </a:r>
            <a:r>
              <a:rPr lang="zh-CN" altLang="en-US" sz="2667" dirty="0"/>
              <a:t>发送（当然也就不能同时接收）。</a:t>
            </a:r>
          </a:p>
          <a:p>
            <a:pPr marL="380990" indent="-380990">
              <a:buClr>
                <a:srgbClr val="0070C0"/>
              </a:buClr>
            </a:pPr>
            <a:r>
              <a:rPr lang="zh-CN" altLang="en-US" sz="2667" dirty="0">
                <a:solidFill>
                  <a:srgbClr val="0000FF"/>
                </a:solidFill>
              </a:rPr>
              <a:t>双向同时通信（全双工通信）：</a:t>
            </a:r>
            <a:r>
              <a:rPr lang="zh-CN" altLang="en-US" sz="2667" dirty="0"/>
              <a:t>通信的双方可以</a:t>
            </a:r>
            <a:r>
              <a:rPr lang="zh-CN" altLang="en-US" sz="2667" dirty="0">
                <a:solidFill>
                  <a:srgbClr val="C00000"/>
                </a:solidFill>
              </a:rPr>
              <a:t>同时发送和接收</a:t>
            </a:r>
            <a:r>
              <a:rPr lang="zh-CN" altLang="en-US" sz="2667" dirty="0"/>
              <a:t>信息。 </a:t>
            </a:r>
          </a:p>
          <a:p>
            <a:endParaRPr lang="zh-CN" altLang="en-US" sz="2667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9083688" y="779325"/>
            <a:ext cx="592008" cy="3232224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9" name="组合 18"/>
          <p:cNvGrpSpPr/>
          <p:nvPr/>
        </p:nvGrpSpPr>
        <p:grpSpPr>
          <a:xfrm>
            <a:off x="8028318" y="2133936"/>
            <a:ext cx="2481237" cy="511497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4627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9083688" y="3847272"/>
            <a:ext cx="592008" cy="3232224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8" name="组合 17"/>
          <p:cNvGrpSpPr/>
          <p:nvPr/>
        </p:nvGrpSpPr>
        <p:grpSpPr>
          <a:xfrm>
            <a:off x="8028318" y="5198841"/>
            <a:ext cx="2481237" cy="529086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4627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8879837" y="2428932"/>
            <a:ext cx="1022719" cy="3278233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29" name="组合 28"/>
          <p:cNvGrpSpPr/>
          <p:nvPr/>
        </p:nvGrpSpPr>
        <p:grpSpPr>
          <a:xfrm>
            <a:off x="8028317" y="3573925"/>
            <a:ext cx="3790313" cy="982474"/>
            <a:chOff x="6021238" y="2680444"/>
            <a:chExt cx="2842735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496771" cy="500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867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4627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4627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9083688" y="1411913"/>
            <a:ext cx="592008" cy="3232224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31" name="组合 30"/>
          <p:cNvGrpSpPr/>
          <p:nvPr/>
        </p:nvGrpSpPr>
        <p:grpSpPr>
          <a:xfrm>
            <a:off x="8038235" y="2771317"/>
            <a:ext cx="2481237" cy="532056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4627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20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436CD6C-3A65-4B7C-A251-F57BB8B6AF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512CC-509D-48EB-817C-A82F1E38BD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6656" y="1821279"/>
            <a:ext cx="10838688" cy="3880636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FF"/>
                </a:solidFill>
              </a:rPr>
              <a:t>基带信号</a:t>
            </a:r>
            <a:r>
              <a:rPr lang="zh-CN" altLang="en-US" sz="3200" dirty="0"/>
              <a:t>（即基本频带信号）</a:t>
            </a:r>
            <a:endParaRPr lang="en-US" altLang="zh-CN" sz="3200" dirty="0"/>
          </a:p>
          <a:p>
            <a:pPr lvl="1"/>
            <a:r>
              <a:rPr lang="zh-CN" altLang="en-US" sz="2667" dirty="0"/>
              <a:t>来自信源的原始信号。</a:t>
            </a:r>
          </a:p>
          <a:p>
            <a:pPr lvl="1"/>
            <a:r>
              <a:rPr lang="zh-CN" altLang="en-US" sz="2667" dirty="0"/>
              <a:t>包含有较多的低频成分，甚至有直流成分。</a:t>
            </a:r>
          </a:p>
          <a:p>
            <a:endParaRPr lang="en-US" altLang="zh-CN" sz="3200" dirty="0"/>
          </a:p>
          <a:p>
            <a:r>
              <a:rPr lang="zh-CN" altLang="en-US" sz="3200" dirty="0"/>
              <a:t>许多信道不能传输这种低频分量或直流分量，必须对基带信号进行</a:t>
            </a:r>
            <a:r>
              <a:rPr lang="zh-CN" altLang="en-US" sz="3200" dirty="0">
                <a:solidFill>
                  <a:srgbClr val="0000FF"/>
                </a:solidFill>
              </a:rPr>
              <a:t>调制</a:t>
            </a:r>
            <a:r>
              <a:rPr lang="zh-CN" altLang="en-US" sz="3200" dirty="0"/>
              <a:t>  </a:t>
            </a:r>
            <a:r>
              <a:rPr lang="en-US" altLang="zh-CN" sz="3200" dirty="0"/>
              <a:t>(modulation)</a:t>
            </a:r>
            <a:r>
              <a:rPr lang="zh-CN" altLang="en-US" sz="3200" dirty="0"/>
              <a:t>。 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8121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EA245C-B880-412E-9BA3-BACFA793EA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70DC0-6DB3-466E-8537-E441B60C75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8493" y="1599607"/>
            <a:ext cx="10838688" cy="439962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调制分为两大类：</a:t>
            </a:r>
          </a:p>
          <a:p>
            <a:pPr>
              <a:lnSpc>
                <a:spcPts val="3733"/>
              </a:lnSpc>
              <a:spcBef>
                <a:spcPts val="16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基带调制（信道编码或编码</a:t>
            </a:r>
            <a:r>
              <a:rPr lang="zh-CN" altLang="en-US">
                <a:solidFill>
                  <a:srgbClr val="C00000"/>
                </a:solidFill>
              </a:rPr>
              <a:t>）：</a:t>
            </a:r>
            <a:r>
              <a:rPr lang="zh-CN" altLang="en-US"/>
              <a:t>将基带数字信号转换</a:t>
            </a:r>
            <a:r>
              <a:rPr lang="zh-CN" altLang="en-US" dirty="0"/>
              <a:t>为另</a:t>
            </a:r>
            <a:r>
              <a:rPr lang="zh-CN" altLang="en-US"/>
              <a:t>一种波形的数字信号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不进行数模转换。</a:t>
            </a:r>
            <a:endParaRPr lang="en-US" altLang="zh-CN" dirty="0">
              <a:solidFill>
                <a:srgbClr val="0000FF"/>
              </a:solidFill>
            </a:endParaRPr>
          </a:p>
          <a:p>
            <a:pPr>
              <a:lnSpc>
                <a:spcPts val="3733"/>
              </a:lnSpc>
              <a:spcBef>
                <a:spcPts val="16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带通调制（载波调制）：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经过载波调制后的信号被称为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，即仅在一段频率范围内能通过信道。</a:t>
            </a:r>
          </a:p>
        </p:txBody>
      </p:sp>
    </p:spTree>
    <p:extLst>
      <p:ext uri="{BB962C8B-B14F-4D97-AF65-F5344CB8AC3E}">
        <p14:creationId xmlns:p14="http://schemas.microsoft.com/office/powerpoint/2010/main" val="13895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668493" y="1613029"/>
            <a:ext cx="10838688" cy="4519831"/>
          </a:xfrm>
        </p:spPr>
        <p:txBody>
          <a:bodyPr/>
          <a:lstStyle/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zh-CN" altLang="en-US" dirty="0"/>
              <a:t>周期</a:t>
            </a:r>
            <a:r>
              <a:rPr lang="zh-CN" altLang="en-US" dirty="0">
                <a:solidFill>
                  <a:srgbClr val="C00000"/>
                </a:solidFill>
              </a:rPr>
              <a:t>中心</a:t>
            </a:r>
            <a:r>
              <a:rPr lang="zh-CN" altLang="en-US" dirty="0"/>
              <a:t>的向上跳变代表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zh-CN" altLang="en-US" dirty="0"/>
              <a:t>周期</a:t>
            </a:r>
            <a:r>
              <a:rPr lang="zh-CN" altLang="en-US" dirty="0">
                <a:solidFill>
                  <a:srgbClr val="C00000"/>
                </a:solidFill>
              </a:rPr>
              <a:t>中心</a:t>
            </a:r>
            <a:r>
              <a:rPr lang="zh-CN" altLang="en-US" dirty="0"/>
              <a:t>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</a:t>
            </a:r>
            <a:r>
              <a:rPr lang="zh-CN" altLang="en-US" dirty="0">
                <a:solidFill>
                  <a:srgbClr val="C00000"/>
                </a:solidFill>
              </a:rPr>
              <a:t>位的中心</a:t>
            </a:r>
            <a:r>
              <a:rPr lang="zh-CN" altLang="en-US" dirty="0"/>
              <a:t>处</a:t>
            </a:r>
            <a:r>
              <a:rPr lang="zh-CN" altLang="en-US" dirty="0">
                <a:solidFill>
                  <a:srgbClr val="C00000"/>
                </a:solidFill>
              </a:rPr>
              <a:t>始终</a:t>
            </a:r>
            <a:r>
              <a:rPr lang="zh-CN" altLang="en-US" dirty="0"/>
              <a:t>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4632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26861" y="1377273"/>
            <a:ext cx="10738281" cy="384787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6" name="矩形 65"/>
          <p:cNvSpPr/>
          <p:nvPr/>
        </p:nvSpPr>
        <p:spPr>
          <a:xfrm>
            <a:off x="4128881" y="5231174"/>
            <a:ext cx="38992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数字信号常用的编码方式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1020384" y="1771731"/>
            <a:ext cx="9795050" cy="3059502"/>
            <a:chOff x="765288" y="1642196"/>
            <a:chExt cx="7346287" cy="2294626"/>
          </a:xfrm>
        </p:grpSpPr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933205" y="2128211"/>
              <a:ext cx="1250344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不归零制</a:t>
              </a: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1176859" y="3108207"/>
              <a:ext cx="1005084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2" name="Rectangle 8"/>
            <p:cNvSpPr>
              <a:spLocks noChangeArrowheads="1"/>
            </p:cNvSpPr>
            <p:nvPr/>
          </p:nvSpPr>
          <p:spPr bwMode="auto">
            <a:xfrm>
              <a:off x="6936193" y="1646180"/>
              <a:ext cx="59632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3" name="Rectangle 9"/>
            <p:cNvSpPr>
              <a:spLocks noChangeArrowheads="1"/>
            </p:cNvSpPr>
            <p:nvPr/>
          </p:nvSpPr>
          <p:spPr bwMode="auto">
            <a:xfrm>
              <a:off x="3370203" y="1646180"/>
              <a:ext cx="58304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4" name="Rectangle 10"/>
            <p:cNvSpPr>
              <a:spLocks noChangeArrowheads="1"/>
            </p:cNvSpPr>
            <p:nvPr/>
          </p:nvSpPr>
          <p:spPr bwMode="auto">
            <a:xfrm>
              <a:off x="4570820" y="1642196"/>
              <a:ext cx="577731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5" name="Rectangle 11"/>
            <p:cNvSpPr>
              <a:spLocks noChangeArrowheads="1"/>
            </p:cNvSpPr>
            <p:nvPr/>
          </p:nvSpPr>
          <p:spPr bwMode="auto">
            <a:xfrm>
              <a:off x="5762139" y="1642196"/>
              <a:ext cx="57640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2196149" y="1642196"/>
              <a:ext cx="59765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2346227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669313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727537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075645" y="1696641"/>
              <a:ext cx="249686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6487290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2951847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3558796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4137854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319877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897607" y="1696641"/>
              <a:ext cx="304171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>
                  <a:latin typeface="Arial Rounded MT Bold" panose="020F0704030504030204" pitchFamily="34" charset="0"/>
                </a:rPr>
                <a:t>0</a:t>
              </a:r>
            </a:p>
          </p:txBody>
        </p:sp>
        <p:grpSp>
          <p:nvGrpSpPr>
            <p:cNvPr id="137" name="Group 23"/>
            <p:cNvGrpSpPr>
              <a:grpSpLocks/>
            </p:cNvGrpSpPr>
            <p:nvPr/>
          </p:nvGrpSpPr>
          <p:grpSpPr bwMode="auto">
            <a:xfrm>
              <a:off x="2173572" y="2088373"/>
              <a:ext cx="5859645" cy="325338"/>
              <a:chOff x="832" y="286"/>
              <a:chExt cx="4728" cy="965"/>
            </a:xfrm>
          </p:grpSpPr>
          <p:sp>
            <p:nvSpPr>
              <p:cNvPr id="138" name="Freeform 24"/>
              <p:cNvSpPr>
                <a:spLocks/>
              </p:cNvSpPr>
              <p:nvPr/>
            </p:nvSpPr>
            <p:spPr bwMode="auto">
              <a:xfrm>
                <a:off x="832" y="298"/>
                <a:ext cx="4728" cy="953"/>
              </a:xfrm>
              <a:custGeom>
                <a:avLst/>
                <a:gdLst>
                  <a:gd name="T0" fmla="*/ 0 w 4728"/>
                  <a:gd name="T1" fmla="*/ 0 h 953"/>
                  <a:gd name="T2" fmla="*/ 486 w 4728"/>
                  <a:gd name="T3" fmla="*/ 0 h 953"/>
                  <a:gd name="T4" fmla="*/ 486 w 4728"/>
                  <a:gd name="T5" fmla="*/ 952 h 953"/>
                  <a:gd name="T6" fmla="*/ 1924 w 4728"/>
                  <a:gd name="T7" fmla="*/ 952 h 953"/>
                  <a:gd name="T8" fmla="*/ 1924 w 4728"/>
                  <a:gd name="T9" fmla="*/ 0 h 953"/>
                  <a:gd name="T10" fmla="*/ 2410 w 4728"/>
                  <a:gd name="T11" fmla="*/ 0 h 953"/>
                  <a:gd name="T12" fmla="*/ 2410 w 4728"/>
                  <a:gd name="T13" fmla="*/ 952 h 953"/>
                  <a:gd name="T14" fmla="*/ 3372 w 4728"/>
                  <a:gd name="T15" fmla="*/ 952 h 953"/>
                  <a:gd name="T16" fmla="*/ 3372 w 4728"/>
                  <a:gd name="T17" fmla="*/ 0 h 953"/>
                  <a:gd name="T18" fmla="*/ 4727 w 4728"/>
                  <a:gd name="T19" fmla="*/ 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28" h="953">
                    <a:moveTo>
                      <a:pt x="0" y="0"/>
                    </a:moveTo>
                    <a:lnTo>
                      <a:pt x="486" y="0"/>
                    </a:lnTo>
                    <a:lnTo>
                      <a:pt x="486" y="952"/>
                    </a:lnTo>
                    <a:lnTo>
                      <a:pt x="1924" y="952"/>
                    </a:lnTo>
                    <a:lnTo>
                      <a:pt x="1924" y="0"/>
                    </a:lnTo>
                    <a:lnTo>
                      <a:pt x="2410" y="0"/>
                    </a:lnTo>
                    <a:lnTo>
                      <a:pt x="2410" y="952"/>
                    </a:lnTo>
                    <a:lnTo>
                      <a:pt x="3372" y="952"/>
                    </a:lnTo>
                    <a:lnTo>
                      <a:pt x="3372" y="0"/>
                    </a:lnTo>
                    <a:lnTo>
                      <a:pt x="4727" y="0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V="1">
                <a:off x="3721" y="1152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V="1">
                <a:off x="4676" y="28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141" name="Line 27"/>
              <p:cNvSpPr>
                <a:spLocks noChangeShapeType="1"/>
              </p:cNvSpPr>
              <p:nvPr/>
            </p:nvSpPr>
            <p:spPr bwMode="auto">
              <a:xfrm flipV="1">
                <a:off x="5155" y="299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142" name="Line 28"/>
              <p:cNvSpPr>
                <a:spLocks noChangeShapeType="1"/>
              </p:cNvSpPr>
              <p:nvPr/>
            </p:nvSpPr>
            <p:spPr bwMode="auto">
              <a:xfrm flipV="1">
                <a:off x="2282" y="1150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143" name="Line 29"/>
              <p:cNvSpPr>
                <a:spLocks noChangeShapeType="1"/>
              </p:cNvSpPr>
              <p:nvPr/>
            </p:nvSpPr>
            <p:spPr bwMode="auto">
              <a:xfrm flipV="1">
                <a:off x="1796" y="1151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174900" y="3108207"/>
              <a:ext cx="5845036" cy="318698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1" h="245">
                  <a:moveTo>
                    <a:pt x="0" y="0"/>
                  </a:moveTo>
                  <a:lnTo>
                    <a:pt x="222" y="0"/>
                  </a:lnTo>
                  <a:lnTo>
                    <a:pt x="222" y="245"/>
                  </a:lnTo>
                  <a:lnTo>
                    <a:pt x="676" y="245"/>
                  </a:lnTo>
                  <a:lnTo>
                    <a:pt x="676" y="0"/>
                  </a:lnTo>
                  <a:lnTo>
                    <a:pt x="898" y="0"/>
                  </a:lnTo>
                  <a:lnTo>
                    <a:pt x="898" y="245"/>
                  </a:lnTo>
                  <a:lnTo>
                    <a:pt x="1129" y="245"/>
                  </a:lnTo>
                  <a:lnTo>
                    <a:pt x="1129" y="0"/>
                  </a:lnTo>
                  <a:lnTo>
                    <a:pt x="1351" y="0"/>
                  </a:lnTo>
                  <a:lnTo>
                    <a:pt x="1351" y="245"/>
                  </a:lnTo>
                  <a:lnTo>
                    <a:pt x="1573" y="245"/>
                  </a:lnTo>
                  <a:lnTo>
                    <a:pt x="1573" y="0"/>
                  </a:lnTo>
                  <a:lnTo>
                    <a:pt x="2027" y="0"/>
                  </a:lnTo>
                  <a:lnTo>
                    <a:pt x="2027" y="245"/>
                  </a:lnTo>
                  <a:lnTo>
                    <a:pt x="2471" y="245"/>
                  </a:lnTo>
                  <a:lnTo>
                    <a:pt x="2471" y="3"/>
                  </a:lnTo>
                  <a:lnTo>
                    <a:pt x="2693" y="0"/>
                  </a:lnTo>
                  <a:lnTo>
                    <a:pt x="2693" y="245"/>
                  </a:lnTo>
                  <a:lnTo>
                    <a:pt x="2915" y="245"/>
                  </a:lnTo>
                  <a:lnTo>
                    <a:pt x="2915" y="0"/>
                  </a:lnTo>
                  <a:lnTo>
                    <a:pt x="3368" y="0"/>
                  </a:lnTo>
                  <a:lnTo>
                    <a:pt x="3368" y="245"/>
                  </a:lnTo>
                  <a:lnTo>
                    <a:pt x="3590" y="245"/>
                  </a:lnTo>
                  <a:lnTo>
                    <a:pt x="3590" y="0"/>
                  </a:lnTo>
                  <a:lnTo>
                    <a:pt x="3812" y="0"/>
                  </a:lnTo>
                  <a:lnTo>
                    <a:pt x="3812" y="245"/>
                  </a:lnTo>
                  <a:lnTo>
                    <a:pt x="4034" y="245"/>
                  </a:lnTo>
                  <a:lnTo>
                    <a:pt x="4034" y="0"/>
                  </a:lnTo>
                  <a:lnTo>
                    <a:pt x="4256" y="0"/>
                  </a:lnTo>
                  <a:lnTo>
                    <a:pt x="4256" y="245"/>
                  </a:lnTo>
                  <a:lnTo>
                    <a:pt x="4401" y="245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5" name="Line 32"/>
            <p:cNvSpPr>
              <a:spLocks noChangeShapeType="1"/>
            </p:cNvSpPr>
            <p:nvPr/>
          </p:nvSpPr>
          <p:spPr bwMode="auto">
            <a:xfrm flipH="1" flipV="1">
              <a:off x="2190837" y="1675394"/>
              <a:ext cx="2656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 flipV="1">
              <a:off x="2779192" y="1664771"/>
              <a:ext cx="0" cy="22720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7" name="Line 34"/>
            <p:cNvSpPr>
              <a:spLocks noChangeShapeType="1"/>
            </p:cNvSpPr>
            <p:nvPr/>
          </p:nvSpPr>
          <p:spPr bwMode="auto">
            <a:xfrm flipV="1">
              <a:off x="3366219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8" name="Line 35"/>
            <p:cNvSpPr>
              <a:spLocks noChangeShapeType="1"/>
            </p:cNvSpPr>
            <p:nvPr/>
          </p:nvSpPr>
          <p:spPr bwMode="auto">
            <a:xfrm flipH="1" flipV="1">
              <a:off x="3959887" y="1642196"/>
              <a:ext cx="0" cy="2294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 flipV="1">
              <a:off x="4558867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0" name="Line 37"/>
            <p:cNvSpPr>
              <a:spLocks noChangeShapeType="1"/>
            </p:cNvSpPr>
            <p:nvPr/>
          </p:nvSpPr>
          <p:spPr bwMode="auto">
            <a:xfrm flipV="1">
              <a:off x="5161831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1" name="Line 38"/>
            <p:cNvSpPr>
              <a:spLocks noChangeShapeType="1"/>
            </p:cNvSpPr>
            <p:nvPr/>
          </p:nvSpPr>
          <p:spPr bwMode="auto">
            <a:xfrm flipV="1">
              <a:off x="5752842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6347838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3" name="Line 40"/>
            <p:cNvSpPr>
              <a:spLocks noChangeShapeType="1"/>
            </p:cNvSpPr>
            <p:nvPr/>
          </p:nvSpPr>
          <p:spPr bwMode="auto">
            <a:xfrm flipH="1" flipV="1">
              <a:off x="6938850" y="1675394"/>
              <a:ext cx="1328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4" name="Line 41"/>
            <p:cNvSpPr>
              <a:spLocks noChangeShapeType="1"/>
            </p:cNvSpPr>
            <p:nvPr/>
          </p:nvSpPr>
          <p:spPr bwMode="auto">
            <a:xfrm flipV="1">
              <a:off x="7520564" y="1676722"/>
              <a:ext cx="11953" cy="2260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1321130" y="1703280"/>
              <a:ext cx="860814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156" name="Group 66"/>
            <p:cNvGrpSpPr>
              <a:grpSpLocks/>
            </p:cNvGrpSpPr>
            <p:nvPr/>
          </p:nvGrpSpPr>
          <p:grpSpPr bwMode="auto">
            <a:xfrm>
              <a:off x="2174900" y="2591651"/>
              <a:ext cx="5936675" cy="325337"/>
              <a:chOff x="1260" y="3138"/>
              <a:chExt cx="4470" cy="192"/>
            </a:xfrm>
          </p:grpSpPr>
          <p:sp>
            <p:nvSpPr>
              <p:cNvPr id="157" name="Freeform 46"/>
              <p:cNvSpPr>
                <a:spLocks/>
              </p:cNvSpPr>
              <p:nvPr/>
            </p:nvSpPr>
            <p:spPr bwMode="auto">
              <a:xfrm>
                <a:off x="126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58" name="Freeform 47"/>
              <p:cNvSpPr>
                <a:spLocks/>
              </p:cNvSpPr>
              <p:nvPr/>
            </p:nvSpPr>
            <p:spPr bwMode="auto">
              <a:xfrm>
                <a:off x="303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59" name="Freeform 48"/>
              <p:cNvSpPr>
                <a:spLocks/>
              </p:cNvSpPr>
              <p:nvPr/>
            </p:nvSpPr>
            <p:spPr bwMode="auto">
              <a:xfrm>
                <a:off x="438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0" name="Freeform 49"/>
              <p:cNvSpPr>
                <a:spLocks/>
              </p:cNvSpPr>
              <p:nvPr/>
            </p:nvSpPr>
            <p:spPr bwMode="auto">
              <a:xfrm>
                <a:off x="483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1" name="Freeform 50"/>
              <p:cNvSpPr>
                <a:spLocks/>
              </p:cNvSpPr>
              <p:nvPr/>
            </p:nvSpPr>
            <p:spPr bwMode="auto">
              <a:xfrm>
                <a:off x="525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2" name="Freeform 51"/>
              <p:cNvSpPr>
                <a:spLocks/>
              </p:cNvSpPr>
              <p:nvPr/>
            </p:nvSpPr>
            <p:spPr bwMode="auto">
              <a:xfrm flipV="1">
                <a:off x="16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3" name="Freeform 52"/>
              <p:cNvSpPr>
                <a:spLocks/>
              </p:cNvSpPr>
              <p:nvPr/>
            </p:nvSpPr>
            <p:spPr bwMode="auto">
              <a:xfrm flipV="1">
                <a:off x="2130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4" name="Freeform 53"/>
              <p:cNvSpPr>
                <a:spLocks/>
              </p:cNvSpPr>
              <p:nvPr/>
            </p:nvSpPr>
            <p:spPr bwMode="auto">
              <a:xfrm flipV="1">
                <a:off x="25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5" name="Freeform 54"/>
              <p:cNvSpPr>
                <a:spLocks/>
              </p:cNvSpPr>
              <p:nvPr/>
            </p:nvSpPr>
            <p:spPr bwMode="auto">
              <a:xfrm flipV="1">
                <a:off x="348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6" name="Freeform 55"/>
              <p:cNvSpPr>
                <a:spLocks/>
              </p:cNvSpPr>
              <p:nvPr/>
            </p:nvSpPr>
            <p:spPr bwMode="auto">
              <a:xfrm flipV="1">
                <a:off x="393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167" name="Group 65"/>
            <p:cNvGrpSpPr>
              <a:grpSpLocks/>
            </p:cNvGrpSpPr>
            <p:nvPr/>
          </p:nvGrpSpPr>
          <p:grpSpPr bwMode="auto">
            <a:xfrm>
              <a:off x="2182868" y="3594222"/>
              <a:ext cx="5924723" cy="318698"/>
              <a:chOff x="1264" y="2804"/>
              <a:chExt cx="4461" cy="258"/>
            </a:xfrm>
          </p:grpSpPr>
          <p:sp>
            <p:nvSpPr>
              <p:cNvPr id="168" name="Freeform 63"/>
              <p:cNvSpPr>
                <a:spLocks/>
              </p:cNvSpPr>
              <p:nvPr/>
            </p:nvSpPr>
            <p:spPr bwMode="auto">
              <a:xfrm>
                <a:off x="1264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9" name="Freeform 64"/>
              <p:cNvSpPr>
                <a:spLocks/>
              </p:cNvSpPr>
              <p:nvPr/>
            </p:nvSpPr>
            <p:spPr bwMode="auto">
              <a:xfrm>
                <a:off x="4173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765288" y="3594222"/>
              <a:ext cx="1416254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sp>
          <p:nvSpPr>
            <p:cNvPr id="171" name="Rectangle 69"/>
            <p:cNvSpPr>
              <a:spLocks noChangeArrowheads="1"/>
            </p:cNvSpPr>
            <p:nvPr/>
          </p:nvSpPr>
          <p:spPr bwMode="auto">
            <a:xfrm>
              <a:off x="1138388" y="2598290"/>
              <a:ext cx="1044759" cy="335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2133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5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基带信号往往包含有较多的低频成分，甚至有直流成分，而许多信道并不能传输这种低频分量或直流分量。</a:t>
            </a:r>
            <a:endParaRPr lang="en-US" altLang="zh-CN" dirty="0"/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/>
              <a:t>必须对基带信号进行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/>
              <a:t>最基本的</a:t>
            </a:r>
            <a:r>
              <a:rPr lang="zh-CN" altLang="en-US" dirty="0">
                <a:solidFill>
                  <a:srgbClr val="C00000"/>
                </a:solidFill>
              </a:rPr>
              <a:t>二元制</a:t>
            </a:r>
            <a:r>
              <a:rPr lang="zh-CN" altLang="en-US" dirty="0"/>
              <a:t>调制方法有以下几种：</a:t>
            </a:r>
          </a:p>
          <a:p>
            <a:pPr marL="833946" eaLnBrk="0" hangingPunct="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调幅</a:t>
            </a:r>
            <a:r>
              <a:rPr lang="en-US" altLang="zh-CN" dirty="0">
                <a:solidFill>
                  <a:srgbClr val="0000FF"/>
                </a:solidFill>
              </a:rPr>
              <a:t>(AM/ASK)</a:t>
            </a:r>
            <a:r>
              <a:rPr lang="zh-CN" altLang="en-US" dirty="0"/>
              <a:t>：载波的振幅随基带数字信号而变化。 </a:t>
            </a:r>
          </a:p>
          <a:p>
            <a:pPr marL="833946" eaLnBrk="0" hangingPunct="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调频</a:t>
            </a:r>
            <a:r>
              <a:rPr lang="en-US" altLang="zh-CN" dirty="0">
                <a:solidFill>
                  <a:srgbClr val="0000FF"/>
                </a:solidFill>
              </a:rPr>
              <a:t>(FM/FSK)</a:t>
            </a:r>
            <a:r>
              <a:rPr lang="zh-CN" altLang="en-US" dirty="0"/>
              <a:t>：载波的频率随基带数字信号而变化。</a:t>
            </a:r>
          </a:p>
          <a:p>
            <a:pPr marL="833946" eaLnBrk="0" hangingPunct="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调相</a:t>
            </a:r>
            <a:r>
              <a:rPr lang="en-US" altLang="zh-CN" dirty="0">
                <a:solidFill>
                  <a:srgbClr val="0000FF"/>
                </a:solidFill>
              </a:rPr>
              <a:t>(PM/PSK) </a:t>
            </a:r>
            <a:r>
              <a:rPr lang="zh-CN" altLang="en-US" dirty="0"/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基本的载波调制方法</a:t>
            </a:r>
          </a:p>
        </p:txBody>
      </p:sp>
    </p:spTree>
    <p:extLst>
      <p:ext uri="{BB962C8B-B14F-4D97-AF65-F5344CB8AC3E}">
        <p14:creationId xmlns:p14="http://schemas.microsoft.com/office/powerpoint/2010/main" val="218809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726861" y="1388885"/>
            <a:ext cx="10738281" cy="397559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9147438" y="1589569"/>
            <a:ext cx="684447" cy="34808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7676193" y="1589569"/>
            <a:ext cx="684447" cy="34808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6238297" y="1589569"/>
            <a:ext cx="684447" cy="34808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4789058" y="1589569"/>
            <a:ext cx="684447" cy="34808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3351162" y="1589569"/>
            <a:ext cx="684447" cy="34808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基本的载波调制方法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750334" y="1640928"/>
            <a:ext cx="1340112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645672" y="2517228"/>
            <a:ext cx="1899560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调幅（</a:t>
            </a:r>
            <a:r>
              <a:rPr kumimoji="1"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ASK</a:t>
            </a:r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638750" y="3393528"/>
            <a:ext cx="1506825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  <a:r>
              <a:rPr kumimoji="1"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(FSK)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662736" y="4360300"/>
            <a:ext cx="1619035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  <a:r>
              <a:rPr kumimoji="1"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(PSK) </a:t>
            </a:r>
            <a:endParaRPr kumimoji="1" lang="zh-CN" altLang="en-US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489290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200490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907456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5658872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370072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7081272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7790356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8541772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9274139" y="1699278"/>
            <a:ext cx="37991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2133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3329996" y="1731027"/>
            <a:ext cx="6500283" cy="376767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21" name="Group 173"/>
          <p:cNvGrpSpPr>
            <a:grpSpLocks/>
          </p:cNvGrpSpPr>
          <p:nvPr/>
        </p:nvGrpSpPr>
        <p:grpSpPr bwMode="auto">
          <a:xfrm>
            <a:off x="3334229" y="3401078"/>
            <a:ext cx="6477000" cy="565149"/>
            <a:chOff x="771" y="669"/>
            <a:chExt cx="3060" cy="267"/>
          </a:xfrm>
        </p:grpSpPr>
        <p:sp>
          <p:nvSpPr>
            <p:cNvPr id="22" name="Freeform 47"/>
            <p:cNvSpPr>
              <a:spLocks/>
            </p:cNvSpPr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" name="Freeform 48"/>
            <p:cNvSpPr>
              <a:spLocks/>
            </p:cNvSpPr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>
                <a:spLocks/>
              </p:cNvSpPr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1" name="Freeform 51"/>
              <p:cNvSpPr>
                <a:spLocks/>
              </p:cNvSpPr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25" name="Freeform 52"/>
            <p:cNvSpPr>
              <a:spLocks/>
            </p:cNvSpPr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Freeform 53"/>
            <p:cNvSpPr>
              <a:spLocks/>
            </p:cNvSpPr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7" name="Freeform 54"/>
            <p:cNvSpPr>
              <a:spLocks/>
            </p:cNvSpPr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8" name="Freeform 55"/>
            <p:cNvSpPr>
              <a:spLocks/>
            </p:cNvSpPr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9" name="Freeform 56"/>
            <p:cNvSpPr>
              <a:spLocks/>
            </p:cNvSpPr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3" name="Freeform 60"/>
            <p:cNvSpPr>
              <a:spLocks/>
            </p:cNvSpPr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" name="Freeform 61"/>
            <p:cNvSpPr>
              <a:spLocks/>
            </p:cNvSpPr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35" name="Group 62"/>
            <p:cNvGrpSpPr>
              <a:grpSpLocks/>
            </p:cNvGrpSpPr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79" name="Freeform 64"/>
              <p:cNvSpPr>
                <a:spLocks/>
              </p:cNvSpPr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36" name="Freeform 65"/>
            <p:cNvSpPr>
              <a:spLocks/>
            </p:cNvSpPr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7" name="Freeform 66"/>
            <p:cNvSpPr>
              <a:spLocks/>
            </p:cNvSpPr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Freeform 67"/>
            <p:cNvSpPr>
              <a:spLocks/>
            </p:cNvSpPr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Freeform 68"/>
            <p:cNvSpPr>
              <a:spLocks/>
            </p:cNvSpPr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0" name="Freeform 69"/>
            <p:cNvSpPr>
              <a:spLocks/>
            </p:cNvSpPr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" name="Freeform 70"/>
            <p:cNvSpPr>
              <a:spLocks/>
            </p:cNvSpPr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77" name="Freeform 73"/>
              <p:cNvSpPr>
                <a:spLocks/>
              </p:cNvSpPr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43" name="Freeform 74"/>
            <p:cNvSpPr>
              <a:spLocks/>
            </p:cNvSpPr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4" name="Freeform 75"/>
            <p:cNvSpPr>
              <a:spLocks/>
            </p:cNvSpPr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5" name="Freeform 76"/>
            <p:cNvSpPr>
              <a:spLocks/>
            </p:cNvSpPr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6" name="Freeform 77"/>
            <p:cNvSpPr>
              <a:spLocks/>
            </p:cNvSpPr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7" name="Freeform 78"/>
            <p:cNvSpPr>
              <a:spLocks/>
            </p:cNvSpPr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8" name="Freeform 79"/>
            <p:cNvSpPr>
              <a:spLocks/>
            </p:cNvSpPr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9" name="Freeform 80"/>
            <p:cNvSpPr>
              <a:spLocks/>
            </p:cNvSpPr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0" name="Freeform 81"/>
            <p:cNvSpPr>
              <a:spLocks/>
            </p:cNvSpPr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51" name="Group 82"/>
            <p:cNvGrpSpPr>
              <a:grpSpLocks/>
            </p:cNvGrpSpPr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>
                <a:spLocks/>
              </p:cNvSpPr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73" name="Freeform 84"/>
              <p:cNvSpPr>
                <a:spLocks/>
              </p:cNvSpPr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74" name="Freeform 85"/>
              <p:cNvSpPr>
                <a:spLocks/>
              </p:cNvSpPr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75" name="Freeform 86"/>
              <p:cNvSpPr>
                <a:spLocks/>
              </p:cNvSpPr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grpSp>
          <p:nvGrpSpPr>
            <p:cNvPr id="52" name="Group 87"/>
            <p:cNvGrpSpPr>
              <a:grpSpLocks/>
            </p:cNvGrpSpPr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>
                <a:grpSpLocks/>
              </p:cNvGrpSpPr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>
                  <a:spLocks/>
                </p:cNvSpPr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71" name="Freeform 90"/>
                <p:cNvSpPr>
                  <a:spLocks/>
                </p:cNvSpPr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67" name="Group 91"/>
              <p:cNvGrpSpPr>
                <a:grpSpLocks/>
              </p:cNvGrpSpPr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>
                  <a:spLocks/>
                </p:cNvSpPr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69" name="Freeform 93"/>
                <p:cNvSpPr>
                  <a:spLocks/>
                </p:cNvSpPr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</p:grpSp>
        <p:sp>
          <p:nvSpPr>
            <p:cNvPr id="53" name="Freeform 94"/>
            <p:cNvSpPr>
              <a:spLocks/>
            </p:cNvSpPr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4" name="Freeform 95"/>
            <p:cNvSpPr>
              <a:spLocks/>
            </p:cNvSpPr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5" name="Freeform 96"/>
            <p:cNvSpPr>
              <a:spLocks/>
            </p:cNvSpPr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6" name="Freeform 97"/>
            <p:cNvSpPr>
              <a:spLocks/>
            </p:cNvSpPr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7" name="Freeform 98"/>
            <p:cNvSpPr>
              <a:spLocks/>
            </p:cNvSpPr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8" name="Freeform 99"/>
            <p:cNvSpPr>
              <a:spLocks/>
            </p:cNvSpPr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9" name="Freeform 100"/>
            <p:cNvSpPr>
              <a:spLocks/>
            </p:cNvSpPr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0" name="Freeform 101"/>
            <p:cNvSpPr>
              <a:spLocks/>
            </p:cNvSpPr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1" name="Freeform 102"/>
            <p:cNvSpPr>
              <a:spLocks/>
            </p:cNvSpPr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2" name="Freeform 103"/>
            <p:cNvSpPr>
              <a:spLocks/>
            </p:cNvSpPr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63" name="Group 104"/>
            <p:cNvGrpSpPr>
              <a:grpSpLocks/>
            </p:cNvGrpSpPr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>
                <a:spLocks/>
              </p:cNvSpPr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65" name="Freeform 106"/>
              <p:cNvSpPr>
                <a:spLocks/>
              </p:cNvSpPr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82" name="Group 172"/>
          <p:cNvGrpSpPr>
            <a:grpSpLocks/>
          </p:cNvGrpSpPr>
          <p:nvPr/>
        </p:nvGrpSpPr>
        <p:grpSpPr bwMode="auto">
          <a:xfrm>
            <a:off x="3315180" y="4313360"/>
            <a:ext cx="6506633" cy="567267"/>
            <a:chOff x="762" y="1028"/>
            <a:chExt cx="3074" cy="268"/>
          </a:xfrm>
        </p:grpSpPr>
        <p:grpSp>
          <p:nvGrpSpPr>
            <p:cNvPr id="83" name="Group 107"/>
            <p:cNvGrpSpPr>
              <a:grpSpLocks/>
            </p:cNvGrpSpPr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>
                <a:spLocks/>
              </p:cNvSpPr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9" name="Freeform 109"/>
              <p:cNvSpPr>
                <a:spLocks/>
              </p:cNvSpPr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84" name="Freeform 110"/>
            <p:cNvSpPr>
              <a:spLocks/>
            </p:cNvSpPr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86" name="Group 112"/>
            <p:cNvGrpSpPr>
              <a:grpSpLocks/>
            </p:cNvGrpSpPr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87" name="Freeform 115"/>
            <p:cNvSpPr>
              <a:spLocks/>
            </p:cNvSpPr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8" name="Freeform 116"/>
            <p:cNvSpPr>
              <a:spLocks/>
            </p:cNvSpPr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9" name="Freeform 117"/>
            <p:cNvSpPr>
              <a:spLocks/>
            </p:cNvSpPr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0" name="Freeform 118"/>
            <p:cNvSpPr>
              <a:spLocks/>
            </p:cNvSpPr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1" name="Freeform 119"/>
            <p:cNvSpPr>
              <a:spLocks/>
            </p:cNvSpPr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2" name="Freeform 120"/>
            <p:cNvSpPr>
              <a:spLocks/>
            </p:cNvSpPr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3" name="Freeform 121"/>
            <p:cNvSpPr>
              <a:spLocks/>
            </p:cNvSpPr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4" name="Freeform 122"/>
            <p:cNvSpPr>
              <a:spLocks/>
            </p:cNvSpPr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5" name="Freeform 123"/>
            <p:cNvSpPr>
              <a:spLocks/>
            </p:cNvSpPr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6" name="Freeform 124"/>
            <p:cNvSpPr>
              <a:spLocks/>
            </p:cNvSpPr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97" name="Group 125"/>
            <p:cNvGrpSpPr>
              <a:grpSpLocks/>
            </p:cNvGrpSpPr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>
                <a:spLocks/>
              </p:cNvSpPr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25" name="Freeform 127"/>
              <p:cNvSpPr>
                <a:spLocks/>
              </p:cNvSpPr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98" name="Freeform 128"/>
            <p:cNvSpPr>
              <a:spLocks/>
            </p:cNvSpPr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9" name="Freeform 129"/>
            <p:cNvSpPr>
              <a:spLocks/>
            </p:cNvSpPr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00" name="Group 130"/>
            <p:cNvGrpSpPr>
              <a:grpSpLocks/>
            </p:cNvGrpSpPr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>
                <a:grpSpLocks/>
              </p:cNvGrpSpPr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>
                  <a:spLocks/>
                </p:cNvSpPr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23" name="Freeform 133"/>
                <p:cNvSpPr>
                  <a:spLocks/>
                </p:cNvSpPr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19" name="Group 134"/>
              <p:cNvGrpSpPr>
                <a:grpSpLocks/>
              </p:cNvGrpSpPr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>
                  <a:spLocks/>
                </p:cNvSpPr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21" name="Freeform 136"/>
                <p:cNvSpPr>
                  <a:spLocks/>
                </p:cNvSpPr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</p:grpSp>
        <p:grpSp>
          <p:nvGrpSpPr>
            <p:cNvPr id="101" name="Group 137"/>
            <p:cNvGrpSpPr>
              <a:grpSpLocks/>
            </p:cNvGrpSpPr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>
                <a:spLocks/>
              </p:cNvSpPr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17" name="Freeform 139"/>
              <p:cNvSpPr>
                <a:spLocks/>
              </p:cNvSpPr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102" name="Freeform 140"/>
            <p:cNvSpPr>
              <a:spLocks/>
            </p:cNvSpPr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" name="Freeform 141"/>
            <p:cNvSpPr>
              <a:spLocks/>
            </p:cNvSpPr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04" name="Group 142"/>
            <p:cNvGrpSpPr>
              <a:grpSpLocks/>
            </p:cNvGrpSpPr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>
                <a:grpSpLocks/>
              </p:cNvGrpSpPr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>
                  <a:spLocks/>
                </p:cNvSpPr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15" name="Freeform 145"/>
                <p:cNvSpPr>
                  <a:spLocks/>
                </p:cNvSpPr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11" name="Group 146"/>
              <p:cNvGrpSpPr>
                <a:grpSpLocks/>
              </p:cNvGrpSpPr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>
                  <a:spLocks/>
                </p:cNvSpPr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13" name="Freeform 148"/>
                <p:cNvSpPr>
                  <a:spLocks/>
                </p:cNvSpPr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</p:grpSp>
        <p:sp>
          <p:nvSpPr>
            <p:cNvPr id="105" name="Freeform 149"/>
            <p:cNvSpPr>
              <a:spLocks/>
            </p:cNvSpPr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6" name="Freeform 150"/>
            <p:cNvSpPr>
              <a:spLocks/>
            </p:cNvSpPr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07" name="Group 151"/>
            <p:cNvGrpSpPr>
              <a:grpSpLocks/>
            </p:cNvGrpSpPr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>
                <a:spLocks/>
              </p:cNvSpPr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09" name="Freeform 153"/>
              <p:cNvSpPr>
                <a:spLocks/>
              </p:cNvSpPr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130" name="Group 174"/>
          <p:cNvGrpSpPr>
            <a:grpSpLocks/>
          </p:cNvGrpSpPr>
          <p:nvPr/>
        </p:nvGrpSpPr>
        <p:grpSpPr bwMode="auto">
          <a:xfrm>
            <a:off x="3340579" y="2497261"/>
            <a:ext cx="6477000" cy="554567"/>
            <a:chOff x="774" y="319"/>
            <a:chExt cx="3060" cy="262"/>
          </a:xfrm>
        </p:grpSpPr>
        <p:sp>
          <p:nvSpPr>
            <p:cNvPr id="131" name="Freeform 15"/>
            <p:cNvSpPr>
              <a:spLocks/>
            </p:cNvSpPr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2" name="Freeform 16"/>
            <p:cNvSpPr>
              <a:spLocks/>
            </p:cNvSpPr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4" name="Freeform 18"/>
            <p:cNvSpPr>
              <a:spLocks/>
            </p:cNvSpPr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5" name="Freeform 19"/>
            <p:cNvSpPr>
              <a:spLocks/>
            </p:cNvSpPr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6" name="Freeform 20"/>
            <p:cNvSpPr>
              <a:spLocks/>
            </p:cNvSpPr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7" name="Freeform 21"/>
            <p:cNvSpPr>
              <a:spLocks/>
            </p:cNvSpPr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38" name="Group 22"/>
            <p:cNvGrpSpPr>
              <a:grpSpLocks/>
            </p:cNvGrpSpPr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>
                <a:spLocks/>
              </p:cNvSpPr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74" name="Freeform 24"/>
              <p:cNvSpPr>
                <a:spLocks/>
              </p:cNvSpPr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139" name="Freeform 25"/>
            <p:cNvSpPr>
              <a:spLocks/>
            </p:cNvSpPr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0" name="Freeform 26"/>
            <p:cNvSpPr>
              <a:spLocks/>
            </p:cNvSpPr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1" name="Freeform 27"/>
            <p:cNvSpPr>
              <a:spLocks/>
            </p:cNvSpPr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2" name="Freeform 28"/>
            <p:cNvSpPr>
              <a:spLocks/>
            </p:cNvSpPr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3" name="Freeform 29"/>
            <p:cNvSpPr>
              <a:spLocks/>
            </p:cNvSpPr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45" name="Group 31"/>
            <p:cNvGrpSpPr>
              <a:grpSpLocks/>
            </p:cNvGrpSpPr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>
                <a:grpSpLocks/>
              </p:cNvGrpSpPr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>
                  <a:spLocks/>
                </p:cNvSpPr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72" name="Freeform 34"/>
                <p:cNvSpPr>
                  <a:spLocks/>
                </p:cNvSpPr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68" name="Group 35"/>
              <p:cNvGrpSpPr>
                <a:grpSpLocks/>
              </p:cNvGrpSpPr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>
                  <a:spLocks/>
                </p:cNvSpPr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70" name="Freeform 37"/>
                <p:cNvSpPr>
                  <a:spLocks/>
                </p:cNvSpPr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</p:grpSp>
        <p:sp>
          <p:nvSpPr>
            <p:cNvPr id="146" name="Freeform 38"/>
            <p:cNvSpPr>
              <a:spLocks/>
            </p:cNvSpPr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9" name="Freeform 41"/>
            <p:cNvSpPr>
              <a:spLocks/>
            </p:cNvSpPr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50" name="Group 42"/>
            <p:cNvGrpSpPr>
              <a:grpSpLocks/>
            </p:cNvGrpSpPr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>
                <a:spLocks/>
              </p:cNvSpPr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166" name="Freeform 44"/>
              <p:cNvSpPr>
                <a:spLocks/>
              </p:cNvSpPr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151" name="Freeform 45"/>
            <p:cNvSpPr>
              <a:spLocks/>
            </p:cNvSpPr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2" name="Freeform 46"/>
            <p:cNvSpPr>
              <a:spLocks/>
            </p:cNvSpPr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53" name="Group 158"/>
            <p:cNvGrpSpPr>
              <a:grpSpLocks/>
            </p:cNvGrpSpPr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>
                <a:grpSpLocks/>
              </p:cNvGrpSpPr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>
                  <a:spLocks/>
                </p:cNvSpPr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62" name="Freeform 161"/>
                <p:cNvSpPr>
                  <a:spLocks/>
                </p:cNvSpPr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63" name="Freeform 162"/>
                <p:cNvSpPr>
                  <a:spLocks/>
                </p:cNvSpPr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64" name="Freeform 163"/>
                <p:cNvSpPr>
                  <a:spLocks/>
                </p:cNvSpPr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55" name="Group 164"/>
              <p:cNvGrpSpPr>
                <a:grpSpLocks/>
              </p:cNvGrpSpPr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>
                  <a:spLocks/>
                </p:cNvSpPr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58" name="Freeform 166"/>
                <p:cNvSpPr>
                  <a:spLocks/>
                </p:cNvSpPr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59" name="Freeform 167"/>
                <p:cNvSpPr>
                  <a:spLocks/>
                </p:cNvSpPr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160" name="Freeform 168"/>
                <p:cNvSpPr>
                  <a:spLocks/>
                </p:cNvSpPr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3689391" y="5384090"/>
            <a:ext cx="4422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最基本的三种调制方法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5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601783" y="1387279"/>
            <a:ext cx="10972109" cy="32513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spcBef>
                <a:spcPts val="1600"/>
              </a:spcBef>
            </a:pPr>
            <a:r>
              <a:rPr lang="zh-CN" altLang="en-US" dirty="0"/>
              <a:t>理想信道的最高码速率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1600"/>
              </a:spcBef>
            </a:pPr>
            <a:endParaRPr lang="en-US" altLang="zh-CN" dirty="0"/>
          </a:p>
          <a:p>
            <a:pPr lvl="1">
              <a:lnSpc>
                <a:spcPct val="150000"/>
              </a:lnSpc>
              <a:spcBef>
                <a:spcPts val="1600"/>
              </a:spcBef>
            </a:pPr>
            <a:r>
              <a:rPr lang="zh-CN" altLang="en-US" dirty="0"/>
              <a:t>实际信道的极限比特率信噪比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59CD32-AA05-4A0A-A1E8-2669C25E5421}"/>
              </a:ext>
            </a:extLst>
          </p:cNvPr>
          <p:cNvSpPr txBox="1"/>
          <p:nvPr/>
        </p:nvSpPr>
        <p:spPr>
          <a:xfrm>
            <a:off x="2173857" y="4466639"/>
            <a:ext cx="227557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 marL="0" lvl="1" algn="ctr"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zh-CN" altLang="en-US" sz="2400" b="1" dirty="0"/>
              <a:t>（香农公式）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C85E0D-082E-4C95-A35F-95E886F98E85}"/>
              </a:ext>
            </a:extLst>
          </p:cNvPr>
          <p:cNvSpPr txBox="1"/>
          <p:nvPr/>
        </p:nvSpPr>
        <p:spPr>
          <a:xfrm>
            <a:off x="2173858" y="3012977"/>
            <a:ext cx="227557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sz="2400" b="1" dirty="0"/>
              <a:t>（奈氏准则）</a:t>
            </a:r>
          </a:p>
        </p:txBody>
      </p:sp>
    </p:spTree>
    <p:extLst>
      <p:ext uri="{BB962C8B-B14F-4D97-AF65-F5344CB8AC3E}">
        <p14:creationId xmlns:p14="http://schemas.microsoft.com/office/powerpoint/2010/main" val="288209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AutoShape 5"/>
          <p:cNvSpPr>
            <a:spLocks noChangeArrowheads="1"/>
          </p:cNvSpPr>
          <p:nvPr/>
        </p:nvSpPr>
        <p:spPr bwMode="auto">
          <a:xfrm>
            <a:off x="742617" y="864783"/>
            <a:ext cx="10738283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58" name="Rectangle 6"/>
          <p:cNvSpPr>
            <a:spLocks noChangeArrowheads="1"/>
          </p:cNvSpPr>
          <p:nvPr/>
        </p:nvSpPr>
        <p:spPr bwMode="auto">
          <a:xfrm>
            <a:off x="5058876" y="820500"/>
            <a:ext cx="213071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奈氏准则</a:t>
            </a:r>
          </a:p>
        </p:txBody>
      </p:sp>
      <p:sp>
        <p:nvSpPr>
          <p:cNvPr id="159" name="Rectangle 68"/>
          <p:cNvSpPr>
            <a:spLocks noChangeArrowheads="1"/>
          </p:cNvSpPr>
          <p:nvPr/>
        </p:nvSpPr>
        <p:spPr bwMode="auto">
          <a:xfrm>
            <a:off x="758375" y="1495219"/>
            <a:ext cx="10913280" cy="172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81" indent="-380981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1924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年，奈奎斯特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Nyquist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就推导出了著名的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奈氏准则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。他给出了在假定的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理想条件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（无噪声干扰）下，为了避免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码间串扰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，码元的传输速率的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上限值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006B01-D81F-A1B1-2E11-FF2BF70083FD}"/>
              </a:ext>
            </a:extLst>
          </p:cNvPr>
          <p:cNvSpPr/>
          <p:nvPr/>
        </p:nvSpPr>
        <p:spPr>
          <a:xfrm>
            <a:off x="1887822" y="4111314"/>
            <a:ext cx="2236510" cy="584775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174253-332A-4E34-91FD-EE8D3C31AED3}"/>
              </a:ext>
            </a:extLst>
          </p:cNvPr>
          <p:cNvSpPr txBox="1"/>
          <p:nvPr/>
        </p:nvSpPr>
        <p:spPr>
          <a:xfrm>
            <a:off x="4065081" y="3429000"/>
            <a:ext cx="6425119" cy="205838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低通</a:t>
            </a:r>
            <a:r>
              <a:rPr lang="zh-CN" altLang="en-US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信道：</a:t>
            </a: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2W </a:t>
            </a: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Baud（</a:t>
            </a:r>
            <a:r>
              <a:rPr lang="zh-CN" altLang="en-US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码元</a:t>
            </a: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</a:t>
            </a: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algn="ctr"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带通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信道：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  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Baud</a:t>
            </a: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（</a:t>
            </a:r>
            <a:r>
              <a:rPr lang="zh-CN" altLang="en-US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码元</a:t>
            </a: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</a:t>
            </a: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为信道带宽，单位是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Hz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532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对角圆角矩形 7"/>
          <p:cNvSpPr/>
          <p:nvPr/>
        </p:nvSpPr>
        <p:spPr>
          <a:xfrm>
            <a:off x="726859" y="2087975"/>
            <a:ext cx="10738283" cy="1443800"/>
          </a:xfrm>
          <a:prstGeom prst="round2DiagRect">
            <a:avLst/>
          </a:prstGeom>
          <a:solidFill>
            <a:schemeClr val="bg1"/>
          </a:solidFill>
          <a:ln w="19050">
            <a:solidFill>
              <a:srgbClr val="00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/>
        </p:nvSpPr>
        <p:spPr>
          <a:xfrm>
            <a:off x="1231389" y="2195216"/>
            <a:ext cx="9826752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spcBef>
                <a:spcPts val="800"/>
              </a:spcBef>
            </a:pPr>
            <a:r>
              <a:rPr lang="zh-CN" altLang="en-US" sz="2667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在任何信道中，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码元传输的速率是有上限的</a:t>
            </a:r>
            <a:r>
              <a:rPr lang="zh-CN" altLang="en-US" sz="2667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，否则就会出现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码间串扰</a:t>
            </a:r>
            <a:r>
              <a:rPr lang="zh-CN" altLang="en-US" sz="2667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的问题，使接收端对码元的判决（即识别）成为不可能。</a:t>
            </a:r>
          </a:p>
        </p:txBody>
      </p:sp>
      <p:sp>
        <p:nvSpPr>
          <p:cNvPr id="10" name="对角圆角矩形 9"/>
          <p:cNvSpPr/>
          <p:nvPr/>
        </p:nvSpPr>
        <p:spPr>
          <a:xfrm>
            <a:off x="726859" y="4048125"/>
            <a:ext cx="10738283" cy="1610563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矩形 10"/>
          <p:cNvSpPr/>
          <p:nvPr/>
        </p:nvSpPr>
        <p:spPr>
          <a:xfrm>
            <a:off x="1231391" y="4246236"/>
            <a:ext cx="9826751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spcBef>
                <a:spcPts val="800"/>
              </a:spcBef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如果信道的频带越宽，码元传输速率上限就越高，那么就可以用更高的速率传送码元而不出现码间串扰。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726861" y="1054076"/>
            <a:ext cx="10738283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5043119" y="1009793"/>
            <a:ext cx="213071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奈氏准则</a:t>
            </a:r>
          </a:p>
        </p:txBody>
      </p:sp>
    </p:spTree>
    <p:extLst>
      <p:ext uri="{BB962C8B-B14F-4D97-AF65-F5344CB8AC3E}">
        <p14:creationId xmlns:p14="http://schemas.microsoft.com/office/powerpoint/2010/main" val="17642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621792" y="1292835"/>
            <a:ext cx="11311589" cy="4519831"/>
          </a:xfrm>
        </p:spPr>
        <p:txBody>
          <a:bodyPr/>
          <a:lstStyle/>
          <a:p>
            <a:pPr marL="380990" indent="-38099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380990" indent="-380990" eaLnBrk="0" hangingPunct="0">
              <a:buClr>
                <a:srgbClr val="0070C0"/>
              </a:buClr>
            </a:pPr>
            <a:endParaRPr lang="zh-CN" altLang="en-US" dirty="0"/>
          </a:p>
          <a:p>
            <a:pPr marL="380990" indent="-380990" eaLnBrk="0" hangingPunct="0">
              <a:buClr>
                <a:srgbClr val="0070C0"/>
              </a:buClr>
            </a:pPr>
            <a:endParaRPr lang="en-US" altLang="zh-CN" dirty="0"/>
          </a:p>
          <a:p>
            <a:pPr marL="0" indent="0" eaLnBrk="0" hangingPunct="0">
              <a:buClr>
                <a:srgbClr val="0070C0"/>
              </a:buClr>
              <a:buNone/>
            </a:pPr>
            <a:r>
              <a:rPr lang="en-US" altLang="zh-CN" b="0" dirty="0"/>
              <a:t>    </a:t>
            </a:r>
            <a:r>
              <a:rPr lang="zh-CN" altLang="en-US" b="0" dirty="0"/>
              <a:t>例如： </a:t>
            </a:r>
            <a:r>
              <a:rPr lang="en-US" altLang="zh-CN" b="0" i="1" dirty="0"/>
              <a:t>S/N </a:t>
            </a:r>
            <a:r>
              <a:rPr lang="en-US" altLang="zh-CN" b="0" dirty="0"/>
              <a:t>=10 </a:t>
            </a:r>
            <a:r>
              <a:rPr lang="zh-CN" altLang="en-US" b="0" dirty="0"/>
              <a:t>时，信噪比为</a:t>
            </a:r>
            <a:r>
              <a:rPr lang="en-US" altLang="zh-CN" b="0" dirty="0"/>
              <a:t>10dB</a:t>
            </a:r>
            <a:r>
              <a:rPr lang="zh-CN" altLang="en-US" b="0" dirty="0"/>
              <a:t>；</a:t>
            </a:r>
            <a:r>
              <a:rPr lang="en-US" altLang="zh-CN" b="0" i="1" dirty="0"/>
              <a:t>S/N </a:t>
            </a:r>
            <a:r>
              <a:rPr lang="en-US" altLang="zh-CN" b="0" dirty="0"/>
              <a:t>=1000 </a:t>
            </a:r>
            <a:r>
              <a:rPr lang="zh-CN" altLang="en-US" b="0" dirty="0"/>
              <a:t>时，信噪比为</a:t>
            </a:r>
            <a:r>
              <a:rPr lang="en-US" altLang="zh-CN" b="0" dirty="0"/>
              <a:t>30dB</a:t>
            </a:r>
          </a:p>
          <a:p>
            <a:pPr marL="0" indent="0" eaLnBrk="0" hangingPunct="0">
              <a:buClr>
                <a:srgbClr val="0070C0"/>
              </a:buClr>
              <a:buNone/>
            </a:pPr>
            <a:r>
              <a:rPr lang="zh-CN" altLang="en-US" b="0" dirty="0"/>
              <a:t> </a:t>
            </a:r>
          </a:p>
          <a:p>
            <a:r>
              <a:rPr lang="zh-CN" altLang="en-US" dirty="0"/>
              <a:t>信噪比一般是在</a:t>
            </a:r>
            <a:r>
              <a:rPr lang="zh-CN" altLang="en-US" dirty="0">
                <a:solidFill>
                  <a:srgbClr val="0000FF"/>
                </a:solidFill>
              </a:rPr>
              <a:t>接收端</a:t>
            </a:r>
            <a:r>
              <a:rPr lang="zh-CN" altLang="en-US" dirty="0"/>
              <a:t>测量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信噪比与香农公式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2090058" y="2509317"/>
            <a:ext cx="7500983" cy="58477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32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 </a:t>
            </a:r>
            <a:r>
              <a:rPr lang="zh-CN" altLang="en-US" dirty="0"/>
              <a:t>可表达为：</a:t>
            </a:r>
            <a:endParaRPr lang="en-US" altLang="zh-CN" dirty="0"/>
          </a:p>
          <a:p>
            <a:pPr marL="380990" indent="-380990" eaLnBrk="0" hangingPunct="0">
              <a:lnSpc>
                <a:spcPts val="44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信噪比与香农公式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297718" y="2104639"/>
                <a:ext cx="5632183" cy="801310"/>
              </a:xfrm>
              <a:prstGeom prst="rect">
                <a:avLst/>
              </a:prstGeom>
              <a:solidFill>
                <a:srgbClr val="FFFF66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𝑪</m:t>
                    </m:r>
                    <m:r>
                      <a:rPr lang="en-US" altLang="zh-CN" sz="32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=</m:t>
                    </m:r>
                    <m:r>
                      <a:rPr lang="en-US" altLang="zh-CN" sz="3200" b="1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𝑾</m:t>
                    </m:r>
                    <m:func>
                      <m:funcPr>
                        <m:ctrlPr>
                          <a:rPr lang="en-US" altLang="zh-CN" sz="32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32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32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sz="32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(</m:t>
                        </m:r>
                        <m:r>
                          <a:rPr lang="en-US" altLang="zh-CN" sz="32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𝟏</m:t>
                        </m:r>
                        <m:r>
                          <a:rPr lang="en-US" altLang="zh-CN" sz="32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2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  <m:t>𝑺</m:t>
                            </m:r>
                          </m:num>
                          <m:den>
                            <m:r>
                              <a:rPr lang="en-US" altLang="zh-CN" sz="32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</a:rPr>
                              <m:t>𝑵</m:t>
                            </m:r>
                          </m:den>
                        </m:f>
                        <m:r>
                          <a:rPr lang="en-US" altLang="zh-CN" sz="32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sz="3200" b="1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     (bit/s) </a:t>
                </a:r>
                <a:endParaRPr lang="en-US" altLang="zh-CN" sz="3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18" y="2104639"/>
                <a:ext cx="5632183" cy="801310"/>
              </a:xfrm>
              <a:prstGeom prst="rect">
                <a:avLst/>
              </a:prstGeom>
              <a:blipFill>
                <a:blip r:embed="rId3"/>
                <a:stretch>
                  <a:fillRect r="-1732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7296000" y="2046579"/>
            <a:ext cx="4840405" cy="169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1064169" y="3908868"/>
            <a:ext cx="10094412" cy="162008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3"/>
          </a:p>
        </p:txBody>
      </p:sp>
      <p:sp>
        <p:nvSpPr>
          <p:cNvPr id="7" name="矩形 6"/>
          <p:cNvSpPr/>
          <p:nvPr/>
        </p:nvSpPr>
        <p:spPr>
          <a:xfrm>
            <a:off x="1242423" y="3990855"/>
            <a:ext cx="9672317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3467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信道的带宽或信道中的信噪比越大，则信息的极限传输速率就越高。 </a:t>
            </a:r>
          </a:p>
          <a:p>
            <a:pPr marL="380990" indent="-380990">
              <a:lnSpc>
                <a:spcPts val="3467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只要信息传输速率低于信道的极限信息传输速率，就一定可以找到某种办法来实现无差错的传输。</a:t>
            </a:r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2" name="AutoShape 5"/>
          <p:cNvSpPr>
            <a:spLocks noChangeArrowheads="1"/>
          </p:cNvSpPr>
          <p:nvPr/>
        </p:nvSpPr>
        <p:spPr bwMode="auto">
          <a:xfrm>
            <a:off x="621794" y="84669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063" name="圆角矩形 128"/>
          <p:cNvSpPr/>
          <p:nvPr/>
        </p:nvSpPr>
        <p:spPr>
          <a:xfrm>
            <a:off x="673430" y="1462059"/>
            <a:ext cx="10845141" cy="42671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/>
          </a:p>
        </p:txBody>
      </p:sp>
      <p:grpSp>
        <p:nvGrpSpPr>
          <p:cNvPr id="251" name="组合 8"/>
          <p:cNvGrpSpPr/>
          <p:nvPr/>
        </p:nvGrpSpPr>
        <p:grpSpPr>
          <a:xfrm>
            <a:off x="1767187" y="2373275"/>
            <a:ext cx="3205925" cy="400336"/>
            <a:chOff x="1042371" y="1853844"/>
            <a:chExt cx="2404444" cy="300252"/>
          </a:xfrm>
        </p:grpSpPr>
        <p:sp>
          <p:nvSpPr>
            <p:cNvPr id="1049064" name="Line 6"/>
            <p:cNvSpPr>
              <a:spLocks noChangeShapeType="1"/>
            </p:cNvSpPr>
            <p:nvPr/>
          </p:nvSpPr>
          <p:spPr bwMode="auto">
            <a:xfrm>
              <a:off x="1192497" y="2003970"/>
              <a:ext cx="210419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65" name="椭圆 1"/>
            <p:cNvSpPr/>
            <p:nvPr/>
          </p:nvSpPr>
          <p:spPr>
            <a:xfrm>
              <a:off x="1042371" y="1853844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066" name="椭圆 54"/>
            <p:cNvSpPr/>
            <p:nvPr/>
          </p:nvSpPr>
          <p:spPr>
            <a:xfrm>
              <a:off x="3146563" y="1853844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252" name="组合 7"/>
          <p:cNvGrpSpPr/>
          <p:nvPr/>
        </p:nvGrpSpPr>
        <p:grpSpPr>
          <a:xfrm>
            <a:off x="6765472" y="1833392"/>
            <a:ext cx="3748360" cy="1486091"/>
            <a:chOff x="4981610" y="1448932"/>
            <a:chExt cx="2811270" cy="1114568"/>
          </a:xfrm>
          <a:solidFill>
            <a:srgbClr val="CC00CC"/>
          </a:solidFill>
        </p:grpSpPr>
        <p:sp>
          <p:nvSpPr>
            <p:cNvPr id="1049067" name="Line 7"/>
            <p:cNvSpPr>
              <a:spLocks noChangeShapeType="1"/>
            </p:cNvSpPr>
            <p:nvPr/>
          </p:nvSpPr>
          <p:spPr bwMode="auto">
            <a:xfrm>
              <a:off x="4981610" y="2005103"/>
              <a:ext cx="2811270" cy="0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68" name="Line 12"/>
            <p:cNvSpPr>
              <a:spLocks noChangeShapeType="1"/>
            </p:cNvSpPr>
            <p:nvPr/>
          </p:nvSpPr>
          <p:spPr bwMode="auto">
            <a:xfrm>
              <a:off x="5862852" y="1708240"/>
              <a:ext cx="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69" name="Line 13"/>
            <p:cNvSpPr>
              <a:spLocks noChangeShapeType="1"/>
            </p:cNvSpPr>
            <p:nvPr/>
          </p:nvSpPr>
          <p:spPr bwMode="auto">
            <a:xfrm>
              <a:off x="7005852" y="1708240"/>
              <a:ext cx="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70" name="Line 14"/>
            <p:cNvSpPr>
              <a:spLocks noChangeShapeType="1"/>
            </p:cNvSpPr>
            <p:nvPr/>
          </p:nvSpPr>
          <p:spPr bwMode="auto">
            <a:xfrm>
              <a:off x="6397380" y="2013040"/>
              <a:ext cx="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71" name="Line 15"/>
            <p:cNvSpPr>
              <a:spLocks noChangeShapeType="1"/>
            </p:cNvSpPr>
            <p:nvPr/>
          </p:nvSpPr>
          <p:spPr bwMode="auto">
            <a:xfrm>
              <a:off x="7311780" y="2013040"/>
              <a:ext cx="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72" name="Line 16"/>
            <p:cNvSpPr>
              <a:spLocks noChangeShapeType="1"/>
            </p:cNvSpPr>
            <p:nvPr/>
          </p:nvSpPr>
          <p:spPr bwMode="auto">
            <a:xfrm>
              <a:off x="5510292" y="2013040"/>
              <a:ext cx="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49073" name="椭圆 69"/>
            <p:cNvSpPr/>
            <p:nvPr/>
          </p:nvSpPr>
          <p:spPr>
            <a:xfrm>
              <a:off x="5712342" y="1448932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074" name="椭圆 70"/>
            <p:cNvSpPr/>
            <p:nvPr/>
          </p:nvSpPr>
          <p:spPr>
            <a:xfrm>
              <a:off x="6842078" y="1448932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075" name="椭圆 71"/>
            <p:cNvSpPr/>
            <p:nvPr/>
          </p:nvSpPr>
          <p:spPr>
            <a:xfrm>
              <a:off x="5357496" y="2263248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076" name="椭圆 72"/>
            <p:cNvSpPr/>
            <p:nvPr/>
          </p:nvSpPr>
          <p:spPr>
            <a:xfrm>
              <a:off x="6241568" y="2263248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077" name="椭圆 73"/>
            <p:cNvSpPr/>
            <p:nvPr/>
          </p:nvSpPr>
          <p:spPr>
            <a:xfrm>
              <a:off x="7161654" y="2263248"/>
              <a:ext cx="300252" cy="300252"/>
            </a:xfrm>
            <a:prstGeom prst="ellipse">
              <a:avLst/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49078" name="矩形 2"/>
          <p:cNvSpPr/>
          <p:nvPr/>
        </p:nvSpPr>
        <p:spPr>
          <a:xfrm>
            <a:off x="1087635" y="3526566"/>
            <a:ext cx="4470231" cy="1179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buClr>
                <a:srgbClr val="0070C0"/>
              </a:buClr>
            </a:pP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(a)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点对点信道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  <a:p>
            <a:pPr algn="ctr" eaLnBrk="0" hangingPunct="0">
              <a:buClr>
                <a:srgbClr val="0070C0"/>
              </a:buClr>
            </a:pPr>
            <a:endParaRPr lang="en-US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 eaLnBrk="0" hangingPunct="0">
              <a:spcBef>
                <a:spcPts val="800"/>
              </a:spcBef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使用一对一的</a:t>
            </a:r>
            <a:r>
              <a:rPr lang="zh-CN" altLang="en-US" sz="2133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点对点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通信方式。</a:t>
            </a:r>
          </a:p>
        </p:txBody>
      </p:sp>
      <p:sp>
        <p:nvSpPr>
          <p:cNvPr id="1049079" name="矩形 3"/>
          <p:cNvSpPr/>
          <p:nvPr/>
        </p:nvSpPr>
        <p:spPr>
          <a:xfrm>
            <a:off x="6450433" y="3502304"/>
            <a:ext cx="4448481" cy="1938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buClr>
                <a:srgbClr val="0070C0"/>
              </a:buClr>
            </a:pP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(b)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广播信道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  <a:p>
            <a:pPr algn="ctr" eaLnBrk="0" hangingPunct="0">
              <a:buClr>
                <a:srgbClr val="0070C0"/>
              </a:buClr>
            </a:pPr>
            <a:endParaRPr lang="en-US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 eaLnBrk="0" hangingPunct="0">
              <a:spcBef>
                <a:spcPts val="800"/>
              </a:spcBef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使用一对多的</a:t>
            </a:r>
            <a:r>
              <a:rPr lang="zh-CN" altLang="en-US" sz="2133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广播通信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方式。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 eaLnBrk="0" hangingPunct="0">
              <a:spcBef>
                <a:spcPts val="800"/>
              </a:spcBef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必须使用专用的</a:t>
            </a:r>
            <a:r>
              <a:rPr lang="zh-CN" altLang="en-US" sz="2133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共享信道协议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来协调这些主机的数据发送。</a:t>
            </a:r>
          </a:p>
        </p:txBody>
      </p:sp>
      <p:sp>
        <p:nvSpPr>
          <p:cNvPr id="1049080" name="矩形 6"/>
          <p:cNvSpPr/>
          <p:nvPr/>
        </p:nvSpPr>
        <p:spPr>
          <a:xfrm>
            <a:off x="4339365" y="826796"/>
            <a:ext cx="3257622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ea typeface="微软雅黑" pitchFamily="34" charset="-122"/>
              </a:rPr>
              <a:t>数据链路层信道类型</a:t>
            </a:r>
          </a:p>
        </p:txBody>
      </p:sp>
      <p:grpSp>
        <p:nvGrpSpPr>
          <p:cNvPr id="253" name="组合 18"/>
          <p:cNvGrpSpPr/>
          <p:nvPr/>
        </p:nvGrpSpPr>
        <p:grpSpPr>
          <a:xfrm>
            <a:off x="7666989" y="2233728"/>
            <a:ext cx="2072531" cy="726947"/>
            <a:chOff x="5750242" y="1749184"/>
            <a:chExt cx="1554398" cy="545210"/>
          </a:xfrm>
        </p:grpSpPr>
        <p:cxnSp>
          <p:nvCxnSpPr>
            <p:cNvPr id="3145731" name="直接箭头连接符 9"/>
            <p:cNvCxnSpPr>
              <a:cxnSpLocks/>
            </p:cNvCxnSpPr>
            <p:nvPr/>
          </p:nvCxnSpPr>
          <p:spPr>
            <a:xfrm>
              <a:off x="5750242" y="2115597"/>
              <a:ext cx="1550798" cy="0"/>
            </a:xfrm>
            <a:prstGeom prst="straightConnector1">
              <a:avLst/>
            </a:prstGeom>
            <a:ln w="12700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2" name="直接箭头连接符 27"/>
            <p:cNvCxnSpPr>
              <a:cxnSpLocks/>
            </p:cNvCxnSpPr>
            <p:nvPr/>
          </p:nvCxnSpPr>
          <p:spPr>
            <a:xfrm flipV="1">
              <a:off x="6058196" y="1749184"/>
              <a:ext cx="0" cy="366413"/>
            </a:xfrm>
            <a:prstGeom prst="straightConnector1">
              <a:avLst/>
            </a:prstGeom>
            <a:ln w="12700">
              <a:solidFill>
                <a:srgbClr val="0000FF"/>
              </a:solidFill>
              <a:prstDash val="dash"/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3" name="直接箭头连接符 30"/>
            <p:cNvCxnSpPr>
              <a:cxnSpLocks/>
            </p:cNvCxnSpPr>
            <p:nvPr/>
          </p:nvCxnSpPr>
          <p:spPr>
            <a:xfrm flipV="1">
              <a:off x="6993187" y="1749184"/>
              <a:ext cx="0" cy="366413"/>
            </a:xfrm>
            <a:prstGeom prst="straightConnector1">
              <a:avLst/>
            </a:prstGeom>
            <a:ln w="12700">
              <a:solidFill>
                <a:srgbClr val="0000FF"/>
              </a:solidFill>
              <a:prstDash val="dash"/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4" name="直接箭头连接符 31"/>
            <p:cNvCxnSpPr>
              <a:cxnSpLocks/>
            </p:cNvCxnSpPr>
            <p:nvPr/>
          </p:nvCxnSpPr>
          <p:spPr>
            <a:xfrm>
              <a:off x="6334062" y="2130650"/>
              <a:ext cx="0" cy="163744"/>
            </a:xfrm>
            <a:prstGeom prst="straightConnector1">
              <a:avLst/>
            </a:prstGeom>
            <a:ln w="12700">
              <a:solidFill>
                <a:srgbClr val="0000FF"/>
              </a:solidFill>
              <a:prstDash val="dash"/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5" name="直接箭头连接符 34"/>
            <p:cNvCxnSpPr>
              <a:cxnSpLocks/>
            </p:cNvCxnSpPr>
            <p:nvPr/>
          </p:nvCxnSpPr>
          <p:spPr>
            <a:xfrm>
              <a:off x="7304640" y="2130650"/>
              <a:ext cx="0" cy="163744"/>
            </a:xfrm>
            <a:prstGeom prst="straightConnector1">
              <a:avLst/>
            </a:prstGeom>
            <a:ln w="12700">
              <a:solidFill>
                <a:srgbClr val="0000FF"/>
              </a:solidFill>
              <a:prstDash val="dash"/>
              <a:headEnd type="none" w="med" len="med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6" name="直接箭头连接符 36"/>
            <p:cNvCxnSpPr>
              <a:cxnSpLocks/>
            </p:cNvCxnSpPr>
            <p:nvPr/>
          </p:nvCxnSpPr>
          <p:spPr>
            <a:xfrm>
              <a:off x="5750242" y="2130650"/>
              <a:ext cx="0" cy="163744"/>
            </a:xfrm>
            <a:prstGeom prst="straightConnector1">
              <a:avLst/>
            </a:prstGeom>
            <a:ln w="12700">
              <a:solidFill>
                <a:srgbClr val="0000FF"/>
              </a:solidFill>
              <a:prstDash val="dash"/>
              <a:headEnd type="stealth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37" name="直接箭头连接符 20"/>
          <p:cNvCxnSpPr>
            <a:cxnSpLocks/>
          </p:cNvCxnSpPr>
          <p:nvPr/>
        </p:nvCxnSpPr>
        <p:spPr>
          <a:xfrm>
            <a:off x="2292569" y="2397967"/>
            <a:ext cx="2232772" cy="0"/>
          </a:xfrm>
          <a:prstGeom prst="straightConnector1">
            <a:avLst/>
          </a:prstGeom>
          <a:ln w="12700">
            <a:solidFill>
              <a:srgbClr val="0000FF"/>
            </a:solidFill>
            <a:prstDash val="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4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3" name="AutoShape 5"/>
          <p:cNvSpPr>
            <a:spLocks noChangeArrowheads="1"/>
          </p:cNvSpPr>
          <p:nvPr/>
        </p:nvSpPr>
        <p:spPr bwMode="auto">
          <a:xfrm>
            <a:off x="621794" y="830705"/>
            <a:ext cx="10838687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114" name="Rectangle 6"/>
          <p:cNvSpPr>
            <a:spLocks noChangeArrowheads="1"/>
          </p:cNvSpPr>
          <p:nvPr/>
        </p:nvSpPr>
        <p:spPr bwMode="auto">
          <a:xfrm>
            <a:off x="4056417" y="762151"/>
            <a:ext cx="388439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3.1.1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数据链路和帧</a:t>
            </a:r>
          </a:p>
        </p:txBody>
      </p:sp>
      <p:sp>
        <p:nvSpPr>
          <p:cNvPr id="1049115" name="Rectangle 8"/>
          <p:cNvSpPr>
            <a:spLocks noChangeArrowheads="1"/>
          </p:cNvSpPr>
          <p:nvPr/>
        </p:nvSpPr>
        <p:spPr bwMode="auto">
          <a:xfrm>
            <a:off x="621794" y="1332637"/>
            <a:ext cx="10838687" cy="4662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57708" indent="-357708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链路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(link)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一条无源的点到点的物理线路段，中间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任何其他的交换结点。</a:t>
            </a:r>
          </a:p>
          <a:p>
            <a:pPr marL="797964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一条链路只是一条通路的一个组成部分。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97964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物理链路。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000"/>
              </a:lnSpc>
              <a:buClr>
                <a:srgbClr val="0070C0"/>
              </a:buClr>
              <a:buSzPct val="75000"/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数据链路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(data link)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把实现控制数据传输的协议的硬件和软件加到链路上，就构成了数据链路。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97964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逻辑链路。</a:t>
            </a:r>
          </a:p>
          <a:p>
            <a:pPr marL="797964" indent="-457189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典型实现：适配器（即网卡）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1" name="内容占位符 2"/>
          <p:cNvSpPr>
            <a:spLocks noGrp="1"/>
          </p:cNvSpPr>
          <p:nvPr>
            <p:ph sz="quarter" idx="10"/>
          </p:nvPr>
        </p:nvSpPr>
        <p:spPr>
          <a:xfrm>
            <a:off x="621792" y="1292836"/>
            <a:ext cx="10838688" cy="1011533"/>
          </a:xfrm>
        </p:spPr>
        <p:txBody>
          <a:bodyPr/>
          <a:lstStyle/>
          <a:p>
            <a:r>
              <a:rPr lang="zh-CN" altLang="en-US" dirty="0"/>
              <a:t>分组 </a:t>
            </a:r>
            <a:r>
              <a:rPr lang="en-US" altLang="zh-CN" dirty="0"/>
              <a:t>(packet)</a:t>
            </a:r>
            <a:r>
              <a:rPr lang="zh-CN" altLang="en-US" dirty="0"/>
              <a:t> 与 帧</a:t>
            </a:r>
            <a:r>
              <a:rPr lang="en-US" altLang="zh-CN" dirty="0"/>
              <a:t>(frame)</a:t>
            </a:r>
            <a:r>
              <a:rPr lang="zh-CN" altLang="en-US" dirty="0"/>
              <a:t>的关系</a:t>
            </a:r>
            <a:endParaRPr lang="en-US" altLang="zh-CN" dirty="0"/>
          </a:p>
        </p:txBody>
      </p:sp>
      <p:sp>
        <p:nvSpPr>
          <p:cNvPr id="1049292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帧（</a:t>
            </a:r>
            <a:r>
              <a:rPr lang="en-US" altLang="zh-CN" dirty="0"/>
              <a:t>Framing</a:t>
            </a:r>
            <a:r>
              <a:rPr lang="zh-CN" altLang="en-US" dirty="0"/>
              <a:t>）</a:t>
            </a:r>
          </a:p>
        </p:txBody>
      </p:sp>
      <p:sp>
        <p:nvSpPr>
          <p:cNvPr id="104929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defTabSz="914377"/>
            <a:fld id="{8D4D1E41-7A09-AB4A-A4E1-09765ADA2698}" type="slidenum">
              <a:rPr kumimoji="1" lang="zh-CN" altLang="en-US">
                <a:solidFill>
                  <a:prstClr val="black">
                    <a:tint val="75000"/>
                  </a:prst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 defTabSz="914377"/>
              <a:t>29</a:t>
            </a:fld>
            <a:endParaRPr kumimoji="1" lang="zh-CN" altLang="en-US" dirty="0">
              <a:solidFill>
                <a:prstClr val="black">
                  <a:tint val="75000"/>
                </a:prst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95" name="组合 6"/>
          <p:cNvGrpSpPr/>
          <p:nvPr/>
        </p:nvGrpSpPr>
        <p:grpSpPr>
          <a:xfrm>
            <a:off x="1141181" y="2492942"/>
            <a:ext cx="9368375" cy="3072223"/>
            <a:chOff x="818984" y="1963972"/>
            <a:chExt cx="9368375" cy="3072223"/>
          </a:xfrm>
        </p:grpSpPr>
        <p:sp>
          <p:nvSpPr>
            <p:cNvPr id="1049294" name="Rectangle 6"/>
            <p:cNvSpPr>
              <a:spLocks noChangeArrowheads="1"/>
            </p:cNvSpPr>
            <p:nvPr/>
          </p:nvSpPr>
          <p:spPr bwMode="auto">
            <a:xfrm>
              <a:off x="818984" y="3727641"/>
              <a:ext cx="9368375" cy="83718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 anchorCtr="0"/>
            <a:lstStyle/>
            <a:p>
              <a:pPr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1049295" name="Rectangle 6"/>
            <p:cNvSpPr>
              <a:spLocks noChangeArrowheads="1"/>
            </p:cNvSpPr>
            <p:nvPr/>
          </p:nvSpPr>
          <p:spPr bwMode="auto">
            <a:xfrm>
              <a:off x="818984" y="2983966"/>
              <a:ext cx="9368375" cy="74367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 anchorCtr="0"/>
            <a:lstStyle/>
            <a:p>
              <a:pPr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049296" name="圆角矩形 9"/>
            <p:cNvSpPr/>
            <p:nvPr/>
          </p:nvSpPr>
          <p:spPr bwMode="auto">
            <a:xfrm>
              <a:off x="3328597" y="3136891"/>
              <a:ext cx="129614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分组</a:t>
              </a:r>
            </a:p>
          </p:txBody>
        </p:sp>
        <p:sp>
          <p:nvSpPr>
            <p:cNvPr id="1049297" name="圆角矩形 10"/>
            <p:cNvSpPr/>
            <p:nvPr/>
          </p:nvSpPr>
          <p:spPr bwMode="auto">
            <a:xfrm>
              <a:off x="2410495" y="1963972"/>
              <a:ext cx="3132348" cy="2784191"/>
            </a:xfrm>
            <a:prstGeom prst="roundRect">
              <a:avLst>
                <a:gd name="adj" fmla="val 4101"/>
              </a:avLst>
            </a:prstGeom>
            <a:noFill/>
            <a:ln w="1905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发送方</a:t>
              </a:r>
            </a:p>
          </p:txBody>
        </p:sp>
        <p:sp>
          <p:nvSpPr>
            <p:cNvPr id="1049298" name="圆角矩形 11"/>
            <p:cNvSpPr/>
            <p:nvPr/>
          </p:nvSpPr>
          <p:spPr bwMode="auto">
            <a:xfrm>
              <a:off x="2554511" y="3992079"/>
              <a:ext cx="75608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头标</a:t>
              </a:r>
            </a:p>
          </p:txBody>
        </p:sp>
        <p:sp>
          <p:nvSpPr>
            <p:cNvPr id="1049299" name="圆角矩形 12"/>
            <p:cNvSpPr/>
            <p:nvPr/>
          </p:nvSpPr>
          <p:spPr bwMode="auto">
            <a:xfrm>
              <a:off x="4606739" y="3992079"/>
              <a:ext cx="75608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尾标</a:t>
              </a:r>
            </a:p>
          </p:txBody>
        </p:sp>
        <p:sp>
          <p:nvSpPr>
            <p:cNvPr id="1049300" name="圆角矩形 13"/>
            <p:cNvSpPr/>
            <p:nvPr/>
          </p:nvSpPr>
          <p:spPr bwMode="auto">
            <a:xfrm>
              <a:off x="7758406" y="3136891"/>
              <a:ext cx="129614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分组</a:t>
              </a:r>
            </a:p>
          </p:txBody>
        </p:sp>
        <p:sp>
          <p:nvSpPr>
            <p:cNvPr id="1049301" name="圆角矩形 14"/>
            <p:cNvSpPr/>
            <p:nvPr/>
          </p:nvSpPr>
          <p:spPr bwMode="auto">
            <a:xfrm>
              <a:off x="6838987" y="1963972"/>
              <a:ext cx="3132348" cy="2793099"/>
            </a:xfrm>
            <a:prstGeom prst="roundRect">
              <a:avLst>
                <a:gd name="adj" fmla="val 4101"/>
              </a:avLst>
            </a:prstGeom>
            <a:noFill/>
            <a:ln w="1905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接收方</a:t>
              </a:r>
            </a:p>
          </p:txBody>
        </p:sp>
        <p:sp>
          <p:nvSpPr>
            <p:cNvPr id="1049302" name="圆角矩形 15"/>
            <p:cNvSpPr/>
            <p:nvPr/>
          </p:nvSpPr>
          <p:spPr bwMode="auto">
            <a:xfrm>
              <a:off x="6983003" y="4000987"/>
              <a:ext cx="75608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头标</a:t>
              </a:r>
            </a:p>
          </p:txBody>
        </p:sp>
        <p:sp>
          <p:nvSpPr>
            <p:cNvPr id="1049303" name="圆角矩形 16"/>
            <p:cNvSpPr/>
            <p:nvPr/>
          </p:nvSpPr>
          <p:spPr bwMode="auto">
            <a:xfrm>
              <a:off x="9035231" y="4000987"/>
              <a:ext cx="75608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尾标</a:t>
              </a:r>
            </a:p>
          </p:txBody>
        </p:sp>
        <p:cxnSp>
          <p:nvCxnSpPr>
            <p:cNvPr id="3145745" name="直接箭头连接符 17"/>
            <p:cNvCxnSpPr>
              <a:cxnSpLocks/>
            </p:cNvCxnSpPr>
            <p:nvPr/>
          </p:nvCxnSpPr>
          <p:spPr bwMode="auto">
            <a:xfrm>
              <a:off x="3976669" y="3488023"/>
              <a:ext cx="0" cy="487651"/>
            </a:xfrm>
            <a:prstGeom prst="straightConnector1">
              <a:avLst/>
            </a:prstGeom>
            <a:solidFill>
              <a:srgbClr val="00E4A8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</p:spPr>
        </p:cxnSp>
        <p:cxnSp>
          <p:nvCxnSpPr>
            <p:cNvPr id="3145746" name="直接箭头连接符 18"/>
            <p:cNvCxnSpPr>
              <a:cxnSpLocks/>
            </p:cNvCxnSpPr>
            <p:nvPr/>
          </p:nvCxnSpPr>
          <p:spPr bwMode="auto">
            <a:xfrm flipV="1">
              <a:off x="8409955" y="3496931"/>
              <a:ext cx="0" cy="509741"/>
            </a:xfrm>
            <a:prstGeom prst="straightConnector1">
              <a:avLst/>
            </a:prstGeom>
            <a:solidFill>
              <a:srgbClr val="00E4A8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</p:spPr>
        </p:cxnSp>
        <p:cxnSp>
          <p:nvCxnSpPr>
            <p:cNvPr id="3145747" name="直接箭头连接符 19"/>
            <p:cNvCxnSpPr>
              <a:cxnSpLocks/>
            </p:cNvCxnSpPr>
            <p:nvPr/>
          </p:nvCxnSpPr>
          <p:spPr bwMode="auto">
            <a:xfrm>
              <a:off x="3958667" y="4352119"/>
              <a:ext cx="0" cy="684076"/>
            </a:xfrm>
            <a:prstGeom prst="straightConnector1">
              <a:avLst/>
            </a:prstGeom>
            <a:solidFill>
              <a:srgbClr val="00E4A8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</p:spPr>
        </p:cxnSp>
        <p:cxnSp>
          <p:nvCxnSpPr>
            <p:cNvPr id="3145748" name="直接箭头连接符 20"/>
            <p:cNvCxnSpPr>
              <a:cxnSpLocks/>
            </p:cNvCxnSpPr>
            <p:nvPr/>
          </p:nvCxnSpPr>
          <p:spPr bwMode="auto">
            <a:xfrm flipV="1">
              <a:off x="8406478" y="4352119"/>
              <a:ext cx="0" cy="684076"/>
            </a:xfrm>
            <a:prstGeom prst="straightConnector1">
              <a:avLst/>
            </a:prstGeom>
            <a:solidFill>
              <a:srgbClr val="00E4A8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</p:spPr>
        </p:cxnSp>
        <p:cxnSp>
          <p:nvCxnSpPr>
            <p:cNvPr id="3145749" name="直接连接符 21"/>
            <p:cNvCxnSpPr>
              <a:cxnSpLocks/>
            </p:cNvCxnSpPr>
            <p:nvPr/>
          </p:nvCxnSpPr>
          <p:spPr bwMode="auto">
            <a:xfrm>
              <a:off x="3958667" y="5036195"/>
              <a:ext cx="4447811" cy="0"/>
            </a:xfrm>
            <a:prstGeom prst="line">
              <a:avLst/>
            </a:prstGeom>
            <a:solidFill>
              <a:srgbClr val="00E4A8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lg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</p:spPr>
        </p:cxnSp>
        <p:sp>
          <p:nvSpPr>
            <p:cNvPr id="1049304" name="圆角矩形标注 22"/>
            <p:cNvSpPr/>
            <p:nvPr/>
          </p:nvSpPr>
          <p:spPr bwMode="auto">
            <a:xfrm>
              <a:off x="5686859" y="3848333"/>
              <a:ext cx="876558" cy="413569"/>
            </a:xfrm>
            <a:prstGeom prst="wedgeRoundRectCallout">
              <a:avLst>
                <a:gd name="adj1" fmla="val -81097"/>
                <a:gd name="adj2" fmla="val 52321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帧</a:t>
              </a:r>
            </a:p>
          </p:txBody>
        </p:sp>
        <p:sp>
          <p:nvSpPr>
            <p:cNvPr id="1049305" name="圆角矩形 23"/>
            <p:cNvSpPr/>
            <p:nvPr/>
          </p:nvSpPr>
          <p:spPr bwMode="auto">
            <a:xfrm>
              <a:off x="3310595" y="3992079"/>
              <a:ext cx="129614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有效载荷</a:t>
              </a:r>
            </a:p>
          </p:txBody>
        </p:sp>
        <p:sp>
          <p:nvSpPr>
            <p:cNvPr id="1049306" name="圆角矩形 24"/>
            <p:cNvSpPr/>
            <p:nvPr/>
          </p:nvSpPr>
          <p:spPr bwMode="auto">
            <a:xfrm>
              <a:off x="7739087" y="4000987"/>
              <a:ext cx="1296144" cy="36004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spcBef>
                  <a:spcPct val="50000"/>
                </a:spcBef>
              </a:pPr>
              <a:r>
                <a:rPr kumimoji="1" lang="zh-CN" altLang="en-US" sz="20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itchFamily="34" charset="0"/>
                </a:rPr>
                <a:t>有效载荷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3" name="文本占位符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数据链路层的功能</a:t>
            </a:r>
          </a:p>
        </p:txBody>
      </p:sp>
      <p:sp>
        <p:nvSpPr>
          <p:cNvPr id="1049314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3800"/>
              </a:lnSpc>
            </a:pPr>
            <a:r>
              <a:rPr lang="zh-CN" altLang="en-US" dirty="0"/>
              <a:t>封装成帧 </a:t>
            </a:r>
            <a:endParaRPr lang="en-US" altLang="zh-CN" dirty="0"/>
          </a:p>
          <a:p>
            <a:pPr lvl="1">
              <a:lnSpc>
                <a:spcPts val="3800"/>
              </a:lnSpc>
            </a:pPr>
            <a:r>
              <a:rPr lang="zh-CN" altLang="en-US" dirty="0"/>
              <a:t>或组帧，将网络层数据添前后添加首部和尾部，形成在数据链路层进行传输的数据单元</a:t>
            </a:r>
            <a:endParaRPr lang="en-US" altLang="zh-CN" dirty="0"/>
          </a:p>
          <a:p>
            <a:pPr>
              <a:lnSpc>
                <a:spcPts val="3800"/>
              </a:lnSpc>
            </a:pPr>
            <a:r>
              <a:rPr lang="zh-CN" altLang="en-US" dirty="0"/>
              <a:t>差错控制 </a:t>
            </a:r>
            <a:endParaRPr lang="en-US" altLang="zh-CN" dirty="0"/>
          </a:p>
          <a:p>
            <a:pPr lvl="1">
              <a:lnSpc>
                <a:spcPts val="3800"/>
              </a:lnSpc>
            </a:pPr>
            <a:r>
              <a:rPr lang="zh-CN" altLang="en-US" dirty="0"/>
              <a:t>处理传输中出现的</a:t>
            </a:r>
            <a:r>
              <a:rPr lang="zh-CN" altLang="en-US" dirty="0">
                <a:solidFill>
                  <a:srgbClr val="7030A0"/>
                </a:solidFill>
              </a:rPr>
              <a:t>差错</a:t>
            </a:r>
            <a:r>
              <a:rPr lang="zh-CN" altLang="en-US" dirty="0"/>
              <a:t>，如位错误、丢失等</a:t>
            </a:r>
            <a:endParaRPr lang="en-US" altLang="zh-CN" dirty="0"/>
          </a:p>
          <a:p>
            <a:pPr>
              <a:lnSpc>
                <a:spcPts val="3800"/>
              </a:lnSpc>
            </a:pPr>
            <a:r>
              <a:rPr lang="zh-CN" altLang="en-US" dirty="0"/>
              <a:t>透明传输 </a:t>
            </a:r>
            <a:endParaRPr lang="en-US" altLang="zh-CN" dirty="0"/>
          </a:p>
          <a:p>
            <a:pPr lvl="1">
              <a:lnSpc>
                <a:spcPts val="3800"/>
              </a:lnSpc>
            </a:pPr>
            <a:r>
              <a:rPr lang="zh-CN" altLang="en-US" dirty="0"/>
              <a:t>是用户不受协议中的任何限制，可随机的传输任意比特编码的信息</a:t>
            </a:r>
            <a:endParaRPr lang="en-US" altLang="zh-CN" dirty="0"/>
          </a:p>
          <a:p>
            <a:pPr lvl="1">
              <a:lnSpc>
                <a:spcPts val="3800"/>
              </a:lnSpc>
            </a:pPr>
            <a:r>
              <a:rPr lang="zh-CN" altLang="en-US" dirty="0"/>
              <a:t>帧的组装与拆解过程对网络层不可见</a:t>
            </a:r>
          </a:p>
        </p:txBody>
      </p:sp>
      <p:sp>
        <p:nvSpPr>
          <p:cNvPr id="104931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38" name="圆角矩形 15"/>
          <p:cNvSpPr/>
          <p:nvPr/>
        </p:nvSpPr>
        <p:spPr>
          <a:xfrm>
            <a:off x="621793" y="1514636"/>
            <a:ext cx="5808036" cy="397017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739" name="矩形 5"/>
          <p:cNvSpPr/>
          <p:nvPr/>
        </p:nvSpPr>
        <p:spPr>
          <a:xfrm>
            <a:off x="1143343" y="2063000"/>
            <a:ext cx="3110523" cy="399597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原始数据</a:t>
            </a:r>
          </a:p>
        </p:txBody>
      </p:sp>
      <p:sp>
        <p:nvSpPr>
          <p:cNvPr id="1049740" name="矩形 6"/>
          <p:cNvSpPr/>
          <p:nvPr/>
        </p:nvSpPr>
        <p:spPr>
          <a:xfrm>
            <a:off x="4253862" y="2063000"/>
            <a:ext cx="1578711" cy="399597"/>
          </a:xfrm>
          <a:prstGeom prst="rect">
            <a:avLst/>
          </a:prstGeom>
          <a:solidFill>
            <a:srgbClr val="00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7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1867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冗余码</a:t>
            </a:r>
            <a:endParaRPr lang="zh-CN" altLang="en-US" sz="18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741" name="矩形 8"/>
          <p:cNvSpPr/>
          <p:nvPr/>
        </p:nvSpPr>
        <p:spPr>
          <a:xfrm>
            <a:off x="1143343" y="3297832"/>
            <a:ext cx="4689229" cy="39959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发送数据</a:t>
            </a:r>
          </a:p>
        </p:txBody>
      </p:sp>
      <p:sp>
        <p:nvSpPr>
          <p:cNvPr id="1049742" name="矩形 10"/>
          <p:cNvSpPr/>
          <p:nvPr/>
        </p:nvSpPr>
        <p:spPr>
          <a:xfrm>
            <a:off x="2489819" y="1696719"/>
            <a:ext cx="636713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867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sp>
        <p:nvSpPr>
          <p:cNvPr id="1049743" name="矩形 11"/>
          <p:cNvSpPr/>
          <p:nvPr/>
        </p:nvSpPr>
        <p:spPr>
          <a:xfrm>
            <a:off x="4638965" y="1696719"/>
            <a:ext cx="649537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867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sp>
        <p:nvSpPr>
          <p:cNvPr id="1049744" name="下箭头 13"/>
          <p:cNvSpPr/>
          <p:nvPr/>
        </p:nvSpPr>
        <p:spPr>
          <a:xfrm>
            <a:off x="3253495" y="2603278"/>
            <a:ext cx="278373" cy="547077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745" name="矩形 14"/>
          <p:cNvSpPr/>
          <p:nvPr/>
        </p:nvSpPr>
        <p:spPr>
          <a:xfrm>
            <a:off x="2793077" y="3696346"/>
            <a:ext cx="1293916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67" b="1" i="1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+ </a:t>
            </a:r>
            <a:r>
              <a:rPr lang="en-US" altLang="zh-CN" sz="1867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cxnSp>
        <p:nvCxnSpPr>
          <p:cNvPr id="3145770" name="直接连接符 16"/>
          <p:cNvCxnSpPr>
            <a:cxnSpLocks/>
          </p:cNvCxnSpPr>
          <p:nvPr/>
        </p:nvCxnSpPr>
        <p:spPr>
          <a:xfrm>
            <a:off x="4253865" y="3297832"/>
            <a:ext cx="0" cy="3995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746" name="下箭头 17"/>
          <p:cNvSpPr/>
          <p:nvPr/>
        </p:nvSpPr>
        <p:spPr>
          <a:xfrm>
            <a:off x="3253495" y="4128200"/>
            <a:ext cx="278373" cy="547077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747" name="圆角矩形 19"/>
          <p:cNvSpPr/>
          <p:nvPr/>
        </p:nvSpPr>
        <p:spPr>
          <a:xfrm>
            <a:off x="2672389" y="4830490"/>
            <a:ext cx="1453188" cy="369332"/>
          </a:xfrm>
          <a:prstGeom prst="round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组帧发送</a:t>
            </a:r>
          </a:p>
        </p:txBody>
      </p:sp>
      <p:sp>
        <p:nvSpPr>
          <p:cNvPr id="1049748" name="矩形 3"/>
          <p:cNvSpPr/>
          <p:nvPr/>
        </p:nvSpPr>
        <p:spPr>
          <a:xfrm>
            <a:off x="6564836" y="1543506"/>
            <a:ext cx="4836001" cy="341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在发送端，先把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数据划分为组。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假定每组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个比特。 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在每组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后面再添加供差错检测用的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冗余码，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然后构成一个帧发送出去。一共发送 </a:t>
            </a:r>
            <a:r>
              <a:rPr lang="en-US" altLang="zh-CN" sz="2667" b="1" i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(k + n)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位。</a:t>
            </a:r>
          </a:p>
        </p:txBody>
      </p:sp>
      <p:sp>
        <p:nvSpPr>
          <p:cNvPr id="1049749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循环冗余检验 </a:t>
            </a:r>
            <a:r>
              <a:rPr lang="en-US" altLang="zh-CN" dirty="0"/>
              <a:t>CRC (Cyclic Redundancy Check) </a:t>
            </a:r>
            <a:r>
              <a:rPr lang="zh-CN" altLang="en-US" dirty="0"/>
              <a:t>原理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97228" name="墨迹 1"/>
              <p14:cNvContentPartPr/>
              <p14:nvPr/>
            </p14:nvContentPartPr>
            <p14:xfrm>
              <a:off x="3774400" y="3889427"/>
              <a:ext cx="480" cy="480"/>
            </p14:xfrm>
          </p:contentPart>
        </mc:Choice>
        <mc:Fallback xmlns="">
          <p:pic>
            <p:nvPicPr>
              <p:cNvPr id="2097228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2400" y="3877427"/>
                <a:ext cx="24000" cy="2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3" name="矩形 21"/>
          <p:cNvSpPr/>
          <p:nvPr/>
        </p:nvSpPr>
        <p:spPr>
          <a:xfrm>
            <a:off x="4574255" y="2932531"/>
            <a:ext cx="1917595" cy="399597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原始数据</a:t>
            </a:r>
          </a:p>
        </p:txBody>
      </p:sp>
      <p:sp>
        <p:nvSpPr>
          <p:cNvPr id="1049754" name="矩形 22"/>
          <p:cNvSpPr/>
          <p:nvPr/>
        </p:nvSpPr>
        <p:spPr>
          <a:xfrm>
            <a:off x="6491847" y="2932531"/>
            <a:ext cx="1057599" cy="399597"/>
          </a:xfrm>
          <a:prstGeom prst="rect">
            <a:avLst/>
          </a:prstGeom>
          <a:solidFill>
            <a:srgbClr val="00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7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CRC</a:t>
            </a:r>
            <a:endParaRPr lang="zh-CN" altLang="en-US" sz="1867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45771" name="直接箭头连接符 39"/>
          <p:cNvCxnSpPr>
            <a:cxnSpLocks/>
          </p:cNvCxnSpPr>
          <p:nvPr/>
        </p:nvCxnSpPr>
        <p:spPr>
          <a:xfrm flipH="1">
            <a:off x="4308316" y="3156995"/>
            <a:ext cx="265939" cy="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2" name="直接箭头连接符 12"/>
          <p:cNvCxnSpPr>
            <a:cxnSpLocks/>
          </p:cNvCxnSpPr>
          <p:nvPr/>
        </p:nvCxnSpPr>
        <p:spPr>
          <a:xfrm flipH="1">
            <a:off x="7549445" y="3156995"/>
            <a:ext cx="265939" cy="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8" name="组合 14"/>
          <p:cNvGrpSpPr/>
          <p:nvPr/>
        </p:nvGrpSpPr>
        <p:grpSpPr>
          <a:xfrm>
            <a:off x="686440" y="1440142"/>
            <a:ext cx="3592501" cy="4311790"/>
            <a:chOff x="5861538" y="1114451"/>
            <a:chExt cx="2694376" cy="3233843"/>
          </a:xfrm>
        </p:grpSpPr>
        <p:sp>
          <p:nvSpPr>
            <p:cNvPr id="1049755" name="矩形 9"/>
            <p:cNvSpPr/>
            <p:nvPr/>
          </p:nvSpPr>
          <p:spPr>
            <a:xfrm>
              <a:off x="5861538" y="1114451"/>
              <a:ext cx="2694376" cy="296366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756" name="矩形 7"/>
            <p:cNvSpPr/>
            <p:nvPr/>
          </p:nvSpPr>
          <p:spPr>
            <a:xfrm>
              <a:off x="6564662" y="1213222"/>
              <a:ext cx="42944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k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57" name="矩形 8"/>
            <p:cNvSpPr/>
            <p:nvPr/>
          </p:nvSpPr>
          <p:spPr>
            <a:xfrm>
              <a:off x="7698460" y="1213222"/>
              <a:ext cx="437860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58" name="矩形 1"/>
            <p:cNvSpPr/>
            <p:nvPr/>
          </p:nvSpPr>
          <p:spPr>
            <a:xfrm>
              <a:off x="6805425" y="2333649"/>
              <a:ext cx="832341" cy="3165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除数 </a:t>
              </a:r>
              <a:r>
                <a:rPr lang="en-US" altLang="zh-CN" sz="1600" b="1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1049759" name="矩形 10"/>
            <p:cNvSpPr/>
            <p:nvPr/>
          </p:nvSpPr>
          <p:spPr>
            <a:xfrm>
              <a:off x="6004577" y="2349727"/>
              <a:ext cx="740828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+ 1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60" name="下箭头标注 2"/>
            <p:cNvSpPr/>
            <p:nvPr/>
          </p:nvSpPr>
          <p:spPr>
            <a:xfrm>
              <a:off x="6023726" y="1454420"/>
              <a:ext cx="2360346" cy="860138"/>
            </a:xfrm>
            <a:prstGeom prst="downArrowCallout">
              <a:avLst>
                <a:gd name="adj1" fmla="val 24908"/>
                <a:gd name="adj2" fmla="val 29389"/>
                <a:gd name="adj3" fmla="val 30452"/>
                <a:gd name="adj4" fmla="val 44537"/>
              </a:avLst>
            </a:prstGeom>
            <a:solidFill>
              <a:schemeClr val="bg1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761" name="矩形 5"/>
            <p:cNvSpPr/>
            <p:nvPr/>
          </p:nvSpPr>
          <p:spPr>
            <a:xfrm>
              <a:off x="6105788" y="1500493"/>
              <a:ext cx="1438196" cy="299698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原始数据</a:t>
              </a:r>
            </a:p>
          </p:txBody>
        </p:sp>
        <p:sp>
          <p:nvSpPr>
            <p:cNvPr id="1049762" name="矩形 6"/>
            <p:cNvSpPr/>
            <p:nvPr/>
          </p:nvSpPr>
          <p:spPr>
            <a:xfrm>
              <a:off x="7543982" y="1500493"/>
              <a:ext cx="793199" cy="299698"/>
            </a:xfrm>
            <a:prstGeom prst="rect">
              <a:avLst/>
            </a:prstGeom>
            <a:solidFill>
              <a:srgbClr val="00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67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00…0</a:t>
              </a:r>
              <a:endParaRPr lang="zh-CN" altLang="en-US" sz="1867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9763" name="矩形 13"/>
            <p:cNvSpPr/>
            <p:nvPr/>
          </p:nvSpPr>
          <p:spPr>
            <a:xfrm>
              <a:off x="6805425" y="3177711"/>
              <a:ext cx="832341" cy="31652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CRC</a:t>
              </a:r>
            </a:p>
          </p:txBody>
        </p:sp>
        <p:sp>
          <p:nvSpPr>
            <p:cNvPr id="1049764" name="下箭头 3"/>
            <p:cNvSpPr/>
            <p:nvPr/>
          </p:nvSpPr>
          <p:spPr>
            <a:xfrm>
              <a:off x="7098390" y="2661897"/>
              <a:ext cx="238321" cy="515814"/>
            </a:xfrm>
            <a:prstGeom prst="downArrow">
              <a:avLst/>
            </a:prstGeom>
            <a:solidFill>
              <a:srgbClr val="CC00CC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765" name="矩形 15"/>
            <p:cNvSpPr/>
            <p:nvPr/>
          </p:nvSpPr>
          <p:spPr>
            <a:xfrm>
              <a:off x="6523238" y="2758745"/>
              <a:ext cx="598963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余数 </a:t>
              </a:r>
              <a:r>
                <a:rPr lang="en-US" altLang="zh-CN" sz="1600" b="1" i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endParaRPr lang="zh-CN" altLang="en-US" sz="1600" b="1" i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9766" name="矩形 18"/>
            <p:cNvSpPr/>
            <p:nvPr/>
          </p:nvSpPr>
          <p:spPr>
            <a:xfrm>
              <a:off x="6333633" y="3189434"/>
              <a:ext cx="437860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67" name="Text Box 45"/>
            <p:cNvSpPr txBox="1">
              <a:spLocks noChangeArrowheads="1"/>
            </p:cNvSpPr>
            <p:nvPr/>
          </p:nvSpPr>
          <p:spPr bwMode="auto">
            <a:xfrm>
              <a:off x="6984293" y="4094378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发送方</a:t>
              </a:r>
            </a:p>
          </p:txBody>
        </p:sp>
      </p:grpSp>
      <p:grpSp>
        <p:nvGrpSpPr>
          <p:cNvPr id="389" name="组合 11"/>
          <p:cNvGrpSpPr/>
          <p:nvPr/>
        </p:nvGrpSpPr>
        <p:grpSpPr>
          <a:xfrm>
            <a:off x="7841380" y="1444852"/>
            <a:ext cx="3615112" cy="4307079"/>
            <a:chOff x="510578" y="1114451"/>
            <a:chExt cx="2711334" cy="3230309"/>
          </a:xfrm>
        </p:grpSpPr>
        <p:sp>
          <p:nvSpPr>
            <p:cNvPr id="1049768" name="矩形 35"/>
            <p:cNvSpPr/>
            <p:nvPr/>
          </p:nvSpPr>
          <p:spPr>
            <a:xfrm>
              <a:off x="510578" y="1114451"/>
              <a:ext cx="2711334" cy="296366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769" name="矩形 24"/>
            <p:cNvSpPr/>
            <p:nvPr/>
          </p:nvSpPr>
          <p:spPr>
            <a:xfrm>
              <a:off x="1242383" y="1213222"/>
              <a:ext cx="429445" cy="25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k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70" name="矩形 25"/>
            <p:cNvSpPr/>
            <p:nvPr/>
          </p:nvSpPr>
          <p:spPr>
            <a:xfrm>
              <a:off x="2376181" y="1213222"/>
              <a:ext cx="437860" cy="25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71" name="矩形 26"/>
            <p:cNvSpPr/>
            <p:nvPr/>
          </p:nvSpPr>
          <p:spPr>
            <a:xfrm>
              <a:off x="1483146" y="2333649"/>
              <a:ext cx="832341" cy="3165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除数 </a:t>
              </a:r>
              <a:r>
                <a:rPr lang="en-US" altLang="zh-CN" sz="1600" b="1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1049772" name="矩形 27"/>
            <p:cNvSpPr/>
            <p:nvPr/>
          </p:nvSpPr>
          <p:spPr>
            <a:xfrm>
              <a:off x="2326378" y="2349727"/>
              <a:ext cx="740828" cy="25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i="1" dirty="0"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+ 1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049773" name="下箭头标注 28"/>
            <p:cNvSpPr/>
            <p:nvPr/>
          </p:nvSpPr>
          <p:spPr>
            <a:xfrm>
              <a:off x="701447" y="1454420"/>
              <a:ext cx="2360346" cy="860138"/>
            </a:xfrm>
            <a:prstGeom prst="downArrowCallout">
              <a:avLst>
                <a:gd name="adj1" fmla="val 24908"/>
                <a:gd name="adj2" fmla="val 29389"/>
                <a:gd name="adj3" fmla="val 30452"/>
                <a:gd name="adj4" fmla="val 44537"/>
              </a:avLst>
            </a:prstGeom>
            <a:solidFill>
              <a:schemeClr val="bg1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774" name="矩形 29"/>
            <p:cNvSpPr/>
            <p:nvPr/>
          </p:nvSpPr>
          <p:spPr>
            <a:xfrm>
              <a:off x="783509" y="1500493"/>
              <a:ext cx="1438196" cy="299698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原始数据</a:t>
              </a:r>
            </a:p>
          </p:txBody>
        </p:sp>
        <p:sp>
          <p:nvSpPr>
            <p:cNvPr id="1049775" name="矩形 30"/>
            <p:cNvSpPr/>
            <p:nvPr/>
          </p:nvSpPr>
          <p:spPr>
            <a:xfrm>
              <a:off x="2221703" y="1500493"/>
              <a:ext cx="793199" cy="299698"/>
            </a:xfrm>
            <a:prstGeom prst="rect">
              <a:avLst/>
            </a:prstGeom>
            <a:solidFill>
              <a:srgbClr val="00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67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CRC</a:t>
              </a:r>
            </a:p>
          </p:txBody>
        </p:sp>
        <p:sp>
          <p:nvSpPr>
            <p:cNvPr id="1049776" name="矩形 31"/>
            <p:cNvSpPr/>
            <p:nvPr/>
          </p:nvSpPr>
          <p:spPr>
            <a:xfrm>
              <a:off x="1483146" y="3177711"/>
              <a:ext cx="832341" cy="31652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余数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9777" name="下箭头 32"/>
            <p:cNvSpPr/>
            <p:nvPr/>
          </p:nvSpPr>
          <p:spPr>
            <a:xfrm>
              <a:off x="1776111" y="2661897"/>
              <a:ext cx="238321" cy="515814"/>
            </a:xfrm>
            <a:prstGeom prst="downArrow">
              <a:avLst/>
            </a:prstGeom>
            <a:solidFill>
              <a:srgbClr val="CC00CC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778" name="矩形 36"/>
            <p:cNvSpPr/>
            <p:nvPr/>
          </p:nvSpPr>
          <p:spPr>
            <a:xfrm>
              <a:off x="832586" y="3525868"/>
              <a:ext cx="2191551" cy="5098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若余数</a:t>
              </a:r>
              <a:r>
                <a:rPr lang="en-US" altLang="zh-CN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=0</a:t>
              </a: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，接受</a:t>
              </a:r>
              <a:endParaRPr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若余数≠</a:t>
              </a:r>
              <a:r>
                <a:rPr lang="en-US" altLang="zh-CN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，丢弃</a:t>
              </a:r>
            </a:p>
          </p:txBody>
        </p:sp>
        <p:sp>
          <p:nvSpPr>
            <p:cNvPr id="1049779" name="Text Box 45"/>
            <p:cNvSpPr txBox="1">
              <a:spLocks noChangeArrowheads="1"/>
            </p:cNvSpPr>
            <p:nvPr/>
          </p:nvSpPr>
          <p:spPr bwMode="auto">
            <a:xfrm>
              <a:off x="1548774" y="4090845"/>
              <a:ext cx="600164" cy="25391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r"/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接收方</a:t>
              </a:r>
            </a:p>
          </p:txBody>
        </p:sp>
      </p:grpSp>
      <p:sp>
        <p:nvSpPr>
          <p:cNvPr id="1049780" name="Text Box 45"/>
          <p:cNvSpPr txBox="1">
            <a:spLocks noChangeArrowheads="1"/>
          </p:cNvSpPr>
          <p:nvPr/>
        </p:nvSpPr>
        <p:spPr bwMode="auto">
          <a:xfrm>
            <a:off x="5374060" y="2552115"/>
            <a:ext cx="1378903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r"/>
            <a:r>
              <a:rPr kumimoji="1" lang="zh-CN" altLang="en-US" sz="1867" b="1" dirty="0">
                <a:latin typeface="微软雅黑" pitchFamily="34" charset="-122"/>
                <a:ea typeface="微软雅黑" pitchFamily="34" charset="-122"/>
              </a:rPr>
              <a:t>发送的数据</a:t>
            </a:r>
          </a:p>
        </p:txBody>
      </p:sp>
      <p:sp>
        <p:nvSpPr>
          <p:cNvPr id="1049781" name="文本占位符 1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CRC </a:t>
            </a:r>
            <a:r>
              <a:rPr lang="zh-CN" altLang="en-US" dirty="0"/>
              <a:t>冗余码的计算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97235" name="墨迹 55"/>
              <p14:cNvContentPartPr/>
              <p14:nvPr/>
            </p14:nvContentPartPr>
            <p14:xfrm>
              <a:off x="2031040" y="3820307"/>
              <a:ext cx="390240" cy="94080"/>
            </p14:xfrm>
          </p:contentPart>
        </mc:Choice>
        <mc:Fallback xmlns="">
          <p:pic>
            <p:nvPicPr>
              <p:cNvPr id="2097235" name="墨迹 5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2040" y="3811261"/>
                <a:ext cx="407880" cy="111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97236" name="墨迹 76"/>
              <p14:cNvContentPartPr/>
              <p14:nvPr/>
            </p14:nvContentPartPr>
            <p14:xfrm>
              <a:off x="10511680" y="2284307"/>
              <a:ext cx="721440" cy="153600"/>
            </p14:xfrm>
          </p:contentPart>
        </mc:Choice>
        <mc:Fallback xmlns="">
          <p:pic>
            <p:nvPicPr>
              <p:cNvPr id="2097236" name="墨迹 7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02680" y="2275293"/>
                <a:ext cx="739080" cy="171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97273" name="墨迹 86"/>
              <p14:cNvContentPartPr/>
              <p14:nvPr/>
            </p14:nvContentPartPr>
            <p14:xfrm>
              <a:off x="9234400" y="5756147"/>
              <a:ext cx="599520" cy="36000"/>
            </p14:xfrm>
          </p:contentPart>
        </mc:Choice>
        <mc:Fallback xmlns="">
          <p:pic>
            <p:nvPicPr>
              <p:cNvPr id="2097273" name="墨迹 8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25398" y="5747147"/>
                <a:ext cx="617164" cy="5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0" name="AutoShape 5"/>
          <p:cNvSpPr>
            <a:spLocks noChangeArrowheads="1"/>
          </p:cNvSpPr>
          <p:nvPr/>
        </p:nvSpPr>
        <p:spPr bwMode="auto">
          <a:xfrm>
            <a:off x="621793" y="833591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821" name="矩形 5"/>
          <p:cNvSpPr/>
          <p:nvPr/>
        </p:nvSpPr>
        <p:spPr>
          <a:xfrm>
            <a:off x="821447" y="777271"/>
            <a:ext cx="2621230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帧检验序列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</a:t>
            </a:r>
            <a:endParaRPr lang="zh-CN" altLang="en-US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822" name="矩形 6"/>
          <p:cNvSpPr/>
          <p:nvPr/>
        </p:nvSpPr>
        <p:spPr>
          <a:xfrm>
            <a:off x="621792" y="1251299"/>
            <a:ext cx="11070336" cy="341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在数据后面添加上的冗余码称为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帧检验序列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(Frame Check Sequence)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循环冗余检验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和帧检验序列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并不等同。</a:t>
            </a:r>
          </a:p>
          <a:p>
            <a:pPr marL="723882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是一种常用的检错方法，而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是添加在数据后面的冗余码。</a:t>
            </a:r>
          </a:p>
          <a:p>
            <a:pPr marL="723882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可以用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这种方法得出，但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并非用来获得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的唯一方法。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6" name="AutoShape 5"/>
          <p:cNvSpPr>
            <a:spLocks noChangeArrowheads="1"/>
          </p:cNvSpPr>
          <p:nvPr/>
        </p:nvSpPr>
        <p:spPr bwMode="auto">
          <a:xfrm>
            <a:off x="621793" y="828507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827" name="矩形 98"/>
          <p:cNvSpPr/>
          <p:nvPr/>
        </p:nvSpPr>
        <p:spPr>
          <a:xfrm>
            <a:off x="821447" y="759995"/>
            <a:ext cx="432842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广泛使用的生成多项式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P(X)</a:t>
            </a:r>
            <a:endParaRPr lang="zh-CN" altLang="en-US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828" name="矩形 1"/>
          <p:cNvSpPr/>
          <p:nvPr/>
        </p:nvSpPr>
        <p:spPr>
          <a:xfrm>
            <a:off x="821447" y="1536759"/>
            <a:ext cx="10264679" cy="19448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ts val="3733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CRC-16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+ 1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3733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CRC-CCITT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+ 1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3733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CRC-32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X</a:t>
            </a:r>
            <a:r>
              <a:rPr lang="en-US" altLang="zh-CN" sz="2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X + 1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97374" name="墨迹 37"/>
              <p14:cNvContentPartPr/>
              <p14:nvPr/>
            </p14:nvContentPartPr>
            <p14:xfrm>
              <a:off x="2396800" y="1678067"/>
              <a:ext cx="21600" cy="287040"/>
            </p14:xfrm>
          </p:contentPart>
        </mc:Choice>
        <mc:Fallback xmlns="">
          <p:pic>
            <p:nvPicPr>
              <p:cNvPr id="2097374" name="墨迹 3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7800" y="1669063"/>
                <a:ext cx="39240" cy="304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97375" name="墨迹 38"/>
              <p14:cNvContentPartPr/>
              <p14:nvPr/>
            </p14:nvContentPartPr>
            <p14:xfrm>
              <a:off x="3238240" y="1699667"/>
              <a:ext cx="20640" cy="363360"/>
            </p14:xfrm>
          </p:contentPart>
        </mc:Choice>
        <mc:Fallback xmlns="">
          <p:pic>
            <p:nvPicPr>
              <p:cNvPr id="2097375" name="墨迹 3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9187" y="1690673"/>
                <a:ext cx="38383" cy="380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97376" name="墨迹 39"/>
              <p14:cNvContentPartPr/>
              <p14:nvPr/>
            </p14:nvContentPartPr>
            <p14:xfrm>
              <a:off x="4006720" y="1864787"/>
              <a:ext cx="2880" cy="169920"/>
            </p14:xfrm>
          </p:contentPart>
        </mc:Choice>
        <mc:Fallback xmlns="">
          <p:pic>
            <p:nvPicPr>
              <p:cNvPr id="2097376" name="墨迹 3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98720" y="1855787"/>
                <a:ext cx="185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97377" name="墨迹 40"/>
              <p14:cNvContentPartPr/>
              <p14:nvPr/>
            </p14:nvContentPartPr>
            <p14:xfrm>
              <a:off x="2704000" y="1843187"/>
              <a:ext cx="319680" cy="25440"/>
            </p14:xfrm>
          </p:contentPart>
        </mc:Choice>
        <mc:Fallback xmlns="">
          <p:pic>
            <p:nvPicPr>
              <p:cNvPr id="2097377" name="墨迹 4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95000" y="1834101"/>
                <a:ext cx="337320" cy="432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97385" name="墨迹 48"/>
              <p14:cNvContentPartPr/>
              <p14:nvPr/>
            </p14:nvContentPartPr>
            <p14:xfrm>
              <a:off x="3652480" y="4563827"/>
              <a:ext cx="480" cy="480"/>
            </p14:xfrm>
          </p:contentPart>
        </mc:Choice>
        <mc:Fallback xmlns="">
          <p:pic>
            <p:nvPicPr>
              <p:cNvPr id="2097385" name="墨迹 4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40480" y="4551827"/>
                <a:ext cx="24000" cy="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97389" name="墨迹 56"/>
              <p14:cNvContentPartPr/>
              <p14:nvPr/>
            </p14:nvContentPartPr>
            <p14:xfrm>
              <a:off x="4006720" y="4482707"/>
              <a:ext cx="344640" cy="25920"/>
            </p14:xfrm>
          </p:contentPart>
        </mc:Choice>
        <mc:Fallback xmlns="">
          <p:pic>
            <p:nvPicPr>
              <p:cNvPr id="2097389" name="墨迹 5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97726" y="4473707"/>
                <a:ext cx="362268" cy="4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34" name="AutoShape 5"/>
          <p:cNvSpPr>
            <a:spLocks noChangeArrowheads="1"/>
          </p:cNvSpPr>
          <p:nvPr/>
        </p:nvSpPr>
        <p:spPr bwMode="auto">
          <a:xfrm>
            <a:off x="670562" y="835895"/>
            <a:ext cx="10838687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135" name="Rectangle 6"/>
          <p:cNvSpPr>
            <a:spLocks noChangeArrowheads="1"/>
          </p:cNvSpPr>
          <p:nvPr/>
        </p:nvSpPr>
        <p:spPr bwMode="auto">
          <a:xfrm>
            <a:off x="3465922" y="779534"/>
            <a:ext cx="523733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3.3.1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局域网的数据链路层 </a:t>
            </a:r>
          </a:p>
        </p:txBody>
      </p:sp>
      <p:sp>
        <p:nvSpPr>
          <p:cNvPr id="1050136" name="Rectangle 8"/>
          <p:cNvSpPr>
            <a:spLocks noChangeArrowheads="1"/>
          </p:cNvSpPr>
          <p:nvPr/>
        </p:nvSpPr>
        <p:spPr bwMode="auto">
          <a:xfrm>
            <a:off x="670562" y="1313443"/>
            <a:ext cx="10838687" cy="398243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局域网最主要的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特点：</a:t>
            </a:r>
          </a:p>
          <a:p>
            <a:pPr marL="844530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网络为一个单位所拥有；</a:t>
            </a:r>
          </a:p>
          <a:p>
            <a:pPr marL="844530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地理范围和站点数目均有限。 </a:t>
            </a:r>
          </a:p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局域网具有如下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主要优点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833946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具有广播功能，从一个站点可很方便地访问全网。 </a:t>
            </a:r>
          </a:p>
          <a:p>
            <a:pPr marL="833946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便于系统的扩展和逐渐地演变，各设备的位置可灵活调整和改变。</a:t>
            </a:r>
          </a:p>
          <a:p>
            <a:pPr marL="833946" indent="-457189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提高了系统的可靠性、可用性和生存性。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2" name="Rectangle 46"/>
          <p:cNvSpPr>
            <a:spLocks noChangeArrowheads="1"/>
          </p:cNvSpPr>
          <p:nvPr/>
        </p:nvSpPr>
        <p:spPr bwMode="auto">
          <a:xfrm>
            <a:off x="829733" y="1337140"/>
            <a:ext cx="9990668" cy="42856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静态划分信道：</a:t>
            </a:r>
          </a:p>
          <a:p>
            <a:pPr marL="958827" indent="-478355" eaLnBrk="0" hangingPunct="0">
              <a:lnSpc>
                <a:spcPct val="120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频分复用</a:t>
            </a:r>
          </a:p>
          <a:p>
            <a:pPr marL="958827" indent="-478355" eaLnBrk="0" hangingPunct="0">
              <a:lnSpc>
                <a:spcPct val="120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时分复用</a:t>
            </a:r>
          </a:p>
          <a:p>
            <a:pPr marL="958827" indent="-478355" eaLnBrk="0" hangingPunct="0">
              <a:lnSpc>
                <a:spcPct val="120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波分复用</a:t>
            </a:r>
          </a:p>
          <a:p>
            <a:pPr marL="958827" indent="-478355" eaLnBrk="0" hangingPunct="0">
              <a:lnSpc>
                <a:spcPct val="120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码分复用 </a:t>
            </a:r>
            <a:endParaRPr lang="zh-CN" altLang="en-US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动态媒体接入控制（多点接入）：</a:t>
            </a:r>
          </a:p>
          <a:p>
            <a:pPr marL="958827" indent="-478355" eaLnBrk="0" hangingPunct="0">
              <a:lnSpc>
                <a:spcPct val="120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随机接入：所有的用户可随机地发送信息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以太网的主要方式</a:t>
            </a:r>
          </a:p>
          <a:p>
            <a:pPr marL="958827" indent="-478355" eaLnBrk="0" hangingPunct="0">
              <a:lnSpc>
                <a:spcPct val="120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受控接入：用户必须服从一定的控制。如轮询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(polling)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、令牌环网</a:t>
            </a:r>
            <a:endParaRPr lang="zh-CN" altLang="en-US" sz="2667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203" name="AutoShape 5"/>
          <p:cNvSpPr>
            <a:spLocks noChangeArrowheads="1"/>
          </p:cNvSpPr>
          <p:nvPr/>
        </p:nvSpPr>
        <p:spPr bwMode="auto">
          <a:xfrm>
            <a:off x="670562" y="834445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204" name="Rectangle 6"/>
          <p:cNvSpPr>
            <a:spLocks noChangeArrowheads="1"/>
          </p:cNvSpPr>
          <p:nvPr/>
        </p:nvSpPr>
        <p:spPr bwMode="auto">
          <a:xfrm>
            <a:off x="4972777" y="803659"/>
            <a:ext cx="2233304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媒体共享技术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4" name="Rectangle 46"/>
          <p:cNvSpPr>
            <a:spLocks noChangeArrowheads="1"/>
          </p:cNvSpPr>
          <p:nvPr/>
        </p:nvSpPr>
        <p:spPr bwMode="auto">
          <a:xfrm>
            <a:off x="670562" y="1313838"/>
            <a:ext cx="10838687" cy="11611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DIX Ethernet V2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：世界上第一个局域网产品（以太网）的规约。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IEEE 802.3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：第一个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IEEE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的以太网标准。</a:t>
            </a:r>
          </a:p>
        </p:txBody>
      </p:sp>
      <p:sp>
        <p:nvSpPr>
          <p:cNvPr id="1050215" name="AutoShape 5"/>
          <p:cNvSpPr>
            <a:spLocks noChangeArrowheads="1"/>
          </p:cNvSpPr>
          <p:nvPr/>
        </p:nvSpPr>
        <p:spPr bwMode="auto">
          <a:xfrm>
            <a:off x="670562" y="834445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216" name="Rectangle 6"/>
          <p:cNvSpPr>
            <a:spLocks noChangeArrowheads="1"/>
          </p:cNvSpPr>
          <p:nvPr/>
        </p:nvSpPr>
        <p:spPr bwMode="auto">
          <a:xfrm>
            <a:off x="4322759" y="803659"/>
            <a:ext cx="3533339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以太网的两个标准 </a:t>
            </a:r>
          </a:p>
        </p:txBody>
      </p:sp>
      <p:sp>
        <p:nvSpPr>
          <p:cNvPr id="1050217" name="矩形 1"/>
          <p:cNvSpPr/>
          <p:nvPr/>
        </p:nvSpPr>
        <p:spPr>
          <a:xfrm>
            <a:off x="1181841" y="2796264"/>
            <a:ext cx="9815176" cy="16901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189" indent="-457189">
              <a:lnSpc>
                <a:spcPts val="4267"/>
              </a:lnSpc>
              <a:buSzPct val="85000"/>
              <a:buFont typeface="Wingdings" panose="05000000000000000000" pitchFamily="2" charset="2"/>
              <a:buChar char="u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这两种标准的硬件实现可以在同一个局域网上</a:t>
            </a:r>
            <a:r>
              <a:rPr lang="zh-CN" altLang="en-US" sz="2667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互操作。</a:t>
            </a:r>
            <a:endParaRPr lang="en-US" altLang="zh-CN" sz="2667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189" indent="-457189">
              <a:lnSpc>
                <a:spcPts val="4267"/>
              </a:lnSpc>
              <a:buSzPct val="85000"/>
              <a:buFont typeface="Wingdings" panose="05000000000000000000" pitchFamily="2" charset="2"/>
              <a:buChar char="u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这两个标准标准只有很小的差别，因此很多人也常把 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802.3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局域网简称为“以太网”。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87" name="AutoShape 5"/>
          <p:cNvSpPr>
            <a:spLocks noChangeArrowheads="1"/>
          </p:cNvSpPr>
          <p:nvPr/>
        </p:nvSpPr>
        <p:spPr bwMode="auto">
          <a:xfrm>
            <a:off x="670562" y="834445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288" name="Rectangle 6"/>
          <p:cNvSpPr>
            <a:spLocks noChangeArrowheads="1"/>
          </p:cNvSpPr>
          <p:nvPr/>
        </p:nvSpPr>
        <p:spPr bwMode="auto">
          <a:xfrm>
            <a:off x="4715495" y="803659"/>
            <a:ext cx="2747868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适配器的作用</a:t>
            </a:r>
          </a:p>
        </p:txBody>
      </p:sp>
      <p:sp>
        <p:nvSpPr>
          <p:cNvPr id="1050289" name="圆角矩形 4"/>
          <p:cNvSpPr/>
          <p:nvPr/>
        </p:nvSpPr>
        <p:spPr>
          <a:xfrm>
            <a:off x="670563" y="1408728"/>
            <a:ext cx="10838685" cy="421436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55" name="组合 5"/>
          <p:cNvGrpSpPr/>
          <p:nvPr/>
        </p:nvGrpSpPr>
        <p:grpSpPr>
          <a:xfrm>
            <a:off x="2627642" y="1677716"/>
            <a:ext cx="7366837" cy="3796848"/>
            <a:chOff x="1173771" y="1559190"/>
            <a:chExt cx="7611798" cy="3923102"/>
          </a:xfrm>
        </p:grpSpPr>
        <p:sp>
          <p:nvSpPr>
            <p:cNvPr id="1050290" name="Rectangle 18"/>
            <p:cNvSpPr>
              <a:spLocks noChangeArrowheads="1"/>
            </p:cNvSpPr>
            <p:nvPr/>
          </p:nvSpPr>
          <p:spPr bwMode="auto">
            <a:xfrm>
              <a:off x="1173771" y="2094384"/>
              <a:ext cx="6375267" cy="2397125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291" name="Line 20"/>
            <p:cNvSpPr>
              <a:spLocks noChangeShapeType="1"/>
            </p:cNvSpPr>
            <p:nvPr/>
          </p:nvSpPr>
          <p:spPr bwMode="auto">
            <a:xfrm>
              <a:off x="6773413" y="3392959"/>
              <a:ext cx="2012156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292" name="Text Box 21"/>
            <p:cNvSpPr txBox="1">
              <a:spLocks noChangeArrowheads="1"/>
            </p:cNvSpPr>
            <p:nvPr/>
          </p:nvSpPr>
          <p:spPr bwMode="auto">
            <a:xfrm>
              <a:off x="7480333" y="2916196"/>
              <a:ext cx="1177965" cy="3922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至局域网</a:t>
              </a:r>
            </a:p>
          </p:txBody>
        </p:sp>
        <p:sp>
          <p:nvSpPr>
            <p:cNvPr id="1050293" name="Rectangle 22"/>
            <p:cNvSpPr>
              <a:spLocks noChangeArrowheads="1"/>
            </p:cNvSpPr>
            <p:nvPr/>
          </p:nvSpPr>
          <p:spPr bwMode="auto">
            <a:xfrm>
              <a:off x="4910877" y="2778598"/>
              <a:ext cx="1907250" cy="1127125"/>
            </a:xfrm>
            <a:prstGeom prst="rect">
              <a:avLst/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适配器</a:t>
              </a:r>
            </a:p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（网卡）</a:t>
              </a:r>
            </a:p>
          </p:txBody>
        </p:sp>
        <p:sp>
          <p:nvSpPr>
            <p:cNvPr id="1050294" name="Text Box 23"/>
            <p:cNvSpPr txBox="1">
              <a:spLocks noChangeArrowheads="1"/>
            </p:cNvSpPr>
            <p:nvPr/>
          </p:nvSpPr>
          <p:spPr bwMode="auto">
            <a:xfrm>
              <a:off x="7494094" y="3404277"/>
              <a:ext cx="1177965" cy="3922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串行通信</a:t>
              </a:r>
            </a:p>
          </p:txBody>
        </p:sp>
        <p:sp>
          <p:nvSpPr>
            <p:cNvPr id="1050295" name="Rectangle 24"/>
            <p:cNvSpPr>
              <a:spLocks noChangeArrowheads="1"/>
            </p:cNvSpPr>
            <p:nvPr/>
          </p:nvSpPr>
          <p:spPr bwMode="auto">
            <a:xfrm>
              <a:off x="1902963" y="2778598"/>
              <a:ext cx="1907248" cy="1127125"/>
            </a:xfrm>
            <a:prstGeom prst="rect">
              <a:avLst/>
            </a:prstGeom>
            <a:solidFill>
              <a:srgbClr val="0000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CPU </a:t>
              </a: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和</a:t>
              </a:r>
            </a:p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存储器</a:t>
              </a:r>
            </a:p>
          </p:txBody>
        </p:sp>
        <p:sp>
          <p:nvSpPr>
            <p:cNvPr id="1050296" name="Line 25"/>
            <p:cNvSpPr>
              <a:spLocks noChangeShapeType="1"/>
            </p:cNvSpPr>
            <p:nvPr/>
          </p:nvSpPr>
          <p:spPr bwMode="auto">
            <a:xfrm flipV="1">
              <a:off x="2492851" y="3921598"/>
              <a:ext cx="438547" cy="909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297" name="Text Box 26"/>
            <p:cNvSpPr txBox="1">
              <a:spLocks noChangeArrowheads="1"/>
            </p:cNvSpPr>
            <p:nvPr/>
          </p:nvSpPr>
          <p:spPr bwMode="auto">
            <a:xfrm>
              <a:off x="1282116" y="4793136"/>
              <a:ext cx="1918333" cy="6891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生成发送的数据</a:t>
              </a:r>
            </a:p>
            <a:p>
              <a:r>
                <a:rPr kumimoji="1" lang="zh-CN" altLang="en-US" sz="1867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处理收到的数据</a:t>
              </a:r>
            </a:p>
          </p:txBody>
        </p:sp>
        <p:sp>
          <p:nvSpPr>
            <p:cNvPr id="1050298" name="Line 27"/>
            <p:cNvSpPr>
              <a:spLocks noChangeShapeType="1"/>
            </p:cNvSpPr>
            <p:nvPr/>
          </p:nvSpPr>
          <p:spPr bwMode="auto">
            <a:xfrm flipV="1">
              <a:off x="5461212" y="3921598"/>
              <a:ext cx="438547" cy="909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299" name="Text Box 28"/>
            <p:cNvSpPr txBox="1">
              <a:spLocks noChangeArrowheads="1"/>
            </p:cNvSpPr>
            <p:nvPr/>
          </p:nvSpPr>
          <p:spPr bwMode="auto">
            <a:xfrm>
              <a:off x="4437983" y="4793136"/>
              <a:ext cx="2165122" cy="6891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867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把帧发送到局域网</a:t>
              </a:r>
            </a:p>
            <a:p>
              <a:pPr algn="ctr"/>
              <a:r>
                <a:rPr kumimoji="1" lang="zh-CN" altLang="en-US" sz="1867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从局域网接收帧</a:t>
              </a:r>
            </a:p>
          </p:txBody>
        </p:sp>
        <p:sp>
          <p:nvSpPr>
            <p:cNvPr id="1050300" name="Text Box 29"/>
            <p:cNvSpPr txBox="1">
              <a:spLocks noChangeArrowheads="1"/>
            </p:cNvSpPr>
            <p:nvPr/>
          </p:nvSpPr>
          <p:spPr bwMode="auto">
            <a:xfrm>
              <a:off x="3833178" y="2111944"/>
              <a:ext cx="1040492" cy="4345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133" b="1" dirty="0">
                  <a:latin typeface="微软雅黑" pitchFamily="34" charset="-122"/>
                  <a:ea typeface="微软雅黑" pitchFamily="34" charset="-122"/>
                </a:rPr>
                <a:t>计算机</a:t>
              </a:r>
            </a:p>
          </p:txBody>
        </p:sp>
        <p:sp>
          <p:nvSpPr>
            <p:cNvPr id="1050301" name="AutoShape 31"/>
            <p:cNvSpPr>
              <a:spLocks noChangeArrowheads="1"/>
            </p:cNvSpPr>
            <p:nvPr/>
          </p:nvSpPr>
          <p:spPr bwMode="auto">
            <a:xfrm>
              <a:off x="3701865" y="3007197"/>
              <a:ext cx="1317360" cy="684212"/>
            </a:xfrm>
            <a:prstGeom prst="leftRightArrow">
              <a:avLst>
                <a:gd name="adj1" fmla="val 50000"/>
                <a:gd name="adj2" fmla="val 35545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302" name="Text Box 32"/>
            <p:cNvSpPr txBox="1">
              <a:spLocks noChangeArrowheads="1"/>
            </p:cNvSpPr>
            <p:nvPr/>
          </p:nvSpPr>
          <p:spPr bwMode="auto">
            <a:xfrm>
              <a:off x="4008766" y="3499032"/>
              <a:ext cx="684386" cy="6594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并行</a:t>
              </a:r>
            </a:p>
            <a:p>
              <a:pPr>
                <a:lnSpc>
                  <a:spcPct val="95000"/>
                </a:lnSpc>
              </a:pPr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通信</a:t>
              </a:r>
            </a:p>
          </p:txBody>
        </p:sp>
        <p:sp>
          <p:nvSpPr>
            <p:cNvPr id="1050303" name="Rectangle 33"/>
            <p:cNvSpPr>
              <a:spLocks noChangeArrowheads="1"/>
            </p:cNvSpPr>
            <p:nvPr/>
          </p:nvSpPr>
          <p:spPr bwMode="auto">
            <a:xfrm>
              <a:off x="2080101" y="3237385"/>
              <a:ext cx="218414" cy="169863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304" name="Freeform 34"/>
            <p:cNvSpPr/>
            <p:nvPr/>
          </p:nvSpPr>
          <p:spPr bwMode="auto">
            <a:xfrm>
              <a:off x="1528818" y="1967360"/>
              <a:ext cx="1322348" cy="1266825"/>
            </a:xfrm>
            <a:custGeom>
              <a:avLst/>
              <a:gdLst>
                <a:gd name="T0" fmla="*/ 0 w 496"/>
                <a:gd name="T1" fmla="*/ 0 h 504"/>
                <a:gd name="T2" fmla="*/ 496 w 496"/>
                <a:gd name="T3" fmla="*/ 0 h 504"/>
                <a:gd name="T4" fmla="*/ 292 w 496"/>
                <a:gd name="T5" fmla="*/ 504 h 504"/>
                <a:gd name="T6" fmla="*/ 210 w 496"/>
                <a:gd name="T7" fmla="*/ 502 h 504"/>
                <a:gd name="T8" fmla="*/ 0 w 496"/>
                <a:gd name="T9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504">
                  <a:moveTo>
                    <a:pt x="0" y="0"/>
                  </a:moveTo>
                  <a:lnTo>
                    <a:pt x="496" y="0"/>
                  </a:lnTo>
                  <a:lnTo>
                    <a:pt x="292" y="504"/>
                  </a:lnTo>
                  <a:lnTo>
                    <a:pt x="210" y="502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FFFF"/>
                </a:gs>
                <a:gs pos="100000">
                  <a:schemeClr val="accent5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305" name="Rectangle 35"/>
            <p:cNvSpPr>
              <a:spLocks noChangeArrowheads="1"/>
            </p:cNvSpPr>
            <p:nvPr/>
          </p:nvSpPr>
          <p:spPr bwMode="auto">
            <a:xfrm>
              <a:off x="6451811" y="3237385"/>
              <a:ext cx="218414" cy="16986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306" name="Freeform 36"/>
            <p:cNvSpPr/>
            <p:nvPr/>
          </p:nvSpPr>
          <p:spPr bwMode="auto">
            <a:xfrm>
              <a:off x="5845760" y="1973735"/>
              <a:ext cx="1482460" cy="1260475"/>
            </a:xfrm>
            <a:custGeom>
              <a:avLst/>
              <a:gdLst>
                <a:gd name="T0" fmla="*/ 0 w 612"/>
                <a:gd name="T1" fmla="*/ 0 h 501"/>
                <a:gd name="T2" fmla="*/ 612 w 612"/>
                <a:gd name="T3" fmla="*/ 6 h 501"/>
                <a:gd name="T4" fmla="*/ 336 w 612"/>
                <a:gd name="T5" fmla="*/ 501 h 501"/>
                <a:gd name="T6" fmla="*/ 252 w 612"/>
                <a:gd name="T7" fmla="*/ 501 h 501"/>
                <a:gd name="T8" fmla="*/ 0 w 612"/>
                <a:gd name="T9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2" h="501">
                  <a:moveTo>
                    <a:pt x="0" y="0"/>
                  </a:moveTo>
                  <a:lnTo>
                    <a:pt x="612" y="6"/>
                  </a:lnTo>
                  <a:lnTo>
                    <a:pt x="336" y="501"/>
                  </a:lnTo>
                  <a:lnTo>
                    <a:pt x="252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62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307" name="Text Box 19"/>
            <p:cNvSpPr txBox="1">
              <a:spLocks noChangeArrowheads="1"/>
            </p:cNvSpPr>
            <p:nvPr/>
          </p:nvSpPr>
          <p:spPr bwMode="auto">
            <a:xfrm>
              <a:off x="5857579" y="1559190"/>
              <a:ext cx="1470641" cy="392280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sx="1000" sy="1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硬件地址</a:t>
              </a:r>
            </a:p>
          </p:txBody>
        </p:sp>
        <p:sp>
          <p:nvSpPr>
            <p:cNvPr id="1050308" name="Text Box 30"/>
            <p:cNvSpPr txBox="1">
              <a:spLocks noChangeArrowheads="1"/>
            </p:cNvSpPr>
            <p:nvPr/>
          </p:nvSpPr>
          <p:spPr bwMode="auto">
            <a:xfrm>
              <a:off x="1523386" y="1561456"/>
              <a:ext cx="1328039" cy="392280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sx="1000" sy="1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地址</a:t>
              </a:r>
            </a:p>
          </p:txBody>
        </p:sp>
      </p:grpSp>
      <p:sp>
        <p:nvSpPr>
          <p:cNvPr id="1050309" name="矩形 1"/>
          <p:cNvSpPr/>
          <p:nvPr/>
        </p:nvSpPr>
        <p:spPr>
          <a:xfrm>
            <a:off x="3504105" y="5674146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计算机通过适配器和局域网进行通信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29" name="Rectangle 46"/>
          <p:cNvSpPr>
            <a:spLocks noChangeArrowheads="1"/>
          </p:cNvSpPr>
          <p:nvPr/>
        </p:nvSpPr>
        <p:spPr bwMode="auto">
          <a:xfrm>
            <a:off x="670562" y="1315316"/>
            <a:ext cx="10838687" cy="31232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4000"/>
              </a:lnSpc>
              <a:buClr>
                <a:srgbClr val="0070C0"/>
              </a:buClr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采用较为灵活的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无连接的工作方式。</a:t>
            </a:r>
          </a:p>
          <a:p>
            <a:pPr marL="1066773" lvl="1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dirty="0">
                <a:latin typeface="微软雅黑" pitchFamily="34" charset="-122"/>
                <a:ea typeface="微软雅黑" pitchFamily="34" charset="-122"/>
              </a:rPr>
              <a:t>不必先建立连接就可以直接发送数据。</a:t>
            </a:r>
          </a:p>
          <a:p>
            <a:pPr marL="1066773" lvl="1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dirty="0">
                <a:latin typeface="微软雅黑" pitchFamily="34" charset="-122"/>
                <a:ea typeface="微软雅黑" pitchFamily="34" charset="-122"/>
              </a:rPr>
              <a:t>对发送的数据帧不进行编号，也不要求对方发回确认。</a:t>
            </a:r>
            <a:endParaRPr lang="en-US" altLang="zh-CN" sz="2667" dirty="0">
              <a:latin typeface="微软雅黑" pitchFamily="34" charset="-122"/>
              <a:ea typeface="微软雅黑" pitchFamily="34" charset="-122"/>
            </a:endParaRPr>
          </a:p>
          <a:p>
            <a:pPr marL="1066773" lvl="1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对有差错帧是否需要重传则由高层来决定</a:t>
            </a:r>
            <a:endParaRPr lang="zh-CN" altLang="en-US" sz="2667" dirty="0"/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zh-CN" altLang="en-US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430" name="AutoShape 5"/>
          <p:cNvSpPr>
            <a:spLocks noChangeArrowheads="1"/>
          </p:cNvSpPr>
          <p:nvPr/>
        </p:nvSpPr>
        <p:spPr bwMode="auto">
          <a:xfrm>
            <a:off x="670562" y="83112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4194308" name="图示 2"/>
          <p:cNvGraphicFramePr>
            <a:graphicFrameLocks/>
          </p:cNvGraphicFramePr>
          <p:nvPr/>
        </p:nvGraphicFramePr>
        <p:xfrm>
          <a:off x="1245010" y="3664555"/>
          <a:ext cx="9701981" cy="236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50431" name="Rectangle 6"/>
          <p:cNvSpPr>
            <a:spLocks noChangeArrowheads="1"/>
          </p:cNvSpPr>
          <p:nvPr/>
        </p:nvSpPr>
        <p:spPr bwMode="auto">
          <a:xfrm>
            <a:off x="4008538" y="780032"/>
            <a:ext cx="4152099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以太网通信工作方式（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5" name="Rectangle 46"/>
          <p:cNvSpPr>
            <a:spLocks noChangeArrowheads="1"/>
          </p:cNvSpPr>
          <p:nvPr/>
        </p:nvSpPr>
        <p:spPr bwMode="auto">
          <a:xfrm>
            <a:off x="670562" y="1319721"/>
            <a:ext cx="10229087" cy="51995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3600"/>
              </a:lnSpc>
              <a:buClr>
                <a:srgbClr val="0070C0"/>
              </a:buClr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发送的数据都使用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曼彻斯特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(Manchester)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编码。</a:t>
            </a:r>
          </a:p>
        </p:txBody>
      </p:sp>
      <p:sp>
        <p:nvSpPr>
          <p:cNvPr id="1050436" name="AutoShape 5"/>
          <p:cNvSpPr>
            <a:spLocks noChangeArrowheads="1"/>
          </p:cNvSpPr>
          <p:nvPr/>
        </p:nvSpPr>
        <p:spPr bwMode="auto">
          <a:xfrm>
            <a:off x="670562" y="835524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grpSp>
        <p:nvGrpSpPr>
          <p:cNvPr id="581" name="组合 7"/>
          <p:cNvGrpSpPr/>
          <p:nvPr/>
        </p:nvGrpSpPr>
        <p:grpSpPr>
          <a:xfrm>
            <a:off x="670562" y="1995943"/>
            <a:ext cx="9030700" cy="2097316"/>
            <a:chOff x="-826137" y="1770063"/>
            <a:chExt cx="10387649" cy="2765079"/>
          </a:xfrm>
        </p:grpSpPr>
        <p:grpSp>
          <p:nvGrpSpPr>
            <p:cNvPr id="582" name="组合 8"/>
            <p:cNvGrpSpPr/>
            <p:nvPr/>
          </p:nvGrpSpPr>
          <p:grpSpPr>
            <a:xfrm>
              <a:off x="2050862" y="1957745"/>
              <a:ext cx="7488831" cy="2577397"/>
              <a:chOff x="2050862" y="1957745"/>
              <a:chExt cx="7488831" cy="4136632"/>
            </a:xfrm>
          </p:grpSpPr>
          <p:sp>
            <p:nvSpPr>
              <p:cNvPr id="1050437" name="Rectangle 8"/>
              <p:cNvSpPr>
                <a:spLocks noChangeArrowheads="1"/>
              </p:cNvSpPr>
              <p:nvPr/>
            </p:nvSpPr>
            <p:spPr bwMode="auto">
              <a:xfrm>
                <a:off x="8082206" y="2007528"/>
                <a:ext cx="720633" cy="407034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38" name="Rectangle 9"/>
              <p:cNvSpPr>
                <a:spLocks noChangeArrowheads="1"/>
              </p:cNvSpPr>
              <p:nvPr/>
            </p:nvSpPr>
            <p:spPr bwMode="auto">
              <a:xfrm>
                <a:off x="3563030" y="2007528"/>
                <a:ext cx="751616" cy="407034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39" name="Rectangle 10"/>
              <p:cNvSpPr>
                <a:spLocks noChangeArrowheads="1"/>
              </p:cNvSpPr>
              <p:nvPr/>
            </p:nvSpPr>
            <p:spPr bwMode="auto">
              <a:xfrm>
                <a:off x="5073850" y="2002764"/>
                <a:ext cx="731598" cy="407742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0" name="Rectangle 11"/>
              <p:cNvSpPr>
                <a:spLocks noChangeArrowheads="1"/>
              </p:cNvSpPr>
              <p:nvPr/>
            </p:nvSpPr>
            <p:spPr bwMode="auto">
              <a:xfrm>
                <a:off x="6588491" y="2002764"/>
                <a:ext cx="713017" cy="4077429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1" name="Rectangle 12"/>
              <p:cNvSpPr>
                <a:spLocks noChangeArrowheads="1"/>
              </p:cNvSpPr>
              <p:nvPr/>
            </p:nvSpPr>
            <p:spPr bwMode="auto">
              <a:xfrm>
                <a:off x="2077857" y="1995869"/>
                <a:ext cx="720123" cy="4082008"/>
              </a:xfrm>
              <a:prstGeom prst="rect">
                <a:avLst/>
              </a:prstGeom>
              <a:solidFill>
                <a:srgbClr val="00FF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2" name="Line 32"/>
              <p:cNvSpPr>
                <a:spLocks noChangeShapeType="1"/>
              </p:cNvSpPr>
              <p:nvPr/>
            </p:nvSpPr>
            <p:spPr bwMode="auto">
              <a:xfrm flipH="1" flipV="1">
                <a:off x="2050862" y="1977021"/>
                <a:ext cx="3175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>
                  <a:ea typeface="黑体" pitchFamily="2" charset="-122"/>
                </a:endParaRPr>
              </a:p>
            </p:txBody>
          </p:sp>
          <p:sp>
            <p:nvSpPr>
              <p:cNvPr id="1050443" name="Line 33"/>
              <p:cNvSpPr>
                <a:spLocks noChangeShapeType="1"/>
              </p:cNvSpPr>
              <p:nvPr/>
            </p:nvSpPr>
            <p:spPr bwMode="auto">
              <a:xfrm flipV="1">
                <a:off x="2800922" y="1957745"/>
                <a:ext cx="0" cy="4122657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4" name="Line 34"/>
              <p:cNvSpPr>
                <a:spLocks noChangeShapeType="1"/>
              </p:cNvSpPr>
              <p:nvPr/>
            </p:nvSpPr>
            <p:spPr bwMode="auto">
              <a:xfrm flipV="1">
                <a:off x="3548040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5" name="Line 35"/>
              <p:cNvSpPr>
                <a:spLocks noChangeShapeType="1"/>
              </p:cNvSpPr>
              <p:nvPr/>
            </p:nvSpPr>
            <p:spPr bwMode="auto">
              <a:xfrm flipH="1" flipV="1">
                <a:off x="4310148" y="1977021"/>
                <a:ext cx="0" cy="4117356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6" name="Line 36"/>
              <p:cNvSpPr>
                <a:spLocks noChangeShapeType="1"/>
              </p:cNvSpPr>
              <p:nvPr/>
            </p:nvSpPr>
            <p:spPr bwMode="auto">
              <a:xfrm flipV="1">
                <a:off x="5059563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7" name="Line 37"/>
              <p:cNvSpPr>
                <a:spLocks noChangeShapeType="1"/>
              </p:cNvSpPr>
              <p:nvPr/>
            </p:nvSpPr>
            <p:spPr bwMode="auto">
              <a:xfrm flipV="1">
                <a:off x="5822316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8" name="Line 38"/>
              <p:cNvSpPr>
                <a:spLocks noChangeShapeType="1"/>
              </p:cNvSpPr>
              <p:nvPr/>
            </p:nvSpPr>
            <p:spPr bwMode="auto">
              <a:xfrm flipV="1">
                <a:off x="6575318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49" name="Line 39"/>
              <p:cNvSpPr>
                <a:spLocks noChangeShapeType="1"/>
              </p:cNvSpPr>
              <p:nvPr/>
            </p:nvSpPr>
            <p:spPr bwMode="auto">
              <a:xfrm flipV="1">
                <a:off x="7316498" y="1977021"/>
                <a:ext cx="0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50" name="Line 40"/>
              <p:cNvSpPr>
                <a:spLocks noChangeShapeType="1"/>
              </p:cNvSpPr>
              <p:nvPr/>
            </p:nvSpPr>
            <p:spPr bwMode="auto">
              <a:xfrm flipH="1" flipV="1">
                <a:off x="8067967" y="1977021"/>
                <a:ext cx="1587" cy="4103381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51" name="Line 41"/>
              <p:cNvSpPr>
                <a:spLocks noChangeShapeType="1"/>
              </p:cNvSpPr>
              <p:nvPr/>
            </p:nvSpPr>
            <p:spPr bwMode="auto">
              <a:xfrm flipV="1">
                <a:off x="8795696" y="1979430"/>
                <a:ext cx="14287" cy="4100972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  <p:sp>
            <p:nvSpPr>
              <p:cNvPr id="1050452" name="Line 41"/>
              <p:cNvSpPr>
                <a:spLocks noChangeShapeType="1"/>
              </p:cNvSpPr>
              <p:nvPr/>
            </p:nvSpPr>
            <p:spPr bwMode="auto">
              <a:xfrm flipV="1">
                <a:off x="9525406" y="1979430"/>
                <a:ext cx="14287" cy="4100972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 b="1"/>
              </a:p>
            </p:txBody>
          </p:sp>
        </p:grpSp>
        <p:sp>
          <p:nvSpPr>
            <p:cNvPr id="1050453" name="Rectangle 89"/>
            <p:cNvSpPr>
              <a:spLocks noChangeArrowheads="1"/>
            </p:cNvSpPr>
            <p:nvPr/>
          </p:nvSpPr>
          <p:spPr bwMode="auto">
            <a:xfrm>
              <a:off x="9266238" y="1770063"/>
              <a:ext cx="94589" cy="2667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33"/>
            </a:p>
          </p:txBody>
        </p:sp>
        <p:sp>
          <p:nvSpPr>
            <p:cNvPr id="1050454" name="Rectangle 7"/>
            <p:cNvSpPr>
              <a:spLocks noChangeArrowheads="1"/>
            </p:cNvSpPr>
            <p:nvPr/>
          </p:nvSpPr>
          <p:spPr bwMode="auto">
            <a:xfrm>
              <a:off x="496675" y="2872472"/>
              <a:ext cx="1541477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algn="r" defTabSz="1015975" eaLnBrk="0" hangingPunct="0"/>
              <a:r>
                <a:rPr kumimoji="1"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050455" name="Rectangle 13"/>
            <p:cNvSpPr>
              <a:spLocks noChangeArrowheads="1"/>
            </p:cNvSpPr>
            <p:nvPr/>
          </p:nvSpPr>
          <p:spPr bwMode="auto">
            <a:xfrm>
              <a:off x="2154593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050456" name="Rectangle 14"/>
            <p:cNvSpPr>
              <a:spLocks noChangeArrowheads="1"/>
            </p:cNvSpPr>
            <p:nvPr/>
          </p:nvSpPr>
          <p:spPr bwMode="auto">
            <a:xfrm>
              <a:off x="8892199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050457" name="Rectangle 15"/>
            <p:cNvSpPr>
              <a:spLocks noChangeArrowheads="1"/>
            </p:cNvSpPr>
            <p:nvPr/>
          </p:nvSpPr>
          <p:spPr bwMode="auto">
            <a:xfrm>
              <a:off x="5194779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050458" name="Rectangle 16"/>
            <p:cNvSpPr>
              <a:spLocks noChangeArrowheads="1"/>
            </p:cNvSpPr>
            <p:nvPr/>
          </p:nvSpPr>
          <p:spPr bwMode="auto">
            <a:xfrm>
              <a:off x="8136690" y="2067854"/>
              <a:ext cx="298449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050459" name="Rectangle 17"/>
            <p:cNvSpPr>
              <a:spLocks noChangeArrowheads="1"/>
            </p:cNvSpPr>
            <p:nvPr/>
          </p:nvSpPr>
          <p:spPr bwMode="auto">
            <a:xfrm>
              <a:off x="7427027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1</a:t>
              </a:r>
            </a:p>
          </p:txBody>
        </p:sp>
        <p:sp>
          <p:nvSpPr>
            <p:cNvPr id="1050460" name="Rectangle 18"/>
            <p:cNvSpPr>
              <a:spLocks noChangeArrowheads="1"/>
            </p:cNvSpPr>
            <p:nvPr/>
          </p:nvSpPr>
          <p:spPr bwMode="auto">
            <a:xfrm>
              <a:off x="2915533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050461" name="Rectangle 19"/>
            <p:cNvSpPr>
              <a:spLocks noChangeArrowheads="1"/>
            </p:cNvSpPr>
            <p:nvPr/>
          </p:nvSpPr>
          <p:spPr bwMode="auto">
            <a:xfrm>
              <a:off x="3707623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050462" name="Rectangle 20"/>
            <p:cNvSpPr>
              <a:spLocks noChangeArrowheads="1"/>
            </p:cNvSpPr>
            <p:nvPr/>
          </p:nvSpPr>
          <p:spPr bwMode="auto">
            <a:xfrm>
              <a:off x="4427701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050463" name="Rectangle 21"/>
            <p:cNvSpPr>
              <a:spLocks noChangeArrowheads="1"/>
            </p:cNvSpPr>
            <p:nvPr/>
          </p:nvSpPr>
          <p:spPr bwMode="auto">
            <a:xfrm>
              <a:off x="5939871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050464" name="Rectangle 22"/>
            <p:cNvSpPr>
              <a:spLocks noChangeArrowheads="1"/>
            </p:cNvSpPr>
            <p:nvPr/>
          </p:nvSpPr>
          <p:spPr bwMode="auto">
            <a:xfrm>
              <a:off x="6659949" y="2067854"/>
              <a:ext cx="466502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2133" b="1" dirty="0">
                  <a:latin typeface="Arial Rounded MT Bold" pitchFamily="34" charset="0"/>
                </a:rPr>
                <a:t>0</a:t>
              </a:r>
            </a:p>
          </p:txBody>
        </p:sp>
        <p:sp>
          <p:nvSpPr>
            <p:cNvPr id="1050465" name="Freeform 30"/>
            <p:cNvSpPr/>
            <p:nvPr/>
          </p:nvSpPr>
          <p:spPr bwMode="auto">
            <a:xfrm>
              <a:off x="2053076" y="2780928"/>
              <a:ext cx="7457834" cy="690711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  <a:gd name="connsiteX0" fmla="*/ 0 w 10203"/>
                <a:gd name="connsiteY0" fmla="*/ 0 h 10000"/>
                <a:gd name="connsiteX1" fmla="*/ 504 w 10203"/>
                <a:gd name="connsiteY1" fmla="*/ 0 h 10000"/>
                <a:gd name="connsiteX2" fmla="*/ 504 w 10203"/>
                <a:gd name="connsiteY2" fmla="*/ 10000 h 10000"/>
                <a:gd name="connsiteX3" fmla="*/ 1536 w 10203"/>
                <a:gd name="connsiteY3" fmla="*/ 10000 h 10000"/>
                <a:gd name="connsiteX4" fmla="*/ 1536 w 10203"/>
                <a:gd name="connsiteY4" fmla="*/ 0 h 10000"/>
                <a:gd name="connsiteX5" fmla="*/ 2040 w 10203"/>
                <a:gd name="connsiteY5" fmla="*/ 0 h 10000"/>
                <a:gd name="connsiteX6" fmla="*/ 2040 w 10203"/>
                <a:gd name="connsiteY6" fmla="*/ 10000 h 10000"/>
                <a:gd name="connsiteX7" fmla="*/ 2565 w 10203"/>
                <a:gd name="connsiteY7" fmla="*/ 10000 h 10000"/>
                <a:gd name="connsiteX8" fmla="*/ 2565 w 10203"/>
                <a:gd name="connsiteY8" fmla="*/ 0 h 10000"/>
                <a:gd name="connsiteX9" fmla="*/ 3070 w 10203"/>
                <a:gd name="connsiteY9" fmla="*/ 0 h 10000"/>
                <a:gd name="connsiteX10" fmla="*/ 3070 w 10203"/>
                <a:gd name="connsiteY10" fmla="*/ 10000 h 10000"/>
                <a:gd name="connsiteX11" fmla="*/ 3574 w 10203"/>
                <a:gd name="connsiteY11" fmla="*/ 10000 h 10000"/>
                <a:gd name="connsiteX12" fmla="*/ 3574 w 10203"/>
                <a:gd name="connsiteY12" fmla="*/ 0 h 10000"/>
                <a:gd name="connsiteX13" fmla="*/ 4606 w 10203"/>
                <a:gd name="connsiteY13" fmla="*/ 0 h 10000"/>
                <a:gd name="connsiteX14" fmla="*/ 4606 w 10203"/>
                <a:gd name="connsiteY14" fmla="*/ 10000 h 10000"/>
                <a:gd name="connsiteX15" fmla="*/ 5615 w 10203"/>
                <a:gd name="connsiteY15" fmla="*/ 10000 h 10000"/>
                <a:gd name="connsiteX16" fmla="*/ 5615 w 10203"/>
                <a:gd name="connsiteY16" fmla="*/ 122 h 10000"/>
                <a:gd name="connsiteX17" fmla="*/ 6119 w 10203"/>
                <a:gd name="connsiteY17" fmla="*/ 0 h 10000"/>
                <a:gd name="connsiteX18" fmla="*/ 6119 w 10203"/>
                <a:gd name="connsiteY18" fmla="*/ 10000 h 10000"/>
                <a:gd name="connsiteX19" fmla="*/ 6623 w 10203"/>
                <a:gd name="connsiteY19" fmla="*/ 10000 h 10000"/>
                <a:gd name="connsiteX20" fmla="*/ 6623 w 10203"/>
                <a:gd name="connsiteY20" fmla="*/ 0 h 10000"/>
                <a:gd name="connsiteX21" fmla="*/ 7653 w 10203"/>
                <a:gd name="connsiteY21" fmla="*/ 0 h 10000"/>
                <a:gd name="connsiteX22" fmla="*/ 7653 w 10203"/>
                <a:gd name="connsiteY22" fmla="*/ 10000 h 10000"/>
                <a:gd name="connsiteX23" fmla="*/ 8157 w 10203"/>
                <a:gd name="connsiteY23" fmla="*/ 10000 h 10000"/>
                <a:gd name="connsiteX24" fmla="*/ 8157 w 10203"/>
                <a:gd name="connsiteY24" fmla="*/ 0 h 10000"/>
                <a:gd name="connsiteX25" fmla="*/ 8662 w 10203"/>
                <a:gd name="connsiteY25" fmla="*/ 0 h 10000"/>
                <a:gd name="connsiteX26" fmla="*/ 8662 w 10203"/>
                <a:gd name="connsiteY26" fmla="*/ 10000 h 10000"/>
                <a:gd name="connsiteX27" fmla="*/ 9166 w 10203"/>
                <a:gd name="connsiteY27" fmla="*/ 10000 h 10000"/>
                <a:gd name="connsiteX28" fmla="*/ 9166 w 10203"/>
                <a:gd name="connsiteY28" fmla="*/ 0 h 10000"/>
                <a:gd name="connsiteX29" fmla="*/ 9671 w 10203"/>
                <a:gd name="connsiteY29" fmla="*/ 0 h 10000"/>
                <a:gd name="connsiteX30" fmla="*/ 9671 w 10203"/>
                <a:gd name="connsiteY30" fmla="*/ 10000 h 10000"/>
                <a:gd name="connsiteX31" fmla="*/ 10203 w 10203"/>
                <a:gd name="connsiteY31" fmla="*/ 10000 h 10000"/>
                <a:gd name="connsiteX0" fmla="*/ 0 w 10101"/>
                <a:gd name="connsiteY0" fmla="*/ 0 h 10000"/>
                <a:gd name="connsiteX1" fmla="*/ 504 w 10101"/>
                <a:gd name="connsiteY1" fmla="*/ 0 h 10000"/>
                <a:gd name="connsiteX2" fmla="*/ 504 w 10101"/>
                <a:gd name="connsiteY2" fmla="*/ 10000 h 10000"/>
                <a:gd name="connsiteX3" fmla="*/ 1536 w 10101"/>
                <a:gd name="connsiteY3" fmla="*/ 10000 h 10000"/>
                <a:gd name="connsiteX4" fmla="*/ 1536 w 10101"/>
                <a:gd name="connsiteY4" fmla="*/ 0 h 10000"/>
                <a:gd name="connsiteX5" fmla="*/ 2040 w 10101"/>
                <a:gd name="connsiteY5" fmla="*/ 0 h 10000"/>
                <a:gd name="connsiteX6" fmla="*/ 2040 w 10101"/>
                <a:gd name="connsiteY6" fmla="*/ 10000 h 10000"/>
                <a:gd name="connsiteX7" fmla="*/ 2565 w 10101"/>
                <a:gd name="connsiteY7" fmla="*/ 10000 h 10000"/>
                <a:gd name="connsiteX8" fmla="*/ 2565 w 10101"/>
                <a:gd name="connsiteY8" fmla="*/ 0 h 10000"/>
                <a:gd name="connsiteX9" fmla="*/ 3070 w 10101"/>
                <a:gd name="connsiteY9" fmla="*/ 0 h 10000"/>
                <a:gd name="connsiteX10" fmla="*/ 3070 w 10101"/>
                <a:gd name="connsiteY10" fmla="*/ 10000 h 10000"/>
                <a:gd name="connsiteX11" fmla="*/ 3574 w 10101"/>
                <a:gd name="connsiteY11" fmla="*/ 10000 h 10000"/>
                <a:gd name="connsiteX12" fmla="*/ 3574 w 10101"/>
                <a:gd name="connsiteY12" fmla="*/ 0 h 10000"/>
                <a:gd name="connsiteX13" fmla="*/ 4606 w 10101"/>
                <a:gd name="connsiteY13" fmla="*/ 0 h 10000"/>
                <a:gd name="connsiteX14" fmla="*/ 4606 w 10101"/>
                <a:gd name="connsiteY14" fmla="*/ 10000 h 10000"/>
                <a:gd name="connsiteX15" fmla="*/ 5615 w 10101"/>
                <a:gd name="connsiteY15" fmla="*/ 10000 h 10000"/>
                <a:gd name="connsiteX16" fmla="*/ 5615 w 10101"/>
                <a:gd name="connsiteY16" fmla="*/ 122 h 10000"/>
                <a:gd name="connsiteX17" fmla="*/ 6119 w 10101"/>
                <a:gd name="connsiteY17" fmla="*/ 0 h 10000"/>
                <a:gd name="connsiteX18" fmla="*/ 6119 w 10101"/>
                <a:gd name="connsiteY18" fmla="*/ 10000 h 10000"/>
                <a:gd name="connsiteX19" fmla="*/ 6623 w 10101"/>
                <a:gd name="connsiteY19" fmla="*/ 10000 h 10000"/>
                <a:gd name="connsiteX20" fmla="*/ 6623 w 10101"/>
                <a:gd name="connsiteY20" fmla="*/ 0 h 10000"/>
                <a:gd name="connsiteX21" fmla="*/ 7653 w 10101"/>
                <a:gd name="connsiteY21" fmla="*/ 0 h 10000"/>
                <a:gd name="connsiteX22" fmla="*/ 7653 w 10101"/>
                <a:gd name="connsiteY22" fmla="*/ 10000 h 10000"/>
                <a:gd name="connsiteX23" fmla="*/ 8157 w 10101"/>
                <a:gd name="connsiteY23" fmla="*/ 10000 h 10000"/>
                <a:gd name="connsiteX24" fmla="*/ 8157 w 10101"/>
                <a:gd name="connsiteY24" fmla="*/ 0 h 10000"/>
                <a:gd name="connsiteX25" fmla="*/ 8662 w 10101"/>
                <a:gd name="connsiteY25" fmla="*/ 0 h 10000"/>
                <a:gd name="connsiteX26" fmla="*/ 8662 w 10101"/>
                <a:gd name="connsiteY26" fmla="*/ 10000 h 10000"/>
                <a:gd name="connsiteX27" fmla="*/ 9166 w 10101"/>
                <a:gd name="connsiteY27" fmla="*/ 10000 h 10000"/>
                <a:gd name="connsiteX28" fmla="*/ 9166 w 10101"/>
                <a:gd name="connsiteY28" fmla="*/ 0 h 10000"/>
                <a:gd name="connsiteX29" fmla="*/ 9671 w 10101"/>
                <a:gd name="connsiteY29" fmla="*/ 0 h 10000"/>
                <a:gd name="connsiteX30" fmla="*/ 9671 w 10101"/>
                <a:gd name="connsiteY30" fmla="*/ 10000 h 10000"/>
                <a:gd name="connsiteX31" fmla="*/ 10101 w 10101"/>
                <a:gd name="connsiteY31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101" h="10000">
                  <a:moveTo>
                    <a:pt x="0" y="0"/>
                  </a:moveTo>
                  <a:lnTo>
                    <a:pt x="504" y="0"/>
                  </a:lnTo>
                  <a:lnTo>
                    <a:pt x="504" y="10000"/>
                  </a:lnTo>
                  <a:lnTo>
                    <a:pt x="1536" y="10000"/>
                  </a:lnTo>
                  <a:lnTo>
                    <a:pt x="1536" y="0"/>
                  </a:lnTo>
                  <a:lnTo>
                    <a:pt x="2040" y="0"/>
                  </a:lnTo>
                  <a:lnTo>
                    <a:pt x="2040" y="10000"/>
                  </a:lnTo>
                  <a:lnTo>
                    <a:pt x="2565" y="10000"/>
                  </a:lnTo>
                  <a:lnTo>
                    <a:pt x="2565" y="0"/>
                  </a:lnTo>
                  <a:lnTo>
                    <a:pt x="3070" y="0"/>
                  </a:lnTo>
                  <a:lnTo>
                    <a:pt x="3070" y="10000"/>
                  </a:lnTo>
                  <a:lnTo>
                    <a:pt x="3574" y="10000"/>
                  </a:lnTo>
                  <a:lnTo>
                    <a:pt x="3574" y="0"/>
                  </a:lnTo>
                  <a:lnTo>
                    <a:pt x="4606" y="0"/>
                  </a:lnTo>
                  <a:lnTo>
                    <a:pt x="4606" y="10000"/>
                  </a:lnTo>
                  <a:lnTo>
                    <a:pt x="5615" y="10000"/>
                  </a:lnTo>
                  <a:lnTo>
                    <a:pt x="5615" y="122"/>
                  </a:lnTo>
                  <a:lnTo>
                    <a:pt x="6119" y="0"/>
                  </a:lnTo>
                  <a:lnTo>
                    <a:pt x="6119" y="10000"/>
                  </a:lnTo>
                  <a:lnTo>
                    <a:pt x="6623" y="10000"/>
                  </a:lnTo>
                  <a:lnTo>
                    <a:pt x="6623" y="0"/>
                  </a:lnTo>
                  <a:lnTo>
                    <a:pt x="7653" y="0"/>
                  </a:lnTo>
                  <a:lnTo>
                    <a:pt x="7653" y="10000"/>
                  </a:lnTo>
                  <a:lnTo>
                    <a:pt x="8157" y="10000"/>
                  </a:lnTo>
                  <a:lnTo>
                    <a:pt x="8157" y="0"/>
                  </a:lnTo>
                  <a:lnTo>
                    <a:pt x="8662" y="0"/>
                  </a:lnTo>
                  <a:lnTo>
                    <a:pt x="8662" y="10000"/>
                  </a:lnTo>
                  <a:lnTo>
                    <a:pt x="9166" y="10000"/>
                  </a:lnTo>
                  <a:lnTo>
                    <a:pt x="9166" y="0"/>
                  </a:lnTo>
                  <a:lnTo>
                    <a:pt x="9671" y="0"/>
                  </a:lnTo>
                  <a:lnTo>
                    <a:pt x="9671" y="10000"/>
                  </a:lnTo>
                  <a:lnTo>
                    <a:pt x="10101" y="10000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133" b="1"/>
            </a:p>
          </p:txBody>
        </p:sp>
        <p:sp>
          <p:nvSpPr>
            <p:cNvPr id="1050466" name="Rectangle 42"/>
            <p:cNvSpPr>
              <a:spLocks noChangeArrowheads="1"/>
            </p:cNvSpPr>
            <p:nvPr/>
          </p:nvSpPr>
          <p:spPr bwMode="auto">
            <a:xfrm>
              <a:off x="262909" y="2061816"/>
              <a:ext cx="1753423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120651" tIns="59267" rIns="120651" bIns="59267">
              <a:spAutoFit/>
            </a:bodyPr>
            <a:lstStyle/>
            <a:p>
              <a:pPr algn="r" defTabSz="1015975" eaLnBrk="0" hangingPunct="0"/>
              <a:r>
                <a:rPr kumimoji="1"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583" name="Group 65"/>
            <p:cNvGrpSpPr/>
            <p:nvPr/>
          </p:nvGrpSpPr>
          <p:grpSpPr bwMode="auto">
            <a:xfrm>
              <a:off x="2062492" y="3766245"/>
              <a:ext cx="7483921" cy="690711"/>
              <a:chOff x="1255" y="2804"/>
              <a:chExt cx="4461" cy="258"/>
            </a:xfrm>
          </p:grpSpPr>
          <p:sp>
            <p:nvSpPr>
              <p:cNvPr id="1050467" name="Freeform 63"/>
              <p:cNvSpPr/>
              <p:nvPr/>
            </p:nvSpPr>
            <p:spPr bwMode="auto">
              <a:xfrm>
                <a:off x="1255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133" b="1"/>
              </a:p>
            </p:txBody>
          </p:sp>
          <p:sp>
            <p:nvSpPr>
              <p:cNvPr id="1050468" name="Freeform 64"/>
              <p:cNvSpPr/>
              <p:nvPr/>
            </p:nvSpPr>
            <p:spPr bwMode="auto">
              <a:xfrm>
                <a:off x="4164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133" b="1"/>
              </a:p>
            </p:txBody>
          </p:sp>
        </p:grpSp>
        <p:sp>
          <p:nvSpPr>
            <p:cNvPr id="1050469" name="Rectangle 68"/>
            <p:cNvSpPr>
              <a:spLocks noChangeArrowheads="1"/>
            </p:cNvSpPr>
            <p:nvPr/>
          </p:nvSpPr>
          <p:spPr bwMode="auto">
            <a:xfrm>
              <a:off x="-826137" y="3817669"/>
              <a:ext cx="2864289" cy="5905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120651" tIns="59267" rIns="120651" bIns="59267">
              <a:spAutoFit/>
            </a:bodyPr>
            <a:lstStyle/>
            <a:p>
              <a:pPr algn="r" defTabSz="1015975" eaLnBrk="0" hangingPunct="0"/>
              <a:r>
                <a:rPr kumimoji="1"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cxnSp>
          <p:nvCxnSpPr>
            <p:cNvPr id="3145790" name="直接连接符 28"/>
            <p:cNvCxnSpPr>
              <a:cxnSpLocks/>
            </p:cNvCxnSpPr>
            <p:nvPr/>
          </p:nvCxnSpPr>
          <p:spPr bwMode="auto">
            <a:xfrm>
              <a:off x="2066413" y="4123268"/>
              <a:ext cx="74950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5791" name="直接连接符 29"/>
            <p:cNvCxnSpPr>
              <a:cxnSpLocks/>
            </p:cNvCxnSpPr>
            <p:nvPr/>
          </p:nvCxnSpPr>
          <p:spPr bwMode="auto">
            <a:xfrm>
              <a:off x="2066413" y="3126283"/>
              <a:ext cx="74950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50470" name="对角圆角矩形 48"/>
          <p:cNvSpPr/>
          <p:nvPr/>
        </p:nvSpPr>
        <p:spPr>
          <a:xfrm>
            <a:off x="923636" y="4376976"/>
            <a:ext cx="10098424" cy="910448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50471" name="矩形 49"/>
          <p:cNvSpPr/>
          <p:nvPr/>
        </p:nvSpPr>
        <p:spPr>
          <a:xfrm>
            <a:off x="1207008" y="4535928"/>
            <a:ext cx="9948672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Bef>
                <a:spcPts val="8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曼彻斯特编码</a:t>
            </a:r>
            <a:r>
              <a:rPr lang="zh-CN" altLang="en-US" sz="2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所占的频带宽度比原始的基带信号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增加了一倍。</a:t>
            </a:r>
          </a:p>
        </p:txBody>
      </p:sp>
      <p:sp>
        <p:nvSpPr>
          <p:cNvPr id="1050472" name="Rectangle 6"/>
          <p:cNvSpPr>
            <a:spLocks noChangeArrowheads="1"/>
          </p:cNvSpPr>
          <p:nvPr/>
        </p:nvSpPr>
        <p:spPr bwMode="auto">
          <a:xfrm>
            <a:off x="4008538" y="780032"/>
            <a:ext cx="4152099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以太网通信工作方式（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99" name="内容占位符 1"/>
          <p:cNvSpPr>
            <a:spLocks noGrp="1"/>
          </p:cNvSpPr>
          <p:nvPr>
            <p:ph sz="quarter" idx="10"/>
          </p:nvPr>
        </p:nvSpPr>
        <p:spPr>
          <a:xfrm>
            <a:off x="621792" y="1498601"/>
            <a:ext cx="10838688" cy="48641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dirty="0"/>
              <a:t>CSMA/CD (Carrier Sense Multiple Access with Collision Detection) </a:t>
            </a:r>
            <a:r>
              <a:rPr lang="zh-CN" altLang="en-US" sz="3200" dirty="0"/>
              <a:t>：</a:t>
            </a:r>
            <a:r>
              <a:rPr lang="zh-CN" altLang="en-US" sz="3200" dirty="0">
                <a:solidFill>
                  <a:srgbClr val="0000FF"/>
                </a:solidFill>
              </a:rPr>
              <a:t>载波监听多点接入 </a:t>
            </a:r>
            <a:r>
              <a:rPr lang="en-US" altLang="zh-CN" sz="3200" dirty="0">
                <a:solidFill>
                  <a:srgbClr val="0000FF"/>
                </a:solidFill>
              </a:rPr>
              <a:t>/ </a:t>
            </a:r>
            <a:r>
              <a:rPr lang="zh-CN" altLang="en-US" sz="3200" dirty="0">
                <a:solidFill>
                  <a:srgbClr val="0000FF"/>
                </a:solidFill>
              </a:rPr>
              <a:t>碰撞检测</a:t>
            </a:r>
          </a:p>
          <a:p>
            <a:pPr lvl="1"/>
            <a:endParaRPr lang="en-US" altLang="zh-CN" sz="2667" dirty="0">
              <a:solidFill>
                <a:srgbClr val="C00000"/>
              </a:solidFill>
            </a:endParaRPr>
          </a:p>
          <a:p>
            <a:pPr lvl="1"/>
            <a:r>
              <a:rPr lang="zh-CN" altLang="en-US" sz="2667" dirty="0">
                <a:solidFill>
                  <a:srgbClr val="C00000"/>
                </a:solidFill>
              </a:rPr>
              <a:t>多点接入</a:t>
            </a:r>
            <a:r>
              <a:rPr lang="zh-CN" altLang="en-US" sz="2667" dirty="0"/>
              <a:t>：说明这是</a:t>
            </a:r>
            <a:r>
              <a:rPr lang="zh-CN" altLang="en-US" sz="2667" dirty="0">
                <a:solidFill>
                  <a:srgbClr val="0000FF"/>
                </a:solidFill>
              </a:rPr>
              <a:t>总线型</a:t>
            </a:r>
            <a:r>
              <a:rPr lang="zh-CN" altLang="en-US" sz="2667" dirty="0"/>
              <a:t>网络。许多计算机以多点接入的方式连接在一根总线上。</a:t>
            </a:r>
            <a:endParaRPr lang="en-US" altLang="zh-CN" sz="2667" dirty="0"/>
          </a:p>
          <a:p>
            <a:pPr lvl="1"/>
            <a:endParaRPr lang="zh-CN" altLang="en-US" sz="2667" dirty="0"/>
          </a:p>
          <a:p>
            <a:pPr lvl="1"/>
            <a:r>
              <a:rPr lang="zh-CN" altLang="en-US" sz="2667" dirty="0">
                <a:solidFill>
                  <a:srgbClr val="C00000"/>
                </a:solidFill>
              </a:rPr>
              <a:t>载波监听</a:t>
            </a:r>
            <a:r>
              <a:rPr lang="zh-CN" altLang="en-US" sz="2667" dirty="0"/>
              <a:t>：即“边发送边监听”。不管在想要发送数据之前，还是在发送数据之中，每个站都必须不停地检测信道。</a:t>
            </a:r>
            <a:endParaRPr lang="en-US" altLang="zh-CN" sz="2667" dirty="0"/>
          </a:p>
          <a:p>
            <a:endParaRPr lang="zh-CN" altLang="en-US" sz="3200" dirty="0"/>
          </a:p>
        </p:txBody>
      </p:sp>
      <p:sp>
        <p:nvSpPr>
          <p:cNvPr id="1050500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CSMA/CD </a:t>
            </a:r>
            <a:r>
              <a:rPr lang="zh-CN" altLang="en-US" dirty="0"/>
              <a:t>协议的要点</a:t>
            </a:r>
            <a:endParaRPr lang="fr-FR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04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CSMA/CD </a:t>
            </a:r>
            <a:r>
              <a:rPr lang="zh-CN" altLang="en-US" dirty="0"/>
              <a:t>协议的要点</a:t>
            </a:r>
            <a:endParaRPr lang="fr-FR" altLang="zh-CN" dirty="0"/>
          </a:p>
        </p:txBody>
      </p:sp>
      <p:sp>
        <p:nvSpPr>
          <p:cNvPr id="1050505" name="内容占位符 1"/>
          <p:cNvSpPr>
            <a:spLocks noGrp="1"/>
          </p:cNvSpPr>
          <p:nvPr>
            <p:ph sz="quarter" idx="10"/>
          </p:nvPr>
        </p:nvSpPr>
        <p:spPr>
          <a:xfrm>
            <a:off x="621792" y="1879601"/>
            <a:ext cx="10838688" cy="3933065"/>
          </a:xfrm>
        </p:spPr>
        <p:txBody>
          <a:bodyPr/>
          <a:lstStyle/>
          <a:p>
            <a:pPr lvl="1"/>
            <a:r>
              <a:rPr lang="zh-CN" altLang="en-US" sz="2667" dirty="0">
                <a:solidFill>
                  <a:srgbClr val="C00000"/>
                </a:solidFill>
              </a:rPr>
              <a:t>碰撞检测</a:t>
            </a:r>
            <a:r>
              <a:rPr lang="zh-CN" altLang="en-US" sz="2667" dirty="0"/>
              <a:t>：适配器边发送数据，边检测信道上的信号电压的变化情况。电压摆动值超过一定的门限值时，就认为总线上至少有两个站同时在发送数据，表明产生了碰撞（或冲突）。</a:t>
            </a:r>
            <a:endParaRPr lang="en-US" altLang="zh-CN" sz="2667" dirty="0"/>
          </a:p>
          <a:p>
            <a:pPr lvl="2"/>
            <a:r>
              <a:rPr lang="zh-CN" altLang="en-US" sz="2400" dirty="0"/>
              <a:t>适配器</a:t>
            </a:r>
            <a:r>
              <a:rPr lang="zh-CN" altLang="en-US" sz="2400" dirty="0">
                <a:solidFill>
                  <a:srgbClr val="0000FF"/>
                </a:solidFill>
              </a:rPr>
              <a:t>立即停止</a:t>
            </a:r>
            <a:r>
              <a:rPr lang="zh-CN" altLang="en-US" sz="2400" dirty="0"/>
              <a:t>发送。</a:t>
            </a:r>
          </a:p>
          <a:p>
            <a:pPr lvl="2"/>
            <a:r>
              <a:rPr lang="zh-CN" altLang="en-US" sz="2400" dirty="0"/>
              <a:t>等待一段</a:t>
            </a:r>
            <a:r>
              <a:rPr lang="zh-CN" altLang="en-US" sz="2400" dirty="0">
                <a:solidFill>
                  <a:srgbClr val="0000FF"/>
                </a:solidFill>
              </a:rPr>
              <a:t>随机时间</a:t>
            </a:r>
            <a:r>
              <a:rPr lang="zh-CN" altLang="en-US" sz="2400" dirty="0"/>
              <a:t>后</a:t>
            </a:r>
            <a:r>
              <a:rPr lang="zh-CN" altLang="en-US" sz="2400" dirty="0">
                <a:solidFill>
                  <a:srgbClr val="0000FF"/>
                </a:solidFill>
              </a:rPr>
              <a:t>再次发送</a:t>
            </a:r>
            <a:r>
              <a:rPr lang="zh-CN" altLang="en-US" sz="2400" dirty="0"/>
              <a:t>。</a:t>
            </a:r>
          </a:p>
          <a:p>
            <a:pPr lvl="1"/>
            <a:endParaRPr lang="en-US" altLang="zh-CN" sz="2667" dirty="0"/>
          </a:p>
          <a:p>
            <a:endParaRPr lang="zh-CN" altLang="en-US" sz="3200" dirty="0"/>
          </a:p>
          <a:p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utoShape 5"/>
          <p:cNvSpPr>
            <a:spLocks noChangeArrowheads="1"/>
          </p:cNvSpPr>
          <p:nvPr/>
        </p:nvSpPr>
        <p:spPr bwMode="auto">
          <a:xfrm>
            <a:off x="670562" y="820901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4067886" y="790115"/>
            <a:ext cx="404309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CSMA/CD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协议工作流程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051910" y="1384011"/>
            <a:ext cx="1915969" cy="5210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准备发送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菱形 93"/>
          <p:cNvSpPr/>
          <p:nvPr/>
        </p:nvSpPr>
        <p:spPr>
          <a:xfrm>
            <a:off x="3051910" y="2963050"/>
            <a:ext cx="1915969" cy="667657"/>
          </a:xfrm>
          <a:prstGeom prst="diamond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侦听到载波？</a:t>
            </a:r>
          </a:p>
        </p:txBody>
      </p:sp>
      <p:sp>
        <p:nvSpPr>
          <p:cNvPr id="95" name="矩形 94"/>
          <p:cNvSpPr/>
          <p:nvPr/>
        </p:nvSpPr>
        <p:spPr>
          <a:xfrm>
            <a:off x="3051910" y="3926456"/>
            <a:ext cx="1915969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开始发送，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同时进行碰撞检测</a:t>
            </a:r>
          </a:p>
        </p:txBody>
      </p:sp>
      <p:sp>
        <p:nvSpPr>
          <p:cNvPr id="96" name="菱形 95"/>
          <p:cNvSpPr/>
          <p:nvPr/>
        </p:nvSpPr>
        <p:spPr>
          <a:xfrm>
            <a:off x="3051910" y="4675728"/>
            <a:ext cx="1915969" cy="667657"/>
          </a:xfrm>
          <a:prstGeom prst="diamond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检测到碰撞？</a:t>
            </a:r>
          </a:p>
        </p:txBody>
      </p:sp>
      <p:sp>
        <p:nvSpPr>
          <p:cNvPr id="97" name="矩形 96"/>
          <p:cNvSpPr/>
          <p:nvPr/>
        </p:nvSpPr>
        <p:spPr>
          <a:xfrm>
            <a:off x="3051910" y="5667153"/>
            <a:ext cx="1915969" cy="5210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发送，直到完毕</a:t>
            </a:r>
          </a:p>
        </p:txBody>
      </p:sp>
      <p:sp>
        <p:nvSpPr>
          <p:cNvPr id="98" name="矩形 97"/>
          <p:cNvSpPr/>
          <p:nvPr/>
        </p:nvSpPr>
        <p:spPr>
          <a:xfrm>
            <a:off x="3051910" y="2180776"/>
            <a:ext cx="1915969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载波侦听</a:t>
            </a:r>
          </a:p>
        </p:txBody>
      </p:sp>
      <p:cxnSp>
        <p:nvCxnSpPr>
          <p:cNvPr id="99" name="直接箭头连接符 98"/>
          <p:cNvCxnSpPr>
            <a:stCxn id="95" idx="2"/>
            <a:endCxn id="96" idx="0"/>
          </p:cNvCxnSpPr>
          <p:nvPr/>
        </p:nvCxnSpPr>
        <p:spPr>
          <a:xfrm>
            <a:off x="4009895" y="4447457"/>
            <a:ext cx="0" cy="228271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96" idx="2"/>
            <a:endCxn id="97" idx="0"/>
          </p:cNvCxnSpPr>
          <p:nvPr/>
        </p:nvCxnSpPr>
        <p:spPr>
          <a:xfrm>
            <a:off x="4009895" y="5343385"/>
            <a:ext cx="0" cy="323769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4" idx="2"/>
            <a:endCxn id="95" idx="0"/>
          </p:cNvCxnSpPr>
          <p:nvPr/>
        </p:nvCxnSpPr>
        <p:spPr>
          <a:xfrm>
            <a:off x="4009895" y="3630707"/>
            <a:ext cx="0" cy="295749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98" idx="2"/>
            <a:endCxn id="94" idx="0"/>
          </p:cNvCxnSpPr>
          <p:nvPr/>
        </p:nvCxnSpPr>
        <p:spPr>
          <a:xfrm>
            <a:off x="4009895" y="2701777"/>
            <a:ext cx="0" cy="261273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3" idx="2"/>
            <a:endCxn id="98" idx="0"/>
          </p:cNvCxnSpPr>
          <p:nvPr/>
        </p:nvCxnSpPr>
        <p:spPr>
          <a:xfrm>
            <a:off x="4009895" y="1905011"/>
            <a:ext cx="0" cy="275765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7066870" y="4749824"/>
            <a:ext cx="1915969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停止发送</a:t>
            </a:r>
            <a:endParaRPr lang="en-US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7066869" y="1384009"/>
            <a:ext cx="1915969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等待随机时间</a:t>
            </a:r>
            <a:endParaRPr lang="en-US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6" name="直接箭头连接符 105"/>
          <p:cNvCxnSpPr>
            <a:stCxn id="96" idx="3"/>
            <a:endCxn id="104" idx="1"/>
          </p:cNvCxnSpPr>
          <p:nvPr/>
        </p:nvCxnSpPr>
        <p:spPr>
          <a:xfrm>
            <a:off x="4967879" y="5009556"/>
            <a:ext cx="2098991" cy="768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104" idx="0"/>
            <a:endCxn id="105" idx="2"/>
          </p:cNvCxnSpPr>
          <p:nvPr/>
        </p:nvCxnSpPr>
        <p:spPr>
          <a:xfrm flipH="1" flipV="1">
            <a:off x="8024854" y="1905010"/>
            <a:ext cx="1" cy="2844815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stCxn id="105" idx="1"/>
            <a:endCxn id="93" idx="3"/>
          </p:cNvCxnSpPr>
          <p:nvPr/>
        </p:nvCxnSpPr>
        <p:spPr>
          <a:xfrm flipH="1">
            <a:off x="4967879" y="1644510"/>
            <a:ext cx="2098989" cy="1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肘形连接符 108"/>
          <p:cNvCxnSpPr>
            <a:stCxn id="94" idx="3"/>
          </p:cNvCxnSpPr>
          <p:nvPr/>
        </p:nvCxnSpPr>
        <p:spPr>
          <a:xfrm flipV="1">
            <a:off x="4967880" y="1644511"/>
            <a:ext cx="1371593" cy="1652368"/>
          </a:xfrm>
          <a:prstGeom prst="bentConnector2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025938" y="2963038"/>
            <a:ext cx="1210588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是，信道忙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67329" y="4666760"/>
            <a:ext cx="389850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72361" y="5315454"/>
            <a:ext cx="389850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72361" y="3563670"/>
            <a:ext cx="389850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238399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70562" y="885936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54843" y="855150"/>
            <a:ext cx="10440275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为什么要进行碰撞检测？ 因为信号传播时延对载波监听产生了影响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70563" y="1475232"/>
            <a:ext cx="10838685" cy="351129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3818108" y="2286751"/>
            <a:ext cx="3978187" cy="0"/>
          </a:xfrm>
          <a:prstGeom prst="line">
            <a:avLst/>
          </a:prstGeom>
          <a:noFill/>
          <a:ln w="57150" cmpd="sng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3959371" y="2059116"/>
            <a:ext cx="3611999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 type="triangl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407487" y="1711501"/>
            <a:ext cx="839976" cy="4070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867" b="1" dirty="0">
                <a:solidFill>
                  <a:srgbClr val="CC3300"/>
                </a:solidFill>
                <a:latin typeface="微软雅黑" pitchFamily="34" charset="-122"/>
                <a:ea typeface="微软雅黑" pitchFamily="34" charset="-122"/>
              </a:rPr>
              <a:t>1 km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3808624" y="2290504"/>
            <a:ext cx="0" cy="14245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3812688" y="2290504"/>
            <a:ext cx="3967347" cy="68415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627546" y="1876395"/>
            <a:ext cx="448843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2133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556513" y="1895270"/>
            <a:ext cx="431210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2133" b="1" dirty="0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>
            <a:off x="3708357" y="2560664"/>
            <a:ext cx="5420" cy="85925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326301" y="2797683"/>
            <a:ext cx="357472" cy="44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2133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>
            <a:off x="7796295" y="2281748"/>
            <a:ext cx="0" cy="116944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 flipH="1">
            <a:off x="3808624" y="2844582"/>
            <a:ext cx="3986317" cy="692909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Group 13"/>
          <p:cNvGrpSpPr>
            <a:grpSpLocks/>
          </p:cNvGrpSpPr>
          <p:nvPr/>
        </p:nvGrpSpPr>
        <p:grpSpPr bwMode="auto">
          <a:xfrm>
            <a:off x="6579534" y="1996579"/>
            <a:ext cx="1048745" cy="915541"/>
            <a:chOff x="3240" y="179"/>
            <a:chExt cx="774" cy="732"/>
          </a:xfrm>
        </p:grpSpPr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3755" y="728"/>
              <a:ext cx="112" cy="1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3240" y="179"/>
              <a:ext cx="774" cy="721"/>
            </a:xfrm>
            <a:prstGeom prst="irregularSeal1">
              <a:avLst/>
            </a:prstGeom>
            <a:solidFill>
              <a:srgbClr val="CC00CC"/>
            </a:solidFill>
            <a:ln w="12700">
              <a:solidFill>
                <a:srgbClr val="CC00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015975" eaLnBrk="0" hangingPunct="0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碰撞</a:t>
              </a:r>
            </a:p>
          </p:txBody>
        </p:sp>
      </p:grpSp>
      <p:grpSp>
        <p:nvGrpSpPr>
          <p:cNvPr id="22" name="Group 16"/>
          <p:cNvGrpSpPr>
            <a:grpSpLocks/>
          </p:cNvGrpSpPr>
          <p:nvPr/>
        </p:nvGrpSpPr>
        <p:grpSpPr bwMode="auto">
          <a:xfrm>
            <a:off x="2184019" y="3309857"/>
            <a:ext cx="3284443" cy="1387069"/>
            <a:chOff x="-4" y="1229"/>
            <a:chExt cx="2424" cy="1109"/>
          </a:xfrm>
        </p:grpSpPr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-4" y="1229"/>
              <a:ext cx="924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0" hangingPunct="0"/>
              <a:r>
                <a:rPr kumimoji="1" lang="en-US" altLang="zh-CN" sz="1867" b="1" i="1" dirty="0">
                  <a:latin typeface="微软雅黑" pitchFamily="34" charset="-122"/>
                  <a:ea typeface="微软雅黑" pitchFamily="34" charset="-122"/>
                </a:rPr>
                <a:t>t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 = 2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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 </a:t>
              </a: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913" y="1417"/>
              <a:ext cx="2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5" name="Group 19"/>
            <p:cNvGrpSpPr>
              <a:grpSpLocks/>
            </p:cNvGrpSpPr>
            <p:nvPr/>
          </p:nvGrpSpPr>
          <p:grpSpPr bwMode="auto">
            <a:xfrm>
              <a:off x="1251" y="1683"/>
              <a:ext cx="1169" cy="655"/>
              <a:chOff x="1251" y="1683"/>
              <a:chExt cx="1169" cy="655"/>
            </a:xfrm>
          </p:grpSpPr>
          <p:sp>
            <p:nvSpPr>
              <p:cNvPr id="26" name="AutoShape 20"/>
              <p:cNvSpPr>
                <a:spLocks noChangeArrowheads="1"/>
              </p:cNvSpPr>
              <p:nvPr/>
            </p:nvSpPr>
            <p:spPr bwMode="auto">
              <a:xfrm>
                <a:off x="1251" y="1683"/>
                <a:ext cx="1034" cy="655"/>
              </a:xfrm>
              <a:prstGeom prst="wedgeRoundRectCallout">
                <a:avLst>
                  <a:gd name="adj1" fmla="val -52346"/>
                  <a:gd name="adj2" fmla="val -88408"/>
                  <a:gd name="adj3" fmla="val 166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1015975" eaLnBrk="0" hangingPunct="0"/>
                <a:endParaRPr kumimoji="1" lang="zh-CN" altLang="zh-CN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Text Box 21"/>
              <p:cNvSpPr txBox="1">
                <a:spLocks noChangeArrowheads="1"/>
              </p:cNvSpPr>
              <p:nvPr/>
            </p:nvSpPr>
            <p:spPr bwMode="auto">
              <a:xfrm>
                <a:off x="1258" y="1755"/>
                <a:ext cx="1162" cy="5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A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检测到发生碰撞</a:t>
                </a:r>
              </a:p>
            </p:txBody>
          </p:sp>
        </p:grpSp>
      </p:grpSp>
      <p:grpSp>
        <p:nvGrpSpPr>
          <p:cNvPr id="28" name="Group 22"/>
          <p:cNvGrpSpPr>
            <a:grpSpLocks/>
          </p:cNvGrpSpPr>
          <p:nvPr/>
        </p:nvGrpSpPr>
        <p:grpSpPr bwMode="auto">
          <a:xfrm>
            <a:off x="7835589" y="1909027"/>
            <a:ext cx="2041941" cy="1155685"/>
            <a:chOff x="4167" y="109"/>
            <a:chExt cx="1507" cy="924"/>
          </a:xfrm>
        </p:grpSpPr>
        <p:grpSp>
          <p:nvGrpSpPr>
            <p:cNvPr id="29" name="Group 23"/>
            <p:cNvGrpSpPr>
              <a:grpSpLocks/>
            </p:cNvGrpSpPr>
            <p:nvPr/>
          </p:nvGrpSpPr>
          <p:grpSpPr bwMode="auto">
            <a:xfrm>
              <a:off x="4167" y="697"/>
              <a:ext cx="1320" cy="336"/>
              <a:chOff x="4167" y="697"/>
              <a:chExt cx="1320" cy="336"/>
            </a:xfrm>
          </p:grpSpPr>
          <p:sp>
            <p:nvSpPr>
              <p:cNvPr id="33" name="Line 24"/>
              <p:cNvSpPr>
                <a:spLocks noChangeShapeType="1"/>
              </p:cNvSpPr>
              <p:nvPr/>
            </p:nvSpPr>
            <p:spPr bwMode="auto">
              <a:xfrm flipH="1">
                <a:off x="4167" y="847"/>
                <a:ext cx="26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" name="Text Box 25"/>
              <p:cNvSpPr txBox="1">
                <a:spLocks noChangeArrowheads="1"/>
              </p:cNvSpPr>
              <p:nvPr/>
            </p:nvSpPr>
            <p:spPr bwMode="auto">
              <a:xfrm>
                <a:off x="4411" y="697"/>
                <a:ext cx="1076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2133" b="1" i="1" dirty="0">
                    <a:latin typeface="微软雅黑" pitchFamily="34" charset="-122"/>
                    <a:ea typeface="微软雅黑" pitchFamily="34" charset="-122"/>
                  </a:rPr>
                  <a:t>  t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</a:rPr>
                  <a:t> = 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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kumimoji="1" lang="en-US" altLang="zh-CN" sz="2133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 </a:t>
                </a:r>
                <a:r>
                  <a:rPr kumimoji="1" lang="en-US" altLang="zh-CN" sz="2133" b="1" baseline="30000" dirty="0">
                    <a:latin typeface="微软雅黑" pitchFamily="34" charset="-122"/>
                    <a:ea typeface="微软雅黑" pitchFamily="34" charset="-122"/>
                  </a:rPr>
                  <a:t> </a:t>
                </a:r>
              </a:p>
            </p:txBody>
          </p:sp>
        </p:grpSp>
        <p:grpSp>
          <p:nvGrpSpPr>
            <p:cNvPr id="30" name="Group 26"/>
            <p:cNvGrpSpPr>
              <a:grpSpLocks/>
            </p:cNvGrpSpPr>
            <p:nvPr/>
          </p:nvGrpSpPr>
          <p:grpSpPr bwMode="auto">
            <a:xfrm>
              <a:off x="4352" y="109"/>
              <a:ext cx="1322" cy="363"/>
              <a:chOff x="4352" y="109"/>
              <a:chExt cx="1322" cy="363"/>
            </a:xfrm>
          </p:grpSpPr>
          <p:sp>
            <p:nvSpPr>
              <p:cNvPr id="31" name="AutoShape 27"/>
              <p:cNvSpPr>
                <a:spLocks noChangeArrowheads="1"/>
              </p:cNvSpPr>
              <p:nvPr/>
            </p:nvSpPr>
            <p:spPr bwMode="auto">
              <a:xfrm>
                <a:off x="4406" y="109"/>
                <a:ext cx="1169" cy="363"/>
              </a:xfrm>
              <a:prstGeom prst="wedgeRoundRectCallout">
                <a:avLst>
                  <a:gd name="adj1" fmla="val -70042"/>
                  <a:gd name="adj2" fmla="val 145528"/>
                  <a:gd name="adj3" fmla="val 166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1015975" eaLnBrk="0" hangingPunct="0"/>
                <a:endParaRPr kumimoji="1" lang="zh-CN" altLang="zh-CN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Text Box 28"/>
              <p:cNvSpPr txBox="1">
                <a:spLocks noChangeArrowheads="1"/>
              </p:cNvSpPr>
              <p:nvPr/>
            </p:nvSpPr>
            <p:spPr bwMode="auto">
              <a:xfrm>
                <a:off x="4352" y="126"/>
                <a:ext cx="1322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254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  B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发送数据</a:t>
                </a:r>
              </a:p>
            </p:txBody>
          </p:sp>
        </p:grpSp>
      </p:grpSp>
      <p:grpSp>
        <p:nvGrpSpPr>
          <p:cNvPr id="35" name="Group 29"/>
          <p:cNvGrpSpPr>
            <a:grpSpLocks/>
          </p:cNvGrpSpPr>
          <p:nvPr/>
        </p:nvGrpSpPr>
        <p:grpSpPr bwMode="auto">
          <a:xfrm>
            <a:off x="6293636" y="2854587"/>
            <a:ext cx="2825111" cy="1210715"/>
            <a:chOff x="3029" y="865"/>
            <a:chExt cx="2085" cy="968"/>
          </a:xfrm>
        </p:grpSpPr>
        <p:grpSp>
          <p:nvGrpSpPr>
            <p:cNvPr id="36" name="Group 30"/>
            <p:cNvGrpSpPr>
              <a:grpSpLocks/>
            </p:cNvGrpSpPr>
            <p:nvPr/>
          </p:nvGrpSpPr>
          <p:grpSpPr bwMode="auto">
            <a:xfrm>
              <a:off x="3029" y="1223"/>
              <a:ext cx="1095" cy="610"/>
              <a:chOff x="3029" y="1223"/>
              <a:chExt cx="1095" cy="610"/>
            </a:xfrm>
          </p:grpSpPr>
          <p:sp>
            <p:nvSpPr>
              <p:cNvPr id="39" name="AutoShape 31"/>
              <p:cNvSpPr>
                <a:spLocks noChangeArrowheads="1"/>
              </p:cNvSpPr>
              <p:nvPr/>
            </p:nvSpPr>
            <p:spPr bwMode="auto">
              <a:xfrm>
                <a:off x="3029" y="1223"/>
                <a:ext cx="966" cy="610"/>
              </a:xfrm>
              <a:prstGeom prst="wedgeRoundRectCallout">
                <a:avLst>
                  <a:gd name="adj1" fmla="val 61231"/>
                  <a:gd name="adj2" fmla="val -88745"/>
                  <a:gd name="adj3" fmla="val 166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1015975" eaLnBrk="0" hangingPunct="0"/>
                <a:endParaRPr kumimoji="1" lang="zh-CN" altLang="zh-CN" sz="2133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0" name="Text Box 32"/>
              <p:cNvSpPr txBox="1">
                <a:spLocks noChangeArrowheads="1"/>
              </p:cNvSpPr>
              <p:nvPr/>
            </p:nvSpPr>
            <p:spPr bwMode="auto">
              <a:xfrm>
                <a:off x="3101" y="1260"/>
                <a:ext cx="1023" cy="5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0" hangingPunct="0"/>
                <a:r>
                  <a:rPr kumimoji="1" lang="en-US" altLang="zh-CN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B </a:t>
                </a:r>
                <a:r>
                  <a:rPr kumimoji="1" lang="zh-CN" altLang="en-US" sz="1867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检测到发生碰撞</a:t>
                </a:r>
              </a:p>
            </p:txBody>
          </p:sp>
        </p:grp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 flipH="1">
              <a:off x="4167" y="964"/>
              <a:ext cx="2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410" y="865"/>
              <a:ext cx="70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0" hangingPunct="0"/>
              <a:r>
                <a:rPr kumimoji="1" lang="en-US" altLang="zh-CN" sz="2133" b="1" i="1" dirty="0">
                  <a:latin typeface="微软雅黑" pitchFamily="34" charset="-122"/>
                  <a:ea typeface="微软雅黑" pitchFamily="34" charset="-122"/>
                </a:rPr>
                <a:t>  t</a:t>
              </a:r>
              <a:r>
                <a:rPr kumimoji="1" lang="en-US" altLang="zh-CN" sz="2133" b="1" dirty="0">
                  <a:latin typeface="微软雅黑" pitchFamily="34" charset="-122"/>
                  <a:ea typeface="微软雅黑" pitchFamily="34" charset="-122"/>
                </a:rPr>
                <a:t> = </a:t>
              </a:r>
              <a:r>
                <a:rPr kumimoji="1" lang="en-US" altLang="zh-CN" sz="2133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41" name="Text Box 35"/>
          <p:cNvSpPr txBox="1">
            <a:spLocks noChangeArrowheads="1"/>
          </p:cNvSpPr>
          <p:nvPr/>
        </p:nvSpPr>
        <p:spPr bwMode="auto">
          <a:xfrm>
            <a:off x="2708425" y="2076637"/>
            <a:ext cx="755335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867" b="1" i="1" dirty="0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867" b="1" dirty="0">
                <a:latin typeface="微软雅黑" pitchFamily="34" charset="-122"/>
                <a:ea typeface="微软雅黑" pitchFamily="34" charset="-122"/>
              </a:rPr>
              <a:t> = 0</a:t>
            </a:r>
            <a:endParaRPr kumimoji="1" lang="en-US" altLang="zh-CN" sz="1867" b="1" baseline="30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Line 36"/>
          <p:cNvSpPr>
            <a:spLocks noChangeShapeType="1"/>
          </p:cNvSpPr>
          <p:nvPr/>
        </p:nvSpPr>
        <p:spPr bwMode="auto">
          <a:xfrm>
            <a:off x="3426523" y="2286751"/>
            <a:ext cx="3522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33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Text Box 37"/>
          <p:cNvSpPr txBox="1">
            <a:spLocks noChangeArrowheads="1"/>
          </p:cNvSpPr>
          <p:nvPr/>
        </p:nvSpPr>
        <p:spPr bwMode="auto">
          <a:xfrm>
            <a:off x="7907991" y="3273563"/>
            <a:ext cx="1864613" cy="66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单程端到端</a:t>
            </a:r>
          </a:p>
          <a:p>
            <a:pPr algn="ctr"/>
            <a:r>
              <a:rPr lang="zh-CN" altLang="en-US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传播时延记为 </a:t>
            </a:r>
            <a:r>
              <a:rPr lang="zh-CN" altLang="en-US" sz="1867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</a:t>
            </a:r>
            <a:r>
              <a:rPr lang="zh-CN" altLang="en-US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670563" y="5112400"/>
            <a:ext cx="10838685" cy="678800"/>
            <a:chOff x="502922" y="3477684"/>
            <a:chExt cx="8129014" cy="509100"/>
          </a:xfrm>
        </p:grpSpPr>
        <p:sp>
          <p:nvSpPr>
            <p:cNvPr id="45" name="对角圆角矩形 44"/>
            <p:cNvSpPr/>
            <p:nvPr/>
          </p:nvSpPr>
          <p:spPr>
            <a:xfrm>
              <a:off x="502922" y="3477684"/>
              <a:ext cx="8129014" cy="509100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877824" y="3513507"/>
              <a:ext cx="7699646" cy="383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600"/>
                </a:lnSpc>
                <a:spcBef>
                  <a:spcPts val="800"/>
                </a:spcBef>
              </a:pP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需要单程传播时延的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倍的时间，才能检测到与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B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的发送产生了冲突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57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4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65" name="Rectangle 46"/>
          <p:cNvSpPr>
            <a:spLocks noChangeArrowheads="1"/>
          </p:cNvSpPr>
          <p:nvPr/>
        </p:nvSpPr>
        <p:spPr bwMode="auto">
          <a:xfrm>
            <a:off x="670562" y="1786616"/>
            <a:ext cx="10838687" cy="22415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不能进行全双工通信，只能进行双向交替通信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每一个站在自己发送数据之后的一小段时间内，存在着遭遇碰撞的可能性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以太网的站点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正在发送帧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的时候才会进行碰撞检测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66" name="AutoShape 5"/>
          <p:cNvSpPr>
            <a:spLocks noChangeArrowheads="1"/>
          </p:cNvSpPr>
          <p:nvPr/>
        </p:nvSpPr>
        <p:spPr bwMode="auto">
          <a:xfrm>
            <a:off x="670562" y="836544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567" name="Rectangle 6"/>
          <p:cNvSpPr>
            <a:spLocks noChangeArrowheads="1"/>
          </p:cNvSpPr>
          <p:nvPr/>
        </p:nvSpPr>
        <p:spPr bwMode="auto">
          <a:xfrm>
            <a:off x="4067886" y="801199"/>
            <a:ext cx="4043094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CSMA/CD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协议重要特性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46"/>
          <p:cNvSpPr>
            <a:spLocks noChangeArrowheads="1"/>
          </p:cNvSpPr>
          <p:nvPr/>
        </p:nvSpPr>
        <p:spPr bwMode="auto">
          <a:xfrm>
            <a:off x="670562" y="2196470"/>
            <a:ext cx="10838687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最先发送数据帧的站，在发送数据帧后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至多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经过时间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667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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（两倍的端到端往返时延）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就可知道发送的数据帧是否遭受了碰撞。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以太网的端到端往返时延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 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争用期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，或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碰撞窗口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7189" indent="-457189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经过争用期这段时间还没有检测到碰撞，才能肯定这次发送不会发生碰撞。</a:t>
            </a:r>
          </a:p>
        </p:txBody>
      </p:sp>
      <p:sp>
        <p:nvSpPr>
          <p:cNvPr id="65" name="AutoShape 5"/>
          <p:cNvSpPr>
            <a:spLocks noChangeArrowheads="1"/>
          </p:cNvSpPr>
          <p:nvPr/>
        </p:nvSpPr>
        <p:spPr bwMode="auto">
          <a:xfrm>
            <a:off x="670562" y="1669045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6" name="Rectangle 6"/>
          <p:cNvSpPr>
            <a:spLocks noChangeArrowheads="1"/>
          </p:cNvSpPr>
          <p:nvPr/>
        </p:nvSpPr>
        <p:spPr bwMode="auto">
          <a:xfrm>
            <a:off x="5484938" y="1638259"/>
            <a:ext cx="1208985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争用期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92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78" name="Rectangle 46"/>
          <p:cNvSpPr>
            <a:spLocks noChangeArrowheads="1"/>
          </p:cNvSpPr>
          <p:nvPr/>
        </p:nvSpPr>
        <p:spPr bwMode="auto">
          <a:xfrm>
            <a:off x="670562" y="1308438"/>
            <a:ext cx="11070335" cy="11387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争用期的长度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 51.2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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对于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 Mbit/s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以太网，在争用期内可发送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512 bit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，即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50579" name="AutoShape 5"/>
          <p:cNvSpPr>
            <a:spLocks noChangeArrowheads="1"/>
          </p:cNvSpPr>
          <p:nvPr/>
        </p:nvSpPr>
        <p:spPr bwMode="auto">
          <a:xfrm>
            <a:off x="670562" y="83027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580" name="Rectangle 6"/>
          <p:cNvSpPr>
            <a:spLocks noChangeArrowheads="1"/>
          </p:cNvSpPr>
          <p:nvPr/>
        </p:nvSpPr>
        <p:spPr bwMode="auto">
          <a:xfrm>
            <a:off x="3570952" y="799485"/>
            <a:ext cx="5036956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 Mbit/s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争用期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的长度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81" name="对角圆角矩形 10"/>
          <p:cNvSpPr/>
          <p:nvPr/>
        </p:nvSpPr>
        <p:spPr>
          <a:xfrm>
            <a:off x="1027701" y="2590862"/>
            <a:ext cx="10339179" cy="2952183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50582" name="矩形 11"/>
          <p:cNvSpPr/>
          <p:nvPr/>
        </p:nvSpPr>
        <p:spPr>
          <a:xfrm>
            <a:off x="1325611" y="2710719"/>
            <a:ext cx="9905808" cy="2610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这意味着：</a:t>
            </a:r>
          </a:p>
          <a:p>
            <a:pPr marL="457189" indent="-457189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以太网在发送数据时，若前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字节没有发生冲突，则后续的数据就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不会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发生冲突。</a:t>
            </a:r>
            <a:endParaRPr lang="en-US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以太网规定了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最短有效帧长为 </a:t>
            </a:r>
            <a:r>
              <a:rPr lang="en-US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字节。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凡长度小于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字节的帧都是由于冲突而异常中止的无效帧，应当立即将其丢弃。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86" name="对角圆角矩形 6"/>
          <p:cNvSpPr/>
          <p:nvPr/>
        </p:nvSpPr>
        <p:spPr>
          <a:xfrm>
            <a:off x="1036139" y="2586826"/>
            <a:ext cx="10286520" cy="1516049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50587" name="AutoShape 5"/>
          <p:cNvSpPr>
            <a:spLocks noChangeArrowheads="1"/>
          </p:cNvSpPr>
          <p:nvPr/>
        </p:nvSpPr>
        <p:spPr bwMode="auto">
          <a:xfrm>
            <a:off x="670562" y="827684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588" name="Rectangle 6"/>
          <p:cNvSpPr>
            <a:spLocks noChangeArrowheads="1"/>
          </p:cNvSpPr>
          <p:nvPr/>
        </p:nvSpPr>
        <p:spPr bwMode="auto">
          <a:xfrm>
            <a:off x="4119179" y="796897"/>
            <a:ext cx="3940501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以太网的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最大端到端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长度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89" name="矩形 1"/>
          <p:cNvSpPr/>
          <p:nvPr/>
        </p:nvSpPr>
        <p:spPr>
          <a:xfrm>
            <a:off x="1233856" y="2743681"/>
            <a:ext cx="10088803" cy="107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以太网最大端到端单程时延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必须小于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争用期的一半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即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25.6 </a:t>
            </a:r>
            <a:r>
              <a:rPr lang="en-US" altLang="zh-CN" sz="2667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μs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，相当于以太网的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最大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端到端长度约为 </a:t>
            </a:r>
            <a:r>
              <a:rPr lang="en-US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5 km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50590" name="Rectangle 46"/>
          <p:cNvSpPr>
            <a:spLocks noChangeArrowheads="1"/>
          </p:cNvSpPr>
          <p:nvPr/>
        </p:nvSpPr>
        <p:spPr bwMode="auto">
          <a:xfrm>
            <a:off x="670562" y="1308438"/>
            <a:ext cx="11070335" cy="11387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争用期的长度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 51.2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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对于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 Mbit/s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以太网，在争用期内可发送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512 bit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，即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50591" name="Text Box 21"/>
          <p:cNvSpPr txBox="1">
            <a:spLocks noChangeArrowheads="1"/>
          </p:cNvSpPr>
          <p:nvPr/>
        </p:nvSpPr>
        <p:spPr bwMode="auto">
          <a:xfrm>
            <a:off x="2265109" y="5184395"/>
            <a:ext cx="8026296" cy="5027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sz="2667" b="1" dirty="0">
                <a:latin typeface="微软雅黑" pitchFamily="34" charset="-122"/>
                <a:ea typeface="微软雅黑" pitchFamily="34" charset="-122"/>
              </a:rPr>
              <a:t>思考：如果是</a:t>
            </a:r>
            <a:r>
              <a:rPr kumimoji="1" lang="en-US" altLang="zh-CN" sz="2667" b="1" dirty="0">
                <a:latin typeface="微软雅黑" pitchFamily="34" charset="-122"/>
                <a:ea typeface="微软雅黑" pitchFamily="34" charset="-122"/>
              </a:rPr>
              <a:t>100Mb/s</a:t>
            </a:r>
            <a:r>
              <a:rPr kumimoji="1" lang="zh-CN" altLang="en-US" sz="2667" b="1" dirty="0">
                <a:latin typeface="微软雅黑" pitchFamily="34" charset="-122"/>
                <a:ea typeface="微软雅黑" pitchFamily="34" charset="-122"/>
              </a:rPr>
              <a:t>的以太网，争用期是多少？</a:t>
            </a:r>
            <a:endParaRPr kumimoji="1" lang="zh-CN" altLang="en-US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75" name="AutoShape 5"/>
          <p:cNvSpPr>
            <a:spLocks noChangeArrowheads="1"/>
          </p:cNvSpPr>
          <p:nvPr/>
        </p:nvSpPr>
        <p:spPr bwMode="auto">
          <a:xfrm>
            <a:off x="670562" y="828767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676" name="Rectangle 6"/>
          <p:cNvSpPr>
            <a:spLocks noChangeArrowheads="1"/>
          </p:cNvSpPr>
          <p:nvPr/>
        </p:nvSpPr>
        <p:spPr bwMode="auto">
          <a:xfrm>
            <a:off x="4238606" y="797980"/>
            <a:ext cx="3701654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CSMA/CD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协议的要点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677" name="矩形 3"/>
          <p:cNvSpPr/>
          <p:nvPr/>
        </p:nvSpPr>
        <p:spPr>
          <a:xfrm>
            <a:off x="1728717" y="1380553"/>
            <a:ext cx="3239164" cy="5210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准备发送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678" name="菱形 4"/>
          <p:cNvSpPr/>
          <p:nvPr/>
        </p:nvSpPr>
        <p:spPr>
          <a:xfrm>
            <a:off x="1808871" y="2983784"/>
            <a:ext cx="3078853" cy="667657"/>
          </a:xfrm>
          <a:prstGeom prst="diamond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侦听到载波？</a:t>
            </a:r>
          </a:p>
        </p:txBody>
      </p:sp>
      <p:sp>
        <p:nvSpPr>
          <p:cNvPr id="1050679" name="矩形 5"/>
          <p:cNvSpPr/>
          <p:nvPr/>
        </p:nvSpPr>
        <p:spPr>
          <a:xfrm>
            <a:off x="1728717" y="3915728"/>
            <a:ext cx="3239164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96 bit 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时间内仍然空闲，开始发送，同时进行碰撞检测</a:t>
            </a:r>
          </a:p>
        </p:txBody>
      </p:sp>
      <p:sp>
        <p:nvSpPr>
          <p:cNvPr id="1050680" name="菱形 6"/>
          <p:cNvSpPr/>
          <p:nvPr/>
        </p:nvSpPr>
        <p:spPr>
          <a:xfrm>
            <a:off x="1728717" y="4696461"/>
            <a:ext cx="3239164" cy="667657"/>
          </a:xfrm>
          <a:prstGeom prst="diamond">
            <a:avLst/>
          </a:prstGeom>
          <a:solidFill>
            <a:srgbClr val="0033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检测到碰撞？</a:t>
            </a:r>
          </a:p>
        </p:txBody>
      </p:sp>
      <p:sp>
        <p:nvSpPr>
          <p:cNvPr id="1050681" name="矩形 7"/>
          <p:cNvSpPr/>
          <p:nvPr/>
        </p:nvSpPr>
        <p:spPr>
          <a:xfrm>
            <a:off x="1728717" y="5648560"/>
            <a:ext cx="3239164" cy="521000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发送，直到完毕</a:t>
            </a:r>
          </a:p>
        </p:txBody>
      </p:sp>
      <p:sp>
        <p:nvSpPr>
          <p:cNvPr id="1050682" name="矩形 8"/>
          <p:cNvSpPr/>
          <p:nvPr/>
        </p:nvSpPr>
        <p:spPr>
          <a:xfrm>
            <a:off x="1728717" y="2201509"/>
            <a:ext cx="3239164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载波侦听，检测信道</a:t>
            </a:r>
          </a:p>
        </p:txBody>
      </p:sp>
      <p:cxnSp>
        <p:nvCxnSpPr>
          <p:cNvPr id="3145801" name="直接箭头连接符 9"/>
          <p:cNvCxnSpPr>
            <a:cxnSpLocks/>
          </p:cNvCxnSpPr>
          <p:nvPr/>
        </p:nvCxnSpPr>
        <p:spPr>
          <a:xfrm>
            <a:off x="3348297" y="4436729"/>
            <a:ext cx="0" cy="259732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2" name="直接箭头连接符 10"/>
          <p:cNvCxnSpPr>
            <a:cxnSpLocks/>
          </p:cNvCxnSpPr>
          <p:nvPr/>
        </p:nvCxnSpPr>
        <p:spPr>
          <a:xfrm>
            <a:off x="3348297" y="5364117"/>
            <a:ext cx="0" cy="284443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3" name="直接箭头连接符 11"/>
          <p:cNvCxnSpPr>
            <a:cxnSpLocks/>
          </p:cNvCxnSpPr>
          <p:nvPr/>
        </p:nvCxnSpPr>
        <p:spPr>
          <a:xfrm>
            <a:off x="3348298" y="3651440"/>
            <a:ext cx="1" cy="264288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4" name="直接箭头连接符 12"/>
          <p:cNvCxnSpPr>
            <a:cxnSpLocks/>
          </p:cNvCxnSpPr>
          <p:nvPr/>
        </p:nvCxnSpPr>
        <p:spPr>
          <a:xfrm flipH="1">
            <a:off x="3348298" y="2722510"/>
            <a:ext cx="1" cy="261273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5" name="直接箭头连接符 13"/>
          <p:cNvCxnSpPr>
            <a:cxnSpLocks/>
          </p:cNvCxnSpPr>
          <p:nvPr/>
        </p:nvCxnSpPr>
        <p:spPr>
          <a:xfrm>
            <a:off x="3348297" y="1925744"/>
            <a:ext cx="0" cy="275765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683" name="矩形 14"/>
          <p:cNvSpPr/>
          <p:nvPr/>
        </p:nvSpPr>
        <p:spPr>
          <a:xfrm>
            <a:off x="7066869" y="4770557"/>
            <a:ext cx="3141656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停止发送数据</a:t>
            </a:r>
            <a:endParaRPr lang="en-US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684" name="矩形 15"/>
          <p:cNvSpPr/>
          <p:nvPr/>
        </p:nvSpPr>
        <p:spPr>
          <a:xfrm>
            <a:off x="7066868" y="1380553"/>
            <a:ext cx="3141656" cy="521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等待随机时间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（截断二进制指数算法）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45806" name="直接箭头连接符 16"/>
          <p:cNvCxnSpPr>
            <a:cxnSpLocks/>
            <a:stCxn id="1050680" idx="3"/>
            <a:endCxn id="1050683" idx="1"/>
          </p:cNvCxnSpPr>
          <p:nvPr/>
        </p:nvCxnSpPr>
        <p:spPr>
          <a:xfrm>
            <a:off x="4967880" y="5030289"/>
            <a:ext cx="2098989" cy="768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7" name="直接箭头连接符 17"/>
          <p:cNvCxnSpPr>
            <a:cxnSpLocks/>
            <a:stCxn id="1050689" idx="0"/>
            <a:endCxn id="1050684" idx="2"/>
          </p:cNvCxnSpPr>
          <p:nvPr/>
        </p:nvCxnSpPr>
        <p:spPr>
          <a:xfrm flipH="1" flipV="1">
            <a:off x="8637697" y="1901554"/>
            <a:ext cx="1" cy="1818173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8" name="直接箭头连接符 18"/>
          <p:cNvCxnSpPr>
            <a:cxnSpLocks/>
            <a:stCxn id="1050684" idx="1"/>
            <a:endCxn id="1050677" idx="3"/>
          </p:cNvCxnSpPr>
          <p:nvPr/>
        </p:nvCxnSpPr>
        <p:spPr>
          <a:xfrm flipH="1">
            <a:off x="4967881" y="1641053"/>
            <a:ext cx="2098988" cy="0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9" name="肘形连接符 19"/>
          <p:cNvCxnSpPr>
            <a:cxnSpLocks/>
            <a:stCxn id="1050678" idx="3"/>
          </p:cNvCxnSpPr>
          <p:nvPr/>
        </p:nvCxnSpPr>
        <p:spPr>
          <a:xfrm flipV="1">
            <a:off x="4887725" y="1665244"/>
            <a:ext cx="1287972" cy="1652368"/>
          </a:xfrm>
          <a:prstGeom prst="bentConnector2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685" name="TextBox 20"/>
          <p:cNvSpPr txBox="1"/>
          <p:nvPr/>
        </p:nvSpPr>
        <p:spPr>
          <a:xfrm>
            <a:off x="4807570" y="2983771"/>
            <a:ext cx="1210588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是，信道忙</a:t>
            </a:r>
          </a:p>
        </p:txBody>
      </p:sp>
      <p:sp>
        <p:nvSpPr>
          <p:cNvPr id="1050686" name="TextBox 21"/>
          <p:cNvSpPr txBox="1"/>
          <p:nvPr/>
        </p:nvSpPr>
        <p:spPr>
          <a:xfrm>
            <a:off x="5067329" y="4687494"/>
            <a:ext cx="1415772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是，发送失败</a:t>
            </a:r>
          </a:p>
        </p:txBody>
      </p:sp>
      <p:sp>
        <p:nvSpPr>
          <p:cNvPr id="1050687" name="TextBox 22"/>
          <p:cNvSpPr txBox="1"/>
          <p:nvPr/>
        </p:nvSpPr>
        <p:spPr>
          <a:xfrm>
            <a:off x="2849635" y="5336187"/>
            <a:ext cx="389850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否</a:t>
            </a:r>
          </a:p>
        </p:txBody>
      </p:sp>
      <p:sp>
        <p:nvSpPr>
          <p:cNvPr id="1050688" name="TextBox 23"/>
          <p:cNvSpPr txBox="1"/>
          <p:nvPr/>
        </p:nvSpPr>
        <p:spPr>
          <a:xfrm>
            <a:off x="2849635" y="3584403"/>
            <a:ext cx="389850" cy="338554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否</a:t>
            </a:r>
          </a:p>
        </p:txBody>
      </p:sp>
      <p:sp>
        <p:nvSpPr>
          <p:cNvPr id="1050689" name="矩形 24"/>
          <p:cNvSpPr/>
          <p:nvPr/>
        </p:nvSpPr>
        <p:spPr>
          <a:xfrm>
            <a:off x="7066869" y="3719727"/>
            <a:ext cx="3141656" cy="5210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发送人为干扰信号</a:t>
            </a:r>
            <a:endParaRPr lang="en-US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45810" name="直接箭头连接符 25"/>
          <p:cNvCxnSpPr>
            <a:cxnSpLocks/>
            <a:stCxn id="1050683" idx="0"/>
            <a:endCxn id="1050689" idx="2"/>
          </p:cNvCxnSpPr>
          <p:nvPr/>
        </p:nvCxnSpPr>
        <p:spPr>
          <a:xfrm flipV="1">
            <a:off x="8637697" y="4240727"/>
            <a:ext cx="0" cy="529831"/>
          </a:xfrm>
          <a:prstGeom prst="straightConnector1">
            <a:avLst/>
          </a:prstGeom>
          <a:ln w="19050">
            <a:solidFill>
              <a:srgbClr val="000099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24" name="AutoShape 5"/>
          <p:cNvSpPr>
            <a:spLocks noChangeArrowheads="1"/>
          </p:cNvSpPr>
          <p:nvPr/>
        </p:nvSpPr>
        <p:spPr bwMode="auto">
          <a:xfrm>
            <a:off x="670562" y="830516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725" name="Rectangle 6"/>
          <p:cNvSpPr>
            <a:spLocks noChangeArrowheads="1"/>
          </p:cNvSpPr>
          <p:nvPr/>
        </p:nvSpPr>
        <p:spPr bwMode="auto">
          <a:xfrm>
            <a:off x="3436295" y="799729"/>
            <a:ext cx="5306260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采用双绞线的以太网采用星形拓扑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726" name="圆角矩形 198"/>
          <p:cNvSpPr/>
          <p:nvPr/>
        </p:nvSpPr>
        <p:spPr>
          <a:xfrm>
            <a:off x="670561" y="1419812"/>
            <a:ext cx="10838687" cy="430377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74" name="组合 1"/>
          <p:cNvGrpSpPr/>
          <p:nvPr/>
        </p:nvGrpSpPr>
        <p:grpSpPr>
          <a:xfrm>
            <a:off x="1472859" y="1739075"/>
            <a:ext cx="6937059" cy="3518411"/>
            <a:chOff x="1104644" y="1345871"/>
            <a:chExt cx="5202794" cy="2638808"/>
          </a:xfrm>
        </p:grpSpPr>
        <p:sp>
          <p:nvSpPr>
            <p:cNvPr id="1050727" name="Text Box 5"/>
            <p:cNvSpPr txBox="1">
              <a:spLocks noChangeArrowheads="1"/>
            </p:cNvSpPr>
            <p:nvPr/>
          </p:nvSpPr>
          <p:spPr bwMode="auto">
            <a:xfrm>
              <a:off x="2882273" y="1816276"/>
              <a:ext cx="1316707" cy="3154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133" b="1" dirty="0">
                  <a:latin typeface="微软雅黑" pitchFamily="34" charset="-122"/>
                  <a:ea typeface="微软雅黑" pitchFamily="34" charset="-122"/>
                </a:rPr>
                <a:t>集线器</a:t>
              </a:r>
              <a:r>
                <a:rPr lang="en-US" altLang="zh-CN" sz="2133" b="1" dirty="0">
                  <a:latin typeface="微软雅黑" pitchFamily="34" charset="-122"/>
                  <a:ea typeface="微软雅黑" pitchFamily="34" charset="-122"/>
                </a:rPr>
                <a:t>(hub)</a:t>
              </a:r>
              <a:endParaRPr lang="zh-CN" altLang="en-US" sz="2133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28" name="Line 6"/>
            <p:cNvSpPr>
              <a:spLocks noChangeShapeType="1"/>
            </p:cNvSpPr>
            <p:nvPr/>
          </p:nvSpPr>
          <p:spPr bwMode="auto">
            <a:xfrm flipV="1">
              <a:off x="1240360" y="2488157"/>
              <a:ext cx="1992620" cy="246135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29" name="Line 7"/>
            <p:cNvSpPr>
              <a:spLocks noChangeShapeType="1"/>
            </p:cNvSpPr>
            <p:nvPr/>
          </p:nvSpPr>
          <p:spPr bwMode="auto">
            <a:xfrm>
              <a:off x="2037654" y="1671071"/>
              <a:ext cx="1295447" cy="736386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30" name="Line 8"/>
            <p:cNvSpPr>
              <a:spLocks noChangeShapeType="1"/>
            </p:cNvSpPr>
            <p:nvPr/>
          </p:nvSpPr>
          <p:spPr bwMode="auto">
            <a:xfrm flipV="1">
              <a:off x="3121214" y="2569865"/>
              <a:ext cx="412125" cy="995371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31" name="Line 9"/>
            <p:cNvSpPr>
              <a:spLocks noChangeShapeType="1"/>
            </p:cNvSpPr>
            <p:nvPr/>
          </p:nvSpPr>
          <p:spPr bwMode="auto">
            <a:xfrm flipH="1">
              <a:off x="3632238" y="1587344"/>
              <a:ext cx="1195328" cy="90081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32" name="Line 10"/>
            <p:cNvSpPr>
              <a:spLocks noChangeShapeType="1"/>
            </p:cNvSpPr>
            <p:nvPr/>
          </p:nvSpPr>
          <p:spPr bwMode="auto">
            <a:xfrm>
              <a:off x="3731136" y="2569866"/>
              <a:ext cx="1992620" cy="82717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97683" name="Picture 1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33844" y="2243031"/>
              <a:ext cx="1196549" cy="580031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50733" name="Text Box 17"/>
            <p:cNvSpPr txBox="1">
              <a:spLocks noChangeArrowheads="1"/>
            </p:cNvSpPr>
            <p:nvPr/>
          </p:nvSpPr>
          <p:spPr bwMode="auto">
            <a:xfrm>
              <a:off x="4025894" y="3006578"/>
              <a:ext cx="1018548" cy="2847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对双绞线</a:t>
              </a:r>
            </a:p>
          </p:txBody>
        </p:sp>
        <p:sp>
          <p:nvSpPr>
            <p:cNvPr id="1050734" name="Line 18"/>
            <p:cNvSpPr>
              <a:spLocks noChangeShapeType="1"/>
            </p:cNvSpPr>
            <p:nvPr/>
          </p:nvSpPr>
          <p:spPr bwMode="auto">
            <a:xfrm flipV="1">
              <a:off x="4640759" y="2652582"/>
              <a:ext cx="186806" cy="363607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35" name="Text Box 19"/>
            <p:cNvSpPr txBox="1">
              <a:spLocks noChangeArrowheads="1"/>
            </p:cNvSpPr>
            <p:nvPr/>
          </p:nvSpPr>
          <p:spPr bwMode="auto">
            <a:xfrm>
              <a:off x="5229439" y="1411177"/>
              <a:ext cx="549670" cy="3154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133" b="1" dirty="0">
                  <a:latin typeface="微软雅黑" pitchFamily="34" charset="-122"/>
                  <a:ea typeface="微软雅黑" pitchFamily="34" charset="-122"/>
                </a:rPr>
                <a:t>站点</a:t>
              </a:r>
            </a:p>
          </p:txBody>
        </p:sp>
        <p:sp>
          <p:nvSpPr>
            <p:cNvPr id="1050736" name="Text Box 20"/>
            <p:cNvSpPr txBox="1">
              <a:spLocks noChangeArrowheads="1"/>
            </p:cNvSpPr>
            <p:nvPr/>
          </p:nvSpPr>
          <p:spPr bwMode="auto">
            <a:xfrm>
              <a:off x="4347211" y="2031193"/>
              <a:ext cx="1062935" cy="2847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RJ-45 </a:t>
              </a:r>
              <a:r>
                <a:rPr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插头</a:t>
              </a:r>
            </a:p>
          </p:txBody>
        </p:sp>
        <p:sp>
          <p:nvSpPr>
            <p:cNvPr id="1050737" name="Line 21"/>
            <p:cNvSpPr>
              <a:spLocks noChangeShapeType="1"/>
            </p:cNvSpPr>
            <p:nvPr/>
          </p:nvSpPr>
          <p:spPr bwMode="auto">
            <a:xfrm>
              <a:off x="5226824" y="2310205"/>
              <a:ext cx="483861" cy="315466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38" name="Line 22"/>
            <p:cNvSpPr>
              <a:spLocks noChangeShapeType="1"/>
            </p:cNvSpPr>
            <p:nvPr/>
          </p:nvSpPr>
          <p:spPr bwMode="auto">
            <a:xfrm flipH="1">
              <a:off x="4130394" y="2270278"/>
              <a:ext cx="510365" cy="256223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zh-CN" altLang="en-US" sz="2133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97684" name="Picture 239" descr="jisuanji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34566" y="1424161"/>
              <a:ext cx="617800" cy="617800"/>
            </a:xfrm>
            <a:prstGeom prst="rect">
              <a:avLst/>
            </a:prstGeom>
            <a:noFill/>
          </p:spPr>
        </p:pic>
        <p:pic>
          <p:nvPicPr>
            <p:cNvPr id="2097685" name="Picture 239" descr="jisuanji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104644" y="2467938"/>
              <a:ext cx="617800" cy="617800"/>
            </a:xfrm>
            <a:prstGeom prst="rect">
              <a:avLst/>
            </a:prstGeom>
            <a:noFill/>
          </p:spPr>
        </p:pic>
        <p:pic>
          <p:nvPicPr>
            <p:cNvPr id="2097686" name="Picture 239" descr="jisuanji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80339" y="3366879"/>
              <a:ext cx="617800" cy="617800"/>
            </a:xfrm>
            <a:prstGeom prst="rect">
              <a:avLst/>
            </a:prstGeom>
            <a:noFill/>
          </p:spPr>
        </p:pic>
        <p:pic>
          <p:nvPicPr>
            <p:cNvPr id="2097687" name="Picture 239" descr="jisuanji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689638" y="2398389"/>
              <a:ext cx="617800" cy="617800"/>
            </a:xfrm>
            <a:prstGeom prst="rect">
              <a:avLst/>
            </a:prstGeom>
            <a:noFill/>
          </p:spPr>
        </p:pic>
        <p:pic>
          <p:nvPicPr>
            <p:cNvPr id="2097688" name="Picture 239" descr="jisuanji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40759" y="1345871"/>
              <a:ext cx="617800" cy="617800"/>
            </a:xfrm>
            <a:prstGeom prst="rect">
              <a:avLst/>
            </a:prstGeom>
            <a:noFill/>
          </p:spPr>
        </p:pic>
      </p:grpSp>
      <p:sp>
        <p:nvSpPr>
          <p:cNvPr id="1050739" name="Rectangle 46"/>
          <p:cNvSpPr>
            <a:spLocks noChangeArrowheads="1"/>
          </p:cNvSpPr>
          <p:nvPr/>
        </p:nvSpPr>
        <p:spPr bwMode="auto">
          <a:xfrm>
            <a:off x="5397869" y="4730368"/>
            <a:ext cx="5750071" cy="8163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2933"/>
              </a:lnSpc>
              <a:buClr>
                <a:srgbClr val="0070C0"/>
              </a:buClr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1990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年，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IEEE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制定出采用双绞线的星形以太网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10BASE-T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的标准 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802.3i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50740" name="矩形 2"/>
          <p:cNvSpPr/>
          <p:nvPr/>
        </p:nvSpPr>
        <p:spPr>
          <a:xfrm>
            <a:off x="8851008" y="1843461"/>
            <a:ext cx="2296931" cy="11801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2933"/>
              </a:lnSpc>
              <a:buClr>
                <a:srgbClr val="0070C0"/>
              </a:buClr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每个站到集线器的距离不超过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100 m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50" name="圆角矩形 18"/>
          <p:cNvSpPr/>
          <p:nvPr/>
        </p:nvSpPr>
        <p:spPr>
          <a:xfrm>
            <a:off x="676657" y="1514142"/>
            <a:ext cx="10838687" cy="25141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751" name="AutoShape 5"/>
          <p:cNvSpPr>
            <a:spLocks noChangeArrowheads="1"/>
          </p:cNvSpPr>
          <p:nvPr/>
        </p:nvSpPr>
        <p:spPr bwMode="auto">
          <a:xfrm>
            <a:off x="670562" y="83273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752" name="Rectangle 6"/>
          <p:cNvSpPr>
            <a:spLocks noChangeArrowheads="1"/>
          </p:cNvSpPr>
          <p:nvPr/>
        </p:nvSpPr>
        <p:spPr bwMode="auto">
          <a:xfrm>
            <a:off x="4253831" y="801945"/>
            <a:ext cx="3671198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星形以太网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10BASE-T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81" name="组合 23"/>
          <p:cNvGrpSpPr/>
          <p:nvPr/>
        </p:nvGrpSpPr>
        <p:grpSpPr>
          <a:xfrm>
            <a:off x="3114085" y="1483356"/>
            <a:ext cx="3142274" cy="666787"/>
            <a:chOff x="2330992" y="1607532"/>
            <a:chExt cx="2356705" cy="500090"/>
          </a:xfrm>
        </p:grpSpPr>
        <p:sp>
          <p:nvSpPr>
            <p:cNvPr id="1050753" name="矩形 8"/>
            <p:cNvSpPr/>
            <p:nvPr/>
          </p:nvSpPr>
          <p:spPr>
            <a:xfrm>
              <a:off x="2330992" y="1607532"/>
              <a:ext cx="580928" cy="5000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sz="37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sz="37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54" name="矩形 9"/>
            <p:cNvSpPr/>
            <p:nvPr/>
          </p:nvSpPr>
          <p:spPr>
            <a:xfrm>
              <a:off x="2793668" y="1607532"/>
              <a:ext cx="1076256" cy="5000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sz="37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BASE</a:t>
              </a:r>
              <a:endParaRPr lang="zh-CN" altLang="en-US" sz="37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55" name="矩形 10"/>
            <p:cNvSpPr/>
            <p:nvPr/>
          </p:nvSpPr>
          <p:spPr>
            <a:xfrm>
              <a:off x="3874203" y="1646443"/>
              <a:ext cx="351440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—</a:t>
              </a:r>
              <a:endParaRPr lang="zh-CN" altLang="en-US" sz="3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756" name="矩形 11"/>
            <p:cNvSpPr/>
            <p:nvPr/>
          </p:nvSpPr>
          <p:spPr>
            <a:xfrm>
              <a:off x="4324376" y="1607532"/>
              <a:ext cx="363321" cy="50009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7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  <a:endParaRPr lang="zh-CN" altLang="en-US" sz="37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82" name="组合 4"/>
          <p:cNvGrpSpPr/>
          <p:nvPr/>
        </p:nvGrpSpPr>
        <p:grpSpPr>
          <a:xfrm>
            <a:off x="3306556" y="2070146"/>
            <a:ext cx="5266812" cy="1752572"/>
            <a:chOff x="2475345" y="2130749"/>
            <a:chExt cx="3950109" cy="1314429"/>
          </a:xfrm>
        </p:grpSpPr>
        <p:cxnSp>
          <p:nvCxnSpPr>
            <p:cNvPr id="3145811" name="肘形连接符 16"/>
            <p:cNvCxnSpPr>
              <a:cxnSpLocks/>
            </p:cNvCxnSpPr>
            <p:nvPr/>
          </p:nvCxnSpPr>
          <p:spPr bwMode="auto">
            <a:xfrm rot="16200000" flipH="1">
              <a:off x="2908589" y="1866699"/>
              <a:ext cx="1153442" cy="1681541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50757" name="矩形 17"/>
            <p:cNvSpPr/>
            <p:nvPr/>
          </p:nvSpPr>
          <p:spPr>
            <a:xfrm>
              <a:off x="4326081" y="3098929"/>
              <a:ext cx="2099373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速率为 </a:t>
              </a:r>
              <a:r>
                <a:rPr lang="en-US" altLang="zh-CN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 Mbit/s </a:t>
              </a:r>
              <a:endPara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145812" name="直接连接符 2"/>
            <p:cNvCxnSpPr>
              <a:cxnSpLocks/>
            </p:cNvCxnSpPr>
            <p:nvPr/>
          </p:nvCxnSpPr>
          <p:spPr>
            <a:xfrm>
              <a:off x="2475345" y="2135816"/>
              <a:ext cx="318323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3" name="组合 21"/>
          <p:cNvGrpSpPr/>
          <p:nvPr/>
        </p:nvGrpSpPr>
        <p:grpSpPr>
          <a:xfrm>
            <a:off x="3883526" y="2070153"/>
            <a:ext cx="3696539" cy="1147855"/>
            <a:chOff x="2908072" y="2130754"/>
            <a:chExt cx="2772404" cy="860891"/>
          </a:xfrm>
        </p:grpSpPr>
        <p:cxnSp>
          <p:nvCxnSpPr>
            <p:cNvPr id="3145813" name="肘形连接符 14"/>
            <p:cNvCxnSpPr>
              <a:cxnSpLocks/>
            </p:cNvCxnSpPr>
            <p:nvPr/>
          </p:nvCxnSpPr>
          <p:spPr bwMode="auto">
            <a:xfrm rot="16200000" flipH="1">
              <a:off x="3871811" y="1613021"/>
              <a:ext cx="690768" cy="1726234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50758" name="矩形 15"/>
            <p:cNvSpPr/>
            <p:nvPr/>
          </p:nvSpPr>
          <p:spPr>
            <a:xfrm>
              <a:off x="5080312" y="2645396"/>
              <a:ext cx="600164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基带</a:t>
              </a:r>
              <a:endPara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145814" name="直接连接符 19"/>
            <p:cNvCxnSpPr>
              <a:cxnSpLocks/>
            </p:cNvCxnSpPr>
            <p:nvPr/>
          </p:nvCxnSpPr>
          <p:spPr>
            <a:xfrm>
              <a:off x="2908072" y="2135816"/>
              <a:ext cx="919951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4" name="组合 22"/>
          <p:cNvGrpSpPr/>
          <p:nvPr/>
        </p:nvGrpSpPr>
        <p:grpSpPr>
          <a:xfrm>
            <a:off x="5801928" y="2070152"/>
            <a:ext cx="3479381" cy="566601"/>
            <a:chOff x="4346873" y="2130753"/>
            <a:chExt cx="2609536" cy="424951"/>
          </a:xfrm>
        </p:grpSpPr>
        <p:cxnSp>
          <p:nvCxnSpPr>
            <p:cNvPr id="3145815" name="肘形连接符 12"/>
            <p:cNvCxnSpPr>
              <a:cxnSpLocks/>
            </p:cNvCxnSpPr>
            <p:nvPr/>
          </p:nvCxnSpPr>
          <p:spPr bwMode="auto">
            <a:xfrm rot="16200000" flipH="1">
              <a:off x="5200346" y="1436442"/>
              <a:ext cx="269936" cy="1658557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50759" name="矩形 13"/>
            <p:cNvSpPr/>
            <p:nvPr/>
          </p:nvSpPr>
          <p:spPr>
            <a:xfrm>
              <a:off x="6125412" y="2209455"/>
              <a:ext cx="830997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  <a:endPara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145816" name="直接连接符 20"/>
            <p:cNvCxnSpPr>
              <a:cxnSpLocks/>
            </p:cNvCxnSpPr>
            <p:nvPr/>
          </p:nvCxnSpPr>
          <p:spPr>
            <a:xfrm>
              <a:off x="4346873" y="2135816"/>
              <a:ext cx="318323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0760" name="文本框 24"/>
          <p:cNvSpPr txBox="1"/>
          <p:nvPr/>
        </p:nvSpPr>
        <p:spPr>
          <a:xfrm>
            <a:off x="858613" y="4342890"/>
            <a:ext cx="10311056" cy="16890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快速以太网，如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100Base-T4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100Base-Tx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100Base-Fx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千兆以太网，如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1000Base-T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1000Base-SX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1000Base-LX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万兆以太网，不使用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CSMA/CD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，只支持全双工，如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10GBase-SR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4" name="Rectangle 46"/>
          <p:cNvSpPr>
            <a:spLocks noChangeArrowheads="1"/>
          </p:cNvSpPr>
          <p:nvPr/>
        </p:nvSpPr>
        <p:spPr bwMode="auto">
          <a:xfrm>
            <a:off x="670563" y="2197955"/>
            <a:ext cx="11013439" cy="28539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使用无屏蔽双绞线，采用星形拓扑。</a:t>
            </a:r>
          </a:p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每个站需要用两对双绞线，分别用于发送和接收。</a:t>
            </a:r>
          </a:p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双绞线的两端使用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RJ-45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插头。</a:t>
            </a:r>
          </a:p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集线器使用了大规模集成电路芯片，因此集线器的可靠性高。 </a:t>
            </a:r>
          </a:p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10BASE-T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的通信距离稍短，每个站到集线器的距离不超过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100m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50765" name="AutoShape 5"/>
          <p:cNvSpPr>
            <a:spLocks noChangeArrowheads="1"/>
          </p:cNvSpPr>
          <p:nvPr/>
        </p:nvSpPr>
        <p:spPr bwMode="auto">
          <a:xfrm>
            <a:off x="670563" y="1670529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766" name="Rectangle 6"/>
          <p:cNvSpPr>
            <a:spLocks noChangeArrowheads="1"/>
          </p:cNvSpPr>
          <p:nvPr/>
        </p:nvSpPr>
        <p:spPr bwMode="auto">
          <a:xfrm>
            <a:off x="4205063" y="1639743"/>
            <a:ext cx="3671198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星形以太网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10BASE-T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70" name="AutoShape 5"/>
          <p:cNvSpPr>
            <a:spLocks noChangeArrowheads="1"/>
          </p:cNvSpPr>
          <p:nvPr/>
        </p:nvSpPr>
        <p:spPr bwMode="auto">
          <a:xfrm>
            <a:off x="670563" y="1353537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771" name="Rectangle 6"/>
          <p:cNvSpPr>
            <a:spLocks noChangeArrowheads="1"/>
          </p:cNvSpPr>
          <p:nvPr/>
        </p:nvSpPr>
        <p:spPr bwMode="auto">
          <a:xfrm>
            <a:off x="2886219" y="1322751"/>
            <a:ext cx="6402714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10BASE-T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以太网在局域网中的统治地位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772" name="Rectangle 46"/>
          <p:cNvSpPr>
            <a:spLocks noChangeArrowheads="1"/>
          </p:cNvSpPr>
          <p:nvPr/>
        </p:nvSpPr>
        <p:spPr bwMode="auto">
          <a:xfrm>
            <a:off x="670563" y="1978498"/>
            <a:ext cx="11070335" cy="28539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10BASE-T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双绞线以太网的出现，是局域网发展史上的一个非常重要的里程碑，它为以太网在局域网中的统治地位奠定了牢固的基础。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zh-CN" altLang="en-US" sz="2667" b="1" dirty="0">
              <a:latin typeface="微软雅黑" pitchFamily="34" charset="-122"/>
              <a:ea typeface="微软雅黑" pitchFamily="34" charset="-122"/>
            </a:endParaRPr>
          </a:p>
          <a:p>
            <a:pPr marL="457178" indent="-457178" eaLnBrk="0" hangingPunct="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从此以太网的拓扑就从总线形变为更加方便的星形网络，而以太网也在局域网中占据了统治地位。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58" name="Rectangle 46"/>
          <p:cNvSpPr>
            <a:spLocks noChangeArrowheads="1"/>
          </p:cNvSpPr>
          <p:nvPr/>
        </p:nvSpPr>
        <p:spPr bwMode="auto">
          <a:xfrm>
            <a:off x="670562" y="1313351"/>
            <a:ext cx="10991887" cy="16901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硬件地址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又称为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物理地址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，或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 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IEEE 802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标准为局域网规定了一种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48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位的全球地址（简称为地址）是指局域网上的每一台计算机中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固化在适配器的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ROM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中的地址。</a:t>
            </a:r>
          </a:p>
        </p:txBody>
      </p:sp>
      <p:sp>
        <p:nvSpPr>
          <p:cNvPr id="1050959" name="AutoShape 5"/>
          <p:cNvSpPr>
            <a:spLocks noChangeArrowheads="1"/>
          </p:cNvSpPr>
          <p:nvPr/>
        </p:nvSpPr>
        <p:spPr bwMode="auto">
          <a:xfrm>
            <a:off x="670562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960" name="Rectangle 6"/>
          <p:cNvSpPr>
            <a:spLocks noChangeArrowheads="1"/>
          </p:cNvSpPr>
          <p:nvPr/>
        </p:nvSpPr>
        <p:spPr bwMode="auto">
          <a:xfrm>
            <a:off x="4247774" y="791225"/>
            <a:ext cx="3683316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 MAC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层的硬件地址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41" name="组合 1"/>
          <p:cNvGrpSpPr/>
          <p:nvPr/>
        </p:nvGrpSpPr>
        <p:grpSpPr>
          <a:xfrm>
            <a:off x="670562" y="3153860"/>
            <a:ext cx="10838687" cy="1863327"/>
            <a:chOff x="502921" y="2343231"/>
            <a:chExt cx="8129015" cy="1397495"/>
          </a:xfrm>
        </p:grpSpPr>
        <p:sp>
          <p:nvSpPr>
            <p:cNvPr id="1050961" name="对角圆角矩形 11"/>
            <p:cNvSpPr/>
            <p:nvPr/>
          </p:nvSpPr>
          <p:spPr>
            <a:xfrm>
              <a:off x="502921" y="2343231"/>
              <a:ext cx="8129015" cy="1397495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50962" name="矩形 12"/>
            <p:cNvSpPr/>
            <p:nvPr/>
          </p:nvSpPr>
          <p:spPr>
            <a:xfrm>
              <a:off x="836445" y="2467202"/>
              <a:ext cx="7494755" cy="10763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zh-CN" altLang="en-US" sz="24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注意：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如果连接在局域网上的主机或路由器安装有多个适配器，这样的主机或路由器就有多个“地址”。更准确些说，这种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48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位“地址”应当是某个</a:t>
              </a:r>
              <a:r>
                <a:rPr lang="zh-CN" altLang="en-US" sz="24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接口的标识符。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66" name="Rectangle 46"/>
          <p:cNvSpPr>
            <a:spLocks noChangeArrowheads="1"/>
          </p:cNvSpPr>
          <p:nvPr/>
        </p:nvSpPr>
        <p:spPr bwMode="auto">
          <a:xfrm>
            <a:off x="670561" y="3074428"/>
            <a:ext cx="11028832" cy="31232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IEEE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注册管理机构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RA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负责向厂家分配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前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个字节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即高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24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，称为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组织唯一标识符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OUI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(Organizationally Unique Identifier)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厂家自行指派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后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个字节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即低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24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，称为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扩展标识符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(extended identifier)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必须保证生产出的适配器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没有重复地址。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地址被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固化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在适配器的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ROM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中。</a:t>
            </a:r>
          </a:p>
        </p:txBody>
      </p:sp>
      <p:sp>
        <p:nvSpPr>
          <p:cNvPr id="1050967" name="AutoShape 5"/>
          <p:cNvSpPr>
            <a:spLocks noChangeArrowheads="1"/>
          </p:cNvSpPr>
          <p:nvPr/>
        </p:nvSpPr>
        <p:spPr bwMode="auto">
          <a:xfrm>
            <a:off x="670562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968" name="Rectangle 6"/>
          <p:cNvSpPr>
            <a:spLocks noChangeArrowheads="1"/>
          </p:cNvSpPr>
          <p:nvPr/>
        </p:nvSpPr>
        <p:spPr bwMode="auto">
          <a:xfrm>
            <a:off x="4481010" y="791225"/>
            <a:ext cx="3216843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48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位的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MAC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fr-FR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969" name="圆角矩形 4"/>
          <p:cNvSpPr/>
          <p:nvPr/>
        </p:nvSpPr>
        <p:spPr>
          <a:xfrm>
            <a:off x="670562" y="1403181"/>
            <a:ext cx="10765535" cy="169285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45" name="组合 5"/>
          <p:cNvGrpSpPr/>
          <p:nvPr/>
        </p:nvGrpSpPr>
        <p:grpSpPr>
          <a:xfrm>
            <a:off x="3269551" y="1532470"/>
            <a:ext cx="5813871" cy="1415534"/>
            <a:chOff x="2360712" y="5191736"/>
            <a:chExt cx="5184576" cy="1449908"/>
          </a:xfrm>
        </p:grpSpPr>
        <p:grpSp>
          <p:nvGrpSpPr>
            <p:cNvPr id="746" name="组合 6"/>
            <p:cNvGrpSpPr/>
            <p:nvPr/>
          </p:nvGrpSpPr>
          <p:grpSpPr>
            <a:xfrm>
              <a:off x="2360712" y="5191736"/>
              <a:ext cx="5184576" cy="901560"/>
              <a:chOff x="2000672" y="5119728"/>
              <a:chExt cx="5184576" cy="901560"/>
            </a:xfrm>
          </p:grpSpPr>
          <p:sp>
            <p:nvSpPr>
              <p:cNvPr id="1050970" name="矩形 8"/>
              <p:cNvSpPr/>
              <p:nvPr/>
            </p:nvSpPr>
            <p:spPr bwMode="auto">
              <a:xfrm>
                <a:off x="2000672" y="5517232"/>
                <a:ext cx="2592288" cy="504056"/>
              </a:xfrm>
              <a:prstGeom prst="rect">
                <a:avLst/>
              </a:prstGeom>
              <a:solidFill>
                <a:srgbClr val="00FF99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133" b="1" dirty="0">
                    <a:latin typeface="微软雅黑" pitchFamily="34" charset="-122"/>
                    <a:ea typeface="微软雅黑" pitchFamily="34" charset="-122"/>
                  </a:rPr>
                  <a:t>组织唯一标识符</a:t>
                </a:r>
              </a:p>
            </p:txBody>
          </p:sp>
          <p:sp>
            <p:nvSpPr>
              <p:cNvPr id="1050971" name="矩形 9"/>
              <p:cNvSpPr/>
              <p:nvPr/>
            </p:nvSpPr>
            <p:spPr bwMode="auto">
              <a:xfrm>
                <a:off x="4592960" y="5517232"/>
                <a:ext cx="2592288" cy="504056"/>
              </a:xfrm>
              <a:prstGeom prst="rect">
                <a:avLst/>
              </a:prstGeom>
              <a:solidFill>
                <a:srgbClr val="0000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133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扩展唯一标识符</a:t>
                </a:r>
              </a:p>
            </p:txBody>
          </p:sp>
          <p:sp>
            <p:nvSpPr>
              <p:cNvPr id="1050972" name="TextBox 12"/>
              <p:cNvSpPr txBox="1"/>
              <p:nvPr/>
            </p:nvSpPr>
            <p:spPr>
              <a:xfrm>
                <a:off x="2451561" y="5119728"/>
                <a:ext cx="1749987" cy="388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3 </a:t>
                </a:r>
                <a:r>
                  <a:rPr lang="zh-CN" altLang="en-US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字节（</a:t>
                </a:r>
                <a:r>
                  <a:rPr lang="en-US" altLang="zh-CN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24 </a:t>
                </a:r>
                <a:r>
                  <a:rPr lang="zh-CN" altLang="en-US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位）</a:t>
                </a:r>
              </a:p>
            </p:txBody>
          </p:sp>
          <p:sp>
            <p:nvSpPr>
              <p:cNvPr id="1050973" name="TextBox 13"/>
              <p:cNvSpPr txBox="1"/>
              <p:nvPr/>
            </p:nvSpPr>
            <p:spPr>
              <a:xfrm>
                <a:off x="5014110" y="5119728"/>
                <a:ext cx="1749987" cy="388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3 </a:t>
                </a:r>
                <a:r>
                  <a:rPr lang="zh-CN" altLang="en-US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字节（</a:t>
                </a:r>
                <a:r>
                  <a:rPr lang="en-US" altLang="zh-CN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24 </a:t>
                </a:r>
                <a:r>
                  <a:rPr lang="zh-CN" altLang="en-US" sz="1867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位）</a:t>
                </a:r>
              </a:p>
            </p:txBody>
          </p:sp>
        </p:grpSp>
        <p:sp>
          <p:nvSpPr>
            <p:cNvPr id="1050974" name="矩形 7"/>
            <p:cNvSpPr/>
            <p:nvPr/>
          </p:nvSpPr>
          <p:spPr>
            <a:xfrm>
              <a:off x="3080161" y="6210867"/>
              <a:ext cx="3975539" cy="430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33" b="1" dirty="0">
                  <a:latin typeface="微软雅黑" pitchFamily="34" charset="-122"/>
                  <a:ea typeface="微软雅黑" pitchFamily="34" charset="-122"/>
                </a:rPr>
                <a:t>48 </a:t>
              </a:r>
              <a:r>
                <a:rPr lang="zh-CN" altLang="en-US" sz="2133" b="1" dirty="0">
                  <a:latin typeface="微软雅黑" pitchFamily="34" charset="-122"/>
                  <a:ea typeface="微软雅黑" pitchFamily="34" charset="-122"/>
                </a:rPr>
                <a:t>位的 </a:t>
              </a:r>
              <a:r>
                <a:rPr lang="en-US" altLang="zh-CN" sz="2133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lang="zh-CN" altLang="en-US" sz="2133" b="1" dirty="0">
                  <a:latin typeface="微软雅黑" pitchFamily="34" charset="-122"/>
                  <a:ea typeface="微软雅黑" pitchFamily="34" charset="-122"/>
                </a:rPr>
                <a:t>地址 （</a:t>
              </a:r>
              <a:r>
                <a:rPr lang="en-US" altLang="zh-CN" sz="2133" b="1" dirty="0">
                  <a:latin typeface="微软雅黑" pitchFamily="34" charset="-122"/>
                  <a:ea typeface="微软雅黑" pitchFamily="34" charset="-122"/>
                </a:rPr>
                <a:t>EUI-48</a:t>
              </a:r>
              <a:r>
                <a:rPr lang="zh-CN" altLang="en-US" sz="2133" b="1" dirty="0"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78" name="Rectangle 46"/>
          <p:cNvSpPr>
            <a:spLocks noChangeArrowheads="1"/>
          </p:cNvSpPr>
          <p:nvPr/>
        </p:nvSpPr>
        <p:spPr bwMode="auto">
          <a:xfrm>
            <a:off x="670562" y="1313351"/>
            <a:ext cx="10991887" cy="279300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IEEE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规定地址字段的第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字节的最低位为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I/G (Individual / Group)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单站地址：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I/G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0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组地址：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I/G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1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。组地址用来进行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多播。只能作为目的地址使用</a:t>
            </a:r>
          </a:p>
          <a:p>
            <a:pPr marL="457189" indent="-457189" eaLnBrk="0" hangingPunct="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广播地址：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所有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48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位都为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（全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）。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只能作为目的地址使用。</a:t>
            </a:r>
          </a:p>
        </p:txBody>
      </p:sp>
      <p:sp>
        <p:nvSpPr>
          <p:cNvPr id="1050979" name="AutoShape 5"/>
          <p:cNvSpPr>
            <a:spLocks noChangeArrowheads="1"/>
          </p:cNvSpPr>
          <p:nvPr/>
        </p:nvSpPr>
        <p:spPr bwMode="auto">
          <a:xfrm>
            <a:off x="670562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980" name="Rectangle 6"/>
          <p:cNvSpPr>
            <a:spLocks noChangeArrowheads="1"/>
          </p:cNvSpPr>
          <p:nvPr/>
        </p:nvSpPr>
        <p:spPr bwMode="auto">
          <a:xfrm>
            <a:off x="3777742" y="791225"/>
            <a:ext cx="4623381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单站地址，组地址，广播地址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97" name="AutoShape 5"/>
          <p:cNvSpPr>
            <a:spLocks noChangeArrowheads="1"/>
          </p:cNvSpPr>
          <p:nvPr/>
        </p:nvSpPr>
        <p:spPr bwMode="auto">
          <a:xfrm>
            <a:off x="670562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0998" name="Rectangle 6"/>
          <p:cNvSpPr>
            <a:spLocks noChangeArrowheads="1"/>
          </p:cNvSpPr>
          <p:nvPr/>
        </p:nvSpPr>
        <p:spPr bwMode="auto">
          <a:xfrm>
            <a:off x="3952020" y="781253"/>
            <a:ext cx="4274824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V2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帧格式</a:t>
            </a:r>
          </a:p>
        </p:txBody>
      </p:sp>
      <p:sp>
        <p:nvSpPr>
          <p:cNvPr id="1050999" name="圆角矩形 4"/>
          <p:cNvSpPr/>
          <p:nvPr/>
        </p:nvSpPr>
        <p:spPr>
          <a:xfrm>
            <a:off x="670561" y="1382497"/>
            <a:ext cx="10838687" cy="422582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7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00" name="Rectangle 26"/>
          <p:cNvSpPr>
            <a:spLocks noChangeArrowheads="1"/>
          </p:cNvSpPr>
          <p:nvPr/>
        </p:nvSpPr>
        <p:spPr bwMode="auto">
          <a:xfrm>
            <a:off x="9585447" y="2756533"/>
            <a:ext cx="100976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kumimoji="1" lang="zh-CN" altLang="en-US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层</a:t>
            </a:r>
          </a:p>
        </p:txBody>
      </p:sp>
      <p:sp>
        <p:nvSpPr>
          <p:cNvPr id="1051001" name="Rectangle 47"/>
          <p:cNvSpPr>
            <a:spLocks noChangeArrowheads="1"/>
          </p:cNvSpPr>
          <p:nvPr/>
        </p:nvSpPr>
        <p:spPr bwMode="auto">
          <a:xfrm>
            <a:off x="9727988" y="1946836"/>
            <a:ext cx="713339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层</a:t>
            </a:r>
          </a:p>
        </p:txBody>
      </p:sp>
      <p:sp>
        <p:nvSpPr>
          <p:cNvPr id="1051002" name="Line 48"/>
          <p:cNvSpPr>
            <a:spLocks noChangeShapeType="1"/>
          </p:cNvSpPr>
          <p:nvPr/>
        </p:nvSpPr>
        <p:spPr bwMode="auto">
          <a:xfrm flipV="1">
            <a:off x="9577615" y="2432652"/>
            <a:ext cx="864859" cy="0"/>
          </a:xfrm>
          <a:prstGeom prst="line">
            <a:avLst/>
          </a:prstGeom>
          <a:noFill/>
          <a:ln w="25400" cmpd="sng">
            <a:solidFill>
              <a:srgbClr val="0000FF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59" name="组合 1"/>
          <p:cNvGrpSpPr/>
          <p:nvPr/>
        </p:nvGrpSpPr>
        <p:grpSpPr>
          <a:xfrm>
            <a:off x="1395783" y="3084042"/>
            <a:ext cx="9207811" cy="908829"/>
            <a:chOff x="1046837" y="2313031"/>
            <a:chExt cx="6905858" cy="681622"/>
          </a:xfrm>
        </p:grpSpPr>
        <p:sp>
          <p:nvSpPr>
            <p:cNvPr id="1051003" name="Line 3"/>
            <p:cNvSpPr>
              <a:spLocks noChangeShapeType="1"/>
            </p:cNvSpPr>
            <p:nvPr/>
          </p:nvSpPr>
          <p:spPr bwMode="auto">
            <a:xfrm>
              <a:off x="1355105" y="2501165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04" name="Rectangle 4"/>
            <p:cNvSpPr>
              <a:spLocks noChangeArrowheads="1"/>
            </p:cNvSpPr>
            <p:nvPr/>
          </p:nvSpPr>
          <p:spPr bwMode="auto">
            <a:xfrm>
              <a:off x="2392440" y="2653521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05" name="Rectangle 6"/>
            <p:cNvSpPr>
              <a:spLocks noChangeArrowheads="1"/>
            </p:cNvSpPr>
            <p:nvPr/>
          </p:nvSpPr>
          <p:spPr bwMode="auto">
            <a:xfrm>
              <a:off x="4176938" y="2699818"/>
              <a:ext cx="1264675" cy="2744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以太网 </a:t>
              </a:r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1051006" name="Rectangle 13"/>
            <p:cNvSpPr>
              <a:spLocks noChangeArrowheads="1"/>
            </p:cNvSpPr>
            <p:nvPr/>
          </p:nvSpPr>
          <p:spPr bwMode="auto">
            <a:xfrm>
              <a:off x="7218455" y="2706968"/>
              <a:ext cx="644409" cy="2744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物理层</a:t>
              </a:r>
            </a:p>
          </p:txBody>
        </p:sp>
        <p:sp>
          <p:nvSpPr>
            <p:cNvPr id="1051007" name="Line 27"/>
            <p:cNvSpPr>
              <a:spLocks noChangeShapeType="1"/>
            </p:cNvSpPr>
            <p:nvPr/>
          </p:nvSpPr>
          <p:spPr bwMode="auto">
            <a:xfrm flipH="1">
              <a:off x="2386566" y="2313562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08" name="Line 28"/>
            <p:cNvSpPr>
              <a:spLocks noChangeShapeType="1"/>
            </p:cNvSpPr>
            <p:nvPr/>
          </p:nvSpPr>
          <p:spPr bwMode="auto">
            <a:xfrm>
              <a:off x="7130346" y="2362360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09" name="Rectangle 41"/>
            <p:cNvSpPr>
              <a:spLocks noChangeArrowheads="1"/>
            </p:cNvSpPr>
            <p:nvPr/>
          </p:nvSpPr>
          <p:spPr bwMode="auto">
            <a:xfrm>
              <a:off x="1633530" y="2657779"/>
              <a:ext cx="754212" cy="33400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10" name="Rectangle 42"/>
            <p:cNvSpPr>
              <a:spLocks noChangeArrowheads="1"/>
            </p:cNvSpPr>
            <p:nvPr/>
          </p:nvSpPr>
          <p:spPr bwMode="auto">
            <a:xfrm>
              <a:off x="1734561" y="2720218"/>
              <a:ext cx="631184" cy="2744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8 </a:t>
              </a:r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  <p:sp>
          <p:nvSpPr>
            <p:cNvPr id="1051011" name="AutoShape 43"/>
            <p:cNvSpPr>
              <a:spLocks noChangeArrowheads="1"/>
            </p:cNvSpPr>
            <p:nvPr/>
          </p:nvSpPr>
          <p:spPr bwMode="auto">
            <a:xfrm>
              <a:off x="1046837" y="2336363"/>
              <a:ext cx="558023" cy="216341"/>
            </a:xfrm>
            <a:prstGeom prst="wedgeRoundRectCallout">
              <a:avLst>
                <a:gd name="adj1" fmla="val 67862"/>
                <a:gd name="adj2" fmla="val 152688"/>
                <a:gd name="adj3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defTabSz="1015975" eaLnBrk="0" hangingPunct="0"/>
              <a:endParaRPr kumimoji="1" lang="zh-CN" altLang="zh-CN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12" name="Rectangle 44"/>
            <p:cNvSpPr>
              <a:spLocks noChangeArrowheads="1"/>
            </p:cNvSpPr>
            <p:nvPr/>
          </p:nvSpPr>
          <p:spPr bwMode="auto">
            <a:xfrm>
              <a:off x="1052603" y="2313031"/>
              <a:ext cx="548625" cy="2744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120651" tIns="59267" rIns="120651" bIns="59267">
              <a:spAutoFit/>
            </a:bodyPr>
            <a:lstStyle/>
            <a:p>
              <a:pPr algn="ctr" defTabSz="1015975" eaLnBrk="0" hangingPunct="0"/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插入</a:t>
              </a:r>
            </a:p>
          </p:txBody>
        </p:sp>
        <p:sp>
          <p:nvSpPr>
            <p:cNvPr id="1051013" name="AutoShape 64"/>
            <p:cNvSpPr>
              <a:spLocks noChangeArrowheads="1"/>
            </p:cNvSpPr>
            <p:nvPr/>
          </p:nvSpPr>
          <p:spPr bwMode="auto">
            <a:xfrm rot="16200000" flipH="1">
              <a:off x="4583729" y="2446100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51014" name="Rectangle 66"/>
          <p:cNvSpPr>
            <a:spLocks noChangeArrowheads="1"/>
          </p:cNvSpPr>
          <p:nvPr/>
        </p:nvSpPr>
        <p:spPr bwMode="auto">
          <a:xfrm>
            <a:off x="3182088" y="2691467"/>
            <a:ext cx="6336005" cy="416416"/>
          </a:xfrm>
          <a:prstGeom prst="rect">
            <a:avLst/>
          </a:prstGeom>
          <a:solidFill>
            <a:srgbClr val="00FFFF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15" name="Line 67"/>
          <p:cNvSpPr>
            <a:spLocks noChangeShapeType="1"/>
          </p:cNvSpPr>
          <p:nvPr/>
        </p:nvSpPr>
        <p:spPr bwMode="auto">
          <a:xfrm>
            <a:off x="4104685" y="2691467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16" name="Line 68"/>
          <p:cNvSpPr>
            <a:spLocks noChangeShapeType="1"/>
          </p:cNvSpPr>
          <p:nvPr/>
        </p:nvSpPr>
        <p:spPr bwMode="auto">
          <a:xfrm>
            <a:off x="5006920" y="2691467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17" name="Line 69"/>
          <p:cNvSpPr>
            <a:spLocks noChangeShapeType="1"/>
          </p:cNvSpPr>
          <p:nvPr/>
        </p:nvSpPr>
        <p:spPr bwMode="auto">
          <a:xfrm>
            <a:off x="5909155" y="2691467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18" name="Line 70"/>
          <p:cNvSpPr>
            <a:spLocks noChangeShapeType="1"/>
          </p:cNvSpPr>
          <p:nvPr/>
        </p:nvSpPr>
        <p:spPr bwMode="auto">
          <a:xfrm>
            <a:off x="8991789" y="2691467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19" name="Rectangle 71"/>
          <p:cNvSpPr>
            <a:spLocks noChangeArrowheads="1"/>
          </p:cNvSpPr>
          <p:nvPr/>
        </p:nvSpPr>
        <p:spPr bwMode="auto">
          <a:xfrm>
            <a:off x="3113169" y="2733398"/>
            <a:ext cx="106439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目的地址</a:t>
            </a:r>
          </a:p>
        </p:txBody>
      </p:sp>
      <p:sp>
        <p:nvSpPr>
          <p:cNvPr id="1051020" name="Rectangle 72"/>
          <p:cNvSpPr>
            <a:spLocks noChangeArrowheads="1"/>
          </p:cNvSpPr>
          <p:nvPr/>
        </p:nvSpPr>
        <p:spPr bwMode="auto">
          <a:xfrm>
            <a:off x="4156585" y="2733398"/>
            <a:ext cx="859212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源地址</a:t>
            </a:r>
          </a:p>
        </p:txBody>
      </p:sp>
      <p:sp>
        <p:nvSpPr>
          <p:cNvPr id="1051021" name="Rectangle 73"/>
          <p:cNvSpPr>
            <a:spLocks noChangeArrowheads="1"/>
          </p:cNvSpPr>
          <p:nvPr/>
        </p:nvSpPr>
        <p:spPr bwMode="auto">
          <a:xfrm>
            <a:off x="5142307" y="2733398"/>
            <a:ext cx="654027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类型</a:t>
            </a:r>
          </a:p>
        </p:txBody>
      </p:sp>
      <p:sp>
        <p:nvSpPr>
          <p:cNvPr id="1051022" name="Rectangle 74"/>
          <p:cNvSpPr>
            <a:spLocks noChangeArrowheads="1"/>
          </p:cNvSpPr>
          <p:nvPr/>
        </p:nvSpPr>
        <p:spPr bwMode="auto">
          <a:xfrm>
            <a:off x="6893989" y="2733398"/>
            <a:ext cx="1141340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        据</a:t>
            </a:r>
          </a:p>
        </p:txBody>
      </p:sp>
      <p:sp>
        <p:nvSpPr>
          <p:cNvPr id="1051023" name="Rectangle 75"/>
          <p:cNvSpPr>
            <a:spLocks noChangeArrowheads="1"/>
          </p:cNvSpPr>
          <p:nvPr/>
        </p:nvSpPr>
        <p:spPr bwMode="auto">
          <a:xfrm>
            <a:off x="8938533" y="2733398"/>
            <a:ext cx="618761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FCS</a:t>
            </a:r>
          </a:p>
        </p:txBody>
      </p:sp>
      <p:sp>
        <p:nvSpPr>
          <p:cNvPr id="1051024" name="Rectangle 76"/>
          <p:cNvSpPr>
            <a:spLocks noChangeArrowheads="1"/>
          </p:cNvSpPr>
          <p:nvPr/>
        </p:nvSpPr>
        <p:spPr bwMode="auto">
          <a:xfrm>
            <a:off x="3488551" y="2393549"/>
            <a:ext cx="37029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</p:txBody>
      </p:sp>
      <p:sp>
        <p:nvSpPr>
          <p:cNvPr id="1051025" name="Rectangle 77"/>
          <p:cNvSpPr>
            <a:spLocks noChangeArrowheads="1"/>
          </p:cNvSpPr>
          <p:nvPr/>
        </p:nvSpPr>
        <p:spPr bwMode="auto">
          <a:xfrm>
            <a:off x="4418430" y="2393549"/>
            <a:ext cx="37029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</p:txBody>
      </p:sp>
      <p:sp>
        <p:nvSpPr>
          <p:cNvPr id="1051026" name="Rectangle 78"/>
          <p:cNvSpPr>
            <a:spLocks noChangeArrowheads="1"/>
          </p:cNvSpPr>
          <p:nvPr/>
        </p:nvSpPr>
        <p:spPr bwMode="auto">
          <a:xfrm>
            <a:off x="5382851" y="2393549"/>
            <a:ext cx="37029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051027" name="Rectangle 79"/>
          <p:cNvSpPr>
            <a:spLocks noChangeArrowheads="1"/>
          </p:cNvSpPr>
          <p:nvPr/>
        </p:nvSpPr>
        <p:spPr bwMode="auto">
          <a:xfrm>
            <a:off x="9063918" y="2393549"/>
            <a:ext cx="37029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1051028" name="Rectangle 80"/>
          <p:cNvSpPr>
            <a:spLocks noChangeArrowheads="1"/>
          </p:cNvSpPr>
          <p:nvPr/>
        </p:nvSpPr>
        <p:spPr bwMode="auto">
          <a:xfrm>
            <a:off x="2504819" y="2377522"/>
            <a:ext cx="654027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1051029" name="Text Box 81"/>
          <p:cNvSpPr txBox="1">
            <a:spLocks noChangeArrowheads="1"/>
          </p:cNvSpPr>
          <p:nvPr/>
        </p:nvSpPr>
        <p:spPr bwMode="auto">
          <a:xfrm>
            <a:off x="7572650" y="2363183"/>
            <a:ext cx="122180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46 ~ 1500</a:t>
            </a:r>
          </a:p>
        </p:txBody>
      </p:sp>
      <p:sp>
        <p:nvSpPr>
          <p:cNvPr id="1051030" name="Line 107"/>
          <p:cNvSpPr>
            <a:spLocks noChangeShapeType="1"/>
          </p:cNvSpPr>
          <p:nvPr/>
        </p:nvSpPr>
        <p:spPr bwMode="auto">
          <a:xfrm flipH="1">
            <a:off x="3183655" y="1641753"/>
            <a:ext cx="0" cy="1058391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031" name="Line 108"/>
          <p:cNvSpPr>
            <a:spLocks noChangeShapeType="1"/>
          </p:cNvSpPr>
          <p:nvPr/>
        </p:nvSpPr>
        <p:spPr bwMode="auto">
          <a:xfrm>
            <a:off x="9507128" y="1641753"/>
            <a:ext cx="10965" cy="1049715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60" name="Group 109"/>
          <p:cNvGrpSpPr/>
          <p:nvPr/>
        </p:nvGrpSpPr>
        <p:grpSpPr bwMode="auto">
          <a:xfrm>
            <a:off x="5909155" y="1946835"/>
            <a:ext cx="3082635" cy="902235"/>
            <a:chOff x="2715" y="1872"/>
            <a:chExt cx="1968" cy="624"/>
          </a:xfrm>
        </p:grpSpPr>
        <p:sp>
          <p:nvSpPr>
            <p:cNvPr id="1051032" name="AutoShape 110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1033" name="Rectangle 111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015975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</p:grpSp>
      <p:sp>
        <p:nvSpPr>
          <p:cNvPr id="1051034" name="Rectangle 112"/>
          <p:cNvSpPr>
            <a:spLocks noChangeArrowheads="1"/>
          </p:cNvSpPr>
          <p:nvPr/>
        </p:nvSpPr>
        <p:spPr bwMode="auto">
          <a:xfrm>
            <a:off x="2012011" y="2726169"/>
            <a:ext cx="1137493" cy="4070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867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kumimoji="1" lang="zh-CN" altLang="en-US" sz="1867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11" name="矩形 6"/>
          <p:cNvSpPr/>
          <p:nvPr/>
        </p:nvSpPr>
        <p:spPr>
          <a:xfrm>
            <a:off x="821445" y="1300525"/>
            <a:ext cx="10614651" cy="2853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数据字段的长度与长度字段的值不一致；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帧的长度不是整数个字节；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用收到的帧检验序列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查出有差错；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数据字段的长度不在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46 ~ 1500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字节之间。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有效的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帧长度为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64 ~ 1518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字节之间。</a:t>
            </a:r>
          </a:p>
        </p:txBody>
      </p:sp>
      <p:sp>
        <p:nvSpPr>
          <p:cNvPr id="1051312" name="对角圆角矩形 7"/>
          <p:cNvSpPr/>
          <p:nvPr/>
        </p:nvSpPr>
        <p:spPr>
          <a:xfrm>
            <a:off x="1313412" y="4244921"/>
            <a:ext cx="9227469" cy="1533580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51313" name="矩形 8"/>
          <p:cNvSpPr/>
          <p:nvPr/>
        </p:nvSpPr>
        <p:spPr>
          <a:xfrm>
            <a:off x="1651118" y="4433020"/>
            <a:ext cx="8322615" cy="107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以太网对于检查出的无效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帧就简单地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丢弃。</a:t>
            </a:r>
            <a:endParaRPr lang="en-US" altLang="zh-CN" sz="2667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不负责重传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丢弃的帧。 </a:t>
            </a:r>
          </a:p>
        </p:txBody>
      </p:sp>
      <p:sp>
        <p:nvSpPr>
          <p:cNvPr id="1051314" name="AutoShape 5"/>
          <p:cNvSpPr>
            <a:spLocks noChangeArrowheads="1"/>
          </p:cNvSpPr>
          <p:nvPr/>
        </p:nvSpPr>
        <p:spPr bwMode="auto">
          <a:xfrm>
            <a:off x="670562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1315" name="Rectangle 6"/>
          <p:cNvSpPr>
            <a:spLocks noChangeArrowheads="1"/>
          </p:cNvSpPr>
          <p:nvPr/>
        </p:nvSpPr>
        <p:spPr bwMode="auto">
          <a:xfrm>
            <a:off x="4743901" y="781253"/>
            <a:ext cx="2691058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无效的 </a:t>
            </a:r>
            <a:r>
              <a:rPr lang="en-US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帧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19" name="Rectangle 9"/>
          <p:cNvSpPr>
            <a:spLocks noChangeArrowheads="1"/>
          </p:cNvSpPr>
          <p:nvPr/>
        </p:nvSpPr>
        <p:spPr bwMode="auto">
          <a:xfrm>
            <a:off x="3505513" y="3425393"/>
            <a:ext cx="7700435" cy="440267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 sz="240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1320" name="Rectangle 9"/>
          <p:cNvSpPr>
            <a:spLocks noChangeArrowheads="1"/>
          </p:cNvSpPr>
          <p:nvPr/>
        </p:nvSpPr>
        <p:spPr bwMode="auto">
          <a:xfrm>
            <a:off x="3505513" y="1811655"/>
            <a:ext cx="7700435" cy="440267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 sz="240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1321" name="Rectangle 10"/>
          <p:cNvSpPr>
            <a:spLocks noChangeArrowheads="1"/>
          </p:cNvSpPr>
          <p:nvPr/>
        </p:nvSpPr>
        <p:spPr bwMode="auto">
          <a:xfrm>
            <a:off x="3505513" y="2620221"/>
            <a:ext cx="7700435" cy="440267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 sz="240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1322" name="Rectangle 27"/>
          <p:cNvSpPr>
            <a:spLocks noChangeArrowheads="1"/>
          </p:cNvSpPr>
          <p:nvPr/>
        </p:nvSpPr>
        <p:spPr bwMode="auto">
          <a:xfrm>
            <a:off x="852974" y="1811656"/>
            <a:ext cx="2182053" cy="207418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eaLnBrk="0" hangingPunct="0"/>
            <a:endParaRPr lang="fr-FR" sz="2400">
              <a:latin typeface="宋体" charset="-122"/>
            </a:endParaRPr>
          </a:p>
        </p:txBody>
      </p:sp>
      <p:sp>
        <p:nvSpPr>
          <p:cNvPr id="1051323" name="Rectangle 29"/>
          <p:cNvSpPr>
            <a:spLocks noChangeArrowheads="1"/>
          </p:cNvSpPr>
          <p:nvPr/>
        </p:nvSpPr>
        <p:spPr bwMode="auto">
          <a:xfrm>
            <a:off x="864826" y="1938231"/>
            <a:ext cx="2170201" cy="1323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3.4</a:t>
            </a:r>
          </a:p>
          <a:p>
            <a:pPr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扩展的</a:t>
            </a:r>
            <a:endParaRPr lang="en-US" altLang="zh-CN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以太网</a:t>
            </a:r>
            <a:endParaRPr lang="zh-CN" altLang="fr-FR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324" name="Line 16"/>
          <p:cNvSpPr>
            <a:spLocks noChangeShapeType="1"/>
          </p:cNvSpPr>
          <p:nvPr/>
        </p:nvSpPr>
        <p:spPr bwMode="auto">
          <a:xfrm>
            <a:off x="4849597" y="1716405"/>
            <a:ext cx="0" cy="2594439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51325" name="Rectangle 8"/>
          <p:cNvSpPr>
            <a:spLocks noChangeArrowheads="1"/>
          </p:cNvSpPr>
          <p:nvPr/>
        </p:nvSpPr>
        <p:spPr bwMode="auto">
          <a:xfrm>
            <a:off x="3600765" y="1472988"/>
            <a:ext cx="7296151" cy="243111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3.4.1                              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在物理层扩展以太网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3.4.2                       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在数据链路层扩展以太网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3.4.3                                           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虚拟局域网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013" name="AutoShape 5"/>
          <p:cNvSpPr>
            <a:spLocks noChangeArrowheads="1"/>
          </p:cNvSpPr>
          <p:nvPr/>
        </p:nvSpPr>
        <p:spPr bwMode="auto">
          <a:xfrm>
            <a:off x="670559" y="845271"/>
            <a:ext cx="10838687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2014" name="Rectangle 6"/>
          <p:cNvSpPr>
            <a:spLocks noChangeArrowheads="1"/>
          </p:cNvSpPr>
          <p:nvPr/>
        </p:nvSpPr>
        <p:spPr bwMode="auto">
          <a:xfrm>
            <a:off x="4347574" y="776718"/>
            <a:ext cx="347402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虚拟局域网</a:t>
            </a:r>
          </a:p>
        </p:txBody>
      </p:sp>
      <p:graphicFrame>
        <p:nvGraphicFramePr>
          <p:cNvPr id="4194316" name="图示 2"/>
          <p:cNvGraphicFramePr>
            <a:graphicFrameLocks/>
          </p:cNvGraphicFramePr>
          <p:nvPr/>
        </p:nvGraphicFramePr>
        <p:xfrm>
          <a:off x="2655268" y="1596290"/>
          <a:ext cx="6858637" cy="2675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61D027-391C-78EF-0129-1C9CD5FFA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301" y="628319"/>
            <a:ext cx="5915068" cy="10048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FFA766-D54A-C9B2-DB3E-1C9864789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39" y="628319"/>
            <a:ext cx="2457468" cy="8382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BAF6F78-7536-E965-06E3-410461AB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85" y="1857059"/>
            <a:ext cx="6029369" cy="90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14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936BB-B4E4-C565-7EDF-E1254E01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8668"/>
            <a:ext cx="10945633" cy="1325563"/>
          </a:xfrm>
        </p:spPr>
        <p:txBody>
          <a:bodyPr/>
          <a:lstStyle/>
          <a:p>
            <a:r>
              <a:rPr lang="zh-CN" altLang="en-US" dirty="0"/>
              <a:t>第四章（</a:t>
            </a:r>
            <a:r>
              <a:rPr lang="zh-CN" altLang="en-US" b="1" dirty="0"/>
              <a:t>重要</a:t>
            </a:r>
            <a:r>
              <a:rPr lang="zh-CN" altLang="en-US" dirty="0"/>
              <a:t>，选择、填空、简答、综合）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2BE90-5A92-755B-5839-F615ACCEA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90" y="1574231"/>
            <a:ext cx="4508090" cy="4459913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地址格式</a:t>
            </a:r>
            <a:endParaRPr lang="en-US" altLang="zh-CN" dirty="0"/>
          </a:p>
          <a:p>
            <a:pPr lvl="1"/>
            <a:r>
              <a:rPr lang="zh-CN" altLang="en-US" dirty="0"/>
              <a:t>分类编址与子网划分</a:t>
            </a:r>
            <a:endParaRPr lang="en-US" altLang="zh-CN" dirty="0"/>
          </a:p>
          <a:p>
            <a:pPr lvl="1"/>
            <a:r>
              <a:rPr lang="en-US" altLang="zh-CN" dirty="0"/>
              <a:t>CIDR</a:t>
            </a:r>
            <a:r>
              <a:rPr lang="zh-CN" altLang="en-US" dirty="0"/>
              <a:t>与超网构造</a:t>
            </a:r>
            <a:endParaRPr lang="en-US" altLang="zh-CN" dirty="0"/>
          </a:p>
          <a:p>
            <a:pPr lvl="1"/>
            <a:r>
              <a:rPr lang="en-US" altLang="zh-CN" dirty="0"/>
              <a:t>IP</a:t>
            </a:r>
            <a:r>
              <a:rPr lang="zh-CN" altLang="en-US" dirty="0"/>
              <a:t>与</a:t>
            </a:r>
            <a:r>
              <a:rPr lang="en-US" altLang="zh-CN" dirty="0"/>
              <a:t>MAC</a:t>
            </a:r>
            <a:r>
              <a:rPr lang="zh-CN" altLang="en-US" dirty="0"/>
              <a:t>地址（</a:t>
            </a:r>
            <a:r>
              <a:rPr lang="en-US" altLang="zh-CN" dirty="0"/>
              <a:t>ARP</a:t>
            </a:r>
            <a:r>
              <a:rPr lang="zh-CN" altLang="en-US" dirty="0"/>
              <a:t>协议）</a:t>
            </a:r>
            <a:endParaRPr lang="en-US" altLang="zh-CN" dirty="0"/>
          </a:p>
          <a:p>
            <a:r>
              <a:rPr lang="en-US" altLang="zh-CN" dirty="0"/>
              <a:t>IP</a:t>
            </a:r>
            <a:r>
              <a:rPr lang="zh-CN" altLang="en-US" dirty="0"/>
              <a:t>协议</a:t>
            </a:r>
            <a:endParaRPr lang="en-US" altLang="zh-CN" dirty="0"/>
          </a:p>
          <a:p>
            <a:pPr lvl="1"/>
            <a:r>
              <a:rPr lang="zh-CN" altLang="en-US" dirty="0"/>
              <a:t>数据报结构</a:t>
            </a:r>
            <a:endParaRPr lang="en-US" altLang="zh-CN" dirty="0"/>
          </a:p>
          <a:p>
            <a:pPr lvl="1"/>
            <a:r>
              <a:rPr lang="en-US" altLang="zh-CN" dirty="0"/>
              <a:t>IP</a:t>
            </a:r>
            <a:r>
              <a:rPr lang="zh-CN" altLang="en-US" dirty="0"/>
              <a:t>分片</a:t>
            </a:r>
            <a:endParaRPr lang="en-US" altLang="zh-CN" dirty="0"/>
          </a:p>
          <a:p>
            <a:r>
              <a:rPr lang="en-US" altLang="zh-CN" dirty="0"/>
              <a:t>ICMP</a:t>
            </a:r>
          </a:p>
          <a:p>
            <a:pPr lvl="1"/>
            <a:r>
              <a:rPr lang="zh-CN" altLang="en-US" dirty="0"/>
              <a:t>报文封装</a:t>
            </a:r>
            <a:endParaRPr lang="en-US" altLang="zh-CN" dirty="0"/>
          </a:p>
          <a:p>
            <a:pPr lvl="1"/>
            <a:r>
              <a:rPr lang="zh-CN" altLang="en-US" dirty="0"/>
              <a:t>报文类型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ECF6A9-4161-5CA6-871B-B256209E0AC2}"/>
              </a:ext>
            </a:extLst>
          </p:cNvPr>
          <p:cNvSpPr txBox="1"/>
          <p:nvPr/>
        </p:nvSpPr>
        <p:spPr>
          <a:xfrm>
            <a:off x="5939624" y="1630968"/>
            <a:ext cx="5923721" cy="3978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路由表</a:t>
            </a:r>
            <a:endParaRPr lang="en-US" altLang="zh-CN" dirty="0"/>
          </a:p>
          <a:p>
            <a:r>
              <a:rPr lang="en-US" altLang="zh-CN" dirty="0"/>
              <a:t>IPv6</a:t>
            </a:r>
            <a:endParaRPr lang="zh-CN" altLang="en-US" dirty="0"/>
          </a:p>
          <a:p>
            <a:pPr lvl="1"/>
            <a:r>
              <a:rPr lang="zh-CN" altLang="en-US" dirty="0"/>
              <a:t>地址格式与压缩技术</a:t>
            </a:r>
          </a:p>
          <a:p>
            <a:pPr lvl="1"/>
            <a:r>
              <a:rPr lang="zh-CN" altLang="en-US" dirty="0"/>
              <a:t>过渡技术（双栈和隧道）</a:t>
            </a:r>
            <a:endParaRPr lang="en-US" altLang="zh-CN" dirty="0"/>
          </a:p>
          <a:p>
            <a:r>
              <a:rPr lang="en-US" altLang="zh-CN" dirty="0"/>
              <a:t>IP</a:t>
            </a:r>
            <a:r>
              <a:rPr lang="zh-CN" altLang="en-US" dirty="0"/>
              <a:t>路由</a:t>
            </a:r>
            <a:endParaRPr lang="en-US" altLang="zh-CN" dirty="0"/>
          </a:p>
          <a:p>
            <a:pPr lvl="1"/>
            <a:r>
              <a:rPr lang="zh-CN" altLang="en-US" dirty="0"/>
              <a:t>路由协议分类及常见协议</a:t>
            </a:r>
            <a:endParaRPr lang="en-US" altLang="zh-CN" dirty="0"/>
          </a:p>
          <a:p>
            <a:pPr lvl="1"/>
            <a:r>
              <a:rPr lang="en-US" altLang="zh-CN" b="1" dirty="0"/>
              <a:t>RIP</a:t>
            </a:r>
            <a:r>
              <a:rPr lang="zh-CN" altLang="en-US" b="1" dirty="0"/>
              <a:t>与</a:t>
            </a:r>
            <a:r>
              <a:rPr lang="en-US" altLang="zh-CN" b="1" dirty="0"/>
              <a:t>OSPF</a:t>
            </a:r>
            <a:r>
              <a:rPr lang="zh-CN" altLang="en-US" b="1" dirty="0"/>
              <a:t>工作原理</a:t>
            </a:r>
            <a:endParaRPr lang="en-US" altLang="zh-CN" b="1" dirty="0"/>
          </a:p>
          <a:p>
            <a:r>
              <a:rPr lang="en-US" altLang="zh-CN" dirty="0"/>
              <a:t>VPN</a:t>
            </a:r>
            <a:r>
              <a:rPr lang="zh-CN" altLang="en-US" dirty="0"/>
              <a:t>与</a:t>
            </a:r>
            <a:r>
              <a:rPr lang="en-US" altLang="zh-CN" dirty="0"/>
              <a:t>NAT（</a:t>
            </a:r>
            <a:r>
              <a:rPr lang="zh-CN" altLang="en-US" dirty="0"/>
              <a:t>简单了解</a:t>
            </a:r>
            <a:r>
              <a:rPr lang="en-US" altLang="zh-CN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045537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26857" y="1352031"/>
            <a:ext cx="5602819" cy="3342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ts val="3467"/>
              </a:lnSpc>
              <a:buClr>
                <a:srgbClr val="0070C0"/>
              </a:buClr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与网际协议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fr-FR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配套的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个协议：</a:t>
            </a:r>
          </a:p>
          <a:p>
            <a:pPr marL="482588" indent="-476239" eaLnBrk="0" hangingPunct="0">
              <a:lnSpc>
                <a:spcPts val="3733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地址解析协议 </a:t>
            </a:r>
            <a:r>
              <a:rPr lang="fr-FR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ARP</a:t>
            </a:r>
            <a:r>
              <a:rPr lang="fr-FR" altLang="zh-CN" sz="2400" b="1" dirty="0">
                <a:latin typeface="微软雅黑" pitchFamily="34" charset="-122"/>
                <a:ea typeface="微软雅黑" pitchFamily="34" charset="-122"/>
              </a:rPr>
              <a:t> (Address Resolution Protocol)</a:t>
            </a:r>
          </a:p>
          <a:p>
            <a:pPr marL="482588" indent="-476239" eaLnBrk="0" hangingPunct="0">
              <a:lnSpc>
                <a:spcPts val="3733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网际控制报文协议 </a:t>
            </a:r>
            <a:r>
              <a:rPr lang="fr-FR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fr-FR" altLang="zh-CN" sz="2400" b="1" dirty="0">
                <a:latin typeface="微软雅黑" pitchFamily="34" charset="-122"/>
                <a:ea typeface="微软雅黑" pitchFamily="34" charset="-122"/>
              </a:rPr>
              <a:t>(Internet Control Message Protocol)</a:t>
            </a:r>
          </a:p>
          <a:p>
            <a:pPr marL="482588" indent="-476239" eaLnBrk="0" hangingPunct="0">
              <a:lnSpc>
                <a:spcPts val="3733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网际组管理协议 </a:t>
            </a:r>
            <a:r>
              <a:rPr lang="fr-FR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IGMP </a:t>
            </a:r>
            <a:r>
              <a:rPr lang="fr-FR" altLang="zh-CN" sz="2400" b="1" dirty="0">
                <a:latin typeface="微软雅黑" pitchFamily="34" charset="-122"/>
                <a:ea typeface="微软雅黑" pitchFamily="34" charset="-122"/>
              </a:rPr>
              <a:t>(Internet Group Management Protocol)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59" y="828301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 sz="2400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423910" y="771939"/>
            <a:ext cx="33441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4.2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网际协议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234023" y="1431946"/>
            <a:ext cx="5283171" cy="4267199"/>
          </a:xfrm>
          <a:prstGeom prst="roundRect">
            <a:avLst>
              <a:gd name="adj" fmla="val 9928"/>
            </a:avLst>
          </a:prstGeom>
          <a:solidFill>
            <a:srgbClr val="C3E3F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6456609" y="1731384"/>
            <a:ext cx="4554998" cy="3668321"/>
            <a:chOff x="2372076" y="1403136"/>
            <a:chExt cx="4224107" cy="2751241"/>
          </a:xfrm>
        </p:grpSpPr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372076" y="3355900"/>
              <a:ext cx="1235625" cy="209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600" b="1">
                  <a:latin typeface="微软雅黑" pitchFamily="34" charset="-122"/>
                  <a:ea typeface="微软雅黑" pitchFamily="34" charset="-122"/>
                </a:rPr>
                <a:t>网络接口层</a:t>
              </a:r>
            </a:p>
          </p:txBody>
        </p:sp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2714268" y="1977466"/>
              <a:ext cx="74208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>
                  <a:latin typeface="微软雅黑" pitchFamily="34" charset="-122"/>
                  <a:ea typeface="微软雅黑" pitchFamily="34" charset="-122"/>
                </a:rPr>
                <a:t>运输层</a:t>
              </a: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2747925" y="1520750"/>
              <a:ext cx="74208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应用层</a:t>
              </a: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562806" y="1959860"/>
              <a:ext cx="10983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2562806" y="2313013"/>
              <a:ext cx="10983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581879" y="3270978"/>
              <a:ext cx="1079307" cy="20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3094606" y="2313013"/>
              <a:ext cx="0" cy="9600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2514069" y="2497357"/>
              <a:ext cx="1165222" cy="438581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网络层</a:t>
              </a:r>
              <a:endPara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kumimoji="1"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（网际层）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3718405" y="1403136"/>
              <a:ext cx="2877778" cy="2751241"/>
              <a:chOff x="3718405" y="1403136"/>
              <a:chExt cx="2877778" cy="2751241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3721771" y="1403723"/>
                <a:ext cx="2874412" cy="2223514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zh-CN" altLang="zh-CN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721771" y="2313013"/>
                <a:ext cx="2874412" cy="960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67"/>
              </a:p>
            </p:txBody>
          </p:sp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3721771" y="2313013"/>
                <a:ext cx="2874412" cy="960036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Line 6"/>
              <p:cNvSpPr>
                <a:spLocks noChangeShapeType="1"/>
              </p:cNvSpPr>
              <p:nvPr/>
            </p:nvSpPr>
            <p:spPr bwMode="auto">
              <a:xfrm>
                <a:off x="3721771" y="1959860"/>
                <a:ext cx="28744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3721771" y="2313013"/>
                <a:ext cx="2874412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Text Box 8"/>
              <p:cNvSpPr txBox="1">
                <a:spLocks noChangeArrowheads="1"/>
              </p:cNvSpPr>
              <p:nvPr/>
            </p:nvSpPr>
            <p:spPr bwMode="auto">
              <a:xfrm>
                <a:off x="4410642" y="1403136"/>
                <a:ext cx="1503205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各种应用层协议</a:t>
                </a:r>
              </a:p>
            </p:txBody>
          </p:sp>
          <p:sp>
            <p:nvSpPr>
              <p:cNvPr id="16" name="Text Box 10"/>
              <p:cNvSpPr txBox="1">
                <a:spLocks noChangeArrowheads="1"/>
              </p:cNvSpPr>
              <p:nvPr/>
            </p:nvSpPr>
            <p:spPr bwMode="auto">
              <a:xfrm>
                <a:off x="4044889" y="1645744"/>
                <a:ext cx="2148786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(HTTP, FTP, SMTP </a:t>
                </a:r>
                <a:r>
                  <a:rPr kumimoji="1" lang="zh-CN" altLang="zh-CN" sz="1600" b="1" dirty="0">
                    <a:latin typeface="微软雅黑" pitchFamily="34" charset="-122"/>
                    <a:ea typeface="微软雅黑" pitchFamily="34" charset="-122"/>
                  </a:rPr>
                  <a:t>等</a:t>
                </a:r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)</a:t>
                </a:r>
              </a:p>
            </p:txBody>
          </p:sp>
          <p:sp>
            <p:nvSpPr>
              <p:cNvPr id="17" name="Rectangle 11"/>
              <p:cNvSpPr>
                <a:spLocks noChangeArrowheads="1"/>
              </p:cNvSpPr>
              <p:nvPr/>
            </p:nvSpPr>
            <p:spPr bwMode="auto">
              <a:xfrm>
                <a:off x="3718405" y="3677984"/>
                <a:ext cx="2877778" cy="476393"/>
              </a:xfrm>
              <a:prstGeom prst="rect">
                <a:avLst/>
              </a:prstGeom>
              <a:solidFill>
                <a:srgbClr val="00B0F0">
                  <a:alpha val="49001"/>
                </a:srgbClr>
              </a:solidFill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Text Box 12"/>
              <p:cNvSpPr txBox="1">
                <a:spLocks noChangeArrowheads="1"/>
              </p:cNvSpPr>
              <p:nvPr/>
            </p:nvSpPr>
            <p:spPr bwMode="auto">
              <a:xfrm>
                <a:off x="4661957" y="3760589"/>
                <a:ext cx="932367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物理硬件</a:t>
                </a:r>
              </a:p>
            </p:txBody>
          </p:sp>
          <p:sp>
            <p:nvSpPr>
              <p:cNvPr id="20" name="Text Box 14"/>
              <p:cNvSpPr txBox="1">
                <a:spLocks noChangeArrowheads="1"/>
              </p:cNvSpPr>
              <p:nvPr/>
            </p:nvSpPr>
            <p:spPr bwMode="auto">
              <a:xfrm>
                <a:off x="4739371" y="1984375"/>
                <a:ext cx="1034167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TCP, UDP</a:t>
                </a:r>
              </a:p>
            </p:txBody>
          </p:sp>
          <p:sp>
            <p:nvSpPr>
              <p:cNvPr id="22" name="Rectangle 16"/>
              <p:cNvSpPr>
                <a:spLocks noChangeArrowheads="1"/>
              </p:cNvSpPr>
              <p:nvPr/>
            </p:nvSpPr>
            <p:spPr bwMode="auto">
              <a:xfrm>
                <a:off x="3781234" y="2343046"/>
                <a:ext cx="685505" cy="243375"/>
              </a:xfrm>
              <a:prstGeom prst="rect">
                <a:avLst/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ICMP</a:t>
                </a:r>
              </a:p>
            </p:txBody>
          </p:sp>
          <p:sp>
            <p:nvSpPr>
              <p:cNvPr id="23" name="Text Box 17"/>
              <p:cNvSpPr txBox="1">
                <a:spLocks noChangeArrowheads="1"/>
              </p:cNvSpPr>
              <p:nvPr/>
            </p:nvSpPr>
            <p:spPr bwMode="auto">
              <a:xfrm>
                <a:off x="4975193" y="2674159"/>
                <a:ext cx="422479" cy="3154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133" b="1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IP</a:t>
                </a:r>
              </a:p>
            </p:txBody>
          </p:sp>
          <p:sp>
            <p:nvSpPr>
              <p:cNvPr id="24" name="Rectangle 19"/>
              <p:cNvSpPr>
                <a:spLocks noChangeArrowheads="1"/>
              </p:cNvSpPr>
              <p:nvPr/>
            </p:nvSpPr>
            <p:spPr bwMode="auto">
              <a:xfrm>
                <a:off x="5910678" y="2970643"/>
                <a:ext cx="624920" cy="243375"/>
              </a:xfrm>
              <a:prstGeom prst="rect">
                <a:avLst/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ARP</a:t>
                </a:r>
              </a:p>
            </p:txBody>
          </p:sp>
          <p:sp>
            <p:nvSpPr>
              <p:cNvPr id="25" name="Text Box 20"/>
              <p:cNvSpPr txBox="1">
                <a:spLocks noChangeArrowheads="1"/>
              </p:cNvSpPr>
              <p:nvPr/>
            </p:nvSpPr>
            <p:spPr bwMode="auto">
              <a:xfrm>
                <a:off x="4375862" y="3290337"/>
                <a:ext cx="1503205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b="1" dirty="0">
                    <a:latin typeface="微软雅黑" pitchFamily="34" charset="-122"/>
                    <a:ea typeface="微软雅黑" pitchFamily="34" charset="-122"/>
                  </a:rPr>
                  <a:t>与各种网络接口</a:t>
                </a:r>
              </a:p>
            </p:txBody>
          </p:sp>
          <p:sp>
            <p:nvSpPr>
              <p:cNvPr id="26" name="Line 21"/>
              <p:cNvSpPr>
                <a:spLocks noChangeShapeType="1"/>
              </p:cNvSpPr>
              <p:nvPr/>
            </p:nvSpPr>
            <p:spPr bwMode="auto">
              <a:xfrm>
                <a:off x="3721771" y="3273049"/>
                <a:ext cx="2874412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Rectangle 27"/>
              <p:cNvSpPr>
                <a:spLocks noChangeArrowheads="1"/>
              </p:cNvSpPr>
              <p:nvPr/>
            </p:nvSpPr>
            <p:spPr bwMode="auto">
              <a:xfrm>
                <a:off x="4500398" y="2343046"/>
                <a:ext cx="684384" cy="243375"/>
              </a:xfrm>
              <a:prstGeom prst="rect">
                <a:avLst/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IGMP</a:t>
                </a:r>
              </a:p>
            </p:txBody>
          </p:sp>
        </p:grp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2571782" y="1403723"/>
              <a:ext cx="1089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2552708" y="3627237"/>
              <a:ext cx="11084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27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940295"/>
              </p:ext>
            </p:extLst>
          </p:nvPr>
        </p:nvGraphicFramePr>
        <p:xfrm>
          <a:off x="1047750" y="1025280"/>
          <a:ext cx="10344150" cy="4851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9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8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类别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网络数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网络</a:t>
                      </a: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地址范围</a:t>
                      </a:r>
                      <a:endParaRPr lang="zh-CN" sz="2400" b="1" dirty="0"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网络中</a:t>
                      </a:r>
                      <a:r>
                        <a:rPr lang="zh-CN" sz="24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主机数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9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en-US" sz="2400" b="1" baseline="30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– 2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1.0.0.0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~126.0.0.0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16777214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en-US" altLang="zh-CN" sz="2400" b="1" baseline="30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24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- 2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9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en-US" sz="2400" b="1" baseline="30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14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– 1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128.1.0.0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~191.255.0.0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65534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en-US" altLang="zh-CN" sz="2400" b="1" baseline="30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- 2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73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en-US" sz="2400" b="1" baseline="30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– 1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192.0.1.0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~223.255.255.0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254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（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r>
                        <a:rPr lang="en-US" altLang="zh-CN" sz="2400" b="1" baseline="30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- 2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）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8E5B3125-39E1-452E-BAA4-26DD6142F48A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115889"/>
            <a:ext cx="7345362" cy="549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2666192992"/>
      </p:ext>
    </p:extLst>
  </p:cSld>
  <p:clrMapOvr>
    <a:masterClrMapping/>
  </p:clrMapOvr>
  <p:transition spd="slow" advTm="200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2065867" y="2591720"/>
            <a:ext cx="9364133" cy="365668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Rectangle 68"/>
          <p:cNvSpPr>
            <a:spLocks noChangeArrowheads="1"/>
          </p:cNvSpPr>
          <p:nvPr/>
        </p:nvSpPr>
        <p:spPr bwMode="auto">
          <a:xfrm>
            <a:off x="592667" y="1355110"/>
            <a:ext cx="1100666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70C0"/>
              </a:buClr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CIDR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地址块：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网络前缀都相同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所有连续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集合。地址块包含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地址数目取决于网络前缀的位数。</a:t>
            </a:r>
          </a:p>
        </p:txBody>
      </p:sp>
      <p:sp>
        <p:nvSpPr>
          <p:cNvPr id="8" name="Text Box 155"/>
          <p:cNvSpPr txBox="1">
            <a:spLocks noChangeArrowheads="1"/>
          </p:cNvSpPr>
          <p:nvPr/>
        </p:nvSpPr>
        <p:spPr bwMode="auto">
          <a:xfrm>
            <a:off x="4205624" y="2845943"/>
            <a:ext cx="5516931" cy="4072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0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128.14.32.0/20 </a:t>
            </a:r>
            <a:r>
              <a:rPr lang="zh-CN" altLang="en-US" sz="20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地址块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05665" y="3327562"/>
            <a:ext cx="5148547" cy="25853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0000 00000000</a:t>
            </a:r>
          </a:p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0000 00000001</a:t>
            </a:r>
          </a:p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0000 00000010</a:t>
            </a:r>
          </a:p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0000 00000011</a:t>
            </a:r>
          </a:p>
          <a:p>
            <a:endParaRPr lang="en-US" altLang="zh-CN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1111 11111101</a:t>
            </a:r>
          </a:p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1111 11111110</a:t>
            </a:r>
          </a:p>
          <a:p>
            <a:r>
              <a:rPr lang="en-US" altLang="zh-CN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10000000 00001110 0010 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1111 11111111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8742631" y="4555696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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020967" y="4580191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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527053" y="3337154"/>
            <a:ext cx="3109881" cy="2575732"/>
          </a:xfrm>
          <a:prstGeom prst="rect">
            <a:avLst/>
          </a:prstGeom>
          <a:noFill/>
          <a:ln w="38100">
            <a:solidFill>
              <a:srgbClr val="CC00CC">
                <a:alpha val="5000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529089" y="4084603"/>
            <a:ext cx="1589084" cy="1023293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所有地址的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20 </a:t>
            </a:r>
            <a:r>
              <a:rPr lang="zh-CN" altLang="en-US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位前缀都是一样</a:t>
            </a:r>
          </a:p>
        </p:txBody>
      </p:sp>
      <p:sp>
        <p:nvSpPr>
          <p:cNvPr id="21" name="矩形 20"/>
          <p:cNvSpPr/>
          <p:nvPr/>
        </p:nvSpPr>
        <p:spPr>
          <a:xfrm>
            <a:off x="9844462" y="4172514"/>
            <a:ext cx="1330185" cy="861774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可指派的地址数是</a:t>
            </a:r>
            <a:r>
              <a:rPr lang="en-US" altLang="zh-CN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="1" baseline="300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en-US" altLang="zh-CN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 – 2 </a:t>
            </a: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个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C2E1CC2-FD01-46EA-978F-68F48D5F422C}"/>
              </a:ext>
            </a:extLst>
          </p:cNvPr>
          <p:cNvGrpSpPr/>
          <p:nvPr/>
        </p:nvGrpSpPr>
        <p:grpSpPr>
          <a:xfrm>
            <a:off x="2276523" y="3185516"/>
            <a:ext cx="2304637" cy="584775"/>
            <a:chOff x="827201" y="2600270"/>
            <a:chExt cx="2304639" cy="584774"/>
          </a:xfrm>
        </p:grpSpPr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5EE46D26-E4EE-4BC6-8C56-6DF0F0544C2E}"/>
                </a:ext>
              </a:extLst>
            </p:cNvPr>
            <p:cNvSpPr/>
            <p:nvPr/>
          </p:nvSpPr>
          <p:spPr bwMode="auto">
            <a:xfrm>
              <a:off x="2332011" y="2708920"/>
              <a:ext cx="799829" cy="407291"/>
            </a:xfrm>
            <a:prstGeom prst="rightArrow">
              <a:avLst>
                <a:gd name="adj1" fmla="val 36969"/>
                <a:gd name="adj2" fmla="val 69546"/>
              </a:avLst>
            </a:prstGeom>
            <a:solidFill>
              <a:srgbClr val="FFC00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 eaLnBrk="0" hangingPunct="0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827201" y="2600270"/>
              <a:ext cx="1589086" cy="5847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最小地址</a:t>
              </a:r>
              <a:endParaRPr lang="en-US" altLang="zh-CN" sz="16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128.14.32.0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4F67C74-4861-4809-A7EE-084AC139E03A}"/>
              </a:ext>
            </a:extLst>
          </p:cNvPr>
          <p:cNvGrpSpPr/>
          <p:nvPr/>
        </p:nvGrpSpPr>
        <p:grpSpPr>
          <a:xfrm>
            <a:off x="2073322" y="5395851"/>
            <a:ext cx="2514692" cy="584775"/>
            <a:chOff x="617151" y="4718509"/>
            <a:chExt cx="2514689" cy="584774"/>
          </a:xfrm>
        </p:grpSpPr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88BE69D1-05C5-46EE-B264-94E508041A4B}"/>
                </a:ext>
              </a:extLst>
            </p:cNvPr>
            <p:cNvSpPr/>
            <p:nvPr/>
          </p:nvSpPr>
          <p:spPr bwMode="auto">
            <a:xfrm>
              <a:off x="2332011" y="4883411"/>
              <a:ext cx="799829" cy="407291"/>
            </a:xfrm>
            <a:prstGeom prst="rightArrow">
              <a:avLst>
                <a:gd name="adj1" fmla="val 36969"/>
                <a:gd name="adj2" fmla="val 69546"/>
              </a:avLst>
            </a:prstGeom>
            <a:solidFill>
              <a:srgbClr val="FFC00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 eaLnBrk="0" hangingPunct="0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617151" y="4718509"/>
              <a:ext cx="1841648" cy="5847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最大地址</a:t>
              </a:r>
              <a:endParaRPr lang="en-US" altLang="zh-CN" sz="16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128.14.47.255</a:t>
              </a:r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914C66-5B28-4D2B-AB57-5E98283CDC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无分类编址 </a:t>
            </a:r>
            <a:r>
              <a:rPr lang="en-US" altLang="zh-CN" dirty="0"/>
              <a:t>CIDR</a:t>
            </a:r>
            <a:r>
              <a:rPr lang="zh-CN" altLang="en-US" dirty="0"/>
              <a:t>地址块</a:t>
            </a:r>
          </a:p>
        </p:txBody>
      </p:sp>
    </p:spTree>
    <p:extLst>
      <p:ext uri="{BB962C8B-B14F-4D97-AF65-F5344CB8AC3E}">
        <p14:creationId xmlns:p14="http://schemas.microsoft.com/office/powerpoint/2010/main" val="25985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347A676-0282-4BC3-9B90-0C11C07572F5}"/>
              </a:ext>
            </a:extLst>
          </p:cNvPr>
          <p:cNvGrpSpPr/>
          <p:nvPr/>
        </p:nvGrpSpPr>
        <p:grpSpPr>
          <a:xfrm>
            <a:off x="3455788" y="1538290"/>
            <a:ext cx="6522065" cy="2149978"/>
            <a:chOff x="1931787" y="1538290"/>
            <a:chExt cx="6522065" cy="2149978"/>
          </a:xfrm>
        </p:grpSpPr>
        <p:sp>
          <p:nvSpPr>
            <p:cNvPr id="68" name="Oval 44"/>
            <p:cNvSpPr>
              <a:spLocks noChangeArrowheads="1"/>
            </p:cNvSpPr>
            <p:nvPr/>
          </p:nvSpPr>
          <p:spPr bwMode="auto">
            <a:xfrm>
              <a:off x="1931787" y="2260505"/>
              <a:ext cx="1630698" cy="1021781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1961141" y="3212976"/>
              <a:ext cx="109409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一系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500</a:t>
              </a:r>
              <a:endParaRPr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4201296" y="3349714"/>
              <a:ext cx="101877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二系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200</a:t>
              </a:r>
              <a:endParaRPr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5683909" y="3232416"/>
              <a:ext cx="101877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三系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100</a:t>
              </a:r>
              <a:endParaRPr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7330484" y="3070675"/>
              <a:ext cx="101877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四系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100</a:t>
              </a:r>
              <a:endParaRPr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AutoShape 37"/>
            <p:cNvSpPr>
              <a:spLocks noChangeArrowheads="1"/>
            </p:cNvSpPr>
            <p:nvPr/>
          </p:nvSpPr>
          <p:spPr bwMode="auto">
            <a:xfrm rot="1625099">
              <a:off x="5619840" y="1983625"/>
              <a:ext cx="1713807" cy="120620"/>
            </a:xfrm>
            <a:prstGeom prst="leftArrow">
              <a:avLst>
                <a:gd name="adj1" fmla="val 27083"/>
                <a:gd name="adj2" fmla="val 410994"/>
              </a:avLst>
            </a:prstGeom>
            <a:solidFill>
              <a:srgbClr val="FFFF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auto">
            <a:xfrm>
              <a:off x="7049834" y="2285703"/>
              <a:ext cx="1404018" cy="646126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AutoShape 40"/>
            <p:cNvSpPr>
              <a:spLocks noChangeArrowheads="1"/>
            </p:cNvSpPr>
            <p:nvPr/>
          </p:nvSpPr>
          <p:spPr bwMode="auto">
            <a:xfrm rot="8870696">
              <a:off x="3413646" y="1998622"/>
              <a:ext cx="1608402" cy="134080"/>
            </a:xfrm>
            <a:prstGeom prst="leftArrow">
              <a:avLst>
                <a:gd name="adj1" fmla="val 27083"/>
                <a:gd name="adj2" fmla="val 412642"/>
              </a:avLst>
            </a:prstGeom>
            <a:solidFill>
              <a:srgbClr val="FFFF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AutoShape 43"/>
            <p:cNvSpPr>
              <a:spLocks noChangeArrowheads="1"/>
            </p:cNvSpPr>
            <p:nvPr/>
          </p:nvSpPr>
          <p:spPr bwMode="auto">
            <a:xfrm rot="7490917">
              <a:off x="4017813" y="2261700"/>
              <a:ext cx="1560412" cy="113591"/>
            </a:xfrm>
            <a:prstGeom prst="leftArrow">
              <a:avLst>
                <a:gd name="adj1" fmla="val 27083"/>
                <a:gd name="adj2" fmla="val 322268"/>
              </a:avLst>
            </a:prstGeom>
            <a:solidFill>
              <a:srgbClr val="FFFF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3726040" y="2260505"/>
              <a:ext cx="1567010" cy="1021781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AutoShape 48"/>
            <p:cNvSpPr>
              <a:spLocks noChangeArrowheads="1"/>
            </p:cNvSpPr>
            <p:nvPr/>
          </p:nvSpPr>
          <p:spPr bwMode="auto">
            <a:xfrm rot="14362323" flipH="1">
              <a:off x="5126985" y="2296910"/>
              <a:ext cx="1561569" cy="113589"/>
            </a:xfrm>
            <a:prstGeom prst="leftArrow">
              <a:avLst>
                <a:gd name="adj1" fmla="val 27083"/>
                <a:gd name="adj2" fmla="val 322509"/>
              </a:avLst>
            </a:prstGeom>
            <a:solidFill>
              <a:srgbClr val="FFFF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5375204" y="2436833"/>
              <a:ext cx="1567010" cy="776648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6011813" y="1282883"/>
            <a:ext cx="1805909" cy="763607"/>
          </a:xfrm>
          <a:prstGeom prst="ellipse">
            <a:avLst/>
          </a:prstGeom>
          <a:solidFill>
            <a:srgbClr val="3399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200" b="1" ker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6351193" y="1346335"/>
            <a:ext cx="1216769" cy="56932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200" b="1" ker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D76C48-B903-4F80-8B5E-5AC93138191E}"/>
              </a:ext>
            </a:extLst>
          </p:cNvPr>
          <p:cNvGrpSpPr/>
          <p:nvPr/>
        </p:nvGrpSpPr>
        <p:grpSpPr>
          <a:xfrm>
            <a:off x="7490697" y="1224260"/>
            <a:ext cx="1331360" cy="338554"/>
            <a:chOff x="5966697" y="1224260"/>
            <a:chExt cx="1331360" cy="338554"/>
          </a:xfrm>
        </p:grpSpPr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354421" y="1224260"/>
              <a:ext cx="94363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大学 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5966697" y="1389375"/>
              <a:ext cx="382770" cy="160664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1" name="Text Box 27">
            <a:extLst>
              <a:ext uri="{FF2B5EF4-FFF2-40B4-BE49-F238E27FC236}">
                <a16:creationId xmlns:a16="http://schemas.microsoft.com/office/drawing/2014/main" id="{AB29C663-9F4C-410A-9473-3E2FFAB68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7885" y="1485843"/>
            <a:ext cx="129358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11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206.0.68.0/18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719736" y="1431354"/>
            <a:ext cx="908722" cy="537477"/>
            <a:chOff x="228434" y="1033063"/>
            <a:chExt cx="1637241" cy="738189"/>
          </a:xfrm>
          <a:solidFill>
            <a:srgbClr val="002060"/>
          </a:solidFill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237985" y="1047511"/>
              <a:ext cx="1627690" cy="723741"/>
              <a:chOff x="3134" y="1375"/>
              <a:chExt cx="2386" cy="1553"/>
            </a:xfrm>
            <a:grpFill/>
          </p:grpSpPr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3959" y="1375"/>
                <a:ext cx="1026" cy="6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3380" y="1548"/>
                <a:ext cx="781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3134" y="1940"/>
                <a:ext cx="521" cy="50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Oval 9"/>
              <p:cNvSpPr>
                <a:spLocks noChangeArrowheads="1"/>
              </p:cNvSpPr>
              <p:nvPr/>
            </p:nvSpPr>
            <p:spPr bwMode="auto">
              <a:xfrm>
                <a:off x="3293" y="2175"/>
                <a:ext cx="796" cy="5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Oval 10"/>
              <p:cNvSpPr>
                <a:spLocks noChangeArrowheads="1"/>
              </p:cNvSpPr>
              <p:nvPr/>
            </p:nvSpPr>
            <p:spPr bwMode="auto">
              <a:xfrm>
                <a:off x="3872" y="2269"/>
                <a:ext cx="1200" cy="6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Oval 11"/>
              <p:cNvSpPr>
                <a:spLocks noChangeArrowheads="1"/>
              </p:cNvSpPr>
              <p:nvPr/>
            </p:nvSpPr>
            <p:spPr bwMode="auto">
              <a:xfrm>
                <a:off x="4653" y="1564"/>
                <a:ext cx="751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Oval 12"/>
              <p:cNvSpPr>
                <a:spLocks noChangeArrowheads="1"/>
              </p:cNvSpPr>
              <p:nvPr/>
            </p:nvSpPr>
            <p:spPr bwMode="auto">
              <a:xfrm>
                <a:off x="4768" y="1893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Oval 13"/>
              <p:cNvSpPr>
                <a:spLocks noChangeArrowheads="1"/>
              </p:cNvSpPr>
              <p:nvPr/>
            </p:nvSpPr>
            <p:spPr bwMode="auto">
              <a:xfrm>
                <a:off x="4696" y="2003"/>
                <a:ext cx="752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" name="Oval 14"/>
              <p:cNvSpPr>
                <a:spLocks noChangeArrowheads="1"/>
              </p:cNvSpPr>
              <p:nvPr/>
            </p:nvSpPr>
            <p:spPr bwMode="auto">
              <a:xfrm>
                <a:off x="3568" y="1752"/>
                <a:ext cx="1547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790553" y="1033063"/>
              <a:ext cx="700603" cy="29219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Oval 16"/>
            <p:cNvSpPr>
              <a:spLocks noChangeArrowheads="1"/>
            </p:cNvSpPr>
            <p:nvPr/>
          </p:nvSpPr>
          <p:spPr bwMode="auto">
            <a:xfrm>
              <a:off x="396252" y="1113687"/>
              <a:ext cx="532785" cy="29219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228434" y="1296369"/>
              <a:ext cx="354737" cy="233479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Oval 18"/>
            <p:cNvSpPr>
              <a:spLocks noChangeArrowheads="1"/>
            </p:cNvSpPr>
            <p:nvPr/>
          </p:nvSpPr>
          <p:spPr bwMode="auto">
            <a:xfrm>
              <a:off x="336901" y="1405885"/>
              <a:ext cx="542335" cy="255849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Oval 19"/>
            <p:cNvSpPr>
              <a:spLocks noChangeArrowheads="1"/>
            </p:cNvSpPr>
            <p:nvPr/>
          </p:nvSpPr>
          <p:spPr bwMode="auto">
            <a:xfrm>
              <a:off x="731204" y="1449692"/>
              <a:ext cx="818622" cy="307112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Oval 20"/>
            <p:cNvSpPr>
              <a:spLocks noChangeArrowheads="1"/>
            </p:cNvSpPr>
            <p:nvPr/>
          </p:nvSpPr>
          <p:spPr bwMode="auto">
            <a:xfrm>
              <a:off x="1263990" y="1120677"/>
              <a:ext cx="513001" cy="22649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1343123" y="1274464"/>
              <a:ext cx="513001" cy="22649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Oval 22"/>
            <p:cNvSpPr>
              <a:spLocks noChangeArrowheads="1"/>
            </p:cNvSpPr>
            <p:nvPr/>
          </p:nvSpPr>
          <p:spPr bwMode="auto">
            <a:xfrm>
              <a:off x="1293324" y="1325261"/>
              <a:ext cx="513001" cy="38027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Oval 23"/>
            <p:cNvSpPr>
              <a:spLocks noChangeArrowheads="1"/>
            </p:cNvSpPr>
            <p:nvPr/>
          </p:nvSpPr>
          <p:spPr bwMode="auto">
            <a:xfrm>
              <a:off x="524501" y="1208289"/>
              <a:ext cx="1055339" cy="38027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eaLnBrk="1" hangingPunct="1"/>
              <a:endParaRPr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24"/>
            <p:cNvSpPr txBox="1">
              <a:spLocks noChangeArrowheads="1"/>
            </p:cNvSpPr>
            <p:nvPr/>
          </p:nvSpPr>
          <p:spPr bwMode="auto">
            <a:xfrm>
              <a:off x="548204" y="1196955"/>
              <a:ext cx="1164492" cy="38044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互联网</a:t>
              </a:r>
            </a:p>
          </p:txBody>
        </p:sp>
      </p:grp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6281935" y="1490159"/>
            <a:ext cx="129358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11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206.0.68.0/22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4740284" y="1318236"/>
            <a:ext cx="138236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1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206.0.64.0/18</a:t>
            </a:r>
          </a:p>
        </p:txBody>
      </p:sp>
      <p:sp>
        <p:nvSpPr>
          <p:cNvPr id="31" name="AutoShape 29"/>
          <p:cNvSpPr>
            <a:spLocks noChangeArrowheads="1"/>
          </p:cNvSpPr>
          <p:nvPr/>
        </p:nvSpPr>
        <p:spPr bwMode="auto">
          <a:xfrm>
            <a:off x="4608520" y="1566124"/>
            <a:ext cx="1342298" cy="164906"/>
          </a:xfrm>
          <a:prstGeom prst="leftArrow">
            <a:avLst>
              <a:gd name="adj1" fmla="val 50000"/>
              <a:gd name="adj2" fmla="val 198202"/>
            </a:avLst>
          </a:prstGeom>
          <a:solidFill>
            <a:srgbClr val="00FF99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200" b="1" ker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5751657" y="1196752"/>
            <a:ext cx="8148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ISP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B4B96CE-580F-4A03-9E44-86D561A2992D}"/>
              </a:ext>
            </a:extLst>
          </p:cNvPr>
          <p:cNvGrpSpPr/>
          <p:nvPr/>
        </p:nvGrpSpPr>
        <p:grpSpPr>
          <a:xfrm>
            <a:off x="3598119" y="2379772"/>
            <a:ext cx="6407945" cy="738664"/>
            <a:chOff x="2074118" y="2379772"/>
            <a:chExt cx="6407945" cy="738664"/>
          </a:xfrm>
        </p:grpSpPr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7099093" y="2423555"/>
              <a:ext cx="1382970" cy="415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206.0.71.128/26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206.0.71.192/26</a:t>
              </a:r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2074118" y="2379772"/>
              <a:ext cx="1489263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206.0.68.0/25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206.0.68.128/25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206.0.69.0/25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206.0.69.128/25</a:t>
              </a:r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3895656" y="2379772"/>
              <a:ext cx="1401907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206.0.70.0/26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206.0.70.64/26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206.0.70.128/26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206.0.70.192/26</a:t>
              </a:r>
            </a:p>
          </p:txBody>
        </p:sp>
        <p:sp>
          <p:nvSpPr>
            <p:cNvPr id="53" name="Text Box 52"/>
            <p:cNvSpPr txBox="1">
              <a:spLocks noChangeArrowheads="1"/>
            </p:cNvSpPr>
            <p:nvPr/>
          </p:nvSpPr>
          <p:spPr bwMode="auto">
            <a:xfrm>
              <a:off x="5487878" y="2615254"/>
              <a:ext cx="1341661" cy="415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206.0.71.0/26</a:t>
              </a:r>
            </a:p>
            <a:p>
              <a:pPr eaLnBrk="1" hangingPunct="1"/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206.0.71.64/26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581138" y="3891210"/>
            <a:ext cx="6199269" cy="1816515"/>
            <a:chOff x="2344108" y="2888287"/>
            <a:chExt cx="5333401" cy="1387371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2358284" y="2924384"/>
              <a:ext cx="5232961" cy="1344134"/>
            </a:xfrm>
            <a:prstGeom prst="rect">
              <a:avLst/>
            </a:prstGeom>
            <a:solidFill>
              <a:srgbClr val="00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Text Box 57"/>
            <p:cNvSpPr txBox="1">
              <a:spLocks noChangeArrowheads="1"/>
            </p:cNvSpPr>
            <p:nvPr/>
          </p:nvSpPr>
          <p:spPr bwMode="auto">
            <a:xfrm>
              <a:off x="2344108" y="2888287"/>
              <a:ext cx="5333401" cy="1330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45000"/>
                </a:lnSpc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单位         地址块                            二进制表示的地址块                           相当于 </a:t>
              </a: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C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类网络数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   </a:t>
              </a:r>
              <a:endParaRPr lang="en-US" altLang="zh-CN" sz="1100" b="1" dirty="0">
                <a:latin typeface="微软雅黑" pitchFamily="34" charset="-122"/>
                <a:ea typeface="微软雅黑" pitchFamily="34" charset="-122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 ISP    206.0.64.0/18        11001110.00000000.01*                                 64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大学    </a:t>
              </a: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206.0.68.0/22        11001110.00000000.010001*                          4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一系    </a:t>
              </a: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206.0.68.0/23        11001110.00000000.0100010*                        2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二系    </a:t>
              </a: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206.0.70.0/24        11001110.00000000.01000110.*                     1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三系    </a:t>
              </a: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206.0.71.0/25        11001110.00000000.01000111.0*                 1/2</a:t>
              </a:r>
            </a:p>
            <a:p>
              <a:pPr eaLnBrk="1" hangingPunct="1">
                <a:lnSpc>
                  <a:spcPct val="120000"/>
                </a:lnSpc>
                <a:spcAft>
                  <a:spcPct val="25000"/>
                </a:spcAft>
              </a:pP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四系    </a:t>
              </a:r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206.0.71.128/25    11001110.00000000.01000111.1*                 1/2</a:t>
              </a:r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>
              <a:off x="2352483" y="3148088"/>
              <a:ext cx="5238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H="1">
              <a:off x="2786620" y="2917244"/>
              <a:ext cx="966" cy="13512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3836538" y="2924384"/>
              <a:ext cx="1934" cy="13512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 flipH="1">
              <a:off x="6340905" y="2924384"/>
              <a:ext cx="1934" cy="13512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3" name="Oval 62"/>
          <p:cNvSpPr>
            <a:spLocks noChangeArrowheads="1"/>
          </p:cNvSpPr>
          <p:nvPr/>
        </p:nvSpPr>
        <p:spPr bwMode="auto">
          <a:xfrm>
            <a:off x="6061124" y="1581297"/>
            <a:ext cx="229090" cy="1664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200" b="1" ker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142343" y="1436709"/>
            <a:ext cx="229090" cy="1664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200" b="1" ker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F03A93A-1BC9-423E-A107-0522240155EA}"/>
              </a:ext>
            </a:extLst>
          </p:cNvPr>
          <p:cNvGrpSpPr/>
          <p:nvPr/>
        </p:nvGrpSpPr>
        <p:grpSpPr>
          <a:xfrm>
            <a:off x="4833667" y="2014743"/>
            <a:ext cx="4762514" cy="253916"/>
            <a:chOff x="3309667" y="2014743"/>
            <a:chExt cx="4762514" cy="253916"/>
          </a:xfrm>
        </p:grpSpPr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4440434" y="2047192"/>
              <a:ext cx="908722" cy="2103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5457606" y="2047193"/>
              <a:ext cx="928290" cy="2161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6668161" y="2047191"/>
              <a:ext cx="1051839" cy="216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3423259" y="2047191"/>
              <a:ext cx="899169" cy="216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BC129C55-E563-4C3E-AC3E-CBD5F1915C19}"/>
                </a:ext>
              </a:extLst>
            </p:cNvPr>
            <p:cNvGrpSpPr/>
            <p:nvPr/>
          </p:nvGrpSpPr>
          <p:grpSpPr>
            <a:xfrm>
              <a:off x="3309667" y="2014743"/>
              <a:ext cx="4762514" cy="253916"/>
              <a:chOff x="3309667" y="2014743"/>
              <a:chExt cx="4762514" cy="253916"/>
            </a:xfrm>
          </p:grpSpPr>
          <p:sp>
            <p:nvSpPr>
              <p:cNvPr id="73" name="Text Box 47"/>
              <p:cNvSpPr txBox="1">
                <a:spLocks noChangeArrowheads="1"/>
              </p:cNvSpPr>
              <p:nvPr/>
            </p:nvSpPr>
            <p:spPr bwMode="auto">
              <a:xfrm>
                <a:off x="4351266" y="2014743"/>
                <a:ext cx="1140989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1050" b="1" dirty="0">
                    <a:latin typeface="微软雅黑" pitchFamily="34" charset="-122"/>
                    <a:ea typeface="微软雅黑" pitchFamily="34" charset="-122"/>
                  </a:rPr>
                  <a:t>206.0.70.0/24</a:t>
                </a:r>
              </a:p>
            </p:txBody>
          </p:sp>
          <p:sp>
            <p:nvSpPr>
              <p:cNvPr id="74" name="Text Box 50"/>
              <p:cNvSpPr txBox="1">
                <a:spLocks noChangeArrowheads="1"/>
              </p:cNvSpPr>
              <p:nvPr/>
            </p:nvSpPr>
            <p:spPr bwMode="auto">
              <a:xfrm>
                <a:off x="5408297" y="2014743"/>
                <a:ext cx="1210554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1050" b="1">
                    <a:latin typeface="微软雅黑" pitchFamily="34" charset="-122"/>
                    <a:ea typeface="微软雅黑" pitchFamily="34" charset="-122"/>
                  </a:rPr>
                  <a:t>206.0.71.0/25</a:t>
                </a:r>
              </a:p>
            </p:txBody>
          </p:sp>
          <p:sp>
            <p:nvSpPr>
              <p:cNvPr id="75" name="Text Box 54"/>
              <p:cNvSpPr txBox="1">
                <a:spLocks noChangeArrowheads="1"/>
              </p:cNvSpPr>
              <p:nvPr/>
            </p:nvSpPr>
            <p:spPr bwMode="auto">
              <a:xfrm>
                <a:off x="6618851" y="2014743"/>
                <a:ext cx="1453330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1050" b="1" dirty="0">
                    <a:latin typeface="微软雅黑" pitchFamily="34" charset="-122"/>
                    <a:ea typeface="微软雅黑" pitchFamily="34" charset="-122"/>
                  </a:rPr>
                  <a:t>206.0.71.128/25</a:t>
                </a:r>
              </a:p>
            </p:txBody>
          </p:sp>
          <p:sp>
            <p:nvSpPr>
              <p:cNvPr id="76" name="Text Box 56"/>
              <p:cNvSpPr txBox="1">
                <a:spLocks noChangeArrowheads="1"/>
              </p:cNvSpPr>
              <p:nvPr/>
            </p:nvSpPr>
            <p:spPr bwMode="auto">
              <a:xfrm>
                <a:off x="3309667" y="2014743"/>
                <a:ext cx="1164447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1050" b="1" dirty="0">
                    <a:latin typeface="微软雅黑" pitchFamily="34" charset="-122"/>
                    <a:ea typeface="微软雅黑" pitchFamily="34" charset="-122"/>
                  </a:rPr>
                  <a:t>206.0.68.0/23</a:t>
                </a:r>
              </a:p>
            </p:txBody>
          </p:sp>
        </p:grpSp>
      </p:grpSp>
      <p:sp>
        <p:nvSpPr>
          <p:cNvPr id="69" name="Text Box 28"/>
          <p:cNvSpPr txBox="1">
            <a:spLocks noChangeArrowheads="1"/>
          </p:cNvSpPr>
          <p:nvPr/>
        </p:nvSpPr>
        <p:spPr bwMode="auto">
          <a:xfrm>
            <a:off x="5016621" y="1650584"/>
            <a:ext cx="8485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latin typeface="微软雅黑" pitchFamily="34" charset="-122"/>
                <a:ea typeface="微软雅黑" pitchFamily="34" charset="-122"/>
              </a:rPr>
              <a:t>路由聚合</a:t>
            </a:r>
            <a:endParaRPr lang="en-US" altLang="zh-CN" sz="11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 Box 28"/>
          <p:cNvSpPr txBox="1">
            <a:spLocks noChangeArrowheads="1"/>
          </p:cNvSpPr>
          <p:nvPr/>
        </p:nvSpPr>
        <p:spPr bwMode="auto">
          <a:xfrm>
            <a:off x="7743881" y="1743785"/>
            <a:ext cx="95019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latin typeface="微软雅黑" pitchFamily="34" charset="-122"/>
                <a:ea typeface="微软雅黑" pitchFamily="34" charset="-122"/>
              </a:rPr>
              <a:t>路由聚合</a:t>
            </a:r>
            <a:endParaRPr lang="en-US" altLang="zh-CN" sz="11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标题 54">
            <a:extLst>
              <a:ext uri="{FF2B5EF4-FFF2-40B4-BE49-F238E27FC236}">
                <a16:creationId xmlns:a16="http://schemas.microsoft.com/office/drawing/2014/main" id="{ADCA6211-0C80-4F40-B999-730C19B2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77" y="92852"/>
            <a:ext cx="10515600" cy="894463"/>
          </a:xfrm>
        </p:spPr>
        <p:txBody>
          <a:bodyPr/>
          <a:lstStyle/>
          <a:p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CIDR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地址块划分举例</a:t>
            </a:r>
            <a:endParaRPr lang="zh-CN" altLang="en-US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420995D-D079-4039-BA0E-521CE76FEEF8}"/>
              </a:ext>
            </a:extLst>
          </p:cNvPr>
          <p:cNvSpPr/>
          <p:nvPr/>
        </p:nvSpPr>
        <p:spPr>
          <a:xfrm>
            <a:off x="2999102" y="5904608"/>
            <a:ext cx="72728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可见：网络前缀越短，地址块所包含的地址数越多。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位网络前缀的地址块可以分成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600" b="1" baseline="30000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个（</a:t>
            </a:r>
            <a:r>
              <a:rPr lang="en-US" altLang="zh-CN" sz="1600" b="1" dirty="0" err="1">
                <a:latin typeface="微软雅黑" pitchFamily="34" charset="-122"/>
                <a:ea typeface="微软雅黑" pitchFamily="34" charset="-122"/>
              </a:rPr>
              <a:t>N+k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）位网络前缀的小地址块</a:t>
            </a:r>
          </a:p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09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1" grpId="1"/>
      <p:bldP spid="2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AutoShape 5"/>
          <p:cNvSpPr>
            <a:spLocks noChangeArrowheads="1"/>
          </p:cNvSpPr>
          <p:nvPr/>
        </p:nvSpPr>
        <p:spPr bwMode="auto">
          <a:xfrm>
            <a:off x="726859" y="827646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8" name="Rectangle 6"/>
          <p:cNvSpPr>
            <a:spLocks noChangeArrowheads="1"/>
          </p:cNvSpPr>
          <p:nvPr/>
        </p:nvSpPr>
        <p:spPr bwMode="auto">
          <a:xfrm>
            <a:off x="3472626" y="784885"/>
            <a:ext cx="52467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4.2.3  IP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地址与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graphicFrame>
        <p:nvGraphicFramePr>
          <p:cNvPr id="2" name="图示 1"/>
          <p:cNvGraphicFramePr/>
          <p:nvPr/>
        </p:nvGraphicFramePr>
        <p:xfrm>
          <a:off x="1606434" y="1633274"/>
          <a:ext cx="8917797" cy="3393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72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圆角矩形 174"/>
          <p:cNvSpPr/>
          <p:nvPr/>
        </p:nvSpPr>
        <p:spPr>
          <a:xfrm>
            <a:off x="726859" y="827965"/>
            <a:ext cx="10738283" cy="49876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6" name="Text Box 158"/>
          <p:cNvSpPr txBox="1">
            <a:spLocks noChangeArrowheads="1"/>
          </p:cNvSpPr>
          <p:nvPr/>
        </p:nvSpPr>
        <p:spPr bwMode="auto">
          <a:xfrm>
            <a:off x="3445954" y="971219"/>
            <a:ext cx="5285806" cy="420564"/>
          </a:xfrm>
          <a:prstGeom prst="rect">
            <a:avLst/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从协议栈的层次上看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地址和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885736" y="1007852"/>
            <a:ext cx="8163805" cy="1263742"/>
            <a:chOff x="1414301" y="755888"/>
            <a:chExt cx="6122854" cy="947807"/>
          </a:xfrm>
        </p:grpSpPr>
        <p:sp>
          <p:nvSpPr>
            <p:cNvPr id="146" name="Freeform 2"/>
            <p:cNvSpPr>
              <a:spLocks/>
            </p:cNvSpPr>
            <p:nvPr/>
          </p:nvSpPr>
          <p:spPr bwMode="auto">
            <a:xfrm>
              <a:off x="3120664" y="1412506"/>
              <a:ext cx="170724" cy="29032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7" name="Freeform 3"/>
            <p:cNvSpPr>
              <a:spLocks/>
            </p:cNvSpPr>
            <p:nvPr/>
          </p:nvSpPr>
          <p:spPr bwMode="auto">
            <a:xfrm>
              <a:off x="5000809" y="1412506"/>
              <a:ext cx="116354" cy="289461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8" name="Line 4"/>
            <p:cNvSpPr>
              <a:spLocks noChangeShapeType="1"/>
            </p:cNvSpPr>
            <p:nvPr/>
          </p:nvSpPr>
          <p:spPr bwMode="auto">
            <a:xfrm rot="16200000">
              <a:off x="7110950" y="1556581"/>
              <a:ext cx="290325" cy="2175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9" name="Line 5"/>
            <p:cNvSpPr>
              <a:spLocks noChangeShapeType="1"/>
            </p:cNvSpPr>
            <p:nvPr/>
          </p:nvSpPr>
          <p:spPr bwMode="auto">
            <a:xfrm rot="16200000">
              <a:off x="1525973" y="1556581"/>
              <a:ext cx="290325" cy="2175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0" name="Line 6"/>
            <p:cNvSpPr>
              <a:spLocks noChangeShapeType="1"/>
            </p:cNvSpPr>
            <p:nvPr/>
          </p:nvSpPr>
          <p:spPr bwMode="auto">
            <a:xfrm>
              <a:off x="1509111" y="1702831"/>
              <a:ext cx="1772490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1" name="Line 11"/>
            <p:cNvSpPr>
              <a:spLocks noChangeShapeType="1"/>
            </p:cNvSpPr>
            <p:nvPr/>
          </p:nvSpPr>
          <p:spPr bwMode="auto">
            <a:xfrm>
              <a:off x="5484709" y="1702831"/>
              <a:ext cx="1987799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2" name="Text Box 13"/>
            <p:cNvSpPr txBox="1">
              <a:spLocks noChangeArrowheads="1"/>
            </p:cNvSpPr>
            <p:nvPr/>
          </p:nvSpPr>
          <p:spPr bwMode="auto">
            <a:xfrm>
              <a:off x="1414301" y="755888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3" name="Text Box 14"/>
            <p:cNvSpPr txBox="1">
              <a:spLocks noChangeArrowheads="1"/>
            </p:cNvSpPr>
            <p:nvPr/>
          </p:nvSpPr>
          <p:spPr bwMode="auto">
            <a:xfrm>
              <a:off x="6902125" y="755888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4" name="Line 15"/>
            <p:cNvSpPr>
              <a:spLocks noChangeShapeType="1"/>
            </p:cNvSpPr>
            <p:nvPr/>
          </p:nvSpPr>
          <p:spPr bwMode="auto">
            <a:xfrm>
              <a:off x="3604564" y="1702831"/>
              <a:ext cx="1557182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5" name="Freeform 16"/>
            <p:cNvSpPr>
              <a:spLocks/>
            </p:cNvSpPr>
            <p:nvPr/>
          </p:nvSpPr>
          <p:spPr bwMode="auto">
            <a:xfrm flipH="1">
              <a:off x="5484709" y="1412506"/>
              <a:ext cx="160938" cy="29032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Freeform 17"/>
            <p:cNvSpPr>
              <a:spLocks/>
            </p:cNvSpPr>
            <p:nvPr/>
          </p:nvSpPr>
          <p:spPr bwMode="auto">
            <a:xfrm flipH="1">
              <a:off x="3648060" y="1412506"/>
              <a:ext cx="117441" cy="291189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Text Box 18"/>
            <p:cNvSpPr txBox="1">
              <a:spLocks noChangeArrowheads="1"/>
            </p:cNvSpPr>
            <p:nvPr/>
          </p:nvSpPr>
          <p:spPr bwMode="auto">
            <a:xfrm>
              <a:off x="3092658" y="1053174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pic>
          <p:nvPicPr>
            <p:cNvPr id="158" name="Picture 2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4092" y="1274256"/>
              <a:ext cx="528485" cy="236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59" name="Picture 2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3734" y="1262159"/>
              <a:ext cx="527397" cy="236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61" name="Text Box 25"/>
            <p:cNvSpPr txBox="1">
              <a:spLocks noChangeArrowheads="1"/>
            </p:cNvSpPr>
            <p:nvPr/>
          </p:nvSpPr>
          <p:spPr bwMode="auto">
            <a:xfrm>
              <a:off x="4963812" y="1056629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62" name="Text Box 29"/>
            <p:cNvSpPr txBox="1">
              <a:spLocks noChangeArrowheads="1"/>
            </p:cNvSpPr>
            <p:nvPr/>
          </p:nvSpPr>
          <p:spPr bwMode="auto">
            <a:xfrm>
              <a:off x="2139132" y="1433789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局域网</a:t>
              </a:r>
              <a:endParaRPr kumimoji="1" lang="zh-CN" altLang="en-US" sz="1600" b="1" baseline="-25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Text Box 30"/>
            <p:cNvSpPr txBox="1">
              <a:spLocks noChangeArrowheads="1"/>
            </p:cNvSpPr>
            <p:nvPr/>
          </p:nvSpPr>
          <p:spPr bwMode="auto">
            <a:xfrm>
              <a:off x="4117311" y="1433789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局域网</a:t>
              </a:r>
              <a:endParaRPr kumimoji="1" lang="zh-CN" altLang="en-US" sz="1600" b="1" baseline="-25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Text Box 31"/>
            <p:cNvSpPr txBox="1">
              <a:spLocks noChangeArrowheads="1"/>
            </p:cNvSpPr>
            <p:nvPr/>
          </p:nvSpPr>
          <p:spPr bwMode="auto">
            <a:xfrm>
              <a:off x="6137566" y="1433789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局域网</a:t>
              </a:r>
              <a:endParaRPr kumimoji="1" lang="zh-CN" altLang="en-US" sz="1600" b="1" baseline="-25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Text Box 7"/>
            <p:cNvSpPr txBox="1">
              <a:spLocks noChangeArrowheads="1"/>
            </p:cNvSpPr>
            <p:nvPr/>
          </p:nvSpPr>
          <p:spPr bwMode="auto">
            <a:xfrm>
              <a:off x="1629867" y="1422876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8"/>
            <p:cNvSpPr txBox="1">
              <a:spLocks noChangeArrowheads="1"/>
            </p:cNvSpPr>
            <p:nvPr/>
          </p:nvSpPr>
          <p:spPr bwMode="auto">
            <a:xfrm>
              <a:off x="4570245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7" name="Text Box 9"/>
            <p:cNvSpPr txBox="1">
              <a:spLocks noChangeArrowheads="1"/>
            </p:cNvSpPr>
            <p:nvPr/>
          </p:nvSpPr>
          <p:spPr bwMode="auto">
            <a:xfrm>
              <a:off x="3702485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Text Box 10"/>
            <p:cNvSpPr txBox="1">
              <a:spLocks noChangeArrowheads="1"/>
            </p:cNvSpPr>
            <p:nvPr/>
          </p:nvSpPr>
          <p:spPr bwMode="auto">
            <a:xfrm>
              <a:off x="2612466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Text Box 12"/>
            <p:cNvSpPr txBox="1">
              <a:spLocks noChangeArrowheads="1"/>
            </p:cNvSpPr>
            <p:nvPr/>
          </p:nvSpPr>
          <p:spPr bwMode="auto">
            <a:xfrm>
              <a:off x="5582630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Text Box 26"/>
            <p:cNvSpPr txBox="1">
              <a:spLocks noChangeArrowheads="1"/>
            </p:cNvSpPr>
            <p:nvPr/>
          </p:nvSpPr>
          <p:spPr bwMode="auto">
            <a:xfrm>
              <a:off x="6812500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71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263" y="996212"/>
              <a:ext cx="472829" cy="472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2" name="Text Box 27"/>
            <p:cNvSpPr txBox="1">
              <a:spLocks noChangeArrowheads="1"/>
            </p:cNvSpPr>
            <p:nvPr/>
          </p:nvSpPr>
          <p:spPr bwMode="auto">
            <a:xfrm>
              <a:off x="1505520" y="1052103"/>
              <a:ext cx="354905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600" b="1" baseline="-25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73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0272" y="996212"/>
              <a:ext cx="472829" cy="472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4" name="Text Box 28"/>
            <p:cNvSpPr txBox="1">
              <a:spLocks noChangeArrowheads="1"/>
            </p:cNvSpPr>
            <p:nvPr/>
          </p:nvSpPr>
          <p:spPr bwMode="auto">
            <a:xfrm>
              <a:off x="7062859" y="1050777"/>
              <a:ext cx="354905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600" b="1" baseline="-25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32361" y="2400182"/>
            <a:ext cx="8331069" cy="3206275"/>
            <a:chOff x="1374271" y="1800136"/>
            <a:chExt cx="6248302" cy="2404706"/>
          </a:xfrm>
        </p:grpSpPr>
        <p:sp>
          <p:nvSpPr>
            <p:cNvPr id="61" name="Freeform 77"/>
            <p:cNvSpPr>
              <a:spLocks/>
            </p:cNvSpPr>
            <p:nvPr/>
          </p:nvSpPr>
          <p:spPr bwMode="auto">
            <a:xfrm>
              <a:off x="2967337" y="3546743"/>
              <a:ext cx="270768" cy="15207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Freeform 78"/>
            <p:cNvSpPr>
              <a:spLocks/>
            </p:cNvSpPr>
            <p:nvPr/>
          </p:nvSpPr>
          <p:spPr bwMode="auto">
            <a:xfrm>
              <a:off x="4740916" y="3545879"/>
              <a:ext cx="270767" cy="15207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79"/>
            <p:cNvSpPr>
              <a:spLocks noChangeShapeType="1"/>
            </p:cNvSpPr>
            <p:nvPr/>
          </p:nvSpPr>
          <p:spPr bwMode="auto">
            <a:xfrm rot="16200000">
              <a:off x="6944576" y="3552568"/>
              <a:ext cx="290325" cy="2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80"/>
            <p:cNvSpPr>
              <a:spLocks noChangeShapeType="1"/>
            </p:cNvSpPr>
            <p:nvPr/>
          </p:nvSpPr>
          <p:spPr bwMode="auto">
            <a:xfrm rot="16200000">
              <a:off x="1518361" y="3552568"/>
              <a:ext cx="290325" cy="2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AutoShape 81"/>
            <p:cNvSpPr>
              <a:spLocks noChangeArrowheads="1"/>
            </p:cNvSpPr>
            <p:nvPr/>
          </p:nvSpPr>
          <p:spPr bwMode="auto">
            <a:xfrm>
              <a:off x="1505848" y="2537517"/>
              <a:ext cx="469764" cy="1036876"/>
            </a:xfrm>
            <a:prstGeom prst="cube">
              <a:avLst>
                <a:gd name="adj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AutoShape 82"/>
            <p:cNvSpPr>
              <a:spLocks noChangeArrowheads="1"/>
            </p:cNvSpPr>
            <p:nvPr/>
          </p:nvSpPr>
          <p:spPr bwMode="auto">
            <a:xfrm>
              <a:off x="3176122" y="2578992"/>
              <a:ext cx="469764" cy="1036876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AutoShape 83"/>
            <p:cNvSpPr>
              <a:spLocks noChangeArrowheads="1"/>
            </p:cNvSpPr>
            <p:nvPr/>
          </p:nvSpPr>
          <p:spPr bwMode="auto">
            <a:xfrm>
              <a:off x="6934237" y="2537517"/>
              <a:ext cx="469764" cy="1036876"/>
            </a:xfrm>
            <a:prstGeom prst="cube">
              <a:avLst>
                <a:gd name="adj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AutoShape 84"/>
            <p:cNvSpPr>
              <a:spLocks noChangeArrowheads="1"/>
            </p:cNvSpPr>
            <p:nvPr/>
          </p:nvSpPr>
          <p:spPr bwMode="auto">
            <a:xfrm>
              <a:off x="5001896" y="2703417"/>
              <a:ext cx="469764" cy="912451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9" name="Group 85"/>
            <p:cNvGrpSpPr>
              <a:grpSpLocks/>
            </p:cNvGrpSpPr>
            <p:nvPr/>
          </p:nvGrpSpPr>
          <p:grpSpPr bwMode="auto">
            <a:xfrm>
              <a:off x="1374271" y="2055369"/>
              <a:ext cx="6248302" cy="1327202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2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70" name="Line 94"/>
            <p:cNvSpPr>
              <a:spLocks noChangeShapeType="1"/>
            </p:cNvSpPr>
            <p:nvPr/>
          </p:nvSpPr>
          <p:spPr bwMode="auto">
            <a:xfrm>
              <a:off x="1453652" y="3698819"/>
              <a:ext cx="1774666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1" name="Group 95"/>
            <p:cNvGrpSpPr>
              <a:grpSpLocks/>
            </p:cNvGrpSpPr>
            <p:nvPr/>
          </p:nvGrpSpPr>
          <p:grpSpPr bwMode="auto">
            <a:xfrm>
              <a:off x="1505848" y="2055369"/>
              <a:ext cx="469764" cy="788026"/>
              <a:chOff x="672" y="528"/>
              <a:chExt cx="432" cy="912"/>
            </a:xfrm>
          </p:grpSpPr>
          <p:sp>
            <p:nvSpPr>
              <p:cNvPr id="125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6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7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72" name="Text Box 99"/>
            <p:cNvSpPr txBox="1">
              <a:spLocks noChangeArrowheads="1"/>
            </p:cNvSpPr>
            <p:nvPr/>
          </p:nvSpPr>
          <p:spPr bwMode="auto">
            <a:xfrm>
              <a:off x="1530859" y="2604914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Text Box 100"/>
            <p:cNvSpPr txBox="1">
              <a:spLocks noChangeArrowheads="1"/>
            </p:cNvSpPr>
            <p:nvPr/>
          </p:nvSpPr>
          <p:spPr bwMode="auto">
            <a:xfrm>
              <a:off x="1428141" y="33411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101"/>
            <p:cNvSpPr txBox="1">
              <a:spLocks noChangeArrowheads="1"/>
            </p:cNvSpPr>
            <p:nvPr/>
          </p:nvSpPr>
          <p:spPr bwMode="auto">
            <a:xfrm>
              <a:off x="4505146" y="3320437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Text Box 102"/>
            <p:cNvSpPr txBox="1">
              <a:spLocks noChangeArrowheads="1"/>
            </p:cNvSpPr>
            <p:nvPr/>
          </p:nvSpPr>
          <p:spPr bwMode="auto">
            <a:xfrm>
              <a:off x="3583222" y="3316982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Text Box 103"/>
            <p:cNvSpPr txBox="1">
              <a:spLocks noChangeArrowheads="1"/>
            </p:cNvSpPr>
            <p:nvPr/>
          </p:nvSpPr>
          <p:spPr bwMode="auto">
            <a:xfrm>
              <a:off x="2670598" y="3316982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104"/>
            <p:cNvSpPr>
              <a:spLocks noChangeShapeType="1"/>
            </p:cNvSpPr>
            <p:nvPr/>
          </p:nvSpPr>
          <p:spPr bwMode="auto">
            <a:xfrm>
              <a:off x="1923416" y="2703417"/>
              <a:ext cx="1304901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105"/>
            <p:cNvSpPr>
              <a:spLocks noChangeShapeType="1"/>
            </p:cNvSpPr>
            <p:nvPr/>
          </p:nvSpPr>
          <p:spPr bwMode="auto">
            <a:xfrm>
              <a:off x="5420552" y="3698819"/>
              <a:ext cx="2035646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106"/>
            <p:cNvSpPr txBox="1">
              <a:spLocks noChangeArrowheads="1"/>
            </p:cNvSpPr>
            <p:nvPr/>
          </p:nvSpPr>
          <p:spPr bwMode="auto">
            <a:xfrm>
              <a:off x="5418783" y="331352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Text Box 107"/>
            <p:cNvSpPr txBox="1">
              <a:spLocks noChangeArrowheads="1"/>
            </p:cNvSpPr>
            <p:nvPr/>
          </p:nvSpPr>
          <p:spPr bwMode="auto">
            <a:xfrm>
              <a:off x="6865082" y="332216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Text Box 108"/>
            <p:cNvSpPr txBox="1">
              <a:spLocks noChangeArrowheads="1"/>
            </p:cNvSpPr>
            <p:nvPr/>
          </p:nvSpPr>
          <p:spPr bwMode="auto">
            <a:xfrm>
              <a:off x="5391624" y="2756989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Text Box 109"/>
            <p:cNvSpPr txBox="1">
              <a:spLocks noChangeArrowheads="1"/>
            </p:cNvSpPr>
            <p:nvPr/>
          </p:nvSpPr>
          <p:spPr bwMode="auto">
            <a:xfrm>
              <a:off x="1423205" y="1813961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Text Box 110"/>
            <p:cNvSpPr txBox="1">
              <a:spLocks noChangeArrowheads="1"/>
            </p:cNvSpPr>
            <p:nvPr/>
          </p:nvSpPr>
          <p:spPr bwMode="auto">
            <a:xfrm>
              <a:off x="6860648" y="1800136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AutoShape 111"/>
            <p:cNvSpPr>
              <a:spLocks noChangeArrowheads="1"/>
            </p:cNvSpPr>
            <p:nvPr/>
          </p:nvSpPr>
          <p:spPr bwMode="auto">
            <a:xfrm>
              <a:off x="3176122" y="2511595"/>
              <a:ext cx="469764" cy="3318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Text Box 112"/>
            <p:cNvSpPr txBox="1">
              <a:spLocks noChangeArrowheads="1"/>
            </p:cNvSpPr>
            <p:nvPr/>
          </p:nvSpPr>
          <p:spPr bwMode="auto">
            <a:xfrm>
              <a:off x="3114166" y="2264139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6" name="Text Box 113"/>
            <p:cNvSpPr txBox="1">
              <a:spLocks noChangeArrowheads="1"/>
            </p:cNvSpPr>
            <p:nvPr/>
          </p:nvSpPr>
          <p:spPr bwMode="auto">
            <a:xfrm>
              <a:off x="4268414" y="2979997"/>
              <a:ext cx="1567977" cy="25391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层上的虚拟互联网</a:t>
              </a:r>
            </a:p>
          </p:txBody>
        </p:sp>
        <p:sp>
          <p:nvSpPr>
            <p:cNvPr id="87" name="Text Box 114"/>
            <p:cNvSpPr txBox="1">
              <a:spLocks noChangeArrowheads="1"/>
            </p:cNvSpPr>
            <p:nvPr/>
          </p:nvSpPr>
          <p:spPr bwMode="auto">
            <a:xfrm>
              <a:off x="1973491" y="3966267"/>
              <a:ext cx="66523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grpSp>
          <p:nvGrpSpPr>
            <p:cNvPr id="88" name="Group 115"/>
            <p:cNvGrpSpPr>
              <a:grpSpLocks/>
            </p:cNvGrpSpPr>
            <p:nvPr/>
          </p:nvGrpSpPr>
          <p:grpSpPr bwMode="auto">
            <a:xfrm>
              <a:off x="6934237" y="2055369"/>
              <a:ext cx="469764" cy="788026"/>
              <a:chOff x="672" y="528"/>
              <a:chExt cx="432" cy="912"/>
            </a:xfrm>
          </p:grpSpPr>
          <p:sp>
            <p:nvSpPr>
              <p:cNvPr id="122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3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4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9" name="Text Box 119"/>
            <p:cNvSpPr txBox="1">
              <a:spLocks noChangeArrowheads="1"/>
            </p:cNvSpPr>
            <p:nvPr/>
          </p:nvSpPr>
          <p:spPr bwMode="auto">
            <a:xfrm>
              <a:off x="6967949" y="2607506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Text Box 120"/>
            <p:cNvSpPr txBox="1">
              <a:spLocks noChangeArrowheads="1"/>
            </p:cNvSpPr>
            <p:nvPr/>
          </p:nvSpPr>
          <p:spPr bwMode="auto">
            <a:xfrm>
              <a:off x="3624138" y="2750077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Text Box 121"/>
            <p:cNvSpPr txBox="1">
              <a:spLocks noChangeArrowheads="1"/>
            </p:cNvSpPr>
            <p:nvPr/>
          </p:nvSpPr>
          <p:spPr bwMode="auto">
            <a:xfrm>
              <a:off x="2915141" y="2750077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Line 122"/>
            <p:cNvSpPr>
              <a:spLocks noChangeShapeType="1"/>
            </p:cNvSpPr>
            <p:nvPr/>
          </p:nvSpPr>
          <p:spPr bwMode="auto">
            <a:xfrm>
              <a:off x="3593690" y="2703417"/>
              <a:ext cx="1409293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AutoShape 123"/>
            <p:cNvSpPr>
              <a:spLocks noChangeArrowheads="1"/>
            </p:cNvSpPr>
            <p:nvPr/>
          </p:nvSpPr>
          <p:spPr bwMode="auto">
            <a:xfrm>
              <a:off x="5001896" y="2496042"/>
              <a:ext cx="469764" cy="3318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Line 124"/>
            <p:cNvSpPr>
              <a:spLocks noChangeShapeType="1"/>
            </p:cNvSpPr>
            <p:nvPr/>
          </p:nvSpPr>
          <p:spPr bwMode="auto">
            <a:xfrm>
              <a:off x="5420552" y="2703417"/>
              <a:ext cx="1513685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Text Box 125"/>
            <p:cNvSpPr txBox="1">
              <a:spLocks noChangeArrowheads="1"/>
            </p:cNvSpPr>
            <p:nvPr/>
          </p:nvSpPr>
          <p:spPr bwMode="auto">
            <a:xfrm>
              <a:off x="4742004" y="2750077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Line 126"/>
            <p:cNvSpPr>
              <a:spLocks noChangeShapeType="1"/>
            </p:cNvSpPr>
            <p:nvPr/>
          </p:nvSpPr>
          <p:spPr bwMode="auto">
            <a:xfrm>
              <a:off x="3645886" y="3698819"/>
              <a:ext cx="1304901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Freeform 127"/>
            <p:cNvSpPr>
              <a:spLocks/>
            </p:cNvSpPr>
            <p:nvPr/>
          </p:nvSpPr>
          <p:spPr bwMode="auto">
            <a:xfrm flipH="1">
              <a:off x="5405328" y="3544151"/>
              <a:ext cx="233795" cy="154668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8" name="Freeform 128"/>
            <p:cNvSpPr>
              <a:spLocks/>
            </p:cNvSpPr>
            <p:nvPr/>
          </p:nvSpPr>
          <p:spPr bwMode="auto">
            <a:xfrm flipH="1">
              <a:off x="3564330" y="3547607"/>
              <a:ext cx="290340" cy="15207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9" name="Text Box 129"/>
            <p:cNvSpPr txBox="1">
              <a:spLocks noChangeArrowheads="1"/>
            </p:cNvSpPr>
            <p:nvPr/>
          </p:nvSpPr>
          <p:spPr bwMode="auto">
            <a:xfrm>
              <a:off x="4896444" y="2250313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148"/>
            <p:cNvSpPr txBox="1">
              <a:spLocks noChangeArrowheads="1"/>
            </p:cNvSpPr>
            <p:nvPr/>
          </p:nvSpPr>
          <p:spPr bwMode="auto">
            <a:xfrm>
              <a:off x="5956374" y="3966267"/>
              <a:ext cx="66523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107" name="Text Box 149"/>
            <p:cNvSpPr txBox="1">
              <a:spLocks noChangeArrowheads="1"/>
            </p:cNvSpPr>
            <p:nvPr/>
          </p:nvSpPr>
          <p:spPr bwMode="auto">
            <a:xfrm>
              <a:off x="3973658" y="3966267"/>
              <a:ext cx="66523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grpSp>
          <p:nvGrpSpPr>
            <p:cNvPr id="177" name="Group 224"/>
            <p:cNvGrpSpPr>
              <a:grpSpLocks/>
            </p:cNvGrpSpPr>
            <p:nvPr/>
          </p:nvGrpSpPr>
          <p:grpSpPr bwMode="auto">
            <a:xfrm>
              <a:off x="2132745" y="2423008"/>
              <a:ext cx="959442" cy="238221"/>
              <a:chOff x="870" y="693"/>
              <a:chExt cx="761" cy="279"/>
            </a:xfrm>
            <a:solidFill>
              <a:srgbClr val="66FF99"/>
            </a:solidFill>
          </p:grpSpPr>
          <p:sp>
            <p:nvSpPr>
              <p:cNvPr id="178" name="AutoShape 193"/>
              <p:cNvSpPr>
                <a:spLocks noChangeArrowheads="1"/>
              </p:cNvSpPr>
              <p:nvPr/>
            </p:nvSpPr>
            <p:spPr bwMode="auto">
              <a:xfrm>
                <a:off x="1467" y="777"/>
                <a:ext cx="164" cy="150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Rectangle 190"/>
              <p:cNvSpPr>
                <a:spLocks noChangeArrowheads="1"/>
              </p:cNvSpPr>
              <p:nvPr/>
            </p:nvSpPr>
            <p:spPr bwMode="auto">
              <a:xfrm>
                <a:off x="870" y="720"/>
                <a:ext cx="643" cy="25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endParaRPr lang="zh-CN" altLang="zh-CN" sz="1467" b="1" baseline="-25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Text Box 219"/>
              <p:cNvSpPr txBox="1">
                <a:spLocks noChangeArrowheads="1"/>
              </p:cNvSpPr>
              <p:nvPr/>
            </p:nvSpPr>
            <p:spPr bwMode="auto">
              <a:xfrm>
                <a:off x="1087" y="693"/>
                <a:ext cx="456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81" name="Line 221"/>
              <p:cNvSpPr>
                <a:spLocks noChangeShapeType="1"/>
              </p:cNvSpPr>
              <p:nvPr/>
            </p:nvSpPr>
            <p:spPr bwMode="auto">
              <a:xfrm>
                <a:off x="1323" y="720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222"/>
              <p:cNvSpPr>
                <a:spLocks noChangeShapeType="1"/>
              </p:cNvSpPr>
              <p:nvPr/>
            </p:nvSpPr>
            <p:spPr bwMode="auto">
              <a:xfrm>
                <a:off x="1143" y="717"/>
                <a:ext cx="0" cy="24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3" name="Group 224"/>
            <p:cNvGrpSpPr>
              <a:grpSpLocks/>
            </p:cNvGrpSpPr>
            <p:nvPr/>
          </p:nvGrpSpPr>
          <p:grpSpPr bwMode="auto">
            <a:xfrm>
              <a:off x="3876651" y="2423008"/>
              <a:ext cx="959442" cy="238221"/>
              <a:chOff x="870" y="693"/>
              <a:chExt cx="761" cy="279"/>
            </a:xfrm>
            <a:solidFill>
              <a:srgbClr val="66FF99"/>
            </a:solidFill>
          </p:grpSpPr>
          <p:sp>
            <p:nvSpPr>
              <p:cNvPr id="184" name="AutoShape 193"/>
              <p:cNvSpPr>
                <a:spLocks noChangeArrowheads="1"/>
              </p:cNvSpPr>
              <p:nvPr/>
            </p:nvSpPr>
            <p:spPr bwMode="auto">
              <a:xfrm>
                <a:off x="1467" y="777"/>
                <a:ext cx="164" cy="150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90"/>
              <p:cNvSpPr>
                <a:spLocks noChangeArrowheads="1"/>
              </p:cNvSpPr>
              <p:nvPr/>
            </p:nvSpPr>
            <p:spPr bwMode="auto">
              <a:xfrm>
                <a:off x="870" y="720"/>
                <a:ext cx="643" cy="25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endParaRPr lang="zh-CN" altLang="zh-CN" sz="1467" b="1" baseline="-25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Text Box 219"/>
              <p:cNvSpPr txBox="1">
                <a:spLocks noChangeArrowheads="1"/>
              </p:cNvSpPr>
              <p:nvPr/>
            </p:nvSpPr>
            <p:spPr bwMode="auto">
              <a:xfrm>
                <a:off x="1087" y="693"/>
                <a:ext cx="456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87" name="Line 221"/>
              <p:cNvSpPr>
                <a:spLocks noChangeShapeType="1"/>
              </p:cNvSpPr>
              <p:nvPr/>
            </p:nvSpPr>
            <p:spPr bwMode="auto">
              <a:xfrm>
                <a:off x="1323" y="720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222"/>
              <p:cNvSpPr>
                <a:spLocks noChangeShapeType="1"/>
              </p:cNvSpPr>
              <p:nvPr/>
            </p:nvSpPr>
            <p:spPr bwMode="auto">
              <a:xfrm>
                <a:off x="1143" y="717"/>
                <a:ext cx="0" cy="24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9" name="Group 224"/>
            <p:cNvGrpSpPr>
              <a:grpSpLocks/>
            </p:cNvGrpSpPr>
            <p:nvPr/>
          </p:nvGrpSpPr>
          <p:grpSpPr bwMode="auto">
            <a:xfrm>
              <a:off x="5731087" y="2423008"/>
              <a:ext cx="959442" cy="238221"/>
              <a:chOff x="870" y="693"/>
              <a:chExt cx="761" cy="279"/>
            </a:xfrm>
            <a:solidFill>
              <a:srgbClr val="66FF99"/>
            </a:solidFill>
          </p:grpSpPr>
          <p:sp>
            <p:nvSpPr>
              <p:cNvPr id="190" name="AutoShape 193"/>
              <p:cNvSpPr>
                <a:spLocks noChangeArrowheads="1"/>
              </p:cNvSpPr>
              <p:nvPr/>
            </p:nvSpPr>
            <p:spPr bwMode="auto">
              <a:xfrm>
                <a:off x="1467" y="777"/>
                <a:ext cx="164" cy="150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Rectangle 190"/>
              <p:cNvSpPr>
                <a:spLocks noChangeArrowheads="1"/>
              </p:cNvSpPr>
              <p:nvPr/>
            </p:nvSpPr>
            <p:spPr bwMode="auto">
              <a:xfrm>
                <a:off x="870" y="720"/>
                <a:ext cx="643" cy="25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endParaRPr lang="zh-CN" altLang="zh-CN" sz="1467" b="1" baseline="-25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Text Box 219"/>
              <p:cNvSpPr txBox="1">
                <a:spLocks noChangeArrowheads="1"/>
              </p:cNvSpPr>
              <p:nvPr/>
            </p:nvSpPr>
            <p:spPr bwMode="auto">
              <a:xfrm>
                <a:off x="1087" y="693"/>
                <a:ext cx="456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93" name="Line 221"/>
              <p:cNvSpPr>
                <a:spLocks noChangeShapeType="1"/>
              </p:cNvSpPr>
              <p:nvPr/>
            </p:nvSpPr>
            <p:spPr bwMode="auto">
              <a:xfrm>
                <a:off x="1323" y="720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222"/>
              <p:cNvSpPr>
                <a:spLocks noChangeShapeType="1"/>
              </p:cNvSpPr>
              <p:nvPr/>
            </p:nvSpPr>
            <p:spPr bwMode="auto">
              <a:xfrm>
                <a:off x="1143" y="717"/>
                <a:ext cx="0" cy="24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5" name="组合 103"/>
            <p:cNvGrpSpPr>
              <a:grpSpLocks/>
            </p:cNvGrpSpPr>
            <p:nvPr/>
          </p:nvGrpSpPr>
          <p:grpSpPr bwMode="auto">
            <a:xfrm>
              <a:off x="1682148" y="3763461"/>
              <a:ext cx="1125387" cy="216189"/>
              <a:chOff x="179512" y="3575494"/>
              <a:chExt cx="2341732" cy="386906"/>
            </a:xfrm>
            <a:solidFill>
              <a:srgbClr val="00FFFF"/>
            </a:solidFill>
          </p:grpSpPr>
          <p:grpSp>
            <p:nvGrpSpPr>
              <p:cNvPr id="196" name="Group 204"/>
              <p:cNvGrpSpPr>
                <a:grpSpLocks/>
              </p:cNvGrpSpPr>
              <p:nvPr/>
            </p:nvGrpSpPr>
            <p:grpSpPr bwMode="auto">
              <a:xfrm>
                <a:off x="179512" y="3581400"/>
                <a:ext cx="2341732" cy="381000"/>
                <a:chOff x="480" y="3120"/>
                <a:chExt cx="1212" cy="240"/>
              </a:xfrm>
              <a:grpFill/>
            </p:grpSpPr>
            <p:sp>
              <p:nvSpPr>
                <p:cNvPr id="200" name="AutoShape 203"/>
                <p:cNvSpPr>
                  <a:spLocks noChangeArrowheads="1"/>
                </p:cNvSpPr>
                <p:nvPr/>
              </p:nvSpPr>
              <p:spPr bwMode="auto">
                <a:xfrm>
                  <a:off x="1500" y="3168"/>
                  <a:ext cx="192" cy="144"/>
                </a:xfrm>
                <a:prstGeom prst="rightArrow">
                  <a:avLst>
                    <a:gd name="adj1" fmla="val 50000"/>
                    <a:gd name="adj2" fmla="val 54167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67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Rectangle 202"/>
                <p:cNvSpPr>
                  <a:spLocks noChangeArrowheads="1"/>
                </p:cNvSpPr>
                <p:nvPr/>
              </p:nvSpPr>
              <p:spPr bwMode="auto">
                <a:xfrm>
                  <a:off x="480" y="3120"/>
                  <a:ext cx="1056" cy="24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97" name="Rectangle 220"/>
              <p:cNvSpPr>
                <a:spLocks noChangeArrowheads="1"/>
              </p:cNvSpPr>
              <p:nvPr/>
            </p:nvSpPr>
            <p:spPr bwMode="auto">
              <a:xfrm>
                <a:off x="716210" y="3580859"/>
                <a:ext cx="1683115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98" name="Line 237"/>
              <p:cNvSpPr>
                <a:spLocks noChangeShapeType="1"/>
              </p:cNvSpPr>
              <p:nvPr/>
            </p:nvSpPr>
            <p:spPr bwMode="auto">
              <a:xfrm>
                <a:off x="1497867" y="3575494"/>
                <a:ext cx="0" cy="38636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Line 238"/>
              <p:cNvSpPr>
                <a:spLocks noChangeShapeType="1"/>
              </p:cNvSpPr>
              <p:nvPr/>
            </p:nvSpPr>
            <p:spPr bwMode="auto">
              <a:xfrm>
                <a:off x="738473" y="3581400"/>
                <a:ext cx="0" cy="37147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组合 103"/>
            <p:cNvGrpSpPr>
              <a:grpSpLocks/>
            </p:cNvGrpSpPr>
            <p:nvPr/>
          </p:nvGrpSpPr>
          <p:grpSpPr bwMode="auto">
            <a:xfrm>
              <a:off x="3709500" y="3763461"/>
              <a:ext cx="1125387" cy="216189"/>
              <a:chOff x="179512" y="3575494"/>
              <a:chExt cx="2341732" cy="386906"/>
            </a:xfrm>
            <a:solidFill>
              <a:srgbClr val="00FFFF"/>
            </a:solidFill>
          </p:grpSpPr>
          <p:grpSp>
            <p:nvGrpSpPr>
              <p:cNvPr id="203" name="Group 204"/>
              <p:cNvGrpSpPr>
                <a:grpSpLocks/>
              </p:cNvGrpSpPr>
              <p:nvPr/>
            </p:nvGrpSpPr>
            <p:grpSpPr bwMode="auto">
              <a:xfrm>
                <a:off x="179512" y="3581400"/>
                <a:ext cx="2341732" cy="381000"/>
                <a:chOff x="480" y="3120"/>
                <a:chExt cx="1212" cy="240"/>
              </a:xfrm>
              <a:grpFill/>
            </p:grpSpPr>
            <p:sp>
              <p:nvSpPr>
                <p:cNvPr id="207" name="AutoShape 203"/>
                <p:cNvSpPr>
                  <a:spLocks noChangeArrowheads="1"/>
                </p:cNvSpPr>
                <p:nvPr/>
              </p:nvSpPr>
              <p:spPr bwMode="auto">
                <a:xfrm>
                  <a:off x="1500" y="3168"/>
                  <a:ext cx="192" cy="144"/>
                </a:xfrm>
                <a:prstGeom prst="rightArrow">
                  <a:avLst>
                    <a:gd name="adj1" fmla="val 50000"/>
                    <a:gd name="adj2" fmla="val 54167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67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8" name="Rectangle 202"/>
                <p:cNvSpPr>
                  <a:spLocks noChangeArrowheads="1"/>
                </p:cNvSpPr>
                <p:nvPr/>
              </p:nvSpPr>
              <p:spPr bwMode="auto">
                <a:xfrm>
                  <a:off x="480" y="3120"/>
                  <a:ext cx="1056" cy="24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4" name="Rectangle 220"/>
              <p:cNvSpPr>
                <a:spLocks noChangeArrowheads="1"/>
              </p:cNvSpPr>
              <p:nvPr/>
            </p:nvSpPr>
            <p:spPr bwMode="auto">
              <a:xfrm>
                <a:off x="716210" y="3580859"/>
                <a:ext cx="1683115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205" name="Line 237"/>
              <p:cNvSpPr>
                <a:spLocks noChangeShapeType="1"/>
              </p:cNvSpPr>
              <p:nvPr/>
            </p:nvSpPr>
            <p:spPr bwMode="auto">
              <a:xfrm>
                <a:off x="1497867" y="3575494"/>
                <a:ext cx="0" cy="38636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Line 238"/>
              <p:cNvSpPr>
                <a:spLocks noChangeShapeType="1"/>
              </p:cNvSpPr>
              <p:nvPr/>
            </p:nvSpPr>
            <p:spPr bwMode="auto">
              <a:xfrm>
                <a:off x="738473" y="3581400"/>
                <a:ext cx="0" cy="37147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9" name="组合 103"/>
            <p:cNvGrpSpPr>
              <a:grpSpLocks/>
            </p:cNvGrpSpPr>
            <p:nvPr/>
          </p:nvGrpSpPr>
          <p:grpSpPr bwMode="auto">
            <a:xfrm>
              <a:off x="5735977" y="3763461"/>
              <a:ext cx="1125387" cy="216189"/>
              <a:chOff x="179512" y="3575494"/>
              <a:chExt cx="2341732" cy="386906"/>
            </a:xfrm>
            <a:solidFill>
              <a:srgbClr val="00FFFF"/>
            </a:solidFill>
          </p:grpSpPr>
          <p:grpSp>
            <p:nvGrpSpPr>
              <p:cNvPr id="210" name="Group 204"/>
              <p:cNvGrpSpPr>
                <a:grpSpLocks/>
              </p:cNvGrpSpPr>
              <p:nvPr/>
            </p:nvGrpSpPr>
            <p:grpSpPr bwMode="auto">
              <a:xfrm>
                <a:off x="179512" y="3581400"/>
                <a:ext cx="2341732" cy="381000"/>
                <a:chOff x="480" y="3120"/>
                <a:chExt cx="1212" cy="240"/>
              </a:xfrm>
              <a:grpFill/>
            </p:grpSpPr>
            <p:sp>
              <p:nvSpPr>
                <p:cNvPr id="214" name="AutoShape 203"/>
                <p:cNvSpPr>
                  <a:spLocks noChangeArrowheads="1"/>
                </p:cNvSpPr>
                <p:nvPr/>
              </p:nvSpPr>
              <p:spPr bwMode="auto">
                <a:xfrm>
                  <a:off x="1500" y="3168"/>
                  <a:ext cx="192" cy="144"/>
                </a:xfrm>
                <a:prstGeom prst="rightArrow">
                  <a:avLst>
                    <a:gd name="adj1" fmla="val 50000"/>
                    <a:gd name="adj2" fmla="val 54167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67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480" y="3120"/>
                  <a:ext cx="1056" cy="24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1" name="Rectangle 220"/>
              <p:cNvSpPr>
                <a:spLocks noChangeArrowheads="1"/>
              </p:cNvSpPr>
              <p:nvPr/>
            </p:nvSpPr>
            <p:spPr bwMode="auto">
              <a:xfrm>
                <a:off x="716210" y="3580859"/>
                <a:ext cx="1683115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12" name="Line 237"/>
              <p:cNvSpPr>
                <a:spLocks noChangeShapeType="1"/>
              </p:cNvSpPr>
              <p:nvPr/>
            </p:nvSpPr>
            <p:spPr bwMode="auto">
              <a:xfrm>
                <a:off x="1497867" y="3575494"/>
                <a:ext cx="0" cy="38636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Line 238"/>
              <p:cNvSpPr>
                <a:spLocks noChangeShapeType="1"/>
              </p:cNvSpPr>
              <p:nvPr/>
            </p:nvSpPr>
            <p:spPr bwMode="auto">
              <a:xfrm>
                <a:off x="738473" y="3581400"/>
                <a:ext cx="0" cy="37147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2629163" y="1918996"/>
              <a:ext cx="835137" cy="238575"/>
              <a:chOff x="2629163" y="1918996"/>
              <a:chExt cx="835137" cy="238575"/>
            </a:xfrm>
          </p:grpSpPr>
          <p:sp>
            <p:nvSpPr>
              <p:cNvPr id="108" name="AutoShape 150"/>
              <p:cNvSpPr>
                <a:spLocks noChangeArrowheads="1"/>
              </p:cNvSpPr>
              <p:nvPr/>
            </p:nvSpPr>
            <p:spPr bwMode="auto">
              <a:xfrm flipV="1">
                <a:off x="2629163" y="1942246"/>
                <a:ext cx="835137" cy="205647"/>
              </a:xfrm>
              <a:prstGeom prst="wedgeRoundRectCallout">
                <a:avLst>
                  <a:gd name="adj1" fmla="val -75782"/>
                  <a:gd name="adj2" fmla="val -203782"/>
                  <a:gd name="adj3" fmla="val 16667"/>
                </a:avLst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rot="10800000" wrap="none" anchor="ctr"/>
              <a:lstStyle/>
              <a:p>
                <a:pPr algn="ctr"/>
                <a:endParaRPr kumimoji="1" lang="zh-CN" altLang="zh-CN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" name="Text Box 151"/>
              <p:cNvSpPr txBox="1">
                <a:spLocks noChangeArrowheads="1"/>
              </p:cNvSpPr>
              <p:nvPr/>
            </p:nvSpPr>
            <p:spPr bwMode="auto">
              <a:xfrm>
                <a:off x="2655261" y="1918996"/>
                <a:ext cx="742030" cy="238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467" b="1" dirty="0"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1" lang="zh-CN" altLang="en-US" sz="1467" b="1" dirty="0"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</p:grpSp>
      </p:grpSp>
      <p:sp>
        <p:nvSpPr>
          <p:cNvPr id="137" name="Line 159"/>
          <p:cNvSpPr>
            <a:spLocks noChangeShapeType="1"/>
          </p:cNvSpPr>
          <p:nvPr/>
        </p:nvSpPr>
        <p:spPr bwMode="auto">
          <a:xfrm>
            <a:off x="2226731" y="2952622"/>
            <a:ext cx="0" cy="1934351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Line 161"/>
          <p:cNvSpPr>
            <a:spLocks noChangeShapeType="1"/>
          </p:cNvSpPr>
          <p:nvPr/>
        </p:nvSpPr>
        <p:spPr bwMode="auto">
          <a:xfrm>
            <a:off x="2226731" y="4938816"/>
            <a:ext cx="1709420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9" name="Line 163"/>
          <p:cNvSpPr>
            <a:spLocks noChangeShapeType="1"/>
          </p:cNvSpPr>
          <p:nvPr/>
        </p:nvSpPr>
        <p:spPr bwMode="auto">
          <a:xfrm flipV="1">
            <a:off x="4395767" y="3527512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Line 164"/>
          <p:cNvSpPr>
            <a:spLocks noChangeShapeType="1"/>
          </p:cNvSpPr>
          <p:nvPr/>
        </p:nvSpPr>
        <p:spPr bwMode="auto">
          <a:xfrm>
            <a:off x="4592952" y="3527512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Line 165"/>
          <p:cNvSpPr>
            <a:spLocks noChangeShapeType="1"/>
          </p:cNvSpPr>
          <p:nvPr/>
        </p:nvSpPr>
        <p:spPr bwMode="auto">
          <a:xfrm>
            <a:off x="4923529" y="4938816"/>
            <a:ext cx="1709420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Line 168"/>
          <p:cNvSpPr>
            <a:spLocks noChangeShapeType="1"/>
          </p:cNvSpPr>
          <p:nvPr/>
        </p:nvSpPr>
        <p:spPr bwMode="auto">
          <a:xfrm flipV="1">
            <a:off x="6830132" y="3527512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Line 169"/>
          <p:cNvSpPr>
            <a:spLocks noChangeShapeType="1"/>
          </p:cNvSpPr>
          <p:nvPr/>
        </p:nvSpPr>
        <p:spPr bwMode="auto">
          <a:xfrm>
            <a:off x="7027317" y="3527512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Line 170"/>
          <p:cNvSpPr>
            <a:spLocks noChangeShapeType="1"/>
          </p:cNvSpPr>
          <p:nvPr/>
        </p:nvSpPr>
        <p:spPr bwMode="auto">
          <a:xfrm>
            <a:off x="7618874" y="4938816"/>
            <a:ext cx="1709421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Line 171"/>
          <p:cNvSpPr>
            <a:spLocks noChangeShapeType="1"/>
          </p:cNvSpPr>
          <p:nvPr/>
        </p:nvSpPr>
        <p:spPr bwMode="auto">
          <a:xfrm flipV="1">
            <a:off x="9460233" y="3004466"/>
            <a:ext cx="0" cy="1934351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338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圆角矩形 174"/>
          <p:cNvSpPr/>
          <p:nvPr/>
        </p:nvSpPr>
        <p:spPr>
          <a:xfrm>
            <a:off x="726859" y="827965"/>
            <a:ext cx="10738283" cy="49876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6" name="Text Box 158"/>
          <p:cNvSpPr txBox="1">
            <a:spLocks noChangeArrowheads="1"/>
          </p:cNvSpPr>
          <p:nvPr/>
        </p:nvSpPr>
        <p:spPr bwMode="auto">
          <a:xfrm>
            <a:off x="3526107" y="971219"/>
            <a:ext cx="5125506" cy="420564"/>
          </a:xfrm>
          <a:prstGeom prst="rect">
            <a:avLst/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在局域网的链路层，只能看见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MAC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帧。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885736" y="1007852"/>
            <a:ext cx="8163805" cy="1263742"/>
            <a:chOff x="1414301" y="755888"/>
            <a:chExt cx="6122854" cy="947807"/>
          </a:xfrm>
        </p:grpSpPr>
        <p:sp>
          <p:nvSpPr>
            <p:cNvPr id="146" name="Freeform 2"/>
            <p:cNvSpPr>
              <a:spLocks/>
            </p:cNvSpPr>
            <p:nvPr/>
          </p:nvSpPr>
          <p:spPr bwMode="auto">
            <a:xfrm>
              <a:off x="3120664" y="1412506"/>
              <a:ext cx="170724" cy="29032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7" name="Freeform 3"/>
            <p:cNvSpPr>
              <a:spLocks/>
            </p:cNvSpPr>
            <p:nvPr/>
          </p:nvSpPr>
          <p:spPr bwMode="auto">
            <a:xfrm>
              <a:off x="5000809" y="1412506"/>
              <a:ext cx="116354" cy="289461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8" name="Line 4"/>
            <p:cNvSpPr>
              <a:spLocks noChangeShapeType="1"/>
            </p:cNvSpPr>
            <p:nvPr/>
          </p:nvSpPr>
          <p:spPr bwMode="auto">
            <a:xfrm rot="16200000">
              <a:off x="7110950" y="1556581"/>
              <a:ext cx="290325" cy="2175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9" name="Line 5"/>
            <p:cNvSpPr>
              <a:spLocks noChangeShapeType="1"/>
            </p:cNvSpPr>
            <p:nvPr/>
          </p:nvSpPr>
          <p:spPr bwMode="auto">
            <a:xfrm rot="16200000">
              <a:off x="1525973" y="1556581"/>
              <a:ext cx="290325" cy="2175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0" name="Line 6"/>
            <p:cNvSpPr>
              <a:spLocks noChangeShapeType="1"/>
            </p:cNvSpPr>
            <p:nvPr/>
          </p:nvSpPr>
          <p:spPr bwMode="auto">
            <a:xfrm>
              <a:off x="1509111" y="1702831"/>
              <a:ext cx="1772490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1" name="Line 11"/>
            <p:cNvSpPr>
              <a:spLocks noChangeShapeType="1"/>
            </p:cNvSpPr>
            <p:nvPr/>
          </p:nvSpPr>
          <p:spPr bwMode="auto">
            <a:xfrm>
              <a:off x="5484709" y="1702831"/>
              <a:ext cx="1987799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2" name="Text Box 13"/>
            <p:cNvSpPr txBox="1">
              <a:spLocks noChangeArrowheads="1"/>
            </p:cNvSpPr>
            <p:nvPr/>
          </p:nvSpPr>
          <p:spPr bwMode="auto">
            <a:xfrm>
              <a:off x="1414301" y="755888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3" name="Text Box 14"/>
            <p:cNvSpPr txBox="1">
              <a:spLocks noChangeArrowheads="1"/>
            </p:cNvSpPr>
            <p:nvPr/>
          </p:nvSpPr>
          <p:spPr bwMode="auto">
            <a:xfrm>
              <a:off x="6902125" y="755888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4" name="Line 15"/>
            <p:cNvSpPr>
              <a:spLocks noChangeShapeType="1"/>
            </p:cNvSpPr>
            <p:nvPr/>
          </p:nvSpPr>
          <p:spPr bwMode="auto">
            <a:xfrm>
              <a:off x="3604564" y="1702831"/>
              <a:ext cx="1557182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5" name="Freeform 16"/>
            <p:cNvSpPr>
              <a:spLocks/>
            </p:cNvSpPr>
            <p:nvPr/>
          </p:nvSpPr>
          <p:spPr bwMode="auto">
            <a:xfrm flipH="1">
              <a:off x="5484709" y="1412506"/>
              <a:ext cx="160938" cy="29032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Freeform 17"/>
            <p:cNvSpPr>
              <a:spLocks/>
            </p:cNvSpPr>
            <p:nvPr/>
          </p:nvSpPr>
          <p:spPr bwMode="auto">
            <a:xfrm flipH="1">
              <a:off x="3648060" y="1412506"/>
              <a:ext cx="117441" cy="291189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Text Box 18"/>
            <p:cNvSpPr txBox="1">
              <a:spLocks noChangeArrowheads="1"/>
            </p:cNvSpPr>
            <p:nvPr/>
          </p:nvSpPr>
          <p:spPr bwMode="auto">
            <a:xfrm>
              <a:off x="3092658" y="1053174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pic>
          <p:nvPicPr>
            <p:cNvPr id="158" name="Picture 2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4092" y="1274256"/>
              <a:ext cx="528485" cy="236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59" name="Picture 2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3734" y="1262159"/>
              <a:ext cx="527397" cy="236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61" name="Text Box 25"/>
            <p:cNvSpPr txBox="1">
              <a:spLocks noChangeArrowheads="1"/>
            </p:cNvSpPr>
            <p:nvPr/>
          </p:nvSpPr>
          <p:spPr bwMode="auto">
            <a:xfrm>
              <a:off x="4963812" y="1056629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62" name="Text Box 29"/>
            <p:cNvSpPr txBox="1">
              <a:spLocks noChangeArrowheads="1"/>
            </p:cNvSpPr>
            <p:nvPr/>
          </p:nvSpPr>
          <p:spPr bwMode="auto">
            <a:xfrm>
              <a:off x="2139132" y="1433789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局域网</a:t>
              </a:r>
              <a:endParaRPr kumimoji="1" lang="zh-CN" altLang="en-US" sz="1600" b="1" baseline="-25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Text Box 30"/>
            <p:cNvSpPr txBox="1">
              <a:spLocks noChangeArrowheads="1"/>
            </p:cNvSpPr>
            <p:nvPr/>
          </p:nvSpPr>
          <p:spPr bwMode="auto">
            <a:xfrm>
              <a:off x="4117311" y="1433789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局域网</a:t>
              </a:r>
              <a:endParaRPr kumimoji="1" lang="zh-CN" altLang="en-US" sz="1600" b="1" baseline="-25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Text Box 31"/>
            <p:cNvSpPr txBox="1">
              <a:spLocks noChangeArrowheads="1"/>
            </p:cNvSpPr>
            <p:nvPr/>
          </p:nvSpPr>
          <p:spPr bwMode="auto">
            <a:xfrm>
              <a:off x="6137566" y="1433789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latin typeface="微软雅黑" pitchFamily="34" charset="-122"/>
                  <a:ea typeface="微软雅黑" pitchFamily="34" charset="-122"/>
                </a:rPr>
                <a:t>局域网</a:t>
              </a:r>
              <a:endParaRPr kumimoji="1" lang="zh-CN" altLang="en-US" sz="1600" b="1" baseline="-25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Text Box 7"/>
            <p:cNvSpPr txBox="1">
              <a:spLocks noChangeArrowheads="1"/>
            </p:cNvSpPr>
            <p:nvPr/>
          </p:nvSpPr>
          <p:spPr bwMode="auto">
            <a:xfrm>
              <a:off x="1629867" y="1422876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8"/>
            <p:cNvSpPr txBox="1">
              <a:spLocks noChangeArrowheads="1"/>
            </p:cNvSpPr>
            <p:nvPr/>
          </p:nvSpPr>
          <p:spPr bwMode="auto">
            <a:xfrm>
              <a:off x="4570245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7" name="Text Box 9"/>
            <p:cNvSpPr txBox="1">
              <a:spLocks noChangeArrowheads="1"/>
            </p:cNvSpPr>
            <p:nvPr/>
          </p:nvSpPr>
          <p:spPr bwMode="auto">
            <a:xfrm>
              <a:off x="3702485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Text Box 10"/>
            <p:cNvSpPr txBox="1">
              <a:spLocks noChangeArrowheads="1"/>
            </p:cNvSpPr>
            <p:nvPr/>
          </p:nvSpPr>
          <p:spPr bwMode="auto">
            <a:xfrm>
              <a:off x="2612466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Text Box 12"/>
            <p:cNvSpPr txBox="1">
              <a:spLocks noChangeArrowheads="1"/>
            </p:cNvSpPr>
            <p:nvPr/>
          </p:nvSpPr>
          <p:spPr bwMode="auto">
            <a:xfrm>
              <a:off x="5582630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Text Box 26"/>
            <p:cNvSpPr txBox="1">
              <a:spLocks noChangeArrowheads="1"/>
            </p:cNvSpPr>
            <p:nvPr/>
          </p:nvSpPr>
          <p:spPr bwMode="auto">
            <a:xfrm>
              <a:off x="6812500" y="14228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71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263" y="996212"/>
              <a:ext cx="472829" cy="472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2" name="Text Box 27"/>
            <p:cNvSpPr txBox="1">
              <a:spLocks noChangeArrowheads="1"/>
            </p:cNvSpPr>
            <p:nvPr/>
          </p:nvSpPr>
          <p:spPr bwMode="auto">
            <a:xfrm>
              <a:off x="1505520" y="1052103"/>
              <a:ext cx="354905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600" b="1" baseline="-25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73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0272" y="996212"/>
              <a:ext cx="472829" cy="472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4" name="Text Box 28"/>
            <p:cNvSpPr txBox="1">
              <a:spLocks noChangeArrowheads="1"/>
            </p:cNvSpPr>
            <p:nvPr/>
          </p:nvSpPr>
          <p:spPr bwMode="auto">
            <a:xfrm>
              <a:off x="7062859" y="1050777"/>
              <a:ext cx="354905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600" b="1" baseline="-25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32361" y="2400182"/>
            <a:ext cx="8331069" cy="3206275"/>
            <a:chOff x="1374271" y="1800136"/>
            <a:chExt cx="6248302" cy="2404706"/>
          </a:xfrm>
        </p:grpSpPr>
        <p:sp>
          <p:nvSpPr>
            <p:cNvPr id="61" name="Freeform 77"/>
            <p:cNvSpPr>
              <a:spLocks/>
            </p:cNvSpPr>
            <p:nvPr/>
          </p:nvSpPr>
          <p:spPr bwMode="auto">
            <a:xfrm>
              <a:off x="2967337" y="3546743"/>
              <a:ext cx="270768" cy="15207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Freeform 78"/>
            <p:cNvSpPr>
              <a:spLocks/>
            </p:cNvSpPr>
            <p:nvPr/>
          </p:nvSpPr>
          <p:spPr bwMode="auto">
            <a:xfrm>
              <a:off x="4740916" y="3545879"/>
              <a:ext cx="270767" cy="15207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79"/>
            <p:cNvSpPr>
              <a:spLocks noChangeShapeType="1"/>
            </p:cNvSpPr>
            <p:nvPr/>
          </p:nvSpPr>
          <p:spPr bwMode="auto">
            <a:xfrm rot="16200000">
              <a:off x="6944576" y="3552568"/>
              <a:ext cx="290325" cy="2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80"/>
            <p:cNvSpPr>
              <a:spLocks noChangeShapeType="1"/>
            </p:cNvSpPr>
            <p:nvPr/>
          </p:nvSpPr>
          <p:spPr bwMode="auto">
            <a:xfrm rot="16200000">
              <a:off x="1518361" y="3552568"/>
              <a:ext cx="290325" cy="2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AutoShape 81"/>
            <p:cNvSpPr>
              <a:spLocks noChangeArrowheads="1"/>
            </p:cNvSpPr>
            <p:nvPr/>
          </p:nvSpPr>
          <p:spPr bwMode="auto">
            <a:xfrm>
              <a:off x="1505848" y="2537517"/>
              <a:ext cx="469764" cy="1036876"/>
            </a:xfrm>
            <a:prstGeom prst="cube">
              <a:avLst>
                <a:gd name="adj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AutoShape 82"/>
            <p:cNvSpPr>
              <a:spLocks noChangeArrowheads="1"/>
            </p:cNvSpPr>
            <p:nvPr/>
          </p:nvSpPr>
          <p:spPr bwMode="auto">
            <a:xfrm>
              <a:off x="3176122" y="2578992"/>
              <a:ext cx="469764" cy="1036876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AutoShape 83"/>
            <p:cNvSpPr>
              <a:spLocks noChangeArrowheads="1"/>
            </p:cNvSpPr>
            <p:nvPr/>
          </p:nvSpPr>
          <p:spPr bwMode="auto">
            <a:xfrm>
              <a:off x="6934237" y="2537517"/>
              <a:ext cx="469764" cy="1036876"/>
            </a:xfrm>
            <a:prstGeom prst="cube">
              <a:avLst>
                <a:gd name="adj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AutoShape 84"/>
            <p:cNvSpPr>
              <a:spLocks noChangeArrowheads="1"/>
            </p:cNvSpPr>
            <p:nvPr/>
          </p:nvSpPr>
          <p:spPr bwMode="auto">
            <a:xfrm>
              <a:off x="5001896" y="2703417"/>
              <a:ext cx="469764" cy="912451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9" name="Group 85"/>
            <p:cNvGrpSpPr>
              <a:grpSpLocks/>
            </p:cNvGrpSpPr>
            <p:nvPr/>
          </p:nvGrpSpPr>
          <p:grpSpPr bwMode="auto">
            <a:xfrm>
              <a:off x="1374271" y="2055369"/>
              <a:ext cx="6248302" cy="1327202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2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70" name="Line 94"/>
            <p:cNvSpPr>
              <a:spLocks noChangeShapeType="1"/>
            </p:cNvSpPr>
            <p:nvPr/>
          </p:nvSpPr>
          <p:spPr bwMode="auto">
            <a:xfrm>
              <a:off x="1453652" y="3698819"/>
              <a:ext cx="1774666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1" name="Group 95"/>
            <p:cNvGrpSpPr>
              <a:grpSpLocks/>
            </p:cNvGrpSpPr>
            <p:nvPr/>
          </p:nvGrpSpPr>
          <p:grpSpPr bwMode="auto">
            <a:xfrm>
              <a:off x="1505848" y="2055369"/>
              <a:ext cx="469764" cy="788026"/>
              <a:chOff x="672" y="528"/>
              <a:chExt cx="432" cy="912"/>
            </a:xfrm>
          </p:grpSpPr>
          <p:sp>
            <p:nvSpPr>
              <p:cNvPr id="125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6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7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72" name="Text Box 99"/>
            <p:cNvSpPr txBox="1">
              <a:spLocks noChangeArrowheads="1"/>
            </p:cNvSpPr>
            <p:nvPr/>
          </p:nvSpPr>
          <p:spPr bwMode="auto">
            <a:xfrm>
              <a:off x="1530859" y="2604914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Text Box 100"/>
            <p:cNvSpPr txBox="1">
              <a:spLocks noChangeArrowheads="1"/>
            </p:cNvSpPr>
            <p:nvPr/>
          </p:nvSpPr>
          <p:spPr bwMode="auto">
            <a:xfrm>
              <a:off x="1428141" y="334117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101"/>
            <p:cNvSpPr txBox="1">
              <a:spLocks noChangeArrowheads="1"/>
            </p:cNvSpPr>
            <p:nvPr/>
          </p:nvSpPr>
          <p:spPr bwMode="auto">
            <a:xfrm>
              <a:off x="4505146" y="3320437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Text Box 102"/>
            <p:cNvSpPr txBox="1">
              <a:spLocks noChangeArrowheads="1"/>
            </p:cNvSpPr>
            <p:nvPr/>
          </p:nvSpPr>
          <p:spPr bwMode="auto">
            <a:xfrm>
              <a:off x="3583222" y="3316982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Text Box 103"/>
            <p:cNvSpPr txBox="1">
              <a:spLocks noChangeArrowheads="1"/>
            </p:cNvSpPr>
            <p:nvPr/>
          </p:nvSpPr>
          <p:spPr bwMode="auto">
            <a:xfrm>
              <a:off x="2670598" y="3316982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104"/>
            <p:cNvSpPr>
              <a:spLocks noChangeShapeType="1"/>
            </p:cNvSpPr>
            <p:nvPr/>
          </p:nvSpPr>
          <p:spPr bwMode="auto">
            <a:xfrm>
              <a:off x="1923416" y="2703417"/>
              <a:ext cx="1304901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105"/>
            <p:cNvSpPr>
              <a:spLocks noChangeShapeType="1"/>
            </p:cNvSpPr>
            <p:nvPr/>
          </p:nvSpPr>
          <p:spPr bwMode="auto">
            <a:xfrm>
              <a:off x="5420552" y="3698819"/>
              <a:ext cx="2035646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106"/>
            <p:cNvSpPr txBox="1">
              <a:spLocks noChangeArrowheads="1"/>
            </p:cNvSpPr>
            <p:nvPr/>
          </p:nvSpPr>
          <p:spPr bwMode="auto">
            <a:xfrm>
              <a:off x="5418783" y="331352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Text Box 107"/>
            <p:cNvSpPr txBox="1">
              <a:spLocks noChangeArrowheads="1"/>
            </p:cNvSpPr>
            <p:nvPr/>
          </p:nvSpPr>
          <p:spPr bwMode="auto">
            <a:xfrm>
              <a:off x="6865082" y="3322165"/>
              <a:ext cx="540197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Text Box 108"/>
            <p:cNvSpPr txBox="1">
              <a:spLocks noChangeArrowheads="1"/>
            </p:cNvSpPr>
            <p:nvPr/>
          </p:nvSpPr>
          <p:spPr bwMode="auto">
            <a:xfrm>
              <a:off x="5391624" y="2756989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kumimoji="1" lang="en-US" altLang="zh-CN" sz="14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Text Box 109"/>
            <p:cNvSpPr txBox="1">
              <a:spLocks noChangeArrowheads="1"/>
            </p:cNvSpPr>
            <p:nvPr/>
          </p:nvSpPr>
          <p:spPr bwMode="auto">
            <a:xfrm>
              <a:off x="1423205" y="1813961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Text Box 110"/>
            <p:cNvSpPr txBox="1">
              <a:spLocks noChangeArrowheads="1"/>
            </p:cNvSpPr>
            <p:nvPr/>
          </p:nvSpPr>
          <p:spPr bwMode="auto">
            <a:xfrm>
              <a:off x="6860648" y="1800136"/>
              <a:ext cx="635030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主机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AutoShape 111"/>
            <p:cNvSpPr>
              <a:spLocks noChangeArrowheads="1"/>
            </p:cNvSpPr>
            <p:nvPr/>
          </p:nvSpPr>
          <p:spPr bwMode="auto">
            <a:xfrm>
              <a:off x="3176122" y="2511595"/>
              <a:ext cx="469764" cy="3318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Text Box 112"/>
            <p:cNvSpPr txBox="1">
              <a:spLocks noChangeArrowheads="1"/>
            </p:cNvSpPr>
            <p:nvPr/>
          </p:nvSpPr>
          <p:spPr bwMode="auto">
            <a:xfrm>
              <a:off x="3114166" y="2264139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467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6" name="Text Box 113"/>
            <p:cNvSpPr txBox="1">
              <a:spLocks noChangeArrowheads="1"/>
            </p:cNvSpPr>
            <p:nvPr/>
          </p:nvSpPr>
          <p:spPr bwMode="auto">
            <a:xfrm>
              <a:off x="4268414" y="2979997"/>
              <a:ext cx="1567977" cy="25391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层上的虚拟互联网</a:t>
              </a:r>
            </a:p>
          </p:txBody>
        </p:sp>
        <p:sp>
          <p:nvSpPr>
            <p:cNvPr id="87" name="Text Box 114"/>
            <p:cNvSpPr txBox="1">
              <a:spLocks noChangeArrowheads="1"/>
            </p:cNvSpPr>
            <p:nvPr/>
          </p:nvSpPr>
          <p:spPr bwMode="auto">
            <a:xfrm>
              <a:off x="1973491" y="3966267"/>
              <a:ext cx="66523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grpSp>
          <p:nvGrpSpPr>
            <p:cNvPr id="88" name="Group 115"/>
            <p:cNvGrpSpPr>
              <a:grpSpLocks/>
            </p:cNvGrpSpPr>
            <p:nvPr/>
          </p:nvGrpSpPr>
          <p:grpSpPr bwMode="auto">
            <a:xfrm>
              <a:off x="6934237" y="2055369"/>
              <a:ext cx="469764" cy="788026"/>
              <a:chOff x="672" y="528"/>
              <a:chExt cx="432" cy="912"/>
            </a:xfrm>
          </p:grpSpPr>
          <p:sp>
            <p:nvSpPr>
              <p:cNvPr id="122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3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4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9" name="Text Box 119"/>
            <p:cNvSpPr txBox="1">
              <a:spLocks noChangeArrowheads="1"/>
            </p:cNvSpPr>
            <p:nvPr/>
          </p:nvSpPr>
          <p:spPr bwMode="auto">
            <a:xfrm>
              <a:off x="6967949" y="2607506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Text Box 120"/>
            <p:cNvSpPr txBox="1">
              <a:spLocks noChangeArrowheads="1"/>
            </p:cNvSpPr>
            <p:nvPr/>
          </p:nvSpPr>
          <p:spPr bwMode="auto">
            <a:xfrm>
              <a:off x="3624138" y="2750077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Text Box 121"/>
            <p:cNvSpPr txBox="1">
              <a:spLocks noChangeArrowheads="1"/>
            </p:cNvSpPr>
            <p:nvPr/>
          </p:nvSpPr>
          <p:spPr bwMode="auto">
            <a:xfrm>
              <a:off x="2915141" y="2750077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Line 122"/>
            <p:cNvSpPr>
              <a:spLocks noChangeShapeType="1"/>
            </p:cNvSpPr>
            <p:nvPr/>
          </p:nvSpPr>
          <p:spPr bwMode="auto">
            <a:xfrm>
              <a:off x="3593690" y="2703417"/>
              <a:ext cx="1409293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AutoShape 123"/>
            <p:cNvSpPr>
              <a:spLocks noChangeArrowheads="1"/>
            </p:cNvSpPr>
            <p:nvPr/>
          </p:nvSpPr>
          <p:spPr bwMode="auto">
            <a:xfrm>
              <a:off x="5001896" y="2496042"/>
              <a:ext cx="469764" cy="3318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Line 124"/>
            <p:cNvSpPr>
              <a:spLocks noChangeShapeType="1"/>
            </p:cNvSpPr>
            <p:nvPr/>
          </p:nvSpPr>
          <p:spPr bwMode="auto">
            <a:xfrm>
              <a:off x="5420552" y="2703417"/>
              <a:ext cx="1513685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Text Box 125"/>
            <p:cNvSpPr txBox="1">
              <a:spLocks noChangeArrowheads="1"/>
            </p:cNvSpPr>
            <p:nvPr/>
          </p:nvSpPr>
          <p:spPr bwMode="auto">
            <a:xfrm>
              <a:off x="4742004" y="2750077"/>
              <a:ext cx="335669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</a:t>
              </a:r>
              <a:r>
                <a:rPr kumimoji="1" lang="en-US" altLang="zh-CN" sz="1467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kumimoji="1" lang="en-US" altLang="zh-CN" sz="14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Line 126"/>
            <p:cNvSpPr>
              <a:spLocks noChangeShapeType="1"/>
            </p:cNvSpPr>
            <p:nvPr/>
          </p:nvSpPr>
          <p:spPr bwMode="auto">
            <a:xfrm>
              <a:off x="3645886" y="3698819"/>
              <a:ext cx="1304901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Freeform 127"/>
            <p:cNvSpPr>
              <a:spLocks/>
            </p:cNvSpPr>
            <p:nvPr/>
          </p:nvSpPr>
          <p:spPr bwMode="auto">
            <a:xfrm flipH="1">
              <a:off x="5405328" y="3544151"/>
              <a:ext cx="233795" cy="154668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8" name="Freeform 128"/>
            <p:cNvSpPr>
              <a:spLocks/>
            </p:cNvSpPr>
            <p:nvPr/>
          </p:nvSpPr>
          <p:spPr bwMode="auto">
            <a:xfrm flipH="1">
              <a:off x="3564330" y="3547607"/>
              <a:ext cx="290340" cy="152075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9" name="Text Box 129"/>
            <p:cNvSpPr txBox="1">
              <a:spLocks noChangeArrowheads="1"/>
            </p:cNvSpPr>
            <p:nvPr/>
          </p:nvSpPr>
          <p:spPr bwMode="auto">
            <a:xfrm>
              <a:off x="4896444" y="2250313"/>
              <a:ext cx="75886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467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148"/>
            <p:cNvSpPr txBox="1">
              <a:spLocks noChangeArrowheads="1"/>
            </p:cNvSpPr>
            <p:nvPr/>
          </p:nvSpPr>
          <p:spPr bwMode="auto">
            <a:xfrm>
              <a:off x="5956374" y="3966267"/>
              <a:ext cx="66523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107" name="Text Box 149"/>
            <p:cNvSpPr txBox="1">
              <a:spLocks noChangeArrowheads="1"/>
            </p:cNvSpPr>
            <p:nvPr/>
          </p:nvSpPr>
          <p:spPr bwMode="auto">
            <a:xfrm>
              <a:off x="3973658" y="3966267"/>
              <a:ext cx="665231" cy="238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MAC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grpSp>
          <p:nvGrpSpPr>
            <p:cNvPr id="177" name="Group 224"/>
            <p:cNvGrpSpPr>
              <a:grpSpLocks/>
            </p:cNvGrpSpPr>
            <p:nvPr/>
          </p:nvGrpSpPr>
          <p:grpSpPr bwMode="auto">
            <a:xfrm>
              <a:off x="2132745" y="2423008"/>
              <a:ext cx="959442" cy="238221"/>
              <a:chOff x="870" y="693"/>
              <a:chExt cx="761" cy="279"/>
            </a:xfrm>
            <a:solidFill>
              <a:srgbClr val="66FF99"/>
            </a:solidFill>
          </p:grpSpPr>
          <p:sp>
            <p:nvSpPr>
              <p:cNvPr id="178" name="AutoShape 193"/>
              <p:cNvSpPr>
                <a:spLocks noChangeArrowheads="1"/>
              </p:cNvSpPr>
              <p:nvPr/>
            </p:nvSpPr>
            <p:spPr bwMode="auto">
              <a:xfrm>
                <a:off x="1467" y="777"/>
                <a:ext cx="164" cy="150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Rectangle 190"/>
              <p:cNvSpPr>
                <a:spLocks noChangeArrowheads="1"/>
              </p:cNvSpPr>
              <p:nvPr/>
            </p:nvSpPr>
            <p:spPr bwMode="auto">
              <a:xfrm>
                <a:off x="870" y="720"/>
                <a:ext cx="643" cy="25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endParaRPr lang="zh-CN" altLang="zh-CN" sz="1467" b="1" baseline="-25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Text Box 219"/>
              <p:cNvSpPr txBox="1">
                <a:spLocks noChangeArrowheads="1"/>
              </p:cNvSpPr>
              <p:nvPr/>
            </p:nvSpPr>
            <p:spPr bwMode="auto">
              <a:xfrm>
                <a:off x="1087" y="693"/>
                <a:ext cx="456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81" name="Line 221"/>
              <p:cNvSpPr>
                <a:spLocks noChangeShapeType="1"/>
              </p:cNvSpPr>
              <p:nvPr/>
            </p:nvSpPr>
            <p:spPr bwMode="auto">
              <a:xfrm>
                <a:off x="1323" y="720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222"/>
              <p:cNvSpPr>
                <a:spLocks noChangeShapeType="1"/>
              </p:cNvSpPr>
              <p:nvPr/>
            </p:nvSpPr>
            <p:spPr bwMode="auto">
              <a:xfrm>
                <a:off x="1143" y="717"/>
                <a:ext cx="0" cy="24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3" name="Group 224"/>
            <p:cNvGrpSpPr>
              <a:grpSpLocks/>
            </p:cNvGrpSpPr>
            <p:nvPr/>
          </p:nvGrpSpPr>
          <p:grpSpPr bwMode="auto">
            <a:xfrm>
              <a:off x="3876651" y="2423008"/>
              <a:ext cx="959442" cy="238221"/>
              <a:chOff x="870" y="693"/>
              <a:chExt cx="761" cy="279"/>
            </a:xfrm>
            <a:solidFill>
              <a:srgbClr val="66FF99"/>
            </a:solidFill>
          </p:grpSpPr>
          <p:sp>
            <p:nvSpPr>
              <p:cNvPr id="184" name="AutoShape 193"/>
              <p:cNvSpPr>
                <a:spLocks noChangeArrowheads="1"/>
              </p:cNvSpPr>
              <p:nvPr/>
            </p:nvSpPr>
            <p:spPr bwMode="auto">
              <a:xfrm>
                <a:off x="1467" y="777"/>
                <a:ext cx="164" cy="150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Rectangle 190"/>
              <p:cNvSpPr>
                <a:spLocks noChangeArrowheads="1"/>
              </p:cNvSpPr>
              <p:nvPr/>
            </p:nvSpPr>
            <p:spPr bwMode="auto">
              <a:xfrm>
                <a:off x="870" y="720"/>
                <a:ext cx="643" cy="25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endParaRPr lang="zh-CN" altLang="zh-CN" sz="1467" b="1" baseline="-25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Text Box 219"/>
              <p:cNvSpPr txBox="1">
                <a:spLocks noChangeArrowheads="1"/>
              </p:cNvSpPr>
              <p:nvPr/>
            </p:nvSpPr>
            <p:spPr bwMode="auto">
              <a:xfrm>
                <a:off x="1087" y="693"/>
                <a:ext cx="456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87" name="Line 221"/>
              <p:cNvSpPr>
                <a:spLocks noChangeShapeType="1"/>
              </p:cNvSpPr>
              <p:nvPr/>
            </p:nvSpPr>
            <p:spPr bwMode="auto">
              <a:xfrm>
                <a:off x="1323" y="720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222"/>
              <p:cNvSpPr>
                <a:spLocks noChangeShapeType="1"/>
              </p:cNvSpPr>
              <p:nvPr/>
            </p:nvSpPr>
            <p:spPr bwMode="auto">
              <a:xfrm>
                <a:off x="1143" y="717"/>
                <a:ext cx="0" cy="24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9" name="Group 224"/>
            <p:cNvGrpSpPr>
              <a:grpSpLocks/>
            </p:cNvGrpSpPr>
            <p:nvPr/>
          </p:nvGrpSpPr>
          <p:grpSpPr bwMode="auto">
            <a:xfrm>
              <a:off x="5731087" y="2423008"/>
              <a:ext cx="959442" cy="238221"/>
              <a:chOff x="870" y="693"/>
              <a:chExt cx="761" cy="279"/>
            </a:xfrm>
            <a:solidFill>
              <a:srgbClr val="66FF99"/>
            </a:solidFill>
          </p:grpSpPr>
          <p:sp>
            <p:nvSpPr>
              <p:cNvPr id="190" name="AutoShape 193"/>
              <p:cNvSpPr>
                <a:spLocks noChangeArrowheads="1"/>
              </p:cNvSpPr>
              <p:nvPr/>
            </p:nvSpPr>
            <p:spPr bwMode="auto">
              <a:xfrm>
                <a:off x="1467" y="777"/>
                <a:ext cx="164" cy="150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1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Rectangle 190"/>
              <p:cNvSpPr>
                <a:spLocks noChangeArrowheads="1"/>
              </p:cNvSpPr>
              <p:nvPr/>
            </p:nvSpPr>
            <p:spPr bwMode="auto">
              <a:xfrm>
                <a:off x="870" y="720"/>
                <a:ext cx="643" cy="25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endParaRPr lang="zh-CN" altLang="zh-CN" sz="1467" b="1" baseline="-25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Text Box 219"/>
              <p:cNvSpPr txBox="1">
                <a:spLocks noChangeArrowheads="1"/>
              </p:cNvSpPr>
              <p:nvPr/>
            </p:nvSpPr>
            <p:spPr bwMode="auto">
              <a:xfrm>
                <a:off x="1087" y="693"/>
                <a:ext cx="456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467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IP</a:t>
                </a:r>
                <a:r>
                  <a:rPr lang="en-US" altLang="zh-CN" sz="1467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93" name="Line 221"/>
              <p:cNvSpPr>
                <a:spLocks noChangeShapeType="1"/>
              </p:cNvSpPr>
              <p:nvPr/>
            </p:nvSpPr>
            <p:spPr bwMode="auto">
              <a:xfrm>
                <a:off x="1323" y="720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222"/>
              <p:cNvSpPr>
                <a:spLocks noChangeShapeType="1"/>
              </p:cNvSpPr>
              <p:nvPr/>
            </p:nvSpPr>
            <p:spPr bwMode="auto">
              <a:xfrm>
                <a:off x="1143" y="717"/>
                <a:ext cx="0" cy="24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5" name="组合 103"/>
            <p:cNvGrpSpPr>
              <a:grpSpLocks/>
            </p:cNvGrpSpPr>
            <p:nvPr/>
          </p:nvGrpSpPr>
          <p:grpSpPr bwMode="auto">
            <a:xfrm>
              <a:off x="1682148" y="3763461"/>
              <a:ext cx="1125387" cy="216189"/>
              <a:chOff x="179512" y="3575494"/>
              <a:chExt cx="2341732" cy="386906"/>
            </a:xfrm>
            <a:solidFill>
              <a:srgbClr val="00FFFF"/>
            </a:solidFill>
          </p:grpSpPr>
          <p:grpSp>
            <p:nvGrpSpPr>
              <p:cNvPr id="196" name="Group 204"/>
              <p:cNvGrpSpPr>
                <a:grpSpLocks/>
              </p:cNvGrpSpPr>
              <p:nvPr/>
            </p:nvGrpSpPr>
            <p:grpSpPr bwMode="auto">
              <a:xfrm>
                <a:off x="179512" y="3581400"/>
                <a:ext cx="2341732" cy="381000"/>
                <a:chOff x="480" y="3120"/>
                <a:chExt cx="1212" cy="240"/>
              </a:xfrm>
              <a:grpFill/>
            </p:grpSpPr>
            <p:sp>
              <p:nvSpPr>
                <p:cNvPr id="200" name="AutoShape 203"/>
                <p:cNvSpPr>
                  <a:spLocks noChangeArrowheads="1"/>
                </p:cNvSpPr>
                <p:nvPr/>
              </p:nvSpPr>
              <p:spPr bwMode="auto">
                <a:xfrm>
                  <a:off x="1500" y="3168"/>
                  <a:ext cx="192" cy="144"/>
                </a:xfrm>
                <a:prstGeom prst="rightArrow">
                  <a:avLst>
                    <a:gd name="adj1" fmla="val 50000"/>
                    <a:gd name="adj2" fmla="val 54167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67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Rectangle 202"/>
                <p:cNvSpPr>
                  <a:spLocks noChangeArrowheads="1"/>
                </p:cNvSpPr>
                <p:nvPr/>
              </p:nvSpPr>
              <p:spPr bwMode="auto">
                <a:xfrm>
                  <a:off x="480" y="3120"/>
                  <a:ext cx="1056" cy="24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97" name="Rectangle 220"/>
              <p:cNvSpPr>
                <a:spLocks noChangeArrowheads="1"/>
              </p:cNvSpPr>
              <p:nvPr/>
            </p:nvSpPr>
            <p:spPr bwMode="auto">
              <a:xfrm>
                <a:off x="716210" y="3580859"/>
                <a:ext cx="1683115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98" name="Line 237"/>
              <p:cNvSpPr>
                <a:spLocks noChangeShapeType="1"/>
              </p:cNvSpPr>
              <p:nvPr/>
            </p:nvSpPr>
            <p:spPr bwMode="auto">
              <a:xfrm>
                <a:off x="1497867" y="3575494"/>
                <a:ext cx="0" cy="38636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Line 238"/>
              <p:cNvSpPr>
                <a:spLocks noChangeShapeType="1"/>
              </p:cNvSpPr>
              <p:nvPr/>
            </p:nvSpPr>
            <p:spPr bwMode="auto">
              <a:xfrm>
                <a:off x="738473" y="3581400"/>
                <a:ext cx="0" cy="37147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组合 103"/>
            <p:cNvGrpSpPr>
              <a:grpSpLocks/>
            </p:cNvGrpSpPr>
            <p:nvPr/>
          </p:nvGrpSpPr>
          <p:grpSpPr bwMode="auto">
            <a:xfrm>
              <a:off x="3709500" y="3763461"/>
              <a:ext cx="1125387" cy="216189"/>
              <a:chOff x="179512" y="3575494"/>
              <a:chExt cx="2341732" cy="386906"/>
            </a:xfrm>
            <a:solidFill>
              <a:srgbClr val="00FFFF"/>
            </a:solidFill>
          </p:grpSpPr>
          <p:grpSp>
            <p:nvGrpSpPr>
              <p:cNvPr id="203" name="Group 204"/>
              <p:cNvGrpSpPr>
                <a:grpSpLocks/>
              </p:cNvGrpSpPr>
              <p:nvPr/>
            </p:nvGrpSpPr>
            <p:grpSpPr bwMode="auto">
              <a:xfrm>
                <a:off x="179512" y="3581400"/>
                <a:ext cx="2341732" cy="381000"/>
                <a:chOff x="480" y="3120"/>
                <a:chExt cx="1212" cy="240"/>
              </a:xfrm>
              <a:grpFill/>
            </p:grpSpPr>
            <p:sp>
              <p:nvSpPr>
                <p:cNvPr id="207" name="AutoShape 203"/>
                <p:cNvSpPr>
                  <a:spLocks noChangeArrowheads="1"/>
                </p:cNvSpPr>
                <p:nvPr/>
              </p:nvSpPr>
              <p:spPr bwMode="auto">
                <a:xfrm>
                  <a:off x="1500" y="3168"/>
                  <a:ext cx="192" cy="144"/>
                </a:xfrm>
                <a:prstGeom prst="rightArrow">
                  <a:avLst>
                    <a:gd name="adj1" fmla="val 50000"/>
                    <a:gd name="adj2" fmla="val 54167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67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8" name="Rectangle 202"/>
                <p:cNvSpPr>
                  <a:spLocks noChangeArrowheads="1"/>
                </p:cNvSpPr>
                <p:nvPr/>
              </p:nvSpPr>
              <p:spPr bwMode="auto">
                <a:xfrm>
                  <a:off x="480" y="3120"/>
                  <a:ext cx="1056" cy="24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4" name="Rectangle 220"/>
              <p:cNvSpPr>
                <a:spLocks noChangeArrowheads="1"/>
              </p:cNvSpPr>
              <p:nvPr/>
            </p:nvSpPr>
            <p:spPr bwMode="auto">
              <a:xfrm>
                <a:off x="716210" y="3580859"/>
                <a:ext cx="1683115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205" name="Line 237"/>
              <p:cNvSpPr>
                <a:spLocks noChangeShapeType="1"/>
              </p:cNvSpPr>
              <p:nvPr/>
            </p:nvSpPr>
            <p:spPr bwMode="auto">
              <a:xfrm>
                <a:off x="1497867" y="3575494"/>
                <a:ext cx="0" cy="38636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Line 238"/>
              <p:cNvSpPr>
                <a:spLocks noChangeShapeType="1"/>
              </p:cNvSpPr>
              <p:nvPr/>
            </p:nvSpPr>
            <p:spPr bwMode="auto">
              <a:xfrm>
                <a:off x="738473" y="3581400"/>
                <a:ext cx="0" cy="37147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9" name="组合 103"/>
            <p:cNvGrpSpPr>
              <a:grpSpLocks/>
            </p:cNvGrpSpPr>
            <p:nvPr/>
          </p:nvGrpSpPr>
          <p:grpSpPr bwMode="auto">
            <a:xfrm>
              <a:off x="5735977" y="3763461"/>
              <a:ext cx="1125387" cy="216189"/>
              <a:chOff x="179512" y="3575494"/>
              <a:chExt cx="2341732" cy="386906"/>
            </a:xfrm>
            <a:solidFill>
              <a:srgbClr val="00FFFF"/>
            </a:solidFill>
          </p:grpSpPr>
          <p:grpSp>
            <p:nvGrpSpPr>
              <p:cNvPr id="210" name="Group 204"/>
              <p:cNvGrpSpPr>
                <a:grpSpLocks/>
              </p:cNvGrpSpPr>
              <p:nvPr/>
            </p:nvGrpSpPr>
            <p:grpSpPr bwMode="auto">
              <a:xfrm>
                <a:off x="179512" y="3581400"/>
                <a:ext cx="2341732" cy="381000"/>
                <a:chOff x="480" y="3120"/>
                <a:chExt cx="1212" cy="240"/>
              </a:xfrm>
              <a:grpFill/>
            </p:grpSpPr>
            <p:sp>
              <p:nvSpPr>
                <p:cNvPr id="214" name="AutoShape 203"/>
                <p:cNvSpPr>
                  <a:spLocks noChangeArrowheads="1"/>
                </p:cNvSpPr>
                <p:nvPr/>
              </p:nvSpPr>
              <p:spPr bwMode="auto">
                <a:xfrm>
                  <a:off x="1500" y="3168"/>
                  <a:ext cx="192" cy="144"/>
                </a:xfrm>
                <a:prstGeom prst="rightArrow">
                  <a:avLst>
                    <a:gd name="adj1" fmla="val 50000"/>
                    <a:gd name="adj2" fmla="val 54167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67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480" y="3120"/>
                  <a:ext cx="1056" cy="24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1" name="Rectangle 220"/>
              <p:cNvSpPr>
                <a:spLocks noChangeArrowheads="1"/>
              </p:cNvSpPr>
              <p:nvPr/>
            </p:nvSpPr>
            <p:spPr bwMode="auto">
              <a:xfrm>
                <a:off x="716210" y="3580859"/>
                <a:ext cx="1683115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MAC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12" name="Line 237"/>
              <p:cNvSpPr>
                <a:spLocks noChangeShapeType="1"/>
              </p:cNvSpPr>
              <p:nvPr/>
            </p:nvSpPr>
            <p:spPr bwMode="auto">
              <a:xfrm>
                <a:off x="1497867" y="3575494"/>
                <a:ext cx="0" cy="38636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Line 238"/>
              <p:cNvSpPr>
                <a:spLocks noChangeShapeType="1"/>
              </p:cNvSpPr>
              <p:nvPr/>
            </p:nvSpPr>
            <p:spPr bwMode="auto">
              <a:xfrm>
                <a:off x="738473" y="3581400"/>
                <a:ext cx="0" cy="37147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33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2629163" y="1918996"/>
              <a:ext cx="835137" cy="238575"/>
              <a:chOff x="2629163" y="1918996"/>
              <a:chExt cx="835137" cy="238575"/>
            </a:xfrm>
          </p:grpSpPr>
          <p:sp>
            <p:nvSpPr>
              <p:cNvPr id="108" name="AutoShape 150"/>
              <p:cNvSpPr>
                <a:spLocks noChangeArrowheads="1"/>
              </p:cNvSpPr>
              <p:nvPr/>
            </p:nvSpPr>
            <p:spPr bwMode="auto">
              <a:xfrm flipV="1">
                <a:off x="2629163" y="1942246"/>
                <a:ext cx="835137" cy="205647"/>
              </a:xfrm>
              <a:prstGeom prst="wedgeRoundRectCallout">
                <a:avLst>
                  <a:gd name="adj1" fmla="val -75782"/>
                  <a:gd name="adj2" fmla="val -203782"/>
                  <a:gd name="adj3" fmla="val 16667"/>
                </a:avLst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rot="10800000" wrap="none" anchor="ctr"/>
              <a:lstStyle/>
              <a:p>
                <a:pPr algn="ctr"/>
                <a:endParaRPr kumimoji="1" lang="zh-CN" altLang="zh-CN" sz="16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9" name="Text Box 151"/>
              <p:cNvSpPr txBox="1">
                <a:spLocks noChangeArrowheads="1"/>
              </p:cNvSpPr>
              <p:nvPr/>
            </p:nvSpPr>
            <p:spPr bwMode="auto">
              <a:xfrm>
                <a:off x="2655261" y="1918996"/>
                <a:ext cx="742030" cy="238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467" b="1" dirty="0">
                    <a:latin typeface="微软雅黑" pitchFamily="34" charset="-122"/>
                    <a:ea typeface="微软雅黑" pitchFamily="34" charset="-122"/>
                  </a:rPr>
                  <a:t>IP </a:t>
                </a:r>
                <a:r>
                  <a:rPr kumimoji="1" lang="zh-CN" altLang="en-US" sz="1467" b="1" dirty="0">
                    <a:latin typeface="微软雅黑" pitchFamily="34" charset="-122"/>
                    <a:ea typeface="微软雅黑" pitchFamily="34" charset="-122"/>
                  </a:rPr>
                  <a:t>数据报</a:t>
                </a:r>
              </a:p>
            </p:txBody>
          </p:sp>
        </p:grpSp>
      </p:grpSp>
      <p:sp>
        <p:nvSpPr>
          <p:cNvPr id="137" name="Line 161"/>
          <p:cNvSpPr>
            <a:spLocks noChangeShapeType="1"/>
          </p:cNvSpPr>
          <p:nvPr/>
        </p:nvSpPr>
        <p:spPr bwMode="auto">
          <a:xfrm>
            <a:off x="2219481" y="4935560"/>
            <a:ext cx="1736969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Line 165"/>
          <p:cNvSpPr>
            <a:spLocks noChangeShapeType="1"/>
          </p:cNvSpPr>
          <p:nvPr/>
        </p:nvSpPr>
        <p:spPr bwMode="auto">
          <a:xfrm>
            <a:off x="5139560" y="4935560"/>
            <a:ext cx="1183112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9" name="Line 170"/>
          <p:cNvSpPr>
            <a:spLocks noChangeShapeType="1"/>
          </p:cNvSpPr>
          <p:nvPr/>
        </p:nvSpPr>
        <p:spPr bwMode="auto">
          <a:xfrm>
            <a:off x="7518830" y="4935560"/>
            <a:ext cx="1898316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806403" y="5688986"/>
            <a:ext cx="6866964" cy="42056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注意：帧中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地址是否有变化？对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层有何影响？</a:t>
            </a:r>
          </a:p>
        </p:txBody>
      </p:sp>
    </p:spTree>
    <p:extLst>
      <p:ext uri="{BB962C8B-B14F-4D97-AF65-F5344CB8AC3E}">
        <p14:creationId xmlns:p14="http://schemas.microsoft.com/office/powerpoint/2010/main" val="80007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 animBg="1"/>
      <p:bldP spid="138" grpId="0" animBg="1"/>
      <p:bldP spid="139" grpId="0" animBg="1"/>
      <p:bldP spid="14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5"/>
          <p:cNvSpPr>
            <a:spLocks noChangeArrowheads="1"/>
          </p:cNvSpPr>
          <p:nvPr/>
        </p:nvSpPr>
        <p:spPr bwMode="auto">
          <a:xfrm>
            <a:off x="726860" y="813469"/>
            <a:ext cx="10738283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2601741" y="769188"/>
            <a:ext cx="7013458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不同层次、不同区间使用的源地址和目的地址</a:t>
            </a:r>
          </a:p>
        </p:txBody>
      </p:sp>
      <p:graphicFrame>
        <p:nvGraphicFramePr>
          <p:cNvPr id="25" name="内容占位符 3"/>
          <p:cNvGraphicFramePr>
            <a:graphicFrameLocks/>
          </p:cNvGraphicFramePr>
          <p:nvPr/>
        </p:nvGraphicFramePr>
        <p:xfrm>
          <a:off x="1120080" y="1594327"/>
          <a:ext cx="10041051" cy="29333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7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3479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在网络层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写入</a:t>
                      </a:r>
                      <a:r>
                        <a:rPr lang="en-US" alt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 </a:t>
                      </a:r>
                      <a:r>
                        <a:rPr 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数据报首部的地址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在数据链路层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写入</a:t>
                      </a:r>
                      <a:r>
                        <a:rPr lang="en-US" alt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 </a:t>
                      </a:r>
                      <a:r>
                        <a:rPr lang="zh-CN" sz="2100" b="1" dirty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帧首部的地址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9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源地址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目的地址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源地址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目的地址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9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从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H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 </a:t>
                      </a: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到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9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从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 </a:t>
                      </a: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到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9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从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 </a:t>
                      </a:r>
                      <a:r>
                        <a:rPr 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到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H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r>
                        <a:rPr lang="en-US" sz="1900" b="1" baseline="-2500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sz="19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63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5"/>
          <p:cNvSpPr>
            <a:spLocks noChangeArrowheads="1"/>
          </p:cNvSpPr>
          <p:nvPr/>
        </p:nvSpPr>
        <p:spPr bwMode="auto">
          <a:xfrm>
            <a:off x="742618" y="80416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6" name="Rectangle 6"/>
          <p:cNvSpPr>
            <a:spLocks noChangeArrowheads="1"/>
          </p:cNvSpPr>
          <p:nvPr/>
        </p:nvSpPr>
        <p:spPr bwMode="auto">
          <a:xfrm>
            <a:off x="5263526" y="759884"/>
            <a:ext cx="1689886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ARP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</a:t>
            </a:r>
          </a:p>
        </p:txBody>
      </p:sp>
      <p:sp>
        <p:nvSpPr>
          <p:cNvPr id="9" name="Rectangle 68"/>
          <p:cNvSpPr>
            <a:spLocks noChangeArrowheads="1"/>
          </p:cNvSpPr>
          <p:nvPr/>
        </p:nvSpPr>
        <p:spPr bwMode="auto">
          <a:xfrm>
            <a:off x="597770" y="1260372"/>
            <a:ext cx="11075173" cy="596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7708" indent="-357708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当主机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欲向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本局域网上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的某个主机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数据报时：</a:t>
            </a:r>
          </a:p>
        </p:txBody>
      </p:sp>
      <p:sp>
        <p:nvSpPr>
          <p:cNvPr id="2" name="矩形 1"/>
          <p:cNvSpPr/>
          <p:nvPr/>
        </p:nvSpPr>
        <p:spPr>
          <a:xfrm>
            <a:off x="2990284" y="1865668"/>
            <a:ext cx="3290171" cy="667003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在其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高速缓存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查找主机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3" name="菱形 2"/>
          <p:cNvSpPr/>
          <p:nvPr/>
        </p:nvSpPr>
        <p:spPr>
          <a:xfrm>
            <a:off x="3265857" y="2817011"/>
            <a:ext cx="2739024" cy="626167"/>
          </a:xfrm>
          <a:prstGeom prst="diamond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找到？</a:t>
            </a:r>
          </a:p>
        </p:txBody>
      </p:sp>
      <p:sp>
        <p:nvSpPr>
          <p:cNvPr id="7" name="矩形 6"/>
          <p:cNvSpPr/>
          <p:nvPr/>
        </p:nvSpPr>
        <p:spPr>
          <a:xfrm>
            <a:off x="2990284" y="3701725"/>
            <a:ext cx="3290171" cy="667003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取出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8" name="矩形 7"/>
          <p:cNvSpPr/>
          <p:nvPr/>
        </p:nvSpPr>
        <p:spPr>
          <a:xfrm>
            <a:off x="2990284" y="4656873"/>
            <a:ext cx="3290171" cy="667003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将该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地址写入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帧的目的地址</a:t>
            </a:r>
          </a:p>
        </p:txBody>
      </p:sp>
      <p:sp>
        <p:nvSpPr>
          <p:cNvPr id="10" name="矩形 9"/>
          <p:cNvSpPr/>
          <p:nvPr/>
        </p:nvSpPr>
        <p:spPr>
          <a:xfrm>
            <a:off x="2990284" y="5612020"/>
            <a:ext cx="3290171" cy="667003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发送该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cxnSp>
        <p:nvCxnSpPr>
          <p:cNvPr id="5" name="直接箭头连接符 4"/>
          <p:cNvCxnSpPr>
            <a:stCxn id="2" idx="2"/>
            <a:endCxn id="3" idx="0"/>
          </p:cNvCxnSpPr>
          <p:nvPr/>
        </p:nvCxnSpPr>
        <p:spPr>
          <a:xfrm>
            <a:off x="4635369" y="2532671"/>
            <a:ext cx="0" cy="284340"/>
          </a:xfrm>
          <a:prstGeom prst="straightConnector1">
            <a:avLst/>
          </a:prstGeom>
          <a:ln w="1270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3" idx="2"/>
            <a:endCxn id="7" idx="0"/>
          </p:cNvCxnSpPr>
          <p:nvPr/>
        </p:nvCxnSpPr>
        <p:spPr>
          <a:xfrm>
            <a:off x="4635369" y="3443178"/>
            <a:ext cx="0" cy="258548"/>
          </a:xfrm>
          <a:prstGeom prst="straightConnector1">
            <a:avLst/>
          </a:prstGeom>
          <a:ln w="1270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2"/>
            <a:endCxn id="8" idx="0"/>
          </p:cNvCxnSpPr>
          <p:nvPr/>
        </p:nvCxnSpPr>
        <p:spPr>
          <a:xfrm>
            <a:off x="4635369" y="4368729"/>
            <a:ext cx="0" cy="288145"/>
          </a:xfrm>
          <a:prstGeom prst="straightConnector1">
            <a:avLst/>
          </a:prstGeom>
          <a:ln w="1270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8" idx="2"/>
            <a:endCxn id="10" idx="0"/>
          </p:cNvCxnSpPr>
          <p:nvPr/>
        </p:nvCxnSpPr>
        <p:spPr>
          <a:xfrm>
            <a:off x="4635369" y="5323876"/>
            <a:ext cx="0" cy="288144"/>
          </a:xfrm>
          <a:prstGeom prst="straightConnector1">
            <a:avLst/>
          </a:prstGeom>
          <a:ln w="1270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050822" y="3358187"/>
            <a:ext cx="668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</a:p>
        </p:txBody>
      </p:sp>
      <p:sp>
        <p:nvSpPr>
          <p:cNvPr id="25" name="矩形 24"/>
          <p:cNvSpPr/>
          <p:nvPr/>
        </p:nvSpPr>
        <p:spPr>
          <a:xfrm>
            <a:off x="7065419" y="2532671"/>
            <a:ext cx="3290171" cy="11948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自动运行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，找出主机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 </a:t>
            </a:r>
            <a:r>
              <a:rPr lang="en-US" altLang="zh-CN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 </a:t>
            </a: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高速缓存</a:t>
            </a:r>
          </a:p>
        </p:txBody>
      </p:sp>
      <p:cxnSp>
        <p:nvCxnSpPr>
          <p:cNvPr id="26" name="直接箭头连接符 25"/>
          <p:cNvCxnSpPr>
            <a:stCxn id="3" idx="3"/>
            <a:endCxn id="25" idx="1"/>
          </p:cNvCxnSpPr>
          <p:nvPr/>
        </p:nvCxnSpPr>
        <p:spPr>
          <a:xfrm>
            <a:off x="6004882" y="3130095"/>
            <a:ext cx="1060537" cy="0"/>
          </a:xfrm>
          <a:prstGeom prst="straightConnector1">
            <a:avLst/>
          </a:prstGeom>
          <a:ln w="1270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5" idx="2"/>
          </p:cNvCxnSpPr>
          <p:nvPr/>
        </p:nvCxnSpPr>
        <p:spPr>
          <a:xfrm rot="5400000">
            <a:off x="6299759" y="2079831"/>
            <a:ext cx="763059" cy="4058432"/>
          </a:xfrm>
          <a:prstGeom prst="bentConnector2">
            <a:avLst/>
          </a:prstGeom>
          <a:ln w="1270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867095" y="2813451"/>
            <a:ext cx="668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34618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1057325" y="1044584"/>
            <a:ext cx="8053712" cy="482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7188" indent="-357188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两类：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差错报告报文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询问报文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 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18591"/>
              </p:ext>
            </p:extLst>
          </p:nvPr>
        </p:nvGraphicFramePr>
        <p:xfrm>
          <a:off x="2026520" y="2218461"/>
          <a:ext cx="8793880" cy="3816427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111850">
                  <a:extLst>
                    <a:ext uri="{9D8B030D-6E8A-4147-A177-3AD203B41FA5}">
                      <a16:colId xmlns:a16="http://schemas.microsoft.com/office/drawing/2014/main" val="2577757187"/>
                    </a:ext>
                  </a:extLst>
                </a:gridCol>
                <a:gridCol w="1732379">
                  <a:extLst>
                    <a:ext uri="{9D8B030D-6E8A-4147-A177-3AD203B41FA5}">
                      <a16:colId xmlns:a16="http://schemas.microsoft.com/office/drawing/2014/main" val="2504039375"/>
                    </a:ext>
                  </a:extLst>
                </a:gridCol>
                <a:gridCol w="4949651">
                  <a:extLst>
                    <a:ext uri="{9D8B030D-6E8A-4147-A177-3AD203B41FA5}">
                      <a16:colId xmlns:a16="http://schemas.microsoft.com/office/drawing/2014/main" val="4253697781"/>
                    </a:ext>
                  </a:extLst>
                </a:gridCol>
              </a:tblGrid>
              <a:tr h="698701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ICMP</a:t>
                      </a: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报文种类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类型的值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ICMP</a:t>
                      </a: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报文的类型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1984704"/>
                  </a:ext>
                </a:extLst>
              </a:tr>
              <a:tr h="519621">
                <a:tc rowSpan="4"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差错报告报文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3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终点不可达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2480891"/>
                  </a:ext>
                </a:extLst>
              </a:tr>
              <a:tr h="5196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时间超过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5218434"/>
                  </a:ext>
                </a:extLst>
              </a:tr>
              <a:tr h="5196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sz="2000" b="1" kern="5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参数问题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3133543"/>
                  </a:ext>
                </a:extLst>
              </a:tr>
              <a:tr h="5196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2000" b="1" kern="5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改变路由</a:t>
                      </a:r>
                      <a:r>
                        <a:rPr lang="en-US" alt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(Redirect)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1176566"/>
                  </a:ext>
                </a:extLst>
              </a:tr>
              <a:tr h="519621">
                <a:tc rowSpan="2"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询问报文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 </a:t>
                      </a: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回送</a:t>
                      </a:r>
                      <a:r>
                        <a:rPr lang="en-US" alt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(Echo) </a:t>
                      </a: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请求或回答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6132482"/>
                  </a:ext>
                </a:extLst>
              </a:tr>
              <a:tr h="5196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 </a:t>
                      </a: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时间戳</a:t>
                      </a:r>
                      <a:r>
                        <a:rPr lang="en-US" alt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(Timestamp) </a:t>
                      </a:r>
                      <a:r>
                        <a:rPr lang="zh-CN" sz="2000" b="1" kern="5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请求或回答</a:t>
                      </a:r>
                      <a:endParaRPr lang="zh-CN" sz="2000" b="1" kern="5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016647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159897" y="1618804"/>
            <a:ext cx="3021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几种常用的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报文类型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7175E1B-E8E1-4F6D-AF9B-AC4F96E03CD2}"/>
              </a:ext>
            </a:extLst>
          </p:cNvPr>
          <p:cNvSpPr txBox="1">
            <a:spLocks noChangeArrowheads="1"/>
          </p:cNvSpPr>
          <p:nvPr/>
        </p:nvSpPr>
        <p:spPr>
          <a:xfrm>
            <a:off x="188913" y="219376"/>
            <a:ext cx="7345362" cy="5492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en-US" dirty="0" err="1"/>
              <a:t>ICMP报文格式与类型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14126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742618" y="82725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3113897" y="782973"/>
            <a:ext cx="598913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差错报告报文的数据字段的内容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742618" y="1410706"/>
            <a:ext cx="10731701" cy="4330815"/>
          </a:xfrm>
          <a:prstGeom prst="roundRect">
            <a:avLst/>
          </a:prstGeom>
          <a:solidFill>
            <a:srgbClr val="C1E1F7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4" name="组合 3"/>
          <p:cNvGrpSpPr/>
          <p:nvPr/>
        </p:nvGrpSpPr>
        <p:grpSpPr>
          <a:xfrm>
            <a:off x="1459288" y="1569056"/>
            <a:ext cx="9316938" cy="3913764"/>
            <a:chOff x="650435" y="1556792"/>
            <a:chExt cx="8695053" cy="3652527"/>
          </a:xfrm>
        </p:grpSpPr>
        <p:sp>
          <p:nvSpPr>
            <p:cNvPr id="36" name="Rectangle 2"/>
            <p:cNvSpPr>
              <a:spLocks noChangeArrowheads="1"/>
            </p:cNvSpPr>
            <p:nvPr/>
          </p:nvSpPr>
          <p:spPr bwMode="auto">
            <a:xfrm>
              <a:off x="662260" y="4195216"/>
              <a:ext cx="4531651" cy="5969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1412089" y="4195216"/>
              <a:ext cx="3781821" cy="596900"/>
            </a:xfrm>
            <a:prstGeom prst="rect">
              <a:avLst/>
            </a:prstGeom>
            <a:solidFill>
              <a:srgbClr val="00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6"/>
            <p:cNvSpPr>
              <a:spLocks noChangeShapeType="1"/>
            </p:cNvSpPr>
            <p:nvPr/>
          </p:nvSpPr>
          <p:spPr bwMode="auto">
            <a:xfrm>
              <a:off x="662260" y="5001667"/>
              <a:ext cx="4531651" cy="20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731537" y="4323803"/>
              <a:ext cx="618150" cy="300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1412089" y="4195216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Text Box 10"/>
            <p:cNvSpPr txBox="1">
              <a:spLocks noChangeArrowheads="1"/>
            </p:cNvSpPr>
            <p:nvPr/>
          </p:nvSpPr>
          <p:spPr bwMode="auto">
            <a:xfrm>
              <a:off x="2362324" y="4816827"/>
              <a:ext cx="1268913" cy="392492"/>
            </a:xfrm>
            <a:prstGeom prst="rect">
              <a:avLst/>
            </a:prstGeom>
            <a:solidFill>
              <a:srgbClr val="C1E1F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133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2133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1412089" y="3174454"/>
              <a:ext cx="3781821" cy="607000"/>
            </a:xfrm>
            <a:prstGeom prst="rect">
              <a:avLst/>
            </a:prstGeom>
            <a:solidFill>
              <a:srgbClr val="DDDDD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1412089" y="3174454"/>
              <a:ext cx="3781821" cy="595313"/>
            </a:xfrm>
            <a:prstGeom prst="rect">
              <a:avLst/>
            </a:prstGeom>
            <a:solidFill>
              <a:srgbClr val="00FF99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Text Box 13"/>
            <p:cNvSpPr txBox="1">
              <a:spLocks noChangeArrowheads="1"/>
            </p:cNvSpPr>
            <p:nvPr/>
          </p:nvSpPr>
          <p:spPr bwMode="auto">
            <a:xfrm>
              <a:off x="1561174" y="3145153"/>
              <a:ext cx="1110336" cy="6224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ICMP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的</a:t>
              </a:r>
            </a:p>
            <a:p>
              <a:pPr algn="ctr"/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前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8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>
              <a:off x="2794801" y="3174454"/>
              <a:ext cx="0" cy="5953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5297522" y="4293642"/>
              <a:ext cx="3463553" cy="392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装入 </a:t>
              </a:r>
              <a:r>
                <a:rPr kumimoji="1" lang="en-US" altLang="zh-CN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ICMP </a:t>
              </a:r>
              <a:r>
                <a:rPr kumimoji="1" lang="zh-CN" altLang="en-US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报文的 </a:t>
              </a:r>
              <a:r>
                <a:rPr kumimoji="1" lang="en-US" altLang="zh-CN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  <p:sp>
          <p:nvSpPr>
            <p:cNvPr id="48" name="Rectangle 16"/>
            <p:cNvSpPr>
              <a:spLocks noChangeArrowheads="1"/>
            </p:cNvSpPr>
            <p:nvPr/>
          </p:nvSpPr>
          <p:spPr bwMode="auto">
            <a:xfrm>
              <a:off x="2794802" y="2152103"/>
              <a:ext cx="6550686" cy="596900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838563" y="2296087"/>
              <a:ext cx="1648910" cy="300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数据报首部</a:t>
              </a: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>
              <a:off x="4547269" y="2152103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5317247" y="3285579"/>
              <a:ext cx="2470205" cy="392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ICMP </a:t>
              </a:r>
              <a:r>
                <a:rPr kumimoji="1" lang="zh-CN" altLang="en-US" sz="2133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差错报告报文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4580433" y="2120164"/>
              <a:ext cx="618150" cy="6224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8</a:t>
              </a:r>
            </a:p>
            <a:p>
              <a:pPr algn="ctr"/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5193910" y="2152103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Text Box 22"/>
            <p:cNvSpPr txBox="1">
              <a:spLocks noChangeArrowheads="1"/>
            </p:cNvSpPr>
            <p:nvPr/>
          </p:nvSpPr>
          <p:spPr bwMode="auto">
            <a:xfrm>
              <a:off x="650435" y="2251783"/>
              <a:ext cx="2112660" cy="392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133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收到的 </a:t>
              </a:r>
              <a:r>
                <a:rPr kumimoji="1" lang="en-US" altLang="zh-CN" sz="2133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2133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>
              <a:off x="5193910" y="2749003"/>
              <a:ext cx="0" cy="425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>
              <a:off x="4547269" y="3174454"/>
              <a:ext cx="0" cy="595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Text Box 25"/>
            <p:cNvSpPr txBox="1">
              <a:spLocks noChangeArrowheads="1"/>
            </p:cNvSpPr>
            <p:nvPr/>
          </p:nvSpPr>
          <p:spPr bwMode="auto">
            <a:xfrm>
              <a:off x="2896935" y="3335372"/>
              <a:ext cx="1574098" cy="300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数据报首部</a:t>
              </a:r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4589038" y="3196678"/>
              <a:ext cx="618150" cy="5688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8</a:t>
              </a:r>
            </a:p>
            <a:p>
              <a:pPr algn="ctr"/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  <p:sp>
          <p:nvSpPr>
            <p:cNvPr id="59" name="AutoShape 27"/>
            <p:cNvSpPr>
              <a:spLocks noChangeArrowheads="1"/>
            </p:cNvSpPr>
            <p:nvPr/>
          </p:nvSpPr>
          <p:spPr bwMode="auto">
            <a:xfrm>
              <a:off x="3441444" y="2720428"/>
              <a:ext cx="276886" cy="509588"/>
            </a:xfrm>
            <a:prstGeom prst="downArrow">
              <a:avLst>
                <a:gd name="adj1" fmla="val 47222"/>
                <a:gd name="adj2" fmla="val 103013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AutoShape 28"/>
            <p:cNvSpPr>
              <a:spLocks noChangeArrowheads="1"/>
            </p:cNvSpPr>
            <p:nvPr/>
          </p:nvSpPr>
          <p:spPr bwMode="auto">
            <a:xfrm>
              <a:off x="4763962" y="2720428"/>
              <a:ext cx="275167" cy="509588"/>
            </a:xfrm>
            <a:prstGeom prst="downArrow">
              <a:avLst>
                <a:gd name="adj1" fmla="val 47222"/>
                <a:gd name="adj2" fmla="val 103656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Text Box 29"/>
            <p:cNvSpPr txBox="1">
              <a:spLocks noChangeArrowheads="1"/>
            </p:cNvSpPr>
            <p:nvPr/>
          </p:nvSpPr>
          <p:spPr bwMode="auto">
            <a:xfrm>
              <a:off x="2213376" y="4334744"/>
              <a:ext cx="2178484" cy="300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ICMP 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差错报告报文</a:t>
              </a:r>
            </a:p>
          </p:txBody>
        </p:sp>
        <p:sp>
          <p:nvSpPr>
            <p:cNvPr id="62" name="Text Box 30"/>
            <p:cNvSpPr txBox="1">
              <a:spLocks noChangeArrowheads="1"/>
            </p:cNvSpPr>
            <p:nvPr/>
          </p:nvSpPr>
          <p:spPr bwMode="auto">
            <a:xfrm>
              <a:off x="5721222" y="1556792"/>
              <a:ext cx="2242812" cy="354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数据报的数据字段</a:t>
              </a:r>
            </a:p>
          </p:txBody>
        </p:sp>
        <p:sp>
          <p:nvSpPr>
            <p:cNvPr id="63" name="AutoShape 31"/>
            <p:cNvSpPr>
              <a:spLocks/>
            </p:cNvSpPr>
            <p:nvPr/>
          </p:nvSpPr>
          <p:spPr bwMode="auto">
            <a:xfrm rot="5400000">
              <a:off x="6815013" y="-371228"/>
              <a:ext cx="169862" cy="4705350"/>
            </a:xfrm>
            <a:prstGeom prst="leftBrace">
              <a:avLst>
                <a:gd name="adj1" fmla="val 21308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32"/>
            <p:cNvSpPr>
              <a:spLocks noChangeShapeType="1"/>
            </p:cNvSpPr>
            <p:nvPr/>
          </p:nvSpPr>
          <p:spPr bwMode="auto">
            <a:xfrm>
              <a:off x="2794801" y="2749003"/>
              <a:ext cx="0" cy="425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33"/>
            <p:cNvSpPr>
              <a:spLocks noChangeShapeType="1"/>
            </p:cNvSpPr>
            <p:nvPr/>
          </p:nvSpPr>
          <p:spPr bwMode="auto">
            <a:xfrm>
              <a:off x="1412089" y="3769766"/>
              <a:ext cx="0" cy="425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34"/>
            <p:cNvSpPr>
              <a:spLocks noChangeShapeType="1"/>
            </p:cNvSpPr>
            <p:nvPr/>
          </p:nvSpPr>
          <p:spPr bwMode="auto">
            <a:xfrm>
              <a:off x="5193910" y="3769766"/>
              <a:ext cx="0" cy="425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AutoShape 35"/>
            <p:cNvSpPr>
              <a:spLocks noChangeArrowheads="1"/>
            </p:cNvSpPr>
            <p:nvPr/>
          </p:nvSpPr>
          <p:spPr bwMode="auto">
            <a:xfrm>
              <a:off x="3127239" y="3817772"/>
              <a:ext cx="278606" cy="511176"/>
            </a:xfrm>
            <a:prstGeom prst="downArrow">
              <a:avLst>
                <a:gd name="adj1" fmla="val 47222"/>
                <a:gd name="adj2" fmla="val 102695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6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26858" y="1316893"/>
            <a:ext cx="10738281" cy="341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差错报告报文不再发送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对第一个分片的数据报片的所有后续数据报片都不发送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对具有组播地址的数据报都不发送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  <a:p>
            <a:pPr marL="476239" indent="-47623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对具有特殊地址（如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127.0.0.0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0.0.0.0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）的数据报不发送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差错报告报文。</a:t>
            </a: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726860" y="826643"/>
            <a:ext cx="1073828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2589291" y="782362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不应发送 </a:t>
            </a:r>
            <a:r>
              <a:rPr lang="en-US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ICMP </a:t>
            </a:r>
            <a:r>
              <a:rPr lang="zh-CN" altLang="en-US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差错报告报文的几种情况</a:t>
            </a:r>
          </a:p>
        </p:txBody>
      </p:sp>
    </p:spTree>
    <p:extLst>
      <p:ext uri="{BB962C8B-B14F-4D97-AF65-F5344CB8AC3E}">
        <p14:creationId xmlns:p14="http://schemas.microsoft.com/office/powerpoint/2010/main" val="292907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3">
            <a:extLst>
              <a:ext uri="{FF2B5EF4-FFF2-40B4-BE49-F238E27FC236}">
                <a16:creationId xmlns:a16="http://schemas.microsoft.com/office/drawing/2014/main" id="{19BC5108-E8D0-E615-E339-59A97F9F40C1}"/>
              </a:ext>
            </a:extLst>
          </p:cNvPr>
          <p:cNvGrpSpPr/>
          <p:nvPr/>
        </p:nvGrpSpPr>
        <p:grpSpPr>
          <a:xfrm>
            <a:off x="1722107" y="365125"/>
            <a:ext cx="7974343" cy="5626100"/>
            <a:chOff x="6363706" y="1309436"/>
            <a:chExt cx="5581099" cy="3776915"/>
          </a:xfrm>
        </p:grpSpPr>
        <p:grpSp>
          <p:nvGrpSpPr>
            <p:cNvPr id="5" name="组合 22">
              <a:extLst>
                <a:ext uri="{FF2B5EF4-FFF2-40B4-BE49-F238E27FC236}">
                  <a16:creationId xmlns:a16="http://schemas.microsoft.com/office/drawing/2014/main" id="{0CABDE94-6421-116F-0C04-383C629CF879}"/>
                </a:ext>
              </a:extLst>
            </p:cNvPr>
            <p:cNvGrpSpPr/>
            <p:nvPr/>
          </p:nvGrpSpPr>
          <p:grpSpPr>
            <a:xfrm>
              <a:off x="6363706" y="2162217"/>
              <a:ext cx="5581099" cy="2924134"/>
              <a:chOff x="6190733" y="1722254"/>
              <a:chExt cx="5581099" cy="2924134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B15A599-6DAE-B69E-23AD-26FA018E5791}"/>
                  </a:ext>
                </a:extLst>
              </p:cNvPr>
              <p:cNvSpPr/>
              <p:nvPr/>
            </p:nvSpPr>
            <p:spPr>
              <a:xfrm>
                <a:off x="9519037" y="1725066"/>
                <a:ext cx="2250228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总长度</a:t>
                </a: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028A860-E518-5AD0-F27F-84168F461C65}"/>
                  </a:ext>
                </a:extLst>
              </p:cNvPr>
              <p:cNvSpPr/>
              <p:nvPr/>
            </p:nvSpPr>
            <p:spPr>
              <a:xfrm>
                <a:off x="6190733" y="1722254"/>
                <a:ext cx="923941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版本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7935C83-EA34-5142-8B67-7B638BB52231}"/>
                  </a:ext>
                </a:extLst>
              </p:cNvPr>
              <p:cNvSpPr/>
              <p:nvPr/>
            </p:nvSpPr>
            <p:spPr>
              <a:xfrm>
                <a:off x="7114674" y="1725066"/>
                <a:ext cx="1193787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1000"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首部长度 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93040BF-A932-16D5-602C-C1376FEBDDBA}"/>
                  </a:ext>
                </a:extLst>
              </p:cNvPr>
              <p:cNvSpPr/>
              <p:nvPr/>
            </p:nvSpPr>
            <p:spPr>
              <a:xfrm>
                <a:off x="8308461" y="1725066"/>
                <a:ext cx="1211787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区分服务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C89293A-BB32-3D5A-C2B1-80E40F404A20}"/>
                  </a:ext>
                </a:extLst>
              </p:cNvPr>
              <p:cNvSpPr/>
              <p:nvPr/>
            </p:nvSpPr>
            <p:spPr>
              <a:xfrm>
                <a:off x="6190733" y="2094343"/>
                <a:ext cx="239940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标识</a:t>
                </a: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EBE90C5-56D3-6379-A92E-F5E651DEB074}"/>
                  </a:ext>
                </a:extLst>
              </p:cNvPr>
              <p:cNvSpPr/>
              <p:nvPr/>
            </p:nvSpPr>
            <p:spPr>
              <a:xfrm>
                <a:off x="8325250" y="2091529"/>
                <a:ext cx="1193898" cy="402432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标志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5894BF4-F08A-E11A-CBC0-C93C8056EEB8}"/>
                  </a:ext>
                </a:extLst>
              </p:cNvPr>
              <p:cNvSpPr/>
              <p:nvPr/>
            </p:nvSpPr>
            <p:spPr>
              <a:xfrm>
                <a:off x="9516051" y="2094343"/>
                <a:ext cx="225321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片偏移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3DAD4DB-982E-6DE8-D69B-A2AA9620D631}"/>
                  </a:ext>
                </a:extLst>
              </p:cNvPr>
              <p:cNvSpPr/>
              <p:nvPr/>
            </p:nvSpPr>
            <p:spPr>
              <a:xfrm>
                <a:off x="6190733" y="2463620"/>
                <a:ext cx="2131951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生存时间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659C91A-D942-CAA1-7A02-AC58D0C0CCA4}"/>
                  </a:ext>
                </a:extLst>
              </p:cNvPr>
              <p:cNvSpPr/>
              <p:nvPr/>
            </p:nvSpPr>
            <p:spPr>
              <a:xfrm>
                <a:off x="6190733" y="2830085"/>
                <a:ext cx="558109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b="1" dirty="0">
                    <a:solidFill>
                      <a:srgbClr val="FF0000"/>
                    </a:solidFill>
                  </a:rPr>
                  <a:t>源地址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573FB94-AC86-D0B7-62A6-EBDB89C28530}"/>
                  </a:ext>
                </a:extLst>
              </p:cNvPr>
              <p:cNvSpPr/>
              <p:nvPr/>
            </p:nvSpPr>
            <p:spPr>
              <a:xfrm>
                <a:off x="6190733" y="3199362"/>
                <a:ext cx="557890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b="1" dirty="0">
                    <a:solidFill>
                      <a:srgbClr val="FF0000"/>
                    </a:solidFill>
                  </a:rPr>
                  <a:t>目的地址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AD14770-3341-6989-A4B6-E3049E9BE846}"/>
                  </a:ext>
                </a:extLst>
              </p:cNvPr>
              <p:cNvSpPr/>
              <p:nvPr/>
            </p:nvSpPr>
            <p:spPr>
              <a:xfrm>
                <a:off x="6190733" y="3568639"/>
                <a:ext cx="4384040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b="1" dirty="0">
                    <a:solidFill>
                      <a:srgbClr val="FF0000"/>
                    </a:solidFill>
                  </a:rPr>
                  <a:t>可选字段（长度可变）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87DC36C8-315D-BF56-7180-37222B9A2F97}"/>
                  </a:ext>
                </a:extLst>
              </p:cNvPr>
              <p:cNvSpPr/>
              <p:nvPr/>
            </p:nvSpPr>
            <p:spPr>
              <a:xfrm>
                <a:off x="6190733" y="3568638"/>
                <a:ext cx="1216082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b="1" dirty="0">
                    <a:solidFill>
                      <a:srgbClr val="FF0000"/>
                    </a:solidFill>
                  </a:rPr>
                  <a:t>填充</a:t>
                </a: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F7E3E01-08AF-25B3-CE25-71EAF595066D}"/>
                  </a:ext>
                </a:extLst>
              </p:cNvPr>
              <p:cNvSpPr/>
              <p:nvPr/>
            </p:nvSpPr>
            <p:spPr>
              <a:xfrm>
                <a:off x="6190733" y="3918866"/>
                <a:ext cx="5578532" cy="727522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数据部分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5243A5A-B2DA-ACA0-987F-1EF75AB427AE}"/>
                  </a:ext>
                </a:extLst>
              </p:cNvPr>
              <p:cNvSpPr/>
              <p:nvPr/>
            </p:nvSpPr>
            <p:spPr>
              <a:xfrm>
                <a:off x="8339473" y="2454095"/>
                <a:ext cx="1188356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协议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A6A22A1-92CC-E447-A4A5-198FAF445704}"/>
                  </a:ext>
                </a:extLst>
              </p:cNvPr>
              <p:cNvSpPr/>
              <p:nvPr/>
            </p:nvSpPr>
            <p:spPr>
              <a:xfrm>
                <a:off x="9527829" y="2463620"/>
                <a:ext cx="2241436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首部校验和</a:t>
                </a: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827DC71-CE39-9CA7-26B4-6789B4BB21F8}"/>
                  </a:ext>
                </a:extLst>
              </p:cNvPr>
              <p:cNvSpPr/>
              <p:nvPr/>
            </p:nvSpPr>
            <p:spPr>
              <a:xfrm>
                <a:off x="6190733" y="2820575"/>
                <a:ext cx="558109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源地址</a:t>
                </a: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6B98DDF5-BEA0-9DE2-9CCA-F21085BA1636}"/>
                  </a:ext>
                </a:extLst>
              </p:cNvPr>
              <p:cNvSpPr/>
              <p:nvPr/>
            </p:nvSpPr>
            <p:spPr>
              <a:xfrm>
                <a:off x="6190733" y="3192695"/>
                <a:ext cx="557890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目的地址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20200E4-E201-DE49-FF8A-11B6343DFEF1}"/>
                  </a:ext>
                </a:extLst>
              </p:cNvPr>
              <p:cNvSpPr/>
              <p:nvPr/>
            </p:nvSpPr>
            <p:spPr>
              <a:xfrm>
                <a:off x="6190733" y="3556863"/>
                <a:ext cx="4384040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选项（长度可变）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08C09EE-FCAD-E960-6C8C-081C232FB8C8}"/>
                  </a:ext>
                </a:extLst>
              </p:cNvPr>
              <p:cNvSpPr/>
              <p:nvPr/>
            </p:nvSpPr>
            <p:spPr>
              <a:xfrm>
                <a:off x="10553183" y="3555104"/>
                <a:ext cx="1216082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002060"/>
                    </a:solidFill>
                  </a:rPr>
                  <a:t>填充</a:t>
                </a:r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A7E5935-29B4-1386-5717-4CB210760EF8}"/>
                </a:ext>
              </a:extLst>
            </p:cNvPr>
            <p:cNvSpPr/>
            <p:nvPr/>
          </p:nvSpPr>
          <p:spPr>
            <a:xfrm>
              <a:off x="6736613" y="1309436"/>
              <a:ext cx="4992770" cy="36634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C00000"/>
                  </a:solidFill>
                  <a:latin typeface="Arial" pitchFamily="34" charset="0"/>
                  <a:ea typeface="黑体" pitchFamily="2" charset="-122"/>
                </a:rPr>
                <a:t>IP </a:t>
              </a:r>
              <a:r>
                <a:rPr lang="zh-CN" altLang="en-US" sz="2800" b="1" dirty="0">
                  <a:solidFill>
                    <a:srgbClr val="C00000"/>
                  </a:solidFill>
                  <a:latin typeface="Arial" pitchFamily="34" charset="0"/>
                  <a:ea typeface="黑体" pitchFamily="2" charset="-122"/>
                </a:rPr>
                <a:t>数据报由首部和数据两部分组成</a:t>
              </a:r>
            </a:p>
          </p:txBody>
        </p:sp>
        <p:grpSp>
          <p:nvGrpSpPr>
            <p:cNvPr id="7" name="组合 44">
              <a:extLst>
                <a:ext uri="{FF2B5EF4-FFF2-40B4-BE49-F238E27FC236}">
                  <a16:creationId xmlns:a16="http://schemas.microsoft.com/office/drawing/2014/main" id="{D42BD91D-3C4A-6C3F-4CE1-9C65C00B4B75}"/>
                </a:ext>
              </a:extLst>
            </p:cNvPr>
            <p:cNvGrpSpPr/>
            <p:nvPr/>
          </p:nvGrpSpPr>
          <p:grpSpPr>
            <a:xfrm>
              <a:off x="6363707" y="1740176"/>
              <a:ext cx="5578532" cy="422040"/>
              <a:chOff x="6363707" y="1740176"/>
              <a:chExt cx="5578532" cy="42204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ECEB7F7-AC10-B7E9-E7E0-18661D19DBD1}"/>
                  </a:ext>
                </a:extLst>
              </p:cNvPr>
              <p:cNvCxnSpPr/>
              <p:nvPr/>
            </p:nvCxnSpPr>
            <p:spPr>
              <a:xfrm rot="5400000">
                <a:off x="6163208" y="1940675"/>
                <a:ext cx="40258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2FA45752-72F6-B31E-3B04-F09BF27FFCDC}"/>
                  </a:ext>
                </a:extLst>
              </p:cNvPr>
              <p:cNvCxnSpPr/>
              <p:nvPr/>
            </p:nvCxnSpPr>
            <p:spPr>
              <a:xfrm rot="5400000">
                <a:off x="11740152" y="1960130"/>
                <a:ext cx="40258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1F29CA5D-904C-6AAA-8988-416A9256AED9}"/>
                  </a:ext>
                </a:extLst>
              </p:cNvPr>
              <p:cNvCxnSpPr/>
              <p:nvPr/>
            </p:nvCxnSpPr>
            <p:spPr>
              <a:xfrm rot="10800000">
                <a:off x="6363708" y="1962149"/>
                <a:ext cx="2399402" cy="1588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20">
                <a:extLst>
                  <a:ext uri="{FF2B5EF4-FFF2-40B4-BE49-F238E27FC236}">
                    <a16:creationId xmlns:a16="http://schemas.microsoft.com/office/drawing/2014/main" id="{537D27E5-A023-A3D5-BCAE-B51B9665CB1A}"/>
                  </a:ext>
                </a:extLst>
              </p:cNvPr>
              <p:cNvSpPr txBox="1"/>
              <p:nvPr/>
            </p:nvSpPr>
            <p:spPr>
              <a:xfrm>
                <a:off x="8286748" y="1764920"/>
                <a:ext cx="1714500" cy="366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C00000"/>
                    </a:solidFill>
                    <a:latin typeface="Arial" pitchFamily="34" charset="0"/>
                    <a:ea typeface="黑体" pitchFamily="2" charset="-122"/>
                  </a:rPr>
                  <a:t>32bit</a:t>
                </a:r>
                <a:endParaRPr lang="zh-CN" altLang="en-US" sz="2800" b="1" dirty="0">
                  <a:solidFill>
                    <a:srgbClr val="C00000"/>
                  </a:solidFill>
                  <a:latin typeface="Arial" pitchFamily="34" charset="0"/>
                  <a:ea typeface="黑体" pitchFamily="2" charset="-122"/>
                </a:endParaRPr>
              </a:p>
            </p:txBody>
          </p: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0FF7CEC3-6938-FAEE-1274-CDA042787F82}"/>
                  </a:ext>
                </a:extLst>
              </p:cNvPr>
              <p:cNvCxnSpPr/>
              <p:nvPr/>
            </p:nvCxnSpPr>
            <p:spPr>
              <a:xfrm>
                <a:off x="9528320" y="1962148"/>
                <a:ext cx="2412330" cy="159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472186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60" y="846459"/>
            <a:ext cx="10738281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821447" y="768101"/>
            <a:ext cx="4033476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4-1】 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数据报分片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82979" y="1336734"/>
            <a:ext cx="10722523" cy="504484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9" name="组合 8"/>
          <p:cNvGrpSpPr/>
          <p:nvPr/>
        </p:nvGrpSpPr>
        <p:grpSpPr>
          <a:xfrm>
            <a:off x="1681425" y="2822081"/>
            <a:ext cx="4433088" cy="3237107"/>
            <a:chOff x="344488" y="2380134"/>
            <a:chExt cx="4755225" cy="3472337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704529" y="5445227"/>
              <a:ext cx="2001828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0/8 = 0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295534" y="3869208"/>
              <a:ext cx="1900369" cy="46355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8471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6756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8665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0050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 flipV="1">
              <a:off x="3101314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2629894" y="4625603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1399</a:t>
              </a: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990013" y="5072535"/>
              <a:ext cx="1456750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数据报片 </a:t>
              </a:r>
              <a:r>
                <a:rPr kumimoji="1" lang="en-US" altLang="zh-CN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9" name="Rectangle 36"/>
            <p:cNvSpPr>
              <a:spLocks noChangeArrowheads="1"/>
            </p:cNvSpPr>
            <p:nvPr/>
          </p:nvSpPr>
          <p:spPr bwMode="auto">
            <a:xfrm>
              <a:off x="344488" y="3869208"/>
              <a:ext cx="951045" cy="4635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39"/>
            <p:cNvSpPr>
              <a:spLocks noChangeShapeType="1"/>
            </p:cNvSpPr>
            <p:nvPr/>
          </p:nvSpPr>
          <p:spPr bwMode="auto">
            <a:xfrm flipV="1">
              <a:off x="1295534" y="2380134"/>
              <a:ext cx="1900369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40"/>
            <p:cNvSpPr>
              <a:spLocks noChangeShapeType="1"/>
            </p:cNvSpPr>
            <p:nvPr/>
          </p:nvSpPr>
          <p:spPr bwMode="auto">
            <a:xfrm flipV="1">
              <a:off x="3195903" y="2380134"/>
              <a:ext cx="1903810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 Box 59"/>
            <p:cNvSpPr txBox="1">
              <a:spLocks noChangeArrowheads="1"/>
            </p:cNvSpPr>
            <p:nvPr/>
          </p:nvSpPr>
          <p:spPr bwMode="auto">
            <a:xfrm>
              <a:off x="344488" y="3869209"/>
              <a:ext cx="1040474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 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23" name="Line 62"/>
            <p:cNvSpPr>
              <a:spLocks noChangeShapeType="1"/>
            </p:cNvSpPr>
            <p:nvPr/>
          </p:nvSpPr>
          <p:spPr bwMode="auto">
            <a:xfrm flipV="1">
              <a:off x="1384962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63"/>
            <p:cNvSpPr txBox="1">
              <a:spLocks noChangeArrowheads="1"/>
            </p:cNvSpPr>
            <p:nvPr/>
          </p:nvSpPr>
          <p:spPr bwMode="auto">
            <a:xfrm>
              <a:off x="564621" y="4626446"/>
              <a:ext cx="944342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字节 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754925" y="2822081"/>
            <a:ext cx="3132822" cy="3237104"/>
            <a:chOff x="3641329" y="2380134"/>
            <a:chExt cx="3360473" cy="3472333"/>
          </a:xfrm>
        </p:grpSpPr>
        <p:sp>
          <p:nvSpPr>
            <p:cNvPr id="26" name="Text Box 17"/>
            <p:cNvSpPr txBox="1">
              <a:spLocks noChangeArrowheads="1"/>
            </p:cNvSpPr>
            <p:nvPr/>
          </p:nvSpPr>
          <p:spPr bwMode="auto">
            <a:xfrm>
              <a:off x="3653973" y="5445223"/>
              <a:ext cx="2792793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1400/8 = 175</a:t>
              </a: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4717918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6430831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246498" y="4660776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1400</a:t>
              </a: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5968920" y="4638550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2799</a:t>
              </a:r>
            </a:p>
          </p:txBody>
        </p:sp>
        <p:sp>
          <p:nvSpPr>
            <p:cNvPr id="31" name="Rectangle 41"/>
            <p:cNvSpPr>
              <a:spLocks noChangeArrowheads="1"/>
            </p:cNvSpPr>
            <p:nvPr/>
          </p:nvSpPr>
          <p:spPr bwMode="auto">
            <a:xfrm>
              <a:off x="4625050" y="3869208"/>
              <a:ext cx="1900369" cy="46355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42"/>
            <p:cNvSpPr>
              <a:spLocks noChangeShapeType="1"/>
            </p:cNvSpPr>
            <p:nvPr/>
          </p:nvSpPr>
          <p:spPr bwMode="auto">
            <a:xfrm>
              <a:off x="4814227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43"/>
            <p:cNvSpPr>
              <a:spLocks noChangeShapeType="1"/>
            </p:cNvSpPr>
            <p:nvPr/>
          </p:nvSpPr>
          <p:spPr bwMode="auto">
            <a:xfrm>
              <a:off x="50034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4"/>
            <p:cNvSpPr>
              <a:spLocks noChangeShapeType="1"/>
            </p:cNvSpPr>
            <p:nvPr/>
          </p:nvSpPr>
          <p:spPr bwMode="auto">
            <a:xfrm>
              <a:off x="519430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5"/>
            <p:cNvSpPr>
              <a:spLocks noChangeShapeType="1"/>
            </p:cNvSpPr>
            <p:nvPr/>
          </p:nvSpPr>
          <p:spPr bwMode="auto">
            <a:xfrm>
              <a:off x="6334522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3674004" y="3869208"/>
              <a:ext cx="951045" cy="4635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47"/>
            <p:cNvSpPr>
              <a:spLocks noChangeShapeType="1"/>
            </p:cNvSpPr>
            <p:nvPr/>
          </p:nvSpPr>
          <p:spPr bwMode="auto">
            <a:xfrm flipV="1">
              <a:off x="4625049" y="2380134"/>
              <a:ext cx="47466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48"/>
            <p:cNvSpPr>
              <a:spLocks noChangeShapeType="1"/>
            </p:cNvSpPr>
            <p:nvPr/>
          </p:nvSpPr>
          <p:spPr bwMode="auto">
            <a:xfrm flipV="1">
              <a:off x="6525419" y="2380134"/>
              <a:ext cx="47638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 Box 60"/>
            <p:cNvSpPr txBox="1">
              <a:spLocks noChangeArrowheads="1"/>
            </p:cNvSpPr>
            <p:nvPr/>
          </p:nvSpPr>
          <p:spPr bwMode="auto">
            <a:xfrm>
              <a:off x="3641329" y="3869210"/>
              <a:ext cx="944342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 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4254178" y="5067770"/>
              <a:ext cx="1456750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数据报片 </a:t>
              </a:r>
              <a:r>
                <a:rPr kumimoji="1" lang="en-US" altLang="zh-CN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790248" y="2822081"/>
            <a:ext cx="2637862" cy="3237104"/>
            <a:chOff x="6897216" y="2380134"/>
            <a:chExt cx="2829544" cy="3472333"/>
          </a:xfrm>
        </p:grpSpPr>
        <p:sp>
          <p:nvSpPr>
            <p:cNvPr id="42" name="Text Box 18"/>
            <p:cNvSpPr txBox="1">
              <a:spLocks noChangeArrowheads="1"/>
            </p:cNvSpPr>
            <p:nvPr/>
          </p:nvSpPr>
          <p:spPr bwMode="auto">
            <a:xfrm>
              <a:off x="6897216" y="5445223"/>
              <a:ext cx="2792791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2800/8 = 350</a:t>
              </a:r>
            </a:p>
          </p:txBody>
        </p:sp>
        <p:sp>
          <p:nvSpPr>
            <p:cNvPr id="43" name="Line 24"/>
            <p:cNvSpPr>
              <a:spLocks noChangeShapeType="1"/>
            </p:cNvSpPr>
            <p:nvPr/>
          </p:nvSpPr>
          <p:spPr bwMode="auto">
            <a:xfrm flipV="1">
              <a:off x="8126545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25"/>
            <p:cNvSpPr>
              <a:spLocks noChangeShapeType="1"/>
            </p:cNvSpPr>
            <p:nvPr/>
          </p:nvSpPr>
          <p:spPr bwMode="auto">
            <a:xfrm flipV="1">
              <a:off x="9380273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Text Box 27"/>
            <p:cNvSpPr txBox="1">
              <a:spLocks noChangeArrowheads="1"/>
            </p:cNvSpPr>
            <p:nvPr/>
          </p:nvSpPr>
          <p:spPr bwMode="auto">
            <a:xfrm>
              <a:off x="7657655" y="4647828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2800</a:t>
              </a:r>
            </a:p>
          </p:txBody>
        </p:sp>
        <p:sp>
          <p:nvSpPr>
            <p:cNvPr id="46" name="Text Box 28"/>
            <p:cNvSpPr txBox="1">
              <a:spLocks noChangeArrowheads="1"/>
            </p:cNvSpPr>
            <p:nvPr/>
          </p:nvSpPr>
          <p:spPr bwMode="auto">
            <a:xfrm>
              <a:off x="8895904" y="4625601"/>
              <a:ext cx="830856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>
                  <a:latin typeface="微软雅黑" pitchFamily="34" charset="-122"/>
                  <a:ea typeface="微软雅黑" pitchFamily="34" charset="-122"/>
                </a:rPr>
                <a:t>3799</a:t>
              </a:r>
            </a:p>
          </p:txBody>
        </p: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8047436" y="3869208"/>
              <a:ext cx="1427427" cy="46355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8238331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8429229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862012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3"/>
            <p:cNvSpPr>
              <a:spLocks noChangeShapeType="1"/>
            </p:cNvSpPr>
            <p:nvPr/>
          </p:nvSpPr>
          <p:spPr bwMode="auto">
            <a:xfrm>
              <a:off x="928568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Rectangle 54"/>
            <p:cNvSpPr>
              <a:spLocks noChangeArrowheads="1"/>
            </p:cNvSpPr>
            <p:nvPr/>
          </p:nvSpPr>
          <p:spPr bwMode="auto">
            <a:xfrm>
              <a:off x="7098110" y="3869208"/>
              <a:ext cx="949325" cy="4635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5"/>
            <p:cNvSpPr>
              <a:spLocks noChangeShapeType="1"/>
            </p:cNvSpPr>
            <p:nvPr/>
          </p:nvSpPr>
          <p:spPr bwMode="auto">
            <a:xfrm flipH="1" flipV="1">
              <a:off x="8429229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 flipH="1" flipV="1">
              <a:off x="7001802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Text Box 61"/>
            <p:cNvSpPr txBox="1">
              <a:spLocks noChangeArrowheads="1"/>
            </p:cNvSpPr>
            <p:nvPr/>
          </p:nvSpPr>
          <p:spPr bwMode="auto">
            <a:xfrm>
              <a:off x="7065433" y="3869210"/>
              <a:ext cx="944342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 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6" name="Text Box 65"/>
            <p:cNvSpPr txBox="1">
              <a:spLocks noChangeArrowheads="1"/>
            </p:cNvSpPr>
            <p:nvPr/>
          </p:nvSpPr>
          <p:spPr bwMode="auto">
            <a:xfrm>
              <a:off x="7450799" y="5067770"/>
              <a:ext cx="1456749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数据报片 </a:t>
              </a:r>
              <a:r>
                <a:rPr kumimoji="1" lang="en-US" altLang="zh-CN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285742" y="1927426"/>
            <a:ext cx="8632217" cy="1548100"/>
            <a:chOff x="992714" y="1420467"/>
            <a:chExt cx="9259494" cy="1660596"/>
          </a:xfrm>
        </p:grpSpPr>
        <p:sp>
          <p:nvSpPr>
            <p:cNvPr id="58" name="Rectangle 4"/>
            <p:cNvSpPr>
              <a:spLocks noChangeArrowheads="1"/>
            </p:cNvSpPr>
            <p:nvPr/>
          </p:nvSpPr>
          <p:spPr bwMode="auto">
            <a:xfrm>
              <a:off x="3195902" y="1916583"/>
              <a:ext cx="5233327" cy="4635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6"/>
            <p:cNvSpPr>
              <a:spLocks noChangeArrowheads="1"/>
            </p:cNvSpPr>
            <p:nvPr/>
          </p:nvSpPr>
          <p:spPr bwMode="auto">
            <a:xfrm>
              <a:off x="2244858" y="1916583"/>
              <a:ext cx="6184371" cy="463550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8398" dir="1593903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7"/>
            <p:cNvSpPr>
              <a:spLocks noChangeShapeType="1"/>
            </p:cNvSpPr>
            <p:nvPr/>
          </p:nvSpPr>
          <p:spPr bwMode="auto">
            <a:xfrm>
              <a:off x="3386800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8"/>
            <p:cNvSpPr>
              <a:spLocks noChangeShapeType="1"/>
            </p:cNvSpPr>
            <p:nvPr/>
          </p:nvSpPr>
          <p:spPr bwMode="auto">
            <a:xfrm>
              <a:off x="3577696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9"/>
            <p:cNvSpPr>
              <a:spLocks noChangeShapeType="1"/>
            </p:cNvSpPr>
            <p:nvPr/>
          </p:nvSpPr>
          <p:spPr bwMode="auto">
            <a:xfrm>
              <a:off x="3768593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10"/>
            <p:cNvSpPr>
              <a:spLocks noChangeShapeType="1"/>
            </p:cNvSpPr>
            <p:nvPr/>
          </p:nvSpPr>
          <p:spPr bwMode="auto">
            <a:xfrm>
              <a:off x="8238331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Text Box 16"/>
            <p:cNvSpPr txBox="1">
              <a:spLocks noChangeArrowheads="1"/>
            </p:cNvSpPr>
            <p:nvPr/>
          </p:nvSpPr>
          <p:spPr bwMode="auto">
            <a:xfrm>
              <a:off x="8455023" y="1810221"/>
              <a:ext cx="1797185" cy="684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偏移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0/8</a:t>
              </a:r>
            </a:p>
            <a:p>
              <a:pPr>
                <a:lnSpc>
                  <a:spcPct val="90000"/>
                </a:lnSpc>
              </a:pP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= 0</a:t>
              </a:r>
            </a:p>
          </p:txBody>
        </p:sp>
        <p:sp>
          <p:nvSpPr>
            <p:cNvPr id="65" name="Line 19"/>
            <p:cNvSpPr>
              <a:spLocks noChangeShapeType="1"/>
            </p:cNvSpPr>
            <p:nvPr/>
          </p:nvSpPr>
          <p:spPr bwMode="auto">
            <a:xfrm flipV="1">
              <a:off x="831744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20"/>
            <p:cNvSpPr>
              <a:spLocks noChangeShapeType="1"/>
            </p:cNvSpPr>
            <p:nvPr/>
          </p:nvSpPr>
          <p:spPr bwMode="auto">
            <a:xfrm flipV="1">
              <a:off x="328705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Text Box 31"/>
            <p:cNvSpPr txBox="1">
              <a:spLocks noChangeArrowheads="1"/>
            </p:cNvSpPr>
            <p:nvPr/>
          </p:nvSpPr>
          <p:spPr bwMode="auto">
            <a:xfrm>
              <a:off x="7874449" y="2634134"/>
              <a:ext cx="830857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3799</a:t>
              </a:r>
            </a:p>
          </p:txBody>
        </p: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992714" y="1788988"/>
              <a:ext cx="1222900" cy="7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需分片的</a:t>
              </a:r>
            </a:p>
            <a:p>
              <a:pPr algn="ctr"/>
              <a:r>
                <a:rPr kumimoji="1" lang="zh-CN" altLang="en-US" sz="18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  <p:sp>
          <p:nvSpPr>
            <p:cNvPr id="69" name="Rectangle 76"/>
            <p:cNvSpPr>
              <a:spLocks noChangeArrowheads="1"/>
            </p:cNvSpPr>
            <p:nvPr/>
          </p:nvSpPr>
          <p:spPr bwMode="auto">
            <a:xfrm>
              <a:off x="2259192" y="1934045"/>
              <a:ext cx="925248" cy="44608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Text Box 34"/>
            <p:cNvSpPr txBox="1">
              <a:spLocks noChangeArrowheads="1"/>
            </p:cNvSpPr>
            <p:nvPr/>
          </p:nvSpPr>
          <p:spPr bwMode="auto">
            <a:xfrm>
              <a:off x="2344606" y="1948771"/>
              <a:ext cx="710493" cy="407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首部</a:t>
              </a:r>
            </a:p>
          </p:txBody>
        </p:sp>
        <p:sp>
          <p:nvSpPr>
            <p:cNvPr id="71" name="Line 35"/>
            <p:cNvSpPr>
              <a:spLocks noChangeShapeType="1"/>
            </p:cNvSpPr>
            <p:nvPr/>
          </p:nvSpPr>
          <p:spPr bwMode="auto">
            <a:xfrm>
              <a:off x="31959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37"/>
            <p:cNvSpPr>
              <a:spLocks noChangeShapeType="1"/>
            </p:cNvSpPr>
            <p:nvPr/>
          </p:nvSpPr>
          <p:spPr bwMode="auto">
            <a:xfrm>
              <a:off x="509971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38"/>
            <p:cNvSpPr>
              <a:spLocks noChangeShapeType="1"/>
            </p:cNvSpPr>
            <p:nvPr/>
          </p:nvSpPr>
          <p:spPr bwMode="auto">
            <a:xfrm>
              <a:off x="70018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57"/>
            <p:cNvSpPr>
              <a:spLocks noChangeShapeType="1"/>
            </p:cNvSpPr>
            <p:nvPr/>
          </p:nvSpPr>
          <p:spPr bwMode="auto">
            <a:xfrm>
              <a:off x="3178704" y="1648280"/>
              <a:ext cx="52316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Text Box 58"/>
            <p:cNvSpPr txBox="1">
              <a:spLocks noChangeArrowheads="1"/>
            </p:cNvSpPr>
            <p:nvPr/>
          </p:nvSpPr>
          <p:spPr bwMode="auto">
            <a:xfrm>
              <a:off x="4150388" y="1420467"/>
              <a:ext cx="2775599" cy="407244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数据部分共 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3800 </a:t>
              </a:r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  <p:sp>
          <p:nvSpPr>
            <p:cNvPr id="76" name="Line 66"/>
            <p:cNvSpPr>
              <a:spLocks noChangeShapeType="1"/>
            </p:cNvSpPr>
            <p:nvPr/>
          </p:nvSpPr>
          <p:spPr bwMode="auto">
            <a:xfrm flipV="1">
              <a:off x="517710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67"/>
            <p:cNvSpPr txBox="1">
              <a:spLocks noChangeArrowheads="1"/>
            </p:cNvSpPr>
            <p:nvPr/>
          </p:nvSpPr>
          <p:spPr bwMode="auto">
            <a:xfrm>
              <a:off x="4731577" y="2653183"/>
              <a:ext cx="830857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1400</a:t>
              </a:r>
            </a:p>
          </p:txBody>
        </p:sp>
        <p:sp>
          <p:nvSpPr>
            <p:cNvPr id="78" name="Line 68"/>
            <p:cNvSpPr>
              <a:spLocks noChangeShapeType="1"/>
            </p:cNvSpPr>
            <p:nvPr/>
          </p:nvSpPr>
          <p:spPr bwMode="auto">
            <a:xfrm flipV="1">
              <a:off x="708091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69"/>
            <p:cNvSpPr txBox="1">
              <a:spLocks noChangeArrowheads="1"/>
            </p:cNvSpPr>
            <p:nvPr/>
          </p:nvSpPr>
          <p:spPr bwMode="auto">
            <a:xfrm>
              <a:off x="6637918" y="2653183"/>
              <a:ext cx="830857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2800</a:t>
              </a:r>
            </a:p>
          </p:txBody>
        </p:sp>
        <p:sp>
          <p:nvSpPr>
            <p:cNvPr id="80" name="Line 70"/>
            <p:cNvSpPr>
              <a:spLocks noChangeShapeType="1"/>
            </p:cNvSpPr>
            <p:nvPr/>
          </p:nvSpPr>
          <p:spPr bwMode="auto">
            <a:xfrm>
              <a:off x="7190979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71"/>
            <p:cNvSpPr>
              <a:spLocks noChangeShapeType="1"/>
            </p:cNvSpPr>
            <p:nvPr/>
          </p:nvSpPr>
          <p:spPr bwMode="auto">
            <a:xfrm>
              <a:off x="5290608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Text Box 72"/>
            <p:cNvSpPr txBox="1">
              <a:spLocks noChangeArrowheads="1"/>
            </p:cNvSpPr>
            <p:nvPr/>
          </p:nvSpPr>
          <p:spPr bwMode="auto">
            <a:xfrm>
              <a:off x="2779178" y="2673819"/>
              <a:ext cx="944343" cy="407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字节 </a:t>
              </a:r>
              <a:r>
                <a:rPr kumimoji="1" lang="en-US" altLang="zh-CN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4968F3-6425-4755-8364-EBB008E3D46E}"/>
              </a:ext>
            </a:extLst>
          </p:cNvPr>
          <p:cNvGrpSpPr/>
          <p:nvPr/>
        </p:nvGrpSpPr>
        <p:grpSpPr>
          <a:xfrm>
            <a:off x="3427447" y="1504181"/>
            <a:ext cx="5791029" cy="379656"/>
            <a:chOff x="2336628" y="1115853"/>
            <a:chExt cx="1033459" cy="284742"/>
          </a:xfrm>
        </p:grpSpPr>
        <p:sp>
          <p:nvSpPr>
            <p:cNvPr id="83" name="Line 57">
              <a:extLst>
                <a:ext uri="{FF2B5EF4-FFF2-40B4-BE49-F238E27FC236}">
                  <a16:creationId xmlns:a16="http://schemas.microsoft.com/office/drawing/2014/main" id="{0383A560-2C48-4CD6-A0EE-AFC684BCF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628" y="1269948"/>
              <a:ext cx="10334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Text Box 58">
              <a:extLst>
                <a:ext uri="{FF2B5EF4-FFF2-40B4-BE49-F238E27FC236}">
                  <a16:creationId xmlns:a16="http://schemas.microsoft.com/office/drawing/2014/main" id="{E97116DA-C8D8-4AB7-A279-D6D35D206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442" y="1115853"/>
              <a:ext cx="329173" cy="28474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总长</a:t>
              </a:r>
              <a:r>
                <a:rPr kumimoji="1" lang="en-US" altLang="zh-CN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3820</a:t>
              </a:r>
              <a:r>
                <a:rPr kumimoji="1" lang="zh-CN" altLang="en-US" sz="18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</p:grpSp>
      <p:sp>
        <p:nvSpPr>
          <p:cNvPr id="85" name="Text Box 58">
            <a:extLst>
              <a:ext uri="{FF2B5EF4-FFF2-40B4-BE49-F238E27FC236}">
                <a16:creationId xmlns:a16="http://schemas.microsoft.com/office/drawing/2014/main" id="{47A829C7-1C7D-49D5-AADE-1EC182A42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3762" y="818686"/>
            <a:ext cx="2119137" cy="37965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kumimoji="1" lang="en-US" altLang="zh-CN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MTU=1420</a:t>
            </a:r>
            <a:r>
              <a:rPr kumimoji="1"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220362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86208" y="3161713"/>
            <a:ext cx="11859489" cy="22938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60" y="1345833"/>
            <a:ext cx="10738280" cy="172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中，每个地址占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128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位，地址空间大于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3.4</a:t>
            </a:r>
            <a:r>
              <a:rPr lang="en-US" altLang="zh-CN" sz="2667" b="1" dirty="0">
                <a:sym typeface="Symbol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  <a:sym typeface="Symbol"/>
              </a:rPr>
              <a:t></a:t>
            </a:r>
            <a:r>
              <a:rPr lang="en-US" altLang="zh-CN" sz="2667" b="1" dirty="0">
                <a:sym typeface="Symbol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en-US" altLang="zh-CN" sz="2667" b="1" baseline="30000" dirty="0">
                <a:latin typeface="微软雅黑" pitchFamily="34" charset="-122"/>
                <a:ea typeface="微软雅黑" pitchFamily="34" charset="-122"/>
              </a:rPr>
              <a:t>38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冒号十六进制记法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(colon hexadecimal notation,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简写为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colon hex)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位的值用十六进制值表示，各值之间用冒号分隔。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29799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5517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冒号十六进制记法</a:t>
            </a:r>
          </a:p>
        </p:txBody>
      </p:sp>
      <p:sp>
        <p:nvSpPr>
          <p:cNvPr id="9" name="矩形 8"/>
          <p:cNvSpPr/>
          <p:nvPr/>
        </p:nvSpPr>
        <p:spPr>
          <a:xfrm>
            <a:off x="3027905" y="3326465"/>
            <a:ext cx="8810488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104.230.140.100.255.255.255.255.0.0.17.128.150.10.255.255</a:t>
            </a:r>
            <a:endParaRPr lang="zh-CN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4622" y="3284377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点分十进制数记法</a:t>
            </a:r>
            <a:r>
              <a:rPr lang="zh-CN" altLang="en-US" sz="24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6938" y="3772724"/>
            <a:ext cx="10507343" cy="779757"/>
            <a:chOff x="182843" y="2863156"/>
            <a:chExt cx="7880507" cy="584818"/>
          </a:xfrm>
        </p:grpSpPr>
        <p:grpSp>
          <p:nvGrpSpPr>
            <p:cNvPr id="11" name="组合 10"/>
            <p:cNvGrpSpPr/>
            <p:nvPr/>
          </p:nvGrpSpPr>
          <p:grpSpPr>
            <a:xfrm>
              <a:off x="2829043" y="2863156"/>
              <a:ext cx="5234307" cy="584818"/>
              <a:chOff x="2052959" y="2863156"/>
              <a:chExt cx="5234307" cy="58481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052959" y="3101725"/>
                <a:ext cx="5234307" cy="346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buClr>
                    <a:srgbClr val="0070C0"/>
                  </a:buClr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68E6:8C64:FFFF:FFFF:0000:1180:960A:FFFF</a:t>
                </a:r>
              </a:p>
            </p:txBody>
          </p:sp>
          <p:sp>
            <p:nvSpPr>
              <p:cNvPr id="10" name="下箭头 9"/>
              <p:cNvSpPr/>
              <p:nvPr/>
            </p:nvSpPr>
            <p:spPr>
              <a:xfrm>
                <a:off x="4840940" y="2863156"/>
                <a:ext cx="207469" cy="286235"/>
              </a:xfrm>
              <a:prstGeom prst="downArrow">
                <a:avLst/>
              </a:prstGeom>
              <a:solidFill>
                <a:srgbClr val="9900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182843" y="3101725"/>
              <a:ext cx="2215991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冒号十六进制</a:t>
              </a:r>
              <a:r>
                <a:rPr lang="zh-CN" altLang="zh-CN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记法</a:t>
              </a:r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7403992" y="4154373"/>
            <a:ext cx="672000" cy="3129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7667305" y="4849095"/>
            <a:ext cx="192000" cy="3129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8" name="组合 17"/>
          <p:cNvGrpSpPr/>
          <p:nvPr/>
        </p:nvGrpSpPr>
        <p:grpSpPr>
          <a:xfrm>
            <a:off x="379250" y="4467319"/>
            <a:ext cx="10196665" cy="791544"/>
            <a:chOff x="192077" y="3384102"/>
            <a:chExt cx="7647499" cy="593658"/>
          </a:xfrm>
        </p:grpSpPr>
        <p:grpSp>
          <p:nvGrpSpPr>
            <p:cNvPr id="7" name="组合 6"/>
            <p:cNvGrpSpPr/>
            <p:nvPr/>
          </p:nvGrpSpPr>
          <p:grpSpPr>
            <a:xfrm>
              <a:off x="3096434" y="3384102"/>
              <a:ext cx="4743142" cy="593658"/>
              <a:chOff x="1902550" y="2800118"/>
              <a:chExt cx="5278446" cy="593658"/>
            </a:xfrm>
          </p:grpSpPr>
          <p:sp>
            <p:nvSpPr>
              <p:cNvPr id="5" name="下箭头 4"/>
              <p:cNvSpPr/>
              <p:nvPr/>
            </p:nvSpPr>
            <p:spPr>
              <a:xfrm>
                <a:off x="4707604" y="2800118"/>
                <a:ext cx="230884" cy="296547"/>
              </a:xfrm>
              <a:prstGeom prst="downArrow">
                <a:avLst/>
              </a:prstGeom>
              <a:solidFill>
                <a:srgbClr val="9900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902550" y="3047527"/>
                <a:ext cx="5278446" cy="346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buClr>
                    <a:srgbClr val="0070C0"/>
                  </a:buClr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68E6:8C64:FFFF:FFFF:0:1180:960A:FFFF</a:t>
                </a: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192077" y="3618511"/>
              <a:ext cx="2215991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冒号十六进制</a:t>
              </a:r>
              <a:r>
                <a:rPr lang="zh-CN" altLang="zh-CN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记法</a:t>
              </a:r>
              <a:r>
                <a:rPr lang="zh-CN" altLang="en-US" sz="2400" b="1" kern="5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925902" y="5580453"/>
            <a:ext cx="6340197" cy="461665"/>
          </a:xfrm>
          <a:prstGeom prst="rect">
            <a:avLst/>
          </a:prstGeom>
          <a:solidFill>
            <a:srgbClr val="CCFF99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两个技术：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零压缩，点分十进制记法的后缀。</a:t>
            </a:r>
          </a:p>
        </p:txBody>
      </p:sp>
    </p:spTree>
    <p:extLst>
      <p:ext uri="{BB962C8B-B14F-4D97-AF65-F5344CB8AC3E}">
        <p14:creationId xmlns:p14="http://schemas.microsoft.com/office/powerpoint/2010/main" val="233843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726861" y="2963151"/>
            <a:ext cx="10738280" cy="249246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60" y="1303853"/>
            <a:ext cx="10738280" cy="58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零压缩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(zero compression)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：一串连续的零可以用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一对冒号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取代。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28801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4520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零压缩</a:t>
            </a:r>
          </a:p>
        </p:txBody>
      </p:sp>
      <p:sp>
        <p:nvSpPr>
          <p:cNvPr id="5" name="矩形 4"/>
          <p:cNvSpPr/>
          <p:nvPr/>
        </p:nvSpPr>
        <p:spPr>
          <a:xfrm>
            <a:off x="4108393" y="1906768"/>
            <a:ext cx="4354284" cy="1004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33"/>
              </a:lnSpc>
              <a:buClr>
                <a:srgbClr val="0070C0"/>
              </a:buClr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FF05:0:0:0:0:0:0:B3</a:t>
            </a:r>
            <a:endParaRPr lang="zh-CN" altLang="en-US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733"/>
              </a:lnSpc>
              <a:buClr>
                <a:srgbClr val="0070C0"/>
              </a:buClr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FF05::B3</a:t>
            </a:r>
          </a:p>
        </p:txBody>
      </p:sp>
      <p:sp>
        <p:nvSpPr>
          <p:cNvPr id="6" name="矩形 5"/>
          <p:cNvSpPr/>
          <p:nvPr/>
        </p:nvSpPr>
        <p:spPr>
          <a:xfrm>
            <a:off x="2279959" y="5563114"/>
            <a:ext cx="7481916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zh-CN" altLang="en-US" sz="2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注意：在任一地址中，只能使用一次零压缩。</a:t>
            </a:r>
          </a:p>
        </p:txBody>
      </p:sp>
      <p:sp>
        <p:nvSpPr>
          <p:cNvPr id="7" name="矩形 6"/>
          <p:cNvSpPr/>
          <p:nvPr/>
        </p:nvSpPr>
        <p:spPr>
          <a:xfrm>
            <a:off x="2325136" y="2388352"/>
            <a:ext cx="2059885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可压缩为： </a:t>
            </a:r>
            <a:endParaRPr lang="zh-CN" altLang="en-US" sz="2667" dirty="0"/>
          </a:p>
        </p:txBody>
      </p:sp>
      <p:sp>
        <p:nvSpPr>
          <p:cNvPr id="8" name="矩形 7"/>
          <p:cNvSpPr/>
          <p:nvPr/>
        </p:nvSpPr>
        <p:spPr>
          <a:xfrm>
            <a:off x="1165186" y="2963152"/>
            <a:ext cx="34371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0:0:0:0:0:0:128.10.2.1</a:t>
            </a:r>
          </a:p>
        </p:txBody>
      </p:sp>
      <p:sp>
        <p:nvSpPr>
          <p:cNvPr id="9" name="矩形 8"/>
          <p:cNvSpPr/>
          <p:nvPr/>
        </p:nvSpPr>
        <p:spPr>
          <a:xfrm>
            <a:off x="6813249" y="2963152"/>
            <a:ext cx="1949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::128.10.2.1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165186" y="3440513"/>
            <a:ext cx="454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1080:0:0:0:8:800:200C:417A 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65185" y="3917874"/>
            <a:ext cx="5072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FF01:0:0:0:0:0:0:101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（组播地址）</a:t>
            </a:r>
          </a:p>
        </p:txBody>
      </p:sp>
      <p:sp>
        <p:nvSpPr>
          <p:cNvPr id="12" name="矩形 11"/>
          <p:cNvSpPr/>
          <p:nvPr/>
        </p:nvSpPr>
        <p:spPr>
          <a:xfrm>
            <a:off x="1165186" y="4395236"/>
            <a:ext cx="4161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0:0:0:0:0:0:0:1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（环回地址）</a:t>
            </a:r>
          </a:p>
        </p:txBody>
      </p:sp>
      <p:sp>
        <p:nvSpPr>
          <p:cNvPr id="13" name="矩形 12"/>
          <p:cNvSpPr/>
          <p:nvPr/>
        </p:nvSpPr>
        <p:spPr>
          <a:xfrm>
            <a:off x="1165186" y="4872598"/>
            <a:ext cx="4469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0:0:0:0:0:0:0:0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（未指明地址）</a:t>
            </a:r>
          </a:p>
        </p:txBody>
      </p:sp>
      <p:sp>
        <p:nvSpPr>
          <p:cNvPr id="14" name="矩形 13"/>
          <p:cNvSpPr/>
          <p:nvPr/>
        </p:nvSpPr>
        <p:spPr>
          <a:xfrm>
            <a:off x="6813248" y="3440513"/>
            <a:ext cx="3711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1080::8:800:200C:417A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13249" y="3917874"/>
            <a:ext cx="1649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FF01::101</a:t>
            </a:r>
          </a:p>
        </p:txBody>
      </p:sp>
      <p:sp>
        <p:nvSpPr>
          <p:cNvPr id="16" name="矩形 15"/>
          <p:cNvSpPr/>
          <p:nvPr/>
        </p:nvSpPr>
        <p:spPr>
          <a:xfrm>
            <a:off x="6813249" y="4395236"/>
            <a:ext cx="550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::1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13248" y="4872598"/>
            <a:ext cx="360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</a:t>
            </a:r>
          </a:p>
        </p:txBody>
      </p:sp>
      <p:sp>
        <p:nvSpPr>
          <p:cNvPr id="18" name="右箭头 17"/>
          <p:cNvSpPr/>
          <p:nvPr/>
        </p:nvSpPr>
        <p:spPr>
          <a:xfrm>
            <a:off x="6218947" y="3090098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右箭头 18"/>
          <p:cNvSpPr/>
          <p:nvPr/>
        </p:nvSpPr>
        <p:spPr>
          <a:xfrm>
            <a:off x="6218947" y="3567460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右箭头 19"/>
          <p:cNvSpPr/>
          <p:nvPr/>
        </p:nvSpPr>
        <p:spPr>
          <a:xfrm>
            <a:off x="6218947" y="4044823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右箭头 20"/>
          <p:cNvSpPr/>
          <p:nvPr/>
        </p:nvSpPr>
        <p:spPr>
          <a:xfrm>
            <a:off x="6218947" y="4522186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" name="右箭头 21"/>
          <p:cNvSpPr/>
          <p:nvPr/>
        </p:nvSpPr>
        <p:spPr>
          <a:xfrm>
            <a:off x="6218947" y="4999548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09935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763807" y="4490230"/>
            <a:ext cx="10307515" cy="151781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60" y="1298845"/>
            <a:ext cx="10738280" cy="282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结合使用点分十进制记法的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后缀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向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的转换阶段特别有用。</a:t>
            </a:r>
          </a:p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例如：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CIDR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斜线表示法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仍然可用，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但取消了子网掩码。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60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位的前缀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12AB00000000CD3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可记为：</a:t>
            </a:r>
          </a:p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34039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9757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点分十进制记法的后缀</a:t>
            </a:r>
          </a:p>
        </p:txBody>
      </p:sp>
      <p:sp>
        <p:nvSpPr>
          <p:cNvPr id="5" name="矩形 4"/>
          <p:cNvSpPr/>
          <p:nvPr/>
        </p:nvSpPr>
        <p:spPr>
          <a:xfrm>
            <a:off x="2193246" y="1875610"/>
            <a:ext cx="34371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0:0:0:0:0:0:128.10.2.1</a:t>
            </a:r>
          </a:p>
        </p:txBody>
      </p:sp>
      <p:sp>
        <p:nvSpPr>
          <p:cNvPr id="6" name="矩形 5"/>
          <p:cNvSpPr/>
          <p:nvPr/>
        </p:nvSpPr>
        <p:spPr>
          <a:xfrm>
            <a:off x="6335245" y="1875610"/>
            <a:ext cx="1949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::128.10.2.1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238334" y="3183621"/>
            <a:ext cx="7513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12AB:0000:0000:CD30:0000:0000:0000:0000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/60</a:t>
            </a:r>
            <a:endParaRPr lang="zh-CN" altLang="en-US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740943" y="2002556"/>
            <a:ext cx="522515" cy="246221"/>
          </a:xfrm>
          <a:prstGeom prst="right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" name="矩形 21"/>
          <p:cNvSpPr/>
          <p:nvPr/>
        </p:nvSpPr>
        <p:spPr>
          <a:xfrm>
            <a:off x="1842215" y="3606580"/>
            <a:ext cx="5671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12AB::CD30:0:0:0:0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/60</a:t>
            </a: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（零压缩）</a:t>
            </a:r>
          </a:p>
        </p:txBody>
      </p:sp>
      <p:sp>
        <p:nvSpPr>
          <p:cNvPr id="23" name="矩形 22"/>
          <p:cNvSpPr/>
          <p:nvPr/>
        </p:nvSpPr>
        <p:spPr>
          <a:xfrm>
            <a:off x="1845864" y="4047120"/>
            <a:ext cx="5205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或 </a:t>
            </a:r>
            <a:r>
              <a:rPr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12AB:0:0:CD30</a:t>
            </a: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::/60 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（零压缩）</a:t>
            </a:r>
            <a:endParaRPr lang="zh-CN" altLang="en-US" sz="2400" dirty="0"/>
          </a:p>
        </p:txBody>
      </p:sp>
      <p:sp>
        <p:nvSpPr>
          <p:cNvPr id="24" name="矩形 23"/>
          <p:cNvSpPr/>
          <p:nvPr/>
        </p:nvSpPr>
        <p:spPr>
          <a:xfrm>
            <a:off x="1022422" y="4510524"/>
            <a:ext cx="9851855" cy="139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67"/>
              </a:lnSpc>
            </a:pPr>
            <a:r>
              <a:rPr lang="en-US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CIDR </a:t>
            </a:r>
            <a:r>
              <a:rPr lang="zh-CN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记法</a:t>
            </a:r>
            <a:r>
              <a:rPr lang="zh-CN" altLang="en-US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地址：</a:t>
            </a:r>
            <a:r>
              <a:rPr lang="en-US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2001:0DB8:0:CD30:123:4567:89AB:CDEF/60</a:t>
            </a:r>
            <a:r>
              <a:rPr lang="zh-CN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zh-CN" sz="2133" b="1" kern="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67"/>
              </a:lnSpc>
            </a:pPr>
            <a:r>
              <a:rPr lang="en-US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的地址是：</a:t>
            </a:r>
            <a:r>
              <a:rPr lang="en-US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2001:0DB8:0:CD30:123:4567:89AB:CDEF</a:t>
            </a:r>
            <a:endParaRPr lang="zh-CN" altLang="zh-CN" sz="2133" b="1" kern="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67"/>
              </a:lnSpc>
            </a:pPr>
            <a:r>
              <a:rPr lang="zh-CN" altLang="zh-CN" sz="2133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其子网号是：</a:t>
            </a:r>
            <a:r>
              <a:rPr lang="en-US" altLang="zh-CN" sz="2133" b="1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133" b="1" kern="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2001:0DB8:0:CD30::/60</a:t>
            </a:r>
            <a:endParaRPr lang="zh-CN" altLang="zh-CN" sz="2133" b="1" kern="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332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726860" y="831564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89291" y="787283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地址分类</a:t>
            </a:r>
          </a:p>
        </p:txBody>
      </p:sp>
      <p:graphicFrame>
        <p:nvGraphicFramePr>
          <p:cNvPr id="4" name="内容占位符 3"/>
          <p:cNvGraphicFramePr>
            <a:graphicFrameLocks/>
          </p:cNvGraphicFramePr>
          <p:nvPr/>
        </p:nvGraphicFramePr>
        <p:xfrm>
          <a:off x="726861" y="1493221"/>
          <a:ext cx="10738279" cy="3418856"/>
        </p:xfrm>
        <a:graphic>
          <a:graphicData uri="http://schemas.openxmlformats.org/drawingml/2006/table">
            <a:tbl>
              <a:tblPr firstRow="1" firstCol="1" bandCol="1">
                <a:tableStyleId>{5C22544A-7EE6-4342-B048-85BDC9FD1C3A}</a:tableStyleId>
              </a:tblPr>
              <a:tblGrid>
                <a:gridCol w="242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628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地址类型</a:t>
                      </a:r>
                      <a:endParaRPr lang="zh-CN" sz="2100" b="1" dirty="0"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二进制前缀</a:t>
                      </a:r>
                      <a:endParaRPr lang="zh-CN" sz="2100" b="1" dirty="0"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dirty="0" err="1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IPv6</a:t>
                      </a:r>
                      <a:r>
                        <a:rPr lang="zh-CN" altLang="en-US" sz="2100" b="1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记法</a:t>
                      </a:r>
                      <a:endParaRPr lang="zh-CN" sz="2100" b="1" dirty="0"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28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未指明地址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00…0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位），</a:t>
                      </a:r>
                      <a:r>
                        <a:rPr lang="zh-CN" altLang="en-US" sz="2100" b="1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仅此一个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::/128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28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环回地址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00…1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位），</a:t>
                      </a:r>
                      <a:r>
                        <a:rPr lang="zh-CN" altLang="en-US" sz="2100" b="1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仅此一个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::1/128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28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组播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11111111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位），</a:t>
                      </a:r>
                      <a:r>
                        <a:rPr lang="zh-CN" altLang="en-US" sz="2100" b="1" kern="12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功能和 </a:t>
                      </a:r>
                      <a:r>
                        <a:rPr lang="en-US" altLang="zh-CN" sz="2100" b="1" kern="1200" dirty="0" err="1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IPv4</a:t>
                      </a:r>
                      <a:r>
                        <a:rPr lang="en-US" altLang="zh-CN" sz="2100" b="1" kern="12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 </a:t>
                      </a:r>
                      <a:r>
                        <a:rPr lang="zh-CN" altLang="en-US" sz="2100" b="1" kern="12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的一样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FF00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::/8</a:t>
                      </a:r>
                      <a:endParaRPr lang="zh-CN" altLang="en-US" sz="2100" b="1" kern="1200" dirty="0">
                        <a:solidFill>
                          <a:srgbClr val="C00000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716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本地链路单播地址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1111111010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位）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100" b="1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未连接到互联网，不能和互联网上的其他主机通信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1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FE80</a:t>
                      </a:r>
                      <a:r>
                        <a:rPr lang="en-US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::/10</a:t>
                      </a:r>
                      <a:endParaRPr lang="zh-CN" altLang="en-US" sz="2100" b="1" dirty="0">
                        <a:solidFill>
                          <a:srgbClr val="C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28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全球单播地址</a:t>
                      </a:r>
                      <a:endParaRPr lang="zh-CN" sz="2100" b="1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1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除上述四种外，所有其他的二进制前缀</a:t>
                      </a:r>
                      <a:endParaRPr lang="zh-CN" sz="21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zh-CN" sz="1600" b="1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75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726860" y="829751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422835" y="775267"/>
            <a:ext cx="53463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4.5.3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从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向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过渡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26858" y="1352037"/>
            <a:ext cx="10738281" cy="3344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方法：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逐步演进，向后兼容。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向后兼容：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系统必须能够接收和转发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分组，并且能够为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分组选择路由。</a:t>
            </a:r>
          </a:p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两种过渡策略：</a:t>
            </a:r>
          </a:p>
          <a:p>
            <a:pPr marL="831830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使用双协议栈</a:t>
            </a:r>
          </a:p>
          <a:p>
            <a:pPr marL="831830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使用隧道技术</a:t>
            </a:r>
          </a:p>
        </p:txBody>
      </p:sp>
    </p:spTree>
    <p:extLst>
      <p:ext uri="{BB962C8B-B14F-4D97-AF65-F5344CB8AC3E}">
        <p14:creationId xmlns:p14="http://schemas.microsoft.com/office/powerpoint/2010/main" val="7961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726860" y="1428559"/>
            <a:ext cx="10738280" cy="322657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28225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3944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双协议栈</a:t>
            </a:r>
          </a:p>
        </p:txBody>
      </p:sp>
      <p:sp>
        <p:nvSpPr>
          <p:cNvPr id="5" name="Rectangle 47"/>
          <p:cNvSpPr>
            <a:spLocks noChangeArrowheads="1"/>
          </p:cNvSpPr>
          <p:nvPr/>
        </p:nvSpPr>
        <p:spPr bwMode="auto">
          <a:xfrm>
            <a:off x="4057261" y="1762033"/>
            <a:ext cx="4129616" cy="211243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89"/>
          <p:cNvSpPr>
            <a:spLocks noChangeShapeType="1"/>
          </p:cNvSpPr>
          <p:nvPr/>
        </p:nvSpPr>
        <p:spPr bwMode="auto">
          <a:xfrm>
            <a:off x="4057261" y="2722999"/>
            <a:ext cx="4138083" cy="84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90"/>
          <p:cNvSpPr txBox="1">
            <a:spLocks noChangeArrowheads="1"/>
          </p:cNvSpPr>
          <p:nvPr/>
        </p:nvSpPr>
        <p:spPr bwMode="auto">
          <a:xfrm>
            <a:off x="4527162" y="2272148"/>
            <a:ext cx="1007007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33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8" name="Line 89"/>
          <p:cNvSpPr>
            <a:spLocks noChangeShapeType="1"/>
          </p:cNvSpPr>
          <p:nvPr/>
        </p:nvSpPr>
        <p:spPr bwMode="auto">
          <a:xfrm>
            <a:off x="4057261" y="3290265"/>
            <a:ext cx="4138083" cy="84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69"/>
          <p:cNvCxnSpPr>
            <a:cxnSpLocks noChangeShapeType="1"/>
          </p:cNvCxnSpPr>
          <p:nvPr/>
        </p:nvCxnSpPr>
        <p:spPr bwMode="auto">
          <a:xfrm>
            <a:off x="6125244" y="2731465"/>
            <a:ext cx="2117" cy="584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47"/>
          <p:cNvSpPr>
            <a:spLocks noChangeArrowheads="1"/>
          </p:cNvSpPr>
          <p:nvPr/>
        </p:nvSpPr>
        <p:spPr bwMode="auto">
          <a:xfrm>
            <a:off x="4199077" y="2814015"/>
            <a:ext cx="1813984" cy="361951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endParaRPr lang="zh-CN" altLang="en-US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7"/>
          <p:cNvSpPr>
            <a:spLocks noChangeArrowheads="1"/>
          </p:cNvSpPr>
          <p:nvPr/>
        </p:nvSpPr>
        <p:spPr bwMode="auto">
          <a:xfrm>
            <a:off x="6267061" y="2818248"/>
            <a:ext cx="1811867" cy="364067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endParaRPr lang="zh-CN" altLang="en-US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90"/>
          <p:cNvSpPr txBox="1">
            <a:spLocks noChangeArrowheads="1"/>
          </p:cNvSpPr>
          <p:nvPr/>
        </p:nvSpPr>
        <p:spPr bwMode="auto">
          <a:xfrm>
            <a:off x="3986641" y="3393981"/>
            <a:ext cx="1829347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链路层和以下</a:t>
            </a:r>
          </a:p>
        </p:txBody>
      </p:sp>
      <p:sp>
        <p:nvSpPr>
          <p:cNvPr id="13" name="Line 89"/>
          <p:cNvSpPr>
            <a:spLocks noChangeShapeType="1"/>
          </p:cNvSpPr>
          <p:nvPr/>
        </p:nvSpPr>
        <p:spPr bwMode="auto">
          <a:xfrm>
            <a:off x="4057261" y="2242515"/>
            <a:ext cx="4138083" cy="84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90"/>
          <p:cNvSpPr txBox="1">
            <a:spLocks noChangeArrowheads="1"/>
          </p:cNvSpPr>
          <p:nvPr/>
        </p:nvSpPr>
        <p:spPr bwMode="auto">
          <a:xfrm>
            <a:off x="4527162" y="1762032"/>
            <a:ext cx="1007007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33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2698654" y="3971832"/>
            <a:ext cx="1766830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IPv4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7778654" y="3971832"/>
            <a:ext cx="1766830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3" b="1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133" b="1"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en-US" sz="2133" b="1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2133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87"/>
          <p:cNvSpPr>
            <a:spLocks/>
          </p:cNvSpPr>
          <p:nvPr/>
        </p:nvSpPr>
        <p:spPr bwMode="auto">
          <a:xfrm>
            <a:off x="6402529" y="1960999"/>
            <a:ext cx="1426633" cy="2247900"/>
          </a:xfrm>
          <a:custGeom>
            <a:avLst/>
            <a:gdLst>
              <a:gd name="T0" fmla="*/ 4213 w 1070311"/>
              <a:gd name="T1" fmla="*/ 0 h 1685530"/>
              <a:gd name="T2" fmla="*/ 0 w 1070311"/>
              <a:gd name="T3" fmla="*/ 1685925 h 1685530"/>
              <a:gd name="T4" fmla="*/ 1069975 w 1070311"/>
              <a:gd name="T5" fmla="*/ 1681710 h 1685530"/>
              <a:gd name="T6" fmla="*/ 0 60000 65536"/>
              <a:gd name="T7" fmla="*/ 0 60000 65536"/>
              <a:gd name="T8" fmla="*/ 0 60000 65536"/>
              <a:gd name="T9" fmla="*/ 0 w 1070311"/>
              <a:gd name="T10" fmla="*/ 0 h 1685530"/>
              <a:gd name="T11" fmla="*/ 1070311 w 1070311"/>
              <a:gd name="T12" fmla="*/ 1685530 h 16855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70311" h="1685530">
                <a:moveTo>
                  <a:pt x="4214" y="0"/>
                </a:moveTo>
                <a:cubicBezTo>
                  <a:pt x="2809" y="561843"/>
                  <a:pt x="1405" y="1123687"/>
                  <a:pt x="0" y="1685530"/>
                </a:cubicBezTo>
                <a:lnTo>
                  <a:pt x="1070311" y="1681316"/>
                </a:lnTo>
              </a:path>
            </a:pathLst>
          </a:custGeom>
          <a:noFill/>
          <a:ln w="38100" cap="flat" cmpd="sng" algn="ctr">
            <a:solidFill>
              <a:srgbClr val="990099"/>
            </a:solidFill>
            <a:prstDash val="solid"/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88"/>
          <p:cNvSpPr>
            <a:spLocks/>
          </p:cNvSpPr>
          <p:nvPr/>
        </p:nvSpPr>
        <p:spPr bwMode="auto">
          <a:xfrm flipH="1">
            <a:off x="4359945" y="1954649"/>
            <a:ext cx="1426633" cy="2247900"/>
          </a:xfrm>
          <a:custGeom>
            <a:avLst/>
            <a:gdLst>
              <a:gd name="T0" fmla="*/ 4213 w 1070311"/>
              <a:gd name="T1" fmla="*/ 0 h 1685530"/>
              <a:gd name="T2" fmla="*/ 0 w 1070311"/>
              <a:gd name="T3" fmla="*/ 1685925 h 1685530"/>
              <a:gd name="T4" fmla="*/ 1069975 w 1070311"/>
              <a:gd name="T5" fmla="*/ 1681710 h 1685530"/>
              <a:gd name="T6" fmla="*/ 0 60000 65536"/>
              <a:gd name="T7" fmla="*/ 0 60000 65536"/>
              <a:gd name="T8" fmla="*/ 0 60000 65536"/>
              <a:gd name="T9" fmla="*/ 0 w 1070311"/>
              <a:gd name="T10" fmla="*/ 0 h 1685530"/>
              <a:gd name="T11" fmla="*/ 1070311 w 1070311"/>
              <a:gd name="T12" fmla="*/ 1685530 h 16855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70311" h="1685530">
                <a:moveTo>
                  <a:pt x="4214" y="0"/>
                </a:moveTo>
                <a:cubicBezTo>
                  <a:pt x="2809" y="561843"/>
                  <a:pt x="1405" y="1123687"/>
                  <a:pt x="0" y="1685530"/>
                </a:cubicBezTo>
                <a:lnTo>
                  <a:pt x="1070311" y="1681316"/>
                </a:lnTo>
              </a:path>
            </a:pathLst>
          </a:custGeom>
          <a:noFill/>
          <a:ln w="38100" cap="flat" cmpd="sng" algn="ctr">
            <a:solidFill>
              <a:srgbClr val="990099"/>
            </a:solidFill>
            <a:prstDash val="solid"/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74069" y="4662971"/>
            <a:ext cx="6528640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IPv6/IPv4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双协议栈主机（或路由器）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371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726860" y="830441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89291" y="786160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双协议栈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726860" y="1428440"/>
            <a:ext cx="10738280" cy="397791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259197" y="1703315"/>
            <a:ext cx="3819779" cy="1070277"/>
            <a:chOff x="912" y="768"/>
            <a:chExt cx="2400" cy="1584"/>
          </a:xfrm>
          <a:solidFill>
            <a:srgbClr val="3399FF"/>
          </a:solidFill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751" y="799"/>
              <a:ext cx="1026" cy="6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172" y="972"/>
              <a:ext cx="781" cy="62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926" y="1364"/>
              <a:ext cx="521" cy="50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1085" y="1599"/>
              <a:ext cx="796" cy="54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1664" y="1693"/>
              <a:ext cx="1200" cy="65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2445" y="988"/>
              <a:ext cx="751" cy="48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2560" y="1317"/>
              <a:ext cx="752" cy="48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2488" y="1427"/>
              <a:ext cx="752" cy="81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1360" y="1176"/>
              <a:ext cx="1547" cy="81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5" name="Group 13"/>
            <p:cNvGrpSpPr>
              <a:grpSpLocks/>
            </p:cNvGrpSpPr>
            <p:nvPr/>
          </p:nvGrpSpPr>
          <p:grpSpPr bwMode="auto">
            <a:xfrm>
              <a:off x="912" y="768"/>
              <a:ext cx="2386" cy="1553"/>
              <a:chOff x="912" y="768"/>
              <a:chExt cx="2386" cy="1553"/>
            </a:xfrm>
            <a:grpFill/>
          </p:grpSpPr>
          <p:sp>
            <p:nvSpPr>
              <p:cNvPr id="16" name="Oval 14"/>
              <p:cNvSpPr>
                <a:spLocks noChangeArrowheads="1"/>
              </p:cNvSpPr>
              <p:nvPr/>
            </p:nvSpPr>
            <p:spPr bwMode="auto">
              <a:xfrm>
                <a:off x="1736" y="768"/>
                <a:ext cx="1027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Oval 15"/>
              <p:cNvSpPr>
                <a:spLocks noChangeArrowheads="1"/>
              </p:cNvSpPr>
              <p:nvPr/>
            </p:nvSpPr>
            <p:spPr bwMode="auto">
              <a:xfrm>
                <a:off x="1158" y="941"/>
                <a:ext cx="781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Oval 16"/>
              <p:cNvSpPr>
                <a:spLocks noChangeArrowheads="1"/>
              </p:cNvSpPr>
              <p:nvPr/>
            </p:nvSpPr>
            <p:spPr bwMode="auto">
              <a:xfrm>
                <a:off x="912" y="1333"/>
                <a:ext cx="520" cy="50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Oval 17"/>
              <p:cNvSpPr>
                <a:spLocks noChangeArrowheads="1"/>
              </p:cNvSpPr>
              <p:nvPr/>
            </p:nvSpPr>
            <p:spPr bwMode="auto">
              <a:xfrm>
                <a:off x="1071" y="1568"/>
                <a:ext cx="795" cy="5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Oval 18"/>
              <p:cNvSpPr>
                <a:spLocks noChangeArrowheads="1"/>
              </p:cNvSpPr>
              <p:nvPr/>
            </p:nvSpPr>
            <p:spPr bwMode="auto">
              <a:xfrm>
                <a:off x="1649" y="1662"/>
                <a:ext cx="1200" cy="6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Oval 19"/>
              <p:cNvSpPr>
                <a:spLocks noChangeArrowheads="1"/>
              </p:cNvSpPr>
              <p:nvPr/>
            </p:nvSpPr>
            <p:spPr bwMode="auto">
              <a:xfrm>
                <a:off x="2430" y="956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Oval 20"/>
              <p:cNvSpPr>
                <a:spLocks noChangeArrowheads="1"/>
              </p:cNvSpPr>
              <p:nvPr/>
            </p:nvSpPr>
            <p:spPr bwMode="auto">
              <a:xfrm>
                <a:off x="2546" y="1286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Oval 21"/>
              <p:cNvSpPr>
                <a:spLocks noChangeArrowheads="1"/>
              </p:cNvSpPr>
              <p:nvPr/>
            </p:nvSpPr>
            <p:spPr bwMode="auto">
              <a:xfrm>
                <a:off x="2473" y="1395"/>
                <a:ext cx="752" cy="8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Oval 22"/>
              <p:cNvSpPr>
                <a:spLocks noChangeArrowheads="1"/>
              </p:cNvSpPr>
              <p:nvPr/>
            </p:nvSpPr>
            <p:spPr bwMode="auto">
              <a:xfrm>
                <a:off x="1346" y="1144"/>
                <a:ext cx="1547" cy="81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25" name="Freeform 23"/>
          <p:cNvSpPr>
            <a:spLocks/>
          </p:cNvSpPr>
          <p:nvPr/>
        </p:nvSpPr>
        <p:spPr bwMode="auto">
          <a:xfrm flipH="1">
            <a:off x="8116573" y="2908245"/>
            <a:ext cx="655679" cy="1049456"/>
          </a:xfrm>
          <a:custGeom>
            <a:avLst/>
            <a:gdLst>
              <a:gd name="T0" fmla="*/ 0 w 576"/>
              <a:gd name="T1" fmla="*/ 0 h 756"/>
              <a:gd name="T2" fmla="*/ 576 w 576"/>
              <a:gd name="T3" fmla="*/ 4 h 756"/>
              <a:gd name="T4" fmla="*/ 576 w 576"/>
              <a:gd name="T5" fmla="*/ 564 h 756"/>
              <a:gd name="T6" fmla="*/ 4 w 576"/>
              <a:gd name="T7" fmla="*/ 756 h 756"/>
              <a:gd name="T8" fmla="*/ 0 w 576"/>
              <a:gd name="T9" fmla="*/ 0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6" h="756">
                <a:moveTo>
                  <a:pt x="0" y="0"/>
                </a:moveTo>
                <a:lnTo>
                  <a:pt x="576" y="4"/>
                </a:lnTo>
                <a:lnTo>
                  <a:pt x="576" y="564"/>
                </a:lnTo>
                <a:lnTo>
                  <a:pt x="4" y="756"/>
                </a:ln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Freeform 24"/>
          <p:cNvSpPr>
            <a:spLocks/>
          </p:cNvSpPr>
          <p:nvPr/>
        </p:nvSpPr>
        <p:spPr bwMode="auto">
          <a:xfrm>
            <a:off x="3412532" y="2913797"/>
            <a:ext cx="866217" cy="1049456"/>
          </a:xfrm>
          <a:custGeom>
            <a:avLst/>
            <a:gdLst>
              <a:gd name="T0" fmla="*/ 0 w 576"/>
              <a:gd name="T1" fmla="*/ 0 h 756"/>
              <a:gd name="T2" fmla="*/ 576 w 576"/>
              <a:gd name="T3" fmla="*/ 4 h 756"/>
              <a:gd name="T4" fmla="*/ 576 w 576"/>
              <a:gd name="T5" fmla="*/ 564 h 756"/>
              <a:gd name="T6" fmla="*/ 4 w 576"/>
              <a:gd name="T7" fmla="*/ 756 h 756"/>
              <a:gd name="T8" fmla="*/ 0 w 576"/>
              <a:gd name="T9" fmla="*/ 0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6" h="756">
                <a:moveTo>
                  <a:pt x="0" y="0"/>
                </a:moveTo>
                <a:lnTo>
                  <a:pt x="576" y="4"/>
                </a:lnTo>
                <a:lnTo>
                  <a:pt x="576" y="564"/>
                </a:lnTo>
                <a:lnTo>
                  <a:pt x="4" y="756"/>
                </a:ln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2419989" y="2364083"/>
            <a:ext cx="765158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9" name="Picture 2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194" y="2145684"/>
            <a:ext cx="493263" cy="30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3479652" y="1569551"/>
            <a:ext cx="11801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双协议栈</a:t>
            </a:r>
          </a:p>
          <a:p>
            <a:pPr algn="ctr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IPv6/IPv4</a:t>
            </a:r>
          </a:p>
        </p:txBody>
      </p:sp>
      <p:pic>
        <p:nvPicPr>
          <p:cNvPr id="31" name="Picture 2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413" y="2145684"/>
            <a:ext cx="493263" cy="30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32" name="Picture 3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738" y="2145684"/>
            <a:ext cx="493263" cy="30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33" name="Picture 3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941" y="2145684"/>
            <a:ext cx="493263" cy="30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978857" y="1758451"/>
            <a:ext cx="6335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9646601" y="1758451"/>
            <a:ext cx="6335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5779590" y="1722442"/>
            <a:ext cx="11047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1726518" y="2087382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3773455" y="2077663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40" name="Text Box 38"/>
          <p:cNvSpPr txBox="1">
            <a:spLocks noChangeArrowheads="1"/>
          </p:cNvSpPr>
          <p:nvPr/>
        </p:nvSpPr>
        <p:spPr bwMode="auto">
          <a:xfrm>
            <a:off x="5005108" y="2067947"/>
            <a:ext cx="3225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6318892" y="2058230"/>
            <a:ext cx="3465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8233607" y="2060827"/>
            <a:ext cx="3016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9478787" y="2038795"/>
            <a:ext cx="29848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F</a:t>
            </a: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2186894" y="2906856"/>
            <a:ext cx="1227141" cy="1799067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2218475" y="2924904"/>
            <a:ext cx="1197064" cy="1030021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auto">
          <a:xfrm>
            <a:off x="8772251" y="2906856"/>
            <a:ext cx="1227141" cy="1799067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Rectangle 46"/>
          <p:cNvSpPr>
            <a:spLocks noChangeArrowheads="1"/>
          </p:cNvSpPr>
          <p:nvPr/>
        </p:nvSpPr>
        <p:spPr bwMode="auto">
          <a:xfrm>
            <a:off x="8790296" y="2924904"/>
            <a:ext cx="1209096" cy="1030021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2347806" y="2808760"/>
            <a:ext cx="86621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4368980" y="2808760"/>
            <a:ext cx="86621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7039817" y="2808760"/>
            <a:ext cx="86621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51"/>
          <p:cNvSpPr>
            <a:spLocks noChangeShapeType="1"/>
          </p:cNvSpPr>
          <p:nvPr/>
        </p:nvSpPr>
        <p:spPr bwMode="auto">
          <a:xfrm>
            <a:off x="8988806" y="2808760"/>
            <a:ext cx="86621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7812244" y="1569551"/>
            <a:ext cx="11801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双协议栈</a:t>
            </a:r>
          </a:p>
          <a:p>
            <a:pPr algn="ctr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IPv6/IPv4</a:t>
            </a:r>
          </a:p>
        </p:txBody>
      </p: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5982609" y="3144235"/>
            <a:ext cx="3818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56" name="Text Box 54"/>
          <p:cNvSpPr txBox="1">
            <a:spLocks noChangeArrowheads="1"/>
          </p:cNvSpPr>
          <p:nvPr/>
        </p:nvSpPr>
        <p:spPr bwMode="auto">
          <a:xfrm>
            <a:off x="2142739" y="4671527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4177109" y="2514049"/>
            <a:ext cx="4042348" cy="2581625"/>
            <a:chOff x="2822251" y="2637309"/>
            <a:chExt cx="4622801" cy="2590800"/>
          </a:xfrm>
        </p:grpSpPr>
        <p:sp>
          <p:nvSpPr>
            <p:cNvPr id="58" name="Line 55"/>
            <p:cNvSpPr>
              <a:spLocks noChangeShapeType="1"/>
            </p:cNvSpPr>
            <p:nvPr/>
          </p:nvSpPr>
          <p:spPr bwMode="auto">
            <a:xfrm>
              <a:off x="2822251" y="2637309"/>
              <a:ext cx="0" cy="2590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>
              <a:off x="7445052" y="2637309"/>
              <a:ext cx="0" cy="2590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0" name="Text Box 57"/>
          <p:cNvSpPr txBox="1">
            <a:spLocks noChangeArrowheads="1"/>
          </p:cNvSpPr>
          <p:nvPr/>
        </p:nvSpPr>
        <p:spPr bwMode="auto">
          <a:xfrm>
            <a:off x="8741631" y="4671527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IPv6 </a:t>
            </a:r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61" name="Line 58"/>
          <p:cNvSpPr>
            <a:spLocks noChangeShapeType="1"/>
          </p:cNvSpPr>
          <p:nvPr/>
        </p:nvSpPr>
        <p:spPr bwMode="auto">
          <a:xfrm>
            <a:off x="2203436" y="3963253"/>
            <a:ext cx="12271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Line 59"/>
          <p:cNvSpPr>
            <a:spLocks noChangeShapeType="1"/>
          </p:cNvSpPr>
          <p:nvPr/>
        </p:nvSpPr>
        <p:spPr bwMode="auto">
          <a:xfrm>
            <a:off x="8772251" y="3963253"/>
            <a:ext cx="12271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Rectangle 60"/>
          <p:cNvSpPr>
            <a:spLocks noChangeArrowheads="1"/>
          </p:cNvSpPr>
          <p:nvPr/>
        </p:nvSpPr>
        <p:spPr bwMode="auto">
          <a:xfrm>
            <a:off x="4280252" y="2906856"/>
            <a:ext cx="1227141" cy="152282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Rectangle 61"/>
          <p:cNvSpPr>
            <a:spLocks noChangeArrowheads="1"/>
          </p:cNvSpPr>
          <p:nvPr/>
        </p:nvSpPr>
        <p:spPr bwMode="auto">
          <a:xfrm>
            <a:off x="4292283" y="2915187"/>
            <a:ext cx="1209096" cy="774599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Line 63"/>
          <p:cNvSpPr>
            <a:spLocks noChangeShapeType="1"/>
          </p:cNvSpPr>
          <p:nvPr/>
        </p:nvSpPr>
        <p:spPr bwMode="auto">
          <a:xfrm>
            <a:off x="4296795" y="3696725"/>
            <a:ext cx="12271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Text Box 64"/>
          <p:cNvSpPr txBox="1">
            <a:spLocks noChangeArrowheads="1"/>
          </p:cNvSpPr>
          <p:nvPr/>
        </p:nvSpPr>
        <p:spPr bwMode="auto">
          <a:xfrm>
            <a:off x="4410817" y="3909114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</a:p>
        </p:txBody>
      </p:sp>
      <p:sp>
        <p:nvSpPr>
          <p:cNvPr id="68" name="Rectangle 65"/>
          <p:cNvSpPr>
            <a:spLocks noChangeArrowheads="1"/>
          </p:cNvSpPr>
          <p:nvPr/>
        </p:nvSpPr>
        <p:spPr bwMode="auto">
          <a:xfrm>
            <a:off x="6878904" y="2906856"/>
            <a:ext cx="1227141" cy="152282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Rectangle 66"/>
          <p:cNvSpPr>
            <a:spLocks noChangeArrowheads="1"/>
          </p:cNvSpPr>
          <p:nvPr/>
        </p:nvSpPr>
        <p:spPr bwMode="auto">
          <a:xfrm>
            <a:off x="6899957" y="2920739"/>
            <a:ext cx="1195560" cy="774599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>
            <a:off x="6895447" y="3696725"/>
            <a:ext cx="12271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Text Box 69"/>
          <p:cNvSpPr txBox="1">
            <a:spLocks noChangeArrowheads="1"/>
          </p:cNvSpPr>
          <p:nvPr/>
        </p:nvSpPr>
        <p:spPr bwMode="auto">
          <a:xfrm>
            <a:off x="7032914" y="3909114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</a:p>
        </p:txBody>
      </p:sp>
      <p:sp>
        <p:nvSpPr>
          <p:cNvPr id="73" name="Line 70"/>
          <p:cNvSpPr>
            <a:spLocks noChangeShapeType="1"/>
          </p:cNvSpPr>
          <p:nvPr/>
        </p:nvSpPr>
        <p:spPr bwMode="auto">
          <a:xfrm>
            <a:off x="4177109" y="4932355"/>
            <a:ext cx="404234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 Box 71"/>
          <p:cNvSpPr txBox="1">
            <a:spLocks noChangeArrowheads="1"/>
          </p:cNvSpPr>
          <p:nvPr/>
        </p:nvSpPr>
        <p:spPr bwMode="auto">
          <a:xfrm>
            <a:off x="5686974" y="4772715"/>
            <a:ext cx="1104790" cy="33855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</a:p>
        </p:txBody>
      </p:sp>
      <p:sp>
        <p:nvSpPr>
          <p:cNvPr id="75" name="矩形 74"/>
          <p:cNvSpPr/>
          <p:nvPr/>
        </p:nvSpPr>
        <p:spPr>
          <a:xfrm>
            <a:off x="3295851" y="5406592"/>
            <a:ext cx="5947519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133" b="1" dirty="0">
                <a:latin typeface="微软雅黑" pitchFamily="34" charset="-122"/>
                <a:ea typeface="微软雅黑" pitchFamily="34" charset="-122"/>
              </a:rPr>
              <a:t>使用双协议栈进行从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IPv4 </a:t>
            </a:r>
            <a:r>
              <a:rPr lang="zh-CN" altLang="zh-CN" sz="2133" b="1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IPv6 </a:t>
            </a:r>
            <a:r>
              <a:rPr lang="zh-CN" altLang="zh-CN" sz="2133" b="1" dirty="0">
                <a:latin typeface="微软雅黑" pitchFamily="34" charset="-122"/>
                <a:ea typeface="微软雅黑" pitchFamily="34" charset="-122"/>
              </a:rPr>
              <a:t>的过渡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 Box 64"/>
          <p:cNvSpPr txBox="1">
            <a:spLocks noChangeArrowheads="1"/>
          </p:cNvSpPr>
          <p:nvPr/>
        </p:nvSpPr>
        <p:spPr bwMode="auto">
          <a:xfrm>
            <a:off x="4224084" y="4437906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77" name="Text Box 65"/>
          <p:cNvSpPr txBox="1">
            <a:spLocks noChangeArrowheads="1"/>
          </p:cNvSpPr>
          <p:nvPr/>
        </p:nvSpPr>
        <p:spPr bwMode="auto">
          <a:xfrm>
            <a:off x="6813715" y="4437906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79" name="Text Box 44"/>
          <p:cNvSpPr txBox="1">
            <a:spLocks noChangeArrowheads="1"/>
          </p:cNvSpPr>
          <p:nvPr/>
        </p:nvSpPr>
        <p:spPr bwMode="auto">
          <a:xfrm>
            <a:off x="2116557" y="2906857"/>
            <a:ext cx="14200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流标号：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X</a:t>
            </a:r>
          </a:p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F</a:t>
            </a:r>
          </a:p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endParaRPr kumimoji="1"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</a:p>
        </p:txBody>
      </p:sp>
      <p:sp>
        <p:nvSpPr>
          <p:cNvPr id="80" name="Text Box 47"/>
          <p:cNvSpPr txBox="1">
            <a:spLocks noChangeArrowheads="1"/>
          </p:cNvSpPr>
          <p:nvPr/>
        </p:nvSpPr>
        <p:spPr bwMode="auto">
          <a:xfrm>
            <a:off x="8701915" y="2906857"/>
            <a:ext cx="142838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流标号：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zh-CN" altLang="en-US" sz="16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F</a:t>
            </a:r>
          </a:p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endParaRPr kumimoji="1"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</a:p>
        </p:txBody>
      </p:sp>
      <p:sp>
        <p:nvSpPr>
          <p:cNvPr id="81" name="Text Box 62"/>
          <p:cNvSpPr txBox="1">
            <a:spLocks noChangeArrowheads="1"/>
          </p:cNvSpPr>
          <p:nvPr/>
        </p:nvSpPr>
        <p:spPr bwMode="auto">
          <a:xfrm>
            <a:off x="4209917" y="2906857"/>
            <a:ext cx="14067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E</a:t>
            </a:r>
          </a:p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……</a:t>
            </a:r>
          </a:p>
        </p:txBody>
      </p:sp>
      <p:sp>
        <p:nvSpPr>
          <p:cNvPr id="82" name="Text Box 67"/>
          <p:cNvSpPr txBox="1">
            <a:spLocks noChangeArrowheads="1"/>
          </p:cNvSpPr>
          <p:nvPr/>
        </p:nvSpPr>
        <p:spPr bwMode="auto">
          <a:xfrm>
            <a:off x="6808569" y="2906857"/>
            <a:ext cx="139905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E</a:t>
            </a:r>
          </a:p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……</a:t>
            </a:r>
          </a:p>
        </p:txBody>
      </p:sp>
      <p:pic>
        <p:nvPicPr>
          <p:cNvPr id="83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7" y="2123977"/>
            <a:ext cx="470508" cy="47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1803" y="2123977"/>
            <a:ext cx="470508" cy="47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59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726860" y="1453069"/>
            <a:ext cx="10738280" cy="432605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216434" y="5293126"/>
            <a:ext cx="5947519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使用隧道技术进行从 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的过渡</a:t>
            </a:r>
          </a:p>
        </p:txBody>
      </p:sp>
      <p:grpSp>
        <p:nvGrpSpPr>
          <p:cNvPr id="78" name="Group 23"/>
          <p:cNvGrpSpPr>
            <a:grpSpLocks/>
          </p:cNvGrpSpPr>
          <p:nvPr/>
        </p:nvGrpSpPr>
        <p:grpSpPr bwMode="auto">
          <a:xfrm>
            <a:off x="3889710" y="1687089"/>
            <a:ext cx="4409377" cy="992172"/>
            <a:chOff x="904" y="768"/>
            <a:chExt cx="2569" cy="1584"/>
          </a:xfrm>
          <a:solidFill>
            <a:srgbClr val="3399FF"/>
          </a:solidFill>
          <a:effectLst/>
        </p:grpSpPr>
        <p:sp>
          <p:nvSpPr>
            <p:cNvPr id="79" name="Oval 24"/>
            <p:cNvSpPr>
              <a:spLocks noChangeArrowheads="1"/>
            </p:cNvSpPr>
            <p:nvPr/>
          </p:nvSpPr>
          <p:spPr bwMode="auto">
            <a:xfrm>
              <a:off x="1751" y="799"/>
              <a:ext cx="1026" cy="62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Oval 25"/>
            <p:cNvSpPr>
              <a:spLocks noChangeArrowheads="1"/>
            </p:cNvSpPr>
            <p:nvPr/>
          </p:nvSpPr>
          <p:spPr bwMode="auto">
            <a:xfrm>
              <a:off x="1172" y="972"/>
              <a:ext cx="781" cy="6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Oval 26"/>
            <p:cNvSpPr>
              <a:spLocks noChangeArrowheads="1"/>
            </p:cNvSpPr>
            <p:nvPr/>
          </p:nvSpPr>
          <p:spPr bwMode="auto">
            <a:xfrm>
              <a:off x="926" y="1364"/>
              <a:ext cx="521" cy="50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Oval 27"/>
            <p:cNvSpPr>
              <a:spLocks noChangeArrowheads="1"/>
            </p:cNvSpPr>
            <p:nvPr/>
          </p:nvSpPr>
          <p:spPr bwMode="auto">
            <a:xfrm>
              <a:off x="1085" y="1599"/>
              <a:ext cx="796" cy="54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Oval 28"/>
            <p:cNvSpPr>
              <a:spLocks noChangeArrowheads="1"/>
            </p:cNvSpPr>
            <p:nvPr/>
          </p:nvSpPr>
          <p:spPr bwMode="auto">
            <a:xfrm>
              <a:off x="1664" y="1693"/>
              <a:ext cx="1200" cy="65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Oval 29"/>
            <p:cNvSpPr>
              <a:spLocks noChangeArrowheads="1"/>
            </p:cNvSpPr>
            <p:nvPr/>
          </p:nvSpPr>
          <p:spPr bwMode="auto">
            <a:xfrm>
              <a:off x="2445" y="988"/>
              <a:ext cx="751" cy="4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Oval 30"/>
            <p:cNvSpPr>
              <a:spLocks noChangeArrowheads="1"/>
            </p:cNvSpPr>
            <p:nvPr/>
          </p:nvSpPr>
          <p:spPr bwMode="auto">
            <a:xfrm>
              <a:off x="2560" y="1317"/>
              <a:ext cx="752" cy="4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6" name="Oval 31"/>
            <p:cNvSpPr>
              <a:spLocks noChangeArrowheads="1"/>
            </p:cNvSpPr>
            <p:nvPr/>
          </p:nvSpPr>
          <p:spPr bwMode="auto">
            <a:xfrm>
              <a:off x="2488" y="1427"/>
              <a:ext cx="752" cy="81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Oval 32"/>
            <p:cNvSpPr>
              <a:spLocks noChangeArrowheads="1"/>
            </p:cNvSpPr>
            <p:nvPr/>
          </p:nvSpPr>
          <p:spPr bwMode="auto">
            <a:xfrm>
              <a:off x="1360" y="1176"/>
              <a:ext cx="1547" cy="81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8" name="Group 33"/>
            <p:cNvGrpSpPr>
              <a:grpSpLocks/>
            </p:cNvGrpSpPr>
            <p:nvPr/>
          </p:nvGrpSpPr>
          <p:grpSpPr bwMode="auto">
            <a:xfrm>
              <a:off x="904" y="768"/>
              <a:ext cx="2569" cy="1553"/>
              <a:chOff x="904" y="768"/>
              <a:chExt cx="2569" cy="1553"/>
            </a:xfrm>
            <a:grpFill/>
          </p:grpSpPr>
          <p:sp>
            <p:nvSpPr>
              <p:cNvPr id="89" name="Oval 34"/>
              <p:cNvSpPr>
                <a:spLocks noChangeArrowheads="1"/>
              </p:cNvSpPr>
              <p:nvPr/>
            </p:nvSpPr>
            <p:spPr bwMode="auto">
              <a:xfrm>
                <a:off x="1736" y="768"/>
                <a:ext cx="1027" cy="62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0" name="Oval 35"/>
              <p:cNvSpPr>
                <a:spLocks noChangeArrowheads="1"/>
              </p:cNvSpPr>
              <p:nvPr/>
            </p:nvSpPr>
            <p:spPr bwMode="auto">
              <a:xfrm>
                <a:off x="1158" y="941"/>
                <a:ext cx="781" cy="62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1" name="Oval 36"/>
              <p:cNvSpPr>
                <a:spLocks noChangeArrowheads="1"/>
              </p:cNvSpPr>
              <p:nvPr/>
            </p:nvSpPr>
            <p:spPr bwMode="auto">
              <a:xfrm>
                <a:off x="912" y="1333"/>
                <a:ext cx="520" cy="5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Oval 38"/>
              <p:cNvSpPr>
                <a:spLocks noChangeArrowheads="1"/>
              </p:cNvSpPr>
              <p:nvPr/>
            </p:nvSpPr>
            <p:spPr bwMode="auto">
              <a:xfrm>
                <a:off x="1649" y="1662"/>
                <a:ext cx="1200" cy="6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Oval 39"/>
              <p:cNvSpPr>
                <a:spLocks noChangeArrowheads="1"/>
              </p:cNvSpPr>
              <p:nvPr/>
            </p:nvSpPr>
            <p:spPr bwMode="auto">
              <a:xfrm>
                <a:off x="2430" y="956"/>
                <a:ext cx="752" cy="4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" name="Oval 40"/>
              <p:cNvSpPr>
                <a:spLocks noChangeArrowheads="1"/>
              </p:cNvSpPr>
              <p:nvPr/>
            </p:nvSpPr>
            <p:spPr bwMode="auto">
              <a:xfrm>
                <a:off x="2546" y="1286"/>
                <a:ext cx="752" cy="4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5" name="Oval 41"/>
              <p:cNvSpPr>
                <a:spLocks noChangeArrowheads="1"/>
              </p:cNvSpPr>
              <p:nvPr/>
            </p:nvSpPr>
            <p:spPr bwMode="auto">
              <a:xfrm>
                <a:off x="2473" y="1395"/>
                <a:ext cx="752" cy="8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6" name="Oval 42"/>
              <p:cNvSpPr>
                <a:spLocks noChangeArrowheads="1"/>
              </p:cNvSpPr>
              <p:nvPr/>
            </p:nvSpPr>
            <p:spPr bwMode="auto">
              <a:xfrm>
                <a:off x="1346" y="1144"/>
                <a:ext cx="1547" cy="8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 sz="16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7" name="Oval 37"/>
              <p:cNvSpPr>
                <a:spLocks noChangeArrowheads="1"/>
              </p:cNvSpPr>
              <p:nvPr/>
            </p:nvSpPr>
            <p:spPr bwMode="auto">
              <a:xfrm>
                <a:off x="904" y="1175"/>
                <a:ext cx="922" cy="6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IPv6 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隧道</a:t>
                </a:r>
              </a:p>
            </p:txBody>
          </p:sp>
          <p:sp>
            <p:nvSpPr>
              <p:cNvPr id="98" name="Oval 37"/>
              <p:cNvSpPr>
                <a:spLocks noChangeArrowheads="1"/>
              </p:cNvSpPr>
              <p:nvPr/>
            </p:nvSpPr>
            <p:spPr bwMode="auto">
              <a:xfrm>
                <a:off x="1776" y="1175"/>
                <a:ext cx="984" cy="7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IPv6 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隧道</a:t>
                </a:r>
              </a:p>
            </p:txBody>
          </p:sp>
          <p:sp>
            <p:nvSpPr>
              <p:cNvPr id="99" name="Oval 37"/>
              <p:cNvSpPr>
                <a:spLocks noChangeArrowheads="1"/>
              </p:cNvSpPr>
              <p:nvPr/>
            </p:nvSpPr>
            <p:spPr bwMode="auto">
              <a:xfrm>
                <a:off x="2533" y="1175"/>
                <a:ext cx="940" cy="72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IPv6 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隧道</a:t>
                </a:r>
              </a:p>
            </p:txBody>
          </p:sp>
        </p:grpSp>
      </p:grpSp>
      <p:sp>
        <p:nvSpPr>
          <p:cNvPr id="100" name="Line 44"/>
          <p:cNvSpPr>
            <a:spLocks noChangeShapeType="1"/>
          </p:cNvSpPr>
          <p:nvPr/>
        </p:nvSpPr>
        <p:spPr bwMode="auto">
          <a:xfrm>
            <a:off x="2432756" y="2335475"/>
            <a:ext cx="753074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 Box 51"/>
          <p:cNvSpPr txBox="1">
            <a:spLocks noChangeArrowheads="1"/>
          </p:cNvSpPr>
          <p:nvPr/>
        </p:nvSpPr>
        <p:spPr bwMode="auto">
          <a:xfrm>
            <a:off x="2090058" y="1752090"/>
            <a:ext cx="6335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</a:t>
            </a:r>
          </a:p>
        </p:txBody>
      </p:sp>
      <p:sp>
        <p:nvSpPr>
          <p:cNvPr id="104" name="Text Box 52"/>
          <p:cNvSpPr txBox="1">
            <a:spLocks noChangeArrowheads="1"/>
          </p:cNvSpPr>
          <p:nvPr/>
        </p:nvSpPr>
        <p:spPr bwMode="auto">
          <a:xfrm>
            <a:off x="9499205" y="1752090"/>
            <a:ext cx="6335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</a:t>
            </a:r>
          </a:p>
        </p:txBody>
      </p:sp>
      <p:sp>
        <p:nvSpPr>
          <p:cNvPr id="105" name="Text Box 53"/>
          <p:cNvSpPr txBox="1">
            <a:spLocks noChangeArrowheads="1"/>
          </p:cNvSpPr>
          <p:nvPr/>
        </p:nvSpPr>
        <p:spPr bwMode="auto">
          <a:xfrm>
            <a:off x="1892255" y="2064895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6" name="Text Box 58"/>
          <p:cNvSpPr txBox="1">
            <a:spLocks noChangeArrowheads="1"/>
          </p:cNvSpPr>
          <p:nvPr/>
        </p:nvSpPr>
        <p:spPr bwMode="auto">
          <a:xfrm>
            <a:off x="9318102" y="2017075"/>
            <a:ext cx="29848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F</a:t>
            </a:r>
          </a:p>
        </p:txBody>
      </p:sp>
      <p:sp>
        <p:nvSpPr>
          <p:cNvPr id="107" name="Line 59"/>
          <p:cNvSpPr>
            <a:spLocks noChangeShapeType="1"/>
          </p:cNvSpPr>
          <p:nvPr/>
        </p:nvSpPr>
        <p:spPr bwMode="auto">
          <a:xfrm>
            <a:off x="2361713" y="2783551"/>
            <a:ext cx="85253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Line 60"/>
          <p:cNvSpPr>
            <a:spLocks noChangeShapeType="1"/>
          </p:cNvSpPr>
          <p:nvPr/>
        </p:nvSpPr>
        <p:spPr bwMode="auto">
          <a:xfrm>
            <a:off x="4350966" y="2783551"/>
            <a:ext cx="85253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Line 61"/>
          <p:cNvSpPr>
            <a:spLocks noChangeShapeType="1"/>
          </p:cNvSpPr>
          <p:nvPr/>
        </p:nvSpPr>
        <p:spPr bwMode="auto">
          <a:xfrm>
            <a:off x="6979624" y="2783551"/>
            <a:ext cx="85253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0" name="Line 62"/>
          <p:cNvSpPr>
            <a:spLocks noChangeShapeType="1"/>
          </p:cNvSpPr>
          <p:nvPr/>
        </p:nvSpPr>
        <p:spPr bwMode="auto">
          <a:xfrm>
            <a:off x="8897833" y="2783551"/>
            <a:ext cx="852537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Text Box 63"/>
          <p:cNvSpPr txBox="1">
            <a:spLocks noChangeArrowheads="1"/>
          </p:cNvSpPr>
          <p:nvPr/>
        </p:nvSpPr>
        <p:spPr bwMode="auto">
          <a:xfrm>
            <a:off x="5979075" y="3308188"/>
            <a:ext cx="3818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112" name="Text Box 64"/>
          <p:cNvSpPr txBox="1">
            <a:spLocks noChangeArrowheads="1"/>
          </p:cNvSpPr>
          <p:nvPr/>
        </p:nvSpPr>
        <p:spPr bwMode="auto">
          <a:xfrm>
            <a:off x="4211127" y="4269867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13" name="Text Box 65"/>
          <p:cNvSpPr txBox="1">
            <a:spLocks noChangeArrowheads="1"/>
          </p:cNvSpPr>
          <p:nvPr/>
        </p:nvSpPr>
        <p:spPr bwMode="auto">
          <a:xfrm>
            <a:off x="6701245" y="4269867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14" name="Rectangle 80"/>
          <p:cNvSpPr>
            <a:spLocks noChangeArrowheads="1"/>
          </p:cNvSpPr>
          <p:nvPr/>
        </p:nvSpPr>
        <p:spPr bwMode="auto">
          <a:xfrm>
            <a:off x="4263641" y="2914711"/>
            <a:ext cx="1207761" cy="1392204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5" name="Text Box 81"/>
          <p:cNvSpPr txBox="1">
            <a:spLocks noChangeArrowheads="1"/>
          </p:cNvSpPr>
          <p:nvPr/>
        </p:nvSpPr>
        <p:spPr bwMode="auto">
          <a:xfrm>
            <a:off x="4263639" y="2914711"/>
            <a:ext cx="1295085" cy="99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1467" b="1" dirty="0"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467" b="1" dirty="0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r>
              <a:rPr kumimoji="1" lang="zh-CN" altLang="en-US" sz="1467" b="1" dirty="0"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467" b="1" dirty="0">
                <a:latin typeface="微软雅黑" pitchFamily="34" charset="-122"/>
                <a:ea typeface="微软雅黑" pitchFamily="34" charset="-122"/>
              </a:rPr>
              <a:t>E</a:t>
            </a:r>
          </a:p>
          <a:p>
            <a:endParaRPr kumimoji="1" lang="en-US" altLang="zh-CN" sz="1467" b="1" dirty="0">
              <a:latin typeface="微软雅黑" pitchFamily="34" charset="-122"/>
              <a:ea typeface="微软雅黑" pitchFamily="34" charset="-122"/>
            </a:endParaRPr>
          </a:p>
          <a:p>
            <a:endParaRPr kumimoji="1" lang="en-US" altLang="zh-CN" sz="14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Rectangle 82"/>
          <p:cNvSpPr>
            <a:spLocks noChangeArrowheads="1"/>
          </p:cNvSpPr>
          <p:nvPr/>
        </p:nvSpPr>
        <p:spPr bwMode="auto">
          <a:xfrm>
            <a:off x="4365765" y="3497521"/>
            <a:ext cx="994627" cy="70088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Text Box 83"/>
          <p:cNvSpPr txBox="1">
            <a:spLocks noChangeArrowheads="1"/>
          </p:cNvSpPr>
          <p:nvPr/>
        </p:nvSpPr>
        <p:spPr bwMode="auto">
          <a:xfrm>
            <a:off x="4449649" y="3504403"/>
            <a:ext cx="8002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</a:t>
            </a:r>
          </a:p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19" name="Text Box 88"/>
          <p:cNvSpPr txBox="1">
            <a:spLocks noChangeArrowheads="1"/>
          </p:cNvSpPr>
          <p:nvPr/>
        </p:nvSpPr>
        <p:spPr bwMode="auto">
          <a:xfrm>
            <a:off x="7792506" y="1504358"/>
            <a:ext cx="11801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双协议栈</a:t>
            </a:r>
          </a:p>
          <a:p>
            <a:pPr algn="ctr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IPv6/IPv4</a:t>
            </a:r>
          </a:p>
        </p:txBody>
      </p:sp>
      <p:sp>
        <p:nvSpPr>
          <p:cNvPr id="120" name="Rectangle 90"/>
          <p:cNvSpPr>
            <a:spLocks noChangeArrowheads="1"/>
          </p:cNvSpPr>
          <p:nvPr/>
        </p:nvSpPr>
        <p:spPr bwMode="auto">
          <a:xfrm>
            <a:off x="2203342" y="2914711"/>
            <a:ext cx="1207761" cy="1392204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Text Box 91"/>
          <p:cNvSpPr txBox="1">
            <a:spLocks noChangeArrowheads="1"/>
          </p:cNvSpPr>
          <p:nvPr/>
        </p:nvSpPr>
        <p:spPr bwMode="auto">
          <a:xfrm>
            <a:off x="2203341" y="2949879"/>
            <a:ext cx="1473852" cy="133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流标号：</a:t>
            </a: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</a:t>
            </a:r>
          </a:p>
          <a:p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</a:t>
            </a:r>
          </a:p>
          <a:p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pPr>
              <a:spcBef>
                <a:spcPts val="933"/>
              </a:spcBef>
            </a:pP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</a:p>
        </p:txBody>
      </p:sp>
      <p:sp>
        <p:nvSpPr>
          <p:cNvPr id="122" name="Text Box 92"/>
          <p:cNvSpPr txBox="1">
            <a:spLocks noChangeArrowheads="1"/>
          </p:cNvSpPr>
          <p:nvPr/>
        </p:nvSpPr>
        <p:spPr bwMode="auto">
          <a:xfrm>
            <a:off x="2113055" y="4294084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23" name="Line 93"/>
          <p:cNvSpPr>
            <a:spLocks noChangeShapeType="1"/>
          </p:cNvSpPr>
          <p:nvPr/>
        </p:nvSpPr>
        <p:spPr bwMode="auto">
          <a:xfrm>
            <a:off x="2219623" y="3966389"/>
            <a:ext cx="11677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Line 94"/>
          <p:cNvSpPr>
            <a:spLocks noChangeShapeType="1"/>
          </p:cNvSpPr>
          <p:nvPr/>
        </p:nvSpPr>
        <p:spPr bwMode="auto">
          <a:xfrm>
            <a:off x="3427386" y="2948867"/>
            <a:ext cx="923581" cy="5439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Line 95"/>
          <p:cNvSpPr>
            <a:spLocks noChangeShapeType="1"/>
          </p:cNvSpPr>
          <p:nvPr/>
        </p:nvSpPr>
        <p:spPr bwMode="auto">
          <a:xfrm flipV="1">
            <a:off x="3427384" y="4198404"/>
            <a:ext cx="938381" cy="13856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Rectangle 96"/>
          <p:cNvSpPr>
            <a:spLocks noChangeArrowheads="1"/>
          </p:cNvSpPr>
          <p:nvPr/>
        </p:nvSpPr>
        <p:spPr bwMode="auto">
          <a:xfrm>
            <a:off x="8684698" y="2914711"/>
            <a:ext cx="1207761" cy="1392204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Text Box 97"/>
          <p:cNvSpPr txBox="1">
            <a:spLocks noChangeArrowheads="1"/>
          </p:cNvSpPr>
          <p:nvPr/>
        </p:nvSpPr>
        <p:spPr bwMode="auto">
          <a:xfrm>
            <a:off x="8684698" y="2949879"/>
            <a:ext cx="1326169" cy="133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流标号：</a:t>
            </a: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</a:t>
            </a:r>
          </a:p>
          <a:p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</a:t>
            </a:r>
          </a:p>
          <a:p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pPr>
              <a:spcBef>
                <a:spcPts val="933"/>
              </a:spcBef>
            </a:pPr>
            <a:r>
              <a:rPr kumimoji="1" lang="en-US" altLang="zh-CN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zh-CN" altLang="en-US" sz="14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数据部分</a:t>
            </a:r>
          </a:p>
        </p:txBody>
      </p:sp>
      <p:sp>
        <p:nvSpPr>
          <p:cNvPr id="128" name="Text Box 98"/>
          <p:cNvSpPr txBox="1">
            <a:spLocks noChangeArrowheads="1"/>
          </p:cNvSpPr>
          <p:nvPr/>
        </p:nvSpPr>
        <p:spPr bwMode="auto">
          <a:xfrm>
            <a:off x="8617857" y="4288142"/>
            <a:ext cx="13099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29" name="Line 99"/>
          <p:cNvSpPr>
            <a:spLocks noChangeShapeType="1"/>
          </p:cNvSpPr>
          <p:nvPr/>
        </p:nvSpPr>
        <p:spPr bwMode="auto">
          <a:xfrm>
            <a:off x="8700979" y="3966389"/>
            <a:ext cx="11677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0" name="Rectangle 100"/>
          <p:cNvSpPr>
            <a:spLocks noChangeArrowheads="1"/>
          </p:cNvSpPr>
          <p:nvPr/>
        </p:nvSpPr>
        <p:spPr bwMode="auto">
          <a:xfrm>
            <a:off x="6750208" y="2914711"/>
            <a:ext cx="1207761" cy="1392204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1" name="Text Box 101"/>
          <p:cNvSpPr txBox="1">
            <a:spLocks noChangeArrowheads="1"/>
          </p:cNvSpPr>
          <p:nvPr/>
        </p:nvSpPr>
        <p:spPr bwMode="auto">
          <a:xfrm>
            <a:off x="6750207" y="2914711"/>
            <a:ext cx="1295085" cy="99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1467" b="1">
                <a:latin typeface="微软雅黑" pitchFamily="34" charset="-122"/>
                <a:ea typeface="微软雅黑" pitchFamily="34" charset="-122"/>
              </a:rPr>
              <a:t>源地址：</a:t>
            </a:r>
            <a:r>
              <a:rPr kumimoji="1" lang="en-US" altLang="zh-CN" sz="1467" b="1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r>
              <a:rPr kumimoji="1" lang="zh-CN" altLang="en-US" sz="1467" b="1">
                <a:latin typeface="微软雅黑" pitchFamily="34" charset="-122"/>
                <a:ea typeface="微软雅黑" pitchFamily="34" charset="-122"/>
              </a:rPr>
              <a:t>目的地址：</a:t>
            </a:r>
            <a:r>
              <a:rPr kumimoji="1" lang="en-US" altLang="zh-CN" sz="1467" b="1">
                <a:latin typeface="微软雅黑" pitchFamily="34" charset="-122"/>
                <a:ea typeface="微软雅黑" pitchFamily="34" charset="-122"/>
              </a:rPr>
              <a:t>E</a:t>
            </a:r>
          </a:p>
          <a:p>
            <a:endParaRPr kumimoji="1" lang="en-US" altLang="zh-CN" sz="1467" b="1">
              <a:latin typeface="微软雅黑" pitchFamily="34" charset="-122"/>
              <a:ea typeface="微软雅黑" pitchFamily="34" charset="-122"/>
            </a:endParaRPr>
          </a:p>
          <a:p>
            <a:endParaRPr kumimoji="1" lang="en-US" altLang="zh-CN" sz="1467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Rectangle 102"/>
          <p:cNvSpPr>
            <a:spLocks noChangeArrowheads="1"/>
          </p:cNvSpPr>
          <p:nvPr/>
        </p:nvSpPr>
        <p:spPr bwMode="auto">
          <a:xfrm>
            <a:off x="6852333" y="3497521"/>
            <a:ext cx="994627" cy="70088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Text Box 103"/>
          <p:cNvSpPr txBox="1">
            <a:spLocks noChangeArrowheads="1"/>
          </p:cNvSpPr>
          <p:nvPr/>
        </p:nvSpPr>
        <p:spPr bwMode="auto">
          <a:xfrm>
            <a:off x="6936219" y="3504403"/>
            <a:ext cx="8002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IPv6</a:t>
            </a:r>
          </a:p>
          <a:p>
            <a:pPr algn="ctr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34" name="Line 104"/>
          <p:cNvSpPr>
            <a:spLocks noChangeShapeType="1"/>
          </p:cNvSpPr>
          <p:nvPr/>
        </p:nvSpPr>
        <p:spPr bwMode="auto">
          <a:xfrm flipV="1">
            <a:off x="7846960" y="2927006"/>
            <a:ext cx="858459" cy="56584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Line 105"/>
          <p:cNvSpPr>
            <a:spLocks noChangeShapeType="1"/>
          </p:cNvSpPr>
          <p:nvPr/>
        </p:nvSpPr>
        <p:spPr bwMode="auto">
          <a:xfrm>
            <a:off x="7846960" y="4198405"/>
            <a:ext cx="821456" cy="131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>
            <a:off x="3927472" y="2326935"/>
            <a:ext cx="4322817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" name="Text Box 43"/>
          <p:cNvSpPr txBox="1">
            <a:spLocks noChangeArrowheads="1"/>
          </p:cNvSpPr>
          <p:nvPr/>
        </p:nvSpPr>
        <p:spPr bwMode="auto">
          <a:xfrm>
            <a:off x="5661751" y="1671264"/>
            <a:ext cx="11047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</a:p>
        </p:txBody>
      </p:sp>
      <p:pic>
        <p:nvPicPr>
          <p:cNvPr id="139" name="Picture 4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194" y="2138735"/>
            <a:ext cx="485473" cy="3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40" name="Picture 47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9" y="2138735"/>
            <a:ext cx="485473" cy="3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41" name="Picture 4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96" y="2138735"/>
            <a:ext cx="485473" cy="3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42" name="Picture 4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65" y="2138735"/>
            <a:ext cx="485473" cy="3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3" name="Text Box 54"/>
          <p:cNvSpPr txBox="1">
            <a:spLocks noChangeArrowheads="1"/>
          </p:cNvSpPr>
          <p:nvPr/>
        </p:nvSpPr>
        <p:spPr bwMode="auto">
          <a:xfrm>
            <a:off x="3375121" y="2027668"/>
            <a:ext cx="3257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4" name="Text Box 55"/>
          <p:cNvSpPr txBox="1">
            <a:spLocks noChangeArrowheads="1"/>
          </p:cNvSpPr>
          <p:nvPr/>
        </p:nvSpPr>
        <p:spPr bwMode="auto">
          <a:xfrm>
            <a:off x="5327133" y="1835376"/>
            <a:ext cx="3225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45" name="Text Box 56"/>
          <p:cNvSpPr txBox="1">
            <a:spLocks noChangeArrowheads="1"/>
          </p:cNvSpPr>
          <p:nvPr/>
        </p:nvSpPr>
        <p:spPr bwMode="auto">
          <a:xfrm>
            <a:off x="6604538" y="1835376"/>
            <a:ext cx="3465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46" name="Text Box 57"/>
          <p:cNvSpPr txBox="1">
            <a:spLocks noChangeArrowheads="1"/>
          </p:cNvSpPr>
          <p:nvPr/>
        </p:nvSpPr>
        <p:spPr bwMode="auto">
          <a:xfrm>
            <a:off x="8477185" y="2013466"/>
            <a:ext cx="3016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147" name="Text Box 87"/>
          <p:cNvSpPr txBox="1">
            <a:spLocks noChangeArrowheads="1"/>
          </p:cNvSpPr>
          <p:nvPr/>
        </p:nvSpPr>
        <p:spPr bwMode="auto">
          <a:xfrm>
            <a:off x="3280448" y="1502859"/>
            <a:ext cx="11801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双协议栈</a:t>
            </a:r>
          </a:p>
          <a:p>
            <a:pPr algn="ctr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IPv6/IPv4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3870513" y="2512853"/>
            <a:ext cx="4512056" cy="2726769"/>
            <a:chOff x="2922487" y="2420888"/>
            <a:chExt cx="4622801" cy="2590800"/>
          </a:xfrm>
        </p:grpSpPr>
        <p:sp>
          <p:nvSpPr>
            <p:cNvPr id="149" name="Line 55"/>
            <p:cNvSpPr>
              <a:spLocks noChangeShapeType="1"/>
            </p:cNvSpPr>
            <p:nvPr/>
          </p:nvSpPr>
          <p:spPr bwMode="auto">
            <a:xfrm>
              <a:off x="2922487" y="2420888"/>
              <a:ext cx="0" cy="2590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0" name="Line 56"/>
            <p:cNvSpPr>
              <a:spLocks noChangeShapeType="1"/>
            </p:cNvSpPr>
            <p:nvPr/>
          </p:nvSpPr>
          <p:spPr bwMode="auto">
            <a:xfrm>
              <a:off x="7545288" y="2420888"/>
              <a:ext cx="0" cy="2590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51" name="Line 70"/>
          <p:cNvSpPr>
            <a:spLocks noChangeShapeType="1"/>
          </p:cNvSpPr>
          <p:nvPr/>
        </p:nvSpPr>
        <p:spPr bwMode="auto">
          <a:xfrm>
            <a:off x="3883543" y="4969135"/>
            <a:ext cx="444300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Text Box 66"/>
          <p:cNvSpPr txBox="1">
            <a:spLocks noChangeArrowheads="1"/>
          </p:cNvSpPr>
          <p:nvPr/>
        </p:nvSpPr>
        <p:spPr bwMode="auto">
          <a:xfrm>
            <a:off x="5587365" y="4783221"/>
            <a:ext cx="1318447" cy="33855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IPv4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网络 </a:t>
            </a:r>
          </a:p>
        </p:txBody>
      </p:sp>
      <p:pic>
        <p:nvPicPr>
          <p:cNvPr id="154" name="Picture 246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502" y="2114854"/>
            <a:ext cx="470508" cy="47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Picture 246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878" y="2114854"/>
            <a:ext cx="470508" cy="47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AutoShape 84"/>
          <p:cNvSpPr>
            <a:spLocks noChangeArrowheads="1"/>
          </p:cNvSpPr>
          <p:nvPr/>
        </p:nvSpPr>
        <p:spPr bwMode="auto">
          <a:xfrm>
            <a:off x="3498428" y="3703034"/>
            <a:ext cx="1065672" cy="19674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AutoShape 106"/>
          <p:cNvSpPr>
            <a:spLocks noChangeArrowheads="1"/>
          </p:cNvSpPr>
          <p:nvPr/>
        </p:nvSpPr>
        <p:spPr bwMode="auto">
          <a:xfrm>
            <a:off x="7768800" y="3703034"/>
            <a:ext cx="936619" cy="196740"/>
          </a:xfrm>
          <a:prstGeom prst="rightArrow">
            <a:avLst>
              <a:gd name="adj1" fmla="val 50000"/>
              <a:gd name="adj2" fmla="val 99132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AutoShape 5"/>
          <p:cNvSpPr>
            <a:spLocks noChangeArrowheads="1"/>
          </p:cNvSpPr>
          <p:nvPr/>
        </p:nvSpPr>
        <p:spPr bwMode="auto">
          <a:xfrm>
            <a:off x="726860" y="837791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2" name="Rectangle 6"/>
          <p:cNvSpPr>
            <a:spLocks noChangeArrowheads="1"/>
          </p:cNvSpPr>
          <p:nvPr/>
        </p:nvSpPr>
        <p:spPr bwMode="auto">
          <a:xfrm>
            <a:off x="2589291" y="793509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隧道技术</a:t>
            </a:r>
          </a:p>
        </p:txBody>
      </p:sp>
    </p:spTree>
    <p:extLst>
      <p:ext uri="{BB962C8B-B14F-4D97-AF65-F5344CB8AC3E}">
        <p14:creationId xmlns:p14="http://schemas.microsoft.com/office/powerpoint/2010/main" val="290191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685540" y="1145017"/>
            <a:ext cx="8344671" cy="3715542"/>
            <a:chOff x="1113847" y="1369650"/>
            <a:chExt cx="6258503" cy="2786656"/>
          </a:xfrm>
        </p:grpSpPr>
        <p:sp>
          <p:nvSpPr>
            <p:cNvPr id="8" name="矩形 7"/>
            <p:cNvSpPr/>
            <p:nvPr/>
          </p:nvSpPr>
          <p:spPr>
            <a:xfrm>
              <a:off x="3408795" y="1369650"/>
              <a:ext cx="2540000" cy="424873"/>
            </a:xfrm>
            <a:prstGeom prst="rect">
              <a:avLst/>
            </a:prstGeom>
            <a:solidFill>
              <a:srgbClr val="009900"/>
            </a:solidFill>
            <a:ln w="1905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互联网路由选择协议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156303" y="2239529"/>
              <a:ext cx="1802444" cy="424873"/>
            </a:xfrm>
            <a:prstGeom prst="rect">
              <a:avLst/>
            </a:prstGeom>
            <a:solidFill>
              <a:srgbClr val="0099CC"/>
            </a:solidFill>
            <a:ln w="1905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域内路由选择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5569906" y="2239530"/>
              <a:ext cx="1802444" cy="424873"/>
            </a:xfrm>
            <a:prstGeom prst="rect">
              <a:avLst/>
            </a:prstGeom>
            <a:solidFill>
              <a:srgbClr val="0099CC"/>
            </a:solidFill>
            <a:ln w="1905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域间路由选择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1113847" y="3109407"/>
              <a:ext cx="1802444" cy="670653"/>
            </a:xfrm>
            <a:prstGeom prst="rect">
              <a:avLst/>
            </a:prstGeom>
            <a:solidFill>
              <a:srgbClr val="CC6600"/>
            </a:solidFill>
            <a:ln w="1905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距离向量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867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(Distance Vector)</a:t>
              </a:r>
              <a:endParaRPr lang="zh-CN" altLang="en-US" sz="186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220430" y="3109408"/>
              <a:ext cx="1802444" cy="670653"/>
            </a:xfrm>
            <a:prstGeom prst="rect">
              <a:avLst/>
            </a:prstGeom>
            <a:solidFill>
              <a:srgbClr val="CC6600"/>
            </a:solidFill>
            <a:ln w="1905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链路状态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(Link State)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569907" y="3109408"/>
              <a:ext cx="1802443" cy="671608"/>
            </a:xfrm>
            <a:prstGeom prst="rect">
              <a:avLst/>
            </a:prstGeom>
            <a:solidFill>
              <a:srgbClr val="CC6600"/>
            </a:solidFill>
            <a:ln w="19050">
              <a:solidFill>
                <a:schemeClr val="tx1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路径向量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(path vector)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>
              <a:endCxn id="10" idx="0"/>
            </p:cNvCxnSpPr>
            <p:nvPr/>
          </p:nvCxnSpPr>
          <p:spPr>
            <a:xfrm flipH="1">
              <a:off x="3057525" y="1794523"/>
              <a:ext cx="1009650" cy="445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endCxn id="11" idx="0"/>
            </p:cNvCxnSpPr>
            <p:nvPr/>
          </p:nvCxnSpPr>
          <p:spPr>
            <a:xfrm>
              <a:off x="5461478" y="1794523"/>
              <a:ext cx="1009650" cy="445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2"/>
              <a:endCxn id="12" idx="0"/>
            </p:cNvCxnSpPr>
            <p:nvPr/>
          </p:nvCxnSpPr>
          <p:spPr>
            <a:xfrm flipH="1">
              <a:off x="2015069" y="2664402"/>
              <a:ext cx="1042456" cy="4450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0" idx="2"/>
              <a:endCxn id="13" idx="0"/>
            </p:cNvCxnSpPr>
            <p:nvPr/>
          </p:nvCxnSpPr>
          <p:spPr>
            <a:xfrm>
              <a:off x="3057525" y="2664402"/>
              <a:ext cx="1064127" cy="445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1" idx="2"/>
              <a:endCxn id="14" idx="0"/>
            </p:cNvCxnSpPr>
            <p:nvPr/>
          </p:nvCxnSpPr>
          <p:spPr>
            <a:xfrm>
              <a:off x="6471128" y="2664403"/>
              <a:ext cx="1" cy="4450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1727169" y="3779232"/>
              <a:ext cx="572513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667" b="1" dirty="0">
                  <a:latin typeface="微软雅黑" pitchFamily="34" charset="-122"/>
                  <a:ea typeface="微软雅黑" pitchFamily="34" charset="-122"/>
                </a:rPr>
                <a:t>RIP</a:t>
              </a:r>
              <a:endParaRPr lang="zh-CN" altLang="en-US" sz="2667" dirty="0"/>
            </a:p>
          </p:txBody>
        </p:sp>
        <p:sp>
          <p:nvSpPr>
            <p:cNvPr id="29" name="矩形 28"/>
            <p:cNvSpPr/>
            <p:nvPr/>
          </p:nvSpPr>
          <p:spPr>
            <a:xfrm>
              <a:off x="3691886" y="3779232"/>
              <a:ext cx="814165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667" b="1" dirty="0">
                  <a:latin typeface="微软雅黑" pitchFamily="34" charset="-122"/>
                  <a:ea typeface="微软雅黑" pitchFamily="34" charset="-122"/>
                </a:rPr>
                <a:t>OSPF</a:t>
              </a:r>
              <a:endParaRPr lang="zh-CN" altLang="en-US" sz="2667" dirty="0"/>
            </a:p>
          </p:txBody>
        </p:sp>
        <p:sp>
          <p:nvSpPr>
            <p:cNvPr id="30" name="矩形 29"/>
            <p:cNvSpPr/>
            <p:nvPr/>
          </p:nvSpPr>
          <p:spPr>
            <a:xfrm>
              <a:off x="5974036" y="3779232"/>
              <a:ext cx="948817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667" b="1" dirty="0">
                  <a:latin typeface="微软雅黑" pitchFamily="34" charset="-122"/>
                  <a:ea typeface="微软雅黑" pitchFamily="34" charset="-122"/>
                </a:rPr>
                <a:t>BGP-4</a:t>
              </a:r>
              <a:endParaRPr lang="zh-CN" altLang="en-US" sz="2667" dirty="0"/>
            </a:p>
          </p:txBody>
        </p:sp>
      </p:grpSp>
    </p:spTree>
    <p:extLst>
      <p:ext uri="{BB962C8B-B14F-4D97-AF65-F5344CB8AC3E}">
        <p14:creationId xmlns:p14="http://schemas.microsoft.com/office/powerpoint/2010/main" val="368500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0968" y="1714406"/>
            <a:ext cx="10610063" cy="2241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0472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仅和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相邻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路由器交换信息。 </a:t>
            </a:r>
          </a:p>
          <a:p>
            <a:pPr marL="480472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交换的信息是当前本路由器所知道的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全部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信息，即自己的路由表。 </a:t>
            </a:r>
          </a:p>
          <a:p>
            <a:pPr marL="480472" indent="-457189">
              <a:lnSpc>
                <a:spcPts val="4267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固定时间间隔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交换路由信息，例如，每隔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30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秒。当网络拓扑发生变化时，路由器也及时向相邻路由器通告拓扑变化后的路由信息。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097495E-814F-52BE-D71A-9267713A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276935"/>
            <a:ext cx="10515600" cy="1325563"/>
          </a:xfrm>
        </p:spPr>
        <p:txBody>
          <a:bodyPr/>
          <a:lstStyle/>
          <a:p>
            <a:r>
              <a:rPr lang="en-US" altLang="zh-CN" dirty="0"/>
              <a:t>RIP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E4DF274-37DA-CB8E-09C1-C0D99A4100F4}"/>
                  </a:ext>
                </a:extLst>
              </p14:cNvPr>
              <p14:cNvContentPartPr/>
              <p14:nvPr/>
            </p14:nvContentPartPr>
            <p14:xfrm>
              <a:off x="1834200" y="660960"/>
              <a:ext cx="1562400" cy="581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E4DF274-37DA-CB8E-09C1-C0D99A4100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4840" y="651600"/>
                <a:ext cx="1581120" cy="5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0626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26859" y="821933"/>
            <a:ext cx="10738283" cy="503800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127" name="Group 20"/>
          <p:cNvGrpSpPr>
            <a:grpSpLocks/>
          </p:cNvGrpSpPr>
          <p:nvPr/>
        </p:nvGrpSpPr>
        <p:grpSpPr bwMode="auto">
          <a:xfrm>
            <a:off x="1303027" y="1563555"/>
            <a:ext cx="9377253" cy="3958020"/>
            <a:chOff x="-451" y="756"/>
            <a:chExt cx="6411" cy="2706"/>
          </a:xfrm>
        </p:grpSpPr>
        <p:sp>
          <p:nvSpPr>
            <p:cNvPr id="128" name="Rectangle 6"/>
            <p:cNvSpPr>
              <a:spLocks noChangeArrowheads="1"/>
            </p:cNvSpPr>
            <p:nvPr/>
          </p:nvSpPr>
          <p:spPr bwMode="auto">
            <a:xfrm>
              <a:off x="37" y="1008"/>
              <a:ext cx="1384" cy="10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Net2	4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Net3	8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Net6	4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Net8	3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Net9	5</a:t>
              </a:r>
            </a:p>
          </p:txBody>
        </p:sp>
        <p:sp>
          <p:nvSpPr>
            <p:cNvPr id="129" name="Rectangle 7"/>
            <p:cNvSpPr>
              <a:spLocks noChangeArrowheads="1"/>
            </p:cNvSpPr>
            <p:nvPr/>
          </p:nvSpPr>
          <p:spPr bwMode="auto">
            <a:xfrm>
              <a:off x="1924" y="1200"/>
              <a:ext cx="1211" cy="10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Net2	5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Net3	9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Net6	5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Net8	4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Net9	6</a:t>
              </a:r>
            </a:p>
          </p:txBody>
        </p:sp>
        <p:sp>
          <p:nvSpPr>
            <p:cNvPr id="130" name="Rectangle 8"/>
            <p:cNvSpPr>
              <a:spLocks noChangeArrowheads="1"/>
            </p:cNvSpPr>
            <p:nvPr/>
          </p:nvSpPr>
          <p:spPr bwMode="auto">
            <a:xfrm>
              <a:off x="-451" y="2448"/>
              <a:ext cx="2044" cy="100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Net1	7	A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Net2	2	C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Net6	8	F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Net8	4	E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Net9	4	F</a:t>
              </a:r>
            </a:p>
          </p:txBody>
        </p:sp>
        <p:sp>
          <p:nvSpPr>
            <p:cNvPr id="131" name="Text Box 9"/>
            <p:cNvSpPr txBox="1">
              <a:spLocks noChangeArrowheads="1"/>
            </p:cNvSpPr>
            <p:nvPr/>
          </p:nvSpPr>
          <p:spPr bwMode="auto">
            <a:xfrm>
              <a:off x="-8" y="756"/>
              <a:ext cx="142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>
                <a:defRPr/>
              </a:pP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从 </a:t>
              </a:r>
              <a:r>
                <a:rPr lang="en-US" altLang="zh-CN" sz="1733" b="1" kern="0" dirty="0">
                  <a:latin typeface="微软雅黑" pitchFamily="34" charset="-122"/>
                  <a:ea typeface="微软雅黑" pitchFamily="34" charset="-122"/>
                </a:rPr>
                <a:t>C </a:t>
              </a: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来的 </a:t>
              </a:r>
              <a:r>
                <a:rPr lang="en-US" altLang="zh-CN" sz="1733" b="1" kern="0" dirty="0">
                  <a:latin typeface="微软雅黑" pitchFamily="34" charset="-122"/>
                  <a:ea typeface="微软雅黑" pitchFamily="34" charset="-122"/>
                </a:rPr>
                <a:t>RIP </a:t>
              </a: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报文</a:t>
              </a:r>
            </a:p>
          </p:txBody>
        </p:sp>
        <p:sp>
          <p:nvSpPr>
            <p:cNvPr id="132" name="Text Box 10"/>
            <p:cNvSpPr txBox="1">
              <a:spLocks noChangeArrowheads="1"/>
            </p:cNvSpPr>
            <p:nvPr/>
          </p:nvSpPr>
          <p:spPr bwMode="auto">
            <a:xfrm>
              <a:off x="1824" y="768"/>
              <a:ext cx="1427" cy="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1219170">
                <a:defRPr/>
              </a:pP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增加跳数以后</a:t>
              </a:r>
            </a:p>
            <a:p>
              <a:pPr algn="ctr" defTabSz="1219170">
                <a:defRPr/>
              </a:pP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从 </a:t>
              </a:r>
              <a:r>
                <a:rPr lang="en-US" altLang="zh-CN" sz="1733" b="1" kern="0" dirty="0">
                  <a:latin typeface="微软雅黑" pitchFamily="34" charset="-122"/>
                  <a:ea typeface="微软雅黑" pitchFamily="34" charset="-122"/>
                </a:rPr>
                <a:t>C </a:t>
              </a: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来的 </a:t>
              </a:r>
              <a:r>
                <a:rPr lang="en-US" altLang="zh-CN" sz="1733" b="1" kern="0" dirty="0">
                  <a:latin typeface="微软雅黑" pitchFamily="34" charset="-122"/>
                  <a:ea typeface="微软雅黑" pitchFamily="34" charset="-122"/>
                </a:rPr>
                <a:t>RIP </a:t>
              </a: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报文</a:t>
              </a:r>
            </a:p>
          </p:txBody>
        </p:sp>
        <p:sp>
          <p:nvSpPr>
            <p:cNvPr id="133" name="Text Box 11"/>
            <p:cNvSpPr txBox="1">
              <a:spLocks noChangeArrowheads="1"/>
            </p:cNvSpPr>
            <p:nvPr/>
          </p:nvSpPr>
          <p:spPr bwMode="auto">
            <a:xfrm>
              <a:off x="214" y="2208"/>
              <a:ext cx="7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>
                <a:defRPr/>
              </a:pP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旧路由表</a:t>
              </a:r>
            </a:p>
          </p:txBody>
        </p:sp>
        <p:sp>
          <p:nvSpPr>
            <p:cNvPr id="134" name="Rectangle 12"/>
            <p:cNvSpPr>
              <a:spLocks noChangeArrowheads="1"/>
            </p:cNvSpPr>
            <p:nvPr/>
          </p:nvSpPr>
          <p:spPr bwMode="auto">
            <a:xfrm>
              <a:off x="1881" y="2544"/>
              <a:ext cx="1104" cy="38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733" b="1" kern="0" dirty="0">
                  <a:latin typeface="微软雅黑" pitchFamily="34" charset="-122"/>
                  <a:ea typeface="微软雅黑" pitchFamily="34" charset="-122"/>
                </a:rPr>
                <a:t>更新算法</a:t>
              </a:r>
            </a:p>
          </p:txBody>
        </p:sp>
        <p:sp>
          <p:nvSpPr>
            <p:cNvPr id="135" name="Rectangle 13"/>
            <p:cNvSpPr>
              <a:spLocks noChangeArrowheads="1"/>
            </p:cNvSpPr>
            <p:nvPr/>
          </p:nvSpPr>
          <p:spPr bwMode="auto">
            <a:xfrm>
              <a:off x="3321" y="2310"/>
              <a:ext cx="2016" cy="115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Net1	7	A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Net2	5	C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Net3	9	C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Net6	5	C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Net8	4	E</a:t>
              </a:r>
            </a:p>
            <a:p>
              <a:pPr algn="ctr" defTabSz="1219170">
                <a:defRPr/>
              </a:pPr>
              <a:r>
                <a:rPr lang="en-US" altLang="zh-CN" sz="1733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Net9	4	F</a:t>
              </a:r>
            </a:p>
          </p:txBody>
        </p:sp>
        <p:sp>
          <p:nvSpPr>
            <p:cNvPr id="136" name="Text Box 14"/>
            <p:cNvSpPr txBox="1">
              <a:spLocks noChangeArrowheads="1"/>
            </p:cNvSpPr>
            <p:nvPr/>
          </p:nvSpPr>
          <p:spPr bwMode="auto">
            <a:xfrm>
              <a:off x="4011" y="2076"/>
              <a:ext cx="7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>
                <a:defRPr/>
              </a:pPr>
              <a:r>
                <a:rPr lang="zh-CN" altLang="en-US" sz="1733" b="1" kern="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新路由表</a:t>
              </a:r>
            </a:p>
          </p:txBody>
        </p:sp>
        <p:sp>
          <p:nvSpPr>
            <p:cNvPr id="137" name="AutoShape 15"/>
            <p:cNvSpPr>
              <a:spLocks noChangeArrowheads="1"/>
            </p:cNvSpPr>
            <p:nvPr/>
          </p:nvSpPr>
          <p:spPr bwMode="auto">
            <a:xfrm>
              <a:off x="1641" y="2688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rgbClr val="CC00FF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>
                <a:defRPr/>
              </a:pPr>
              <a:endParaRPr lang="zh-CN" altLang="en-US" sz="1733" b="1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8" name="AutoShape 16"/>
            <p:cNvSpPr>
              <a:spLocks noChangeArrowheads="1"/>
            </p:cNvSpPr>
            <p:nvPr/>
          </p:nvSpPr>
          <p:spPr bwMode="auto">
            <a:xfrm>
              <a:off x="3081" y="2688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rgbClr val="CC00FF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>
                <a:defRPr/>
              </a:pPr>
              <a:endParaRPr lang="zh-CN" altLang="en-US" sz="1733" b="1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9" name="AutoShape 17"/>
            <p:cNvSpPr>
              <a:spLocks noChangeArrowheads="1"/>
            </p:cNvSpPr>
            <p:nvPr/>
          </p:nvSpPr>
          <p:spPr bwMode="auto">
            <a:xfrm>
              <a:off x="2361" y="2304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rgbClr val="CC00FF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>
                <a:defRPr/>
              </a:pPr>
              <a:endParaRPr lang="zh-CN" altLang="en-US" sz="1733" b="1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0" name="AutoShape 18"/>
            <p:cNvSpPr>
              <a:spLocks noChangeArrowheads="1"/>
            </p:cNvSpPr>
            <p:nvPr/>
          </p:nvSpPr>
          <p:spPr bwMode="auto">
            <a:xfrm>
              <a:off x="1497" y="1584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rgbClr val="CC00FF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>
                <a:defRPr/>
              </a:pPr>
              <a:endParaRPr lang="zh-CN" altLang="en-US" sz="1733" b="1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1" name="Rectangle 19"/>
            <p:cNvSpPr>
              <a:spLocks noChangeArrowheads="1"/>
            </p:cNvSpPr>
            <p:nvPr/>
          </p:nvSpPr>
          <p:spPr bwMode="auto">
            <a:xfrm>
              <a:off x="3330" y="786"/>
              <a:ext cx="2630" cy="1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1219170">
                <a:spcBef>
                  <a:spcPct val="20000"/>
                </a:spcBef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Net1: </a:t>
              </a:r>
              <a:r>
                <a:rPr lang="zh-CN" altLang="en-US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没有新信息，不变</a:t>
              </a:r>
            </a:p>
            <a:p>
              <a:pPr defTabSz="1219170">
                <a:spcBef>
                  <a:spcPct val="20000"/>
                </a:spcBef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Net2: </a:t>
              </a:r>
              <a:r>
                <a:rPr lang="zh-CN" altLang="en-US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相同的下一跳，替换</a:t>
              </a:r>
            </a:p>
            <a:p>
              <a:pPr defTabSz="1219170">
                <a:spcBef>
                  <a:spcPct val="20000"/>
                </a:spcBef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Net3: </a:t>
              </a:r>
              <a:r>
                <a:rPr lang="zh-CN" altLang="en-US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一条新路由，增加</a:t>
              </a:r>
            </a:p>
            <a:p>
              <a:pPr defTabSz="1219170">
                <a:spcBef>
                  <a:spcPct val="20000"/>
                </a:spcBef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Net6: </a:t>
              </a:r>
              <a:r>
                <a:rPr lang="zh-CN" altLang="en-US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不同的下一跳，新跳数小，替换</a:t>
              </a:r>
            </a:p>
            <a:p>
              <a:pPr defTabSz="1219170">
                <a:spcBef>
                  <a:spcPct val="20000"/>
                </a:spcBef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Net8: </a:t>
              </a:r>
              <a:r>
                <a:rPr lang="zh-CN" altLang="en-US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不同的下一跳，跳数相同，不变</a:t>
              </a:r>
            </a:p>
            <a:p>
              <a:pPr defTabSz="1219170">
                <a:spcBef>
                  <a:spcPct val="20000"/>
                </a:spcBef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Net9: </a:t>
              </a:r>
              <a:r>
                <a:rPr lang="zh-CN" altLang="en-US" sz="1600" b="1" kern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不同的下一跳，新跳数大，不变</a:t>
              </a:r>
            </a:p>
          </p:txBody>
        </p:sp>
      </p:grpSp>
      <p:sp>
        <p:nvSpPr>
          <p:cNvPr id="20" name="Text Box 155"/>
          <p:cNvSpPr txBox="1">
            <a:spLocks noChangeArrowheads="1"/>
          </p:cNvSpPr>
          <p:nvPr/>
        </p:nvSpPr>
        <p:spPr bwMode="auto">
          <a:xfrm>
            <a:off x="1441939" y="964418"/>
            <a:ext cx="9307709" cy="428259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路由表更新。</a:t>
            </a:r>
          </a:p>
        </p:txBody>
      </p:sp>
      <p:sp>
        <p:nvSpPr>
          <p:cNvPr id="19" name="标题 4">
            <a:extLst>
              <a:ext uri="{FF2B5EF4-FFF2-40B4-BE49-F238E27FC236}">
                <a16:creationId xmlns:a16="http://schemas.microsoft.com/office/drawing/2014/main" id="{0819C2DB-DA85-BEF6-516E-5B0C0BC2D4DA}"/>
              </a:ext>
            </a:extLst>
          </p:cNvPr>
          <p:cNvSpPr txBox="1">
            <a:spLocks/>
          </p:cNvSpPr>
          <p:nvPr/>
        </p:nvSpPr>
        <p:spPr>
          <a:xfrm>
            <a:off x="609600" y="1357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RIP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43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76656" y="1764852"/>
            <a:ext cx="10838688" cy="3723747"/>
          </a:xfrm>
        </p:spPr>
        <p:txBody>
          <a:bodyPr numCol="2"/>
          <a:lstStyle/>
          <a:p>
            <a:pPr lvl="1"/>
            <a:r>
              <a:rPr lang="zh-CN" altLang="zh-CN" dirty="0"/>
              <a:t>网络状态信息交换的范围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DV:</a:t>
            </a:r>
            <a:r>
              <a:rPr lang="zh-CN" altLang="zh-CN" dirty="0"/>
              <a:t>邻居间交换</a:t>
            </a:r>
            <a:r>
              <a:rPr lang="en-US" altLang="zh-CN" dirty="0"/>
              <a:t>  </a:t>
            </a: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LS:</a:t>
            </a:r>
            <a:r>
              <a:rPr lang="zh-CN" altLang="zh-CN" dirty="0"/>
              <a:t>全网扩散 </a:t>
            </a:r>
            <a:endParaRPr lang="en-US" altLang="zh-CN" dirty="0"/>
          </a:p>
          <a:p>
            <a:pPr lvl="1"/>
            <a:r>
              <a:rPr lang="zh-CN" altLang="zh-CN" dirty="0"/>
              <a:t>网络状态信息的可靠性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DV:</a:t>
            </a:r>
            <a:r>
              <a:rPr lang="zh-CN" altLang="zh-CN" dirty="0"/>
              <a:t>部分道听途说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LS:</a:t>
            </a:r>
            <a:r>
              <a:rPr lang="zh-CN" altLang="zh-CN" dirty="0"/>
              <a:t>自己测量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健壮性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2"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DV: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计算结果传递，健壮性差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各自计算，健壮性好</a:t>
            </a:r>
            <a:endParaRPr lang="en-US" altLang="zh-CN" sz="3600" dirty="0"/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收敛速度：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DV: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可能有计数到无穷问题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LS: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247A82-DE74-4B76-9F4D-3F281BB6A3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距离向量和链路状态算法比较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864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58" y="1321878"/>
            <a:ext cx="10738281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8355" indent="-478355">
              <a:lnSpc>
                <a:spcPts val="44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问候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(Hello)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分组。</a:t>
            </a:r>
          </a:p>
          <a:p>
            <a:pPr marL="478355" indent="-478355">
              <a:lnSpc>
                <a:spcPts val="44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数据库描述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(Database Description)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分组。</a:t>
            </a:r>
          </a:p>
          <a:p>
            <a:pPr marL="478355" indent="-478355">
              <a:lnSpc>
                <a:spcPts val="44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链路状态请求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(Link State Request)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分组。</a:t>
            </a:r>
          </a:p>
          <a:p>
            <a:pPr marL="478355" indent="-478355">
              <a:lnSpc>
                <a:spcPts val="44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链路状态更新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(Link State Update)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分组。</a:t>
            </a:r>
          </a:p>
          <a:p>
            <a:pPr marL="478355" indent="-478355">
              <a:lnSpc>
                <a:spcPts val="44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链路状态确认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(Link State Acknowledgment)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分组。 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42788"/>
            <a:ext cx="1073828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98507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 OSPF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的五种分组类型</a:t>
            </a:r>
          </a:p>
        </p:txBody>
      </p:sp>
    </p:spTree>
    <p:extLst>
      <p:ext uri="{BB962C8B-B14F-4D97-AF65-F5344CB8AC3E}">
        <p14:creationId xmlns:p14="http://schemas.microsoft.com/office/powerpoint/2010/main" val="107040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726860" y="1262371"/>
            <a:ext cx="10738283" cy="373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，确定邻站可达。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3300" lvl="1" indent="-372524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相邻路由器每隔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秒钟要交换一次问候分组。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13300" lvl="1" indent="-372524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若有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秒钟没有收到某个相邻路由器发来的问候分组，则可认为该相邻路由器是不可达的。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，同步链路状态数据库。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3300" lvl="1" indent="-372524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同步：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指不同路由器的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链路状态数据库的内容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是一样的。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13300" lvl="1" indent="-372524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两个同步的路由器叫做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完全邻接的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(fully adjacent)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路由器。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142836" y="5071443"/>
            <a:ext cx="7647709" cy="95103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467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不是完全邻接的路由器：它们虽然在物理上是相邻的，但其链路状态数据库并没有达到一致。</a:t>
            </a: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A513ABB8-037D-7169-0069-194391D02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725"/>
            <a:ext cx="10515600" cy="1325563"/>
          </a:xfrm>
        </p:spPr>
        <p:txBody>
          <a:bodyPr/>
          <a:lstStyle/>
          <a:p>
            <a:r>
              <a:rPr lang="en-US" altLang="zh-CN" dirty="0"/>
              <a:t>OSPF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30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726860" y="1262371"/>
            <a:ext cx="10738283" cy="2661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，更新链路状态。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13300" lvl="1" indent="-372524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只要链路状态发生变化，路由器就使用链路状态更新分组，采用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可靠的洪泛法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向全网更新链路状态。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713300" lvl="1" indent="-372524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为确保链路状态数据库与全网的状态保持一致，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OSPF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还规定：每隔一段时间，如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30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分钟，要刷新一次数据库中的链路状态。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对角圆角矩形 4"/>
          <p:cNvSpPr/>
          <p:nvPr/>
        </p:nvSpPr>
        <p:spPr>
          <a:xfrm>
            <a:off x="914760" y="3953482"/>
            <a:ext cx="10255083" cy="1748433"/>
          </a:xfrm>
          <a:prstGeom prst="round2DiagRect">
            <a:avLst/>
          </a:prstGeom>
          <a:solidFill>
            <a:srgbClr val="0099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1128142" y="4085063"/>
            <a:ext cx="10201797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467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OSPF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链路状态只涉及相邻路由器，与整个互联网的规模并无直接关系，因此当互联网规模很大时，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OSPF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协议要比距离向量协议 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RIP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好得多。</a:t>
            </a:r>
            <a:endParaRPr lang="en-US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467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OSPF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没有“坏消息传播得慢”的问题，收敛数度快。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2D97F7F9-43AB-18D0-FF42-8CA7C563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725"/>
            <a:ext cx="10515600" cy="1325563"/>
          </a:xfrm>
        </p:spPr>
        <p:txBody>
          <a:bodyPr/>
          <a:lstStyle/>
          <a:p>
            <a:r>
              <a:rPr lang="en-US" altLang="zh-CN" dirty="0"/>
              <a:t>OSPF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929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26859" y="1359878"/>
            <a:ext cx="10738283" cy="44315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793464" y="2685135"/>
            <a:ext cx="8858861" cy="16131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16200000">
            <a:off x="6843736" y="-196022"/>
            <a:ext cx="89051" cy="3873089"/>
          </a:xfrm>
          <a:prstGeom prst="can">
            <a:avLst>
              <a:gd name="adj" fmla="val 105945"/>
            </a:avLst>
          </a:prstGeom>
          <a:solidFill>
            <a:srgbClr val="CC00C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7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157" y="1537698"/>
            <a:ext cx="757537" cy="363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0" name="Picture 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027" y="1537698"/>
            <a:ext cx="755956" cy="363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11" name="Group 9"/>
          <p:cNvGrpSpPr>
            <a:grpSpLocks/>
          </p:cNvGrpSpPr>
          <p:nvPr/>
        </p:nvGrpSpPr>
        <p:grpSpPr bwMode="auto">
          <a:xfrm>
            <a:off x="5045025" y="1828207"/>
            <a:ext cx="3874671" cy="379560"/>
            <a:chOff x="2056" y="1482"/>
            <a:chExt cx="2450" cy="260"/>
          </a:xfrm>
        </p:grpSpPr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991" y="1482"/>
              <a:ext cx="944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问候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hello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包</a:t>
              </a: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2056" y="1731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5045025" y="2180029"/>
            <a:ext cx="3874671" cy="379559"/>
            <a:chOff x="2056" y="1723"/>
            <a:chExt cx="2450" cy="26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2056" y="1980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2987" y="1723"/>
              <a:ext cx="944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问候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hello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包</a:t>
              </a:r>
            </a:p>
          </p:txBody>
        </p:sp>
      </p:grpSp>
      <p:grpSp>
        <p:nvGrpSpPr>
          <p:cNvPr id="17" name="Group 15"/>
          <p:cNvGrpSpPr>
            <a:grpSpLocks/>
          </p:cNvGrpSpPr>
          <p:nvPr/>
        </p:nvGrpSpPr>
        <p:grpSpPr bwMode="auto">
          <a:xfrm>
            <a:off x="5045025" y="2698272"/>
            <a:ext cx="3874671" cy="379560"/>
            <a:chOff x="2056" y="2078"/>
            <a:chExt cx="2450" cy="260"/>
          </a:xfrm>
        </p:grpSpPr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2056" y="2328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713" y="2078"/>
              <a:ext cx="1262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数据库描述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DD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包</a:t>
              </a:r>
            </a:p>
          </p:txBody>
        </p:sp>
      </p:grp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5045025" y="3051548"/>
            <a:ext cx="3874671" cy="379560"/>
            <a:chOff x="2056" y="2320"/>
            <a:chExt cx="2450" cy="260"/>
          </a:xfrm>
        </p:grpSpPr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2056" y="2577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2713" y="2320"/>
              <a:ext cx="1262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数据库描述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DD</a:t>
              </a:r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包</a:t>
              </a:r>
            </a:p>
          </p:txBody>
        </p:sp>
      </p:grpSp>
      <p:grpSp>
        <p:nvGrpSpPr>
          <p:cNvPr id="23" name="Group 21"/>
          <p:cNvGrpSpPr>
            <a:grpSpLocks/>
          </p:cNvGrpSpPr>
          <p:nvPr/>
        </p:nvGrpSpPr>
        <p:grpSpPr bwMode="auto">
          <a:xfrm>
            <a:off x="5045025" y="3415054"/>
            <a:ext cx="3874671" cy="379560"/>
            <a:chOff x="2056" y="2569"/>
            <a:chExt cx="2450" cy="260"/>
          </a:xfrm>
        </p:grpSpPr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056" y="2825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2713" y="2569"/>
              <a:ext cx="875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确认</a:t>
              </a:r>
              <a:r>
                <a:rPr kumimoji="1" lang="en-US" altLang="zh-CN" sz="1867" b="1" dirty="0" err="1">
                  <a:latin typeface="微软雅黑" pitchFamily="34" charset="-122"/>
                  <a:ea typeface="微软雅黑" pitchFamily="34" charset="-122"/>
                </a:rPr>
                <a:t>LSAck</a:t>
              </a:r>
              <a:endParaRPr kumimoji="1" lang="zh-CN" altLang="en-US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5045025" y="3769796"/>
            <a:ext cx="3874671" cy="383940"/>
            <a:chOff x="2056" y="2812"/>
            <a:chExt cx="2450" cy="263"/>
          </a:xfrm>
        </p:grpSpPr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H="1">
              <a:off x="2056" y="3075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2713" y="2812"/>
              <a:ext cx="875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确认</a:t>
              </a:r>
              <a:r>
                <a:rPr kumimoji="1" lang="en-US" altLang="zh-CN" sz="1867" b="1" dirty="0" err="1">
                  <a:latin typeface="微软雅黑" pitchFamily="34" charset="-122"/>
                  <a:ea typeface="微软雅黑" pitchFamily="34" charset="-122"/>
                </a:rPr>
                <a:t>LSAck</a:t>
              </a:r>
              <a:endParaRPr kumimoji="1" lang="zh-CN" altLang="en-US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Group 27"/>
          <p:cNvGrpSpPr>
            <a:grpSpLocks/>
          </p:cNvGrpSpPr>
          <p:nvPr/>
        </p:nvGrpSpPr>
        <p:grpSpPr bwMode="auto">
          <a:xfrm>
            <a:off x="5045025" y="4309937"/>
            <a:ext cx="3874671" cy="379560"/>
            <a:chOff x="2056" y="3182"/>
            <a:chExt cx="2450" cy="260"/>
          </a:xfrm>
        </p:grpSpPr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2056" y="3423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2624" y="3182"/>
              <a:ext cx="1303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链路状态请求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LSR</a:t>
              </a:r>
              <a:endParaRPr kumimoji="1" lang="zh-CN" altLang="en-US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5045025" y="4674902"/>
            <a:ext cx="3874671" cy="379560"/>
            <a:chOff x="2056" y="3432"/>
            <a:chExt cx="2450" cy="260"/>
          </a:xfrm>
        </p:grpSpPr>
        <p:sp>
          <p:nvSpPr>
            <p:cNvPr id="33" name="Line 31"/>
            <p:cNvSpPr>
              <a:spLocks noChangeShapeType="1"/>
            </p:cNvSpPr>
            <p:nvPr/>
          </p:nvSpPr>
          <p:spPr bwMode="auto">
            <a:xfrm flipH="1">
              <a:off x="2056" y="3672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2629" y="3432"/>
              <a:ext cx="1315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链路状态更新</a:t>
              </a:r>
              <a:r>
                <a:rPr kumimoji="1" lang="en-US" altLang="zh-CN" sz="1867" b="1" dirty="0">
                  <a:latin typeface="微软雅黑" pitchFamily="34" charset="-122"/>
                  <a:ea typeface="微软雅黑" pitchFamily="34" charset="-122"/>
                </a:rPr>
                <a:t>LSU</a:t>
              </a:r>
              <a:endParaRPr kumimoji="1" lang="zh-CN" altLang="en-US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5" name="Line 33"/>
          <p:cNvSpPr>
            <a:spLocks noChangeShapeType="1"/>
          </p:cNvSpPr>
          <p:nvPr/>
        </p:nvSpPr>
        <p:spPr bwMode="auto">
          <a:xfrm>
            <a:off x="2177768" y="4309940"/>
            <a:ext cx="7686083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2209398" y="2701192"/>
            <a:ext cx="7654452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7" name="Group 35"/>
          <p:cNvGrpSpPr>
            <a:grpSpLocks/>
          </p:cNvGrpSpPr>
          <p:nvPr/>
        </p:nvGrpSpPr>
        <p:grpSpPr bwMode="auto">
          <a:xfrm>
            <a:off x="5045025" y="5036945"/>
            <a:ext cx="3874671" cy="379560"/>
            <a:chOff x="2056" y="3680"/>
            <a:chExt cx="2450" cy="260"/>
          </a:xfrm>
        </p:grpSpPr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2056" y="3920"/>
              <a:ext cx="245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2629" y="3680"/>
              <a:ext cx="147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链路状态确认</a:t>
              </a:r>
              <a:r>
                <a:rPr kumimoji="1" lang="en-US" altLang="zh-CN" sz="1867" b="1" dirty="0" err="1">
                  <a:latin typeface="微软雅黑" pitchFamily="34" charset="-122"/>
                  <a:ea typeface="微软雅黑" pitchFamily="34" charset="-122"/>
                </a:rPr>
                <a:t>LSAck</a:t>
              </a:r>
              <a:endParaRPr kumimoji="1" lang="zh-CN" altLang="en-US" sz="1867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532023" y="1756674"/>
            <a:ext cx="1450235" cy="944519"/>
            <a:chOff x="1899017" y="1317505"/>
            <a:chExt cx="1087676" cy="708389"/>
          </a:xfrm>
          <a:noFill/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437518" y="1317505"/>
              <a:ext cx="0" cy="708389"/>
            </a:xfrm>
            <a:prstGeom prst="line">
              <a:avLst/>
            </a:prstGeom>
            <a:grp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919181" y="1527723"/>
              <a:ext cx="1067512" cy="22445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1899017" y="1490496"/>
              <a:ext cx="1034178" cy="28474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确定可达性</a:t>
              </a:r>
            </a:p>
          </p:txBody>
        </p:sp>
      </p:grpSp>
      <p:grpSp>
        <p:nvGrpSpPr>
          <p:cNvPr id="41" name="Group 39"/>
          <p:cNvGrpSpPr>
            <a:grpSpLocks/>
          </p:cNvGrpSpPr>
          <p:nvPr/>
        </p:nvGrpSpPr>
        <p:grpSpPr bwMode="auto">
          <a:xfrm>
            <a:off x="2133486" y="2701194"/>
            <a:ext cx="2334292" cy="1598529"/>
            <a:chOff x="215" y="2080"/>
            <a:chExt cx="1476" cy="1095"/>
          </a:xfrm>
        </p:grpSpPr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921" y="2080"/>
              <a:ext cx="0" cy="109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Text Box 41"/>
            <p:cNvSpPr txBox="1">
              <a:spLocks noChangeArrowheads="1"/>
            </p:cNvSpPr>
            <p:nvPr/>
          </p:nvSpPr>
          <p:spPr bwMode="auto">
            <a:xfrm>
              <a:off x="215" y="2469"/>
              <a:ext cx="1476" cy="26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同步链路状态数据库</a:t>
              </a:r>
            </a:p>
          </p:txBody>
        </p:sp>
      </p:grp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2209398" y="5533289"/>
            <a:ext cx="7654452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2209397" y="1768988"/>
            <a:ext cx="2269451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2315359" y="4299723"/>
            <a:ext cx="1617872" cy="1233568"/>
            <a:chOff x="330" y="3175"/>
            <a:chExt cx="1023" cy="845"/>
          </a:xfrm>
        </p:grpSpPr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921" y="3175"/>
              <a:ext cx="0" cy="84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Text Box 46"/>
            <p:cNvSpPr txBox="1">
              <a:spLocks noChangeArrowheads="1"/>
            </p:cNvSpPr>
            <p:nvPr/>
          </p:nvSpPr>
          <p:spPr bwMode="auto">
            <a:xfrm>
              <a:off x="330" y="3414"/>
              <a:ext cx="1023" cy="260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867" b="1" dirty="0">
                  <a:latin typeface="微软雅黑" pitchFamily="34" charset="-122"/>
                  <a:ea typeface="微软雅黑" pitchFamily="34" charset="-122"/>
                </a:rPr>
                <a:t>更新链路状态</a:t>
              </a:r>
            </a:p>
          </p:txBody>
        </p:sp>
      </p:grpSp>
      <p:sp>
        <p:nvSpPr>
          <p:cNvPr id="50" name="标题 4">
            <a:extLst>
              <a:ext uri="{FF2B5EF4-FFF2-40B4-BE49-F238E27FC236}">
                <a16:creationId xmlns:a16="http://schemas.microsoft.com/office/drawing/2014/main" id="{DFC3550E-306A-32BF-EF29-6C2DDE75289C}"/>
              </a:ext>
            </a:extLst>
          </p:cNvPr>
          <p:cNvSpPr txBox="1">
            <a:spLocks/>
          </p:cNvSpPr>
          <p:nvPr/>
        </p:nvSpPr>
        <p:spPr>
          <a:xfrm>
            <a:off x="609600" y="1357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OSPF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004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726859" y="822054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4153804" y="767570"/>
            <a:ext cx="38843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4.6.5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路由器的构成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26859" y="1352414"/>
            <a:ext cx="10923275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路由器工作在网络层，用于互连网络。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是互联网中的关键设备。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路由器的主要工作：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转发分组。</a:t>
            </a:r>
          </a:p>
          <a:p>
            <a:pPr marL="374641">
              <a:lnSpc>
                <a:spcPts val="4400"/>
              </a:lnSpc>
              <a:buClr>
                <a:srgbClr val="7030A0"/>
              </a:buClr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把从某个输入端口收到的分组，按照分组要去的目的地（即目的网络），把该分组从路由器的某个合适的输出端口转发给下一跳路由器。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B3D620-FC79-4F07-ABF1-F6C394AA3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60" y="4372103"/>
            <a:ext cx="4210081" cy="226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6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60" y="829652"/>
            <a:ext cx="1073828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589291" y="785371"/>
            <a:ext cx="7013419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路由器的结构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726859" y="1384507"/>
            <a:ext cx="10738283" cy="44315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" name="页脚占位符 4"/>
          <p:cNvSpPr txBox="1">
            <a:spLocks/>
          </p:cNvSpPr>
          <p:nvPr/>
        </p:nvSpPr>
        <p:spPr>
          <a:xfrm>
            <a:off x="4482027" y="5300281"/>
            <a:ext cx="2596125" cy="37838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课件制作人：谢希仁</a:t>
            </a:r>
          </a:p>
        </p:txBody>
      </p:sp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1680946" y="3145746"/>
            <a:ext cx="7210925" cy="25029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247181" y="1549567"/>
            <a:ext cx="2150627" cy="1321712"/>
          </a:xfrm>
          <a:prstGeom prst="rect">
            <a:avLst/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9270860" y="1499642"/>
            <a:ext cx="0" cy="1617324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8955477" y="2138319"/>
            <a:ext cx="1800931" cy="535531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路由选择、管理。</a:t>
            </a:r>
            <a:endParaRPr kumimoji="1" lang="en-US" altLang="zh-CN" sz="16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90000"/>
              </a:lnSpc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控制层面</a:t>
            </a:r>
            <a:r>
              <a:rPr kumimoji="1"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（软件）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95573" y="1507525"/>
            <a:ext cx="20097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路由选择处理机</a:t>
            </a: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5321783" y="2184147"/>
            <a:ext cx="0" cy="1957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558888" y="1941089"/>
            <a:ext cx="1525793" cy="323201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路由选择协议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2274" y="2382534"/>
            <a:ext cx="1040441" cy="341596"/>
          </a:xfrm>
          <a:prstGeom prst="rect">
            <a:avLst/>
          </a:prstGeom>
          <a:solidFill>
            <a:srgbClr val="99FF3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路由表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026812" y="3467635"/>
            <a:ext cx="2080885" cy="600419"/>
          </a:xfrm>
          <a:prstGeom prst="rect">
            <a:avLst/>
          </a:prstGeom>
          <a:solidFill>
            <a:srgbClr val="66FFFF"/>
          </a:solidFill>
          <a:ln w="12700" cmpd="sng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3552605" y="3602957"/>
            <a:ext cx="418455" cy="327144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V="1">
            <a:off x="1890174" y="3767187"/>
            <a:ext cx="31882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2606534" y="3767187"/>
            <a:ext cx="278969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3288796" y="3767187"/>
            <a:ext cx="27612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3971059" y="3767187"/>
            <a:ext cx="27612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2508016" y="3145746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输入端口</a:t>
            </a: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2026812" y="4769638"/>
            <a:ext cx="2080885" cy="600420"/>
          </a:xfrm>
          <a:prstGeom prst="rect">
            <a:avLst/>
          </a:prstGeom>
          <a:solidFill>
            <a:srgbClr val="00FFFF"/>
          </a:solidFill>
          <a:ln w="12700"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3552605" y="4904964"/>
            <a:ext cx="418455" cy="328457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V="1">
            <a:off x="1890174" y="5069191"/>
            <a:ext cx="31882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2606534" y="5069191"/>
            <a:ext cx="278969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>
            <a:off x="3288796" y="5069191"/>
            <a:ext cx="27612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>
            <a:off x="3971059" y="5069191"/>
            <a:ext cx="27612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4247181" y="3467634"/>
            <a:ext cx="2150627" cy="1912935"/>
          </a:xfrm>
          <a:prstGeom prst="rect">
            <a:avLst/>
          </a:prstGeom>
          <a:solidFill>
            <a:srgbClr val="FFCC00"/>
          </a:solidFill>
          <a:ln w="12700"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 flipH="1">
            <a:off x="6537293" y="3467635"/>
            <a:ext cx="2078039" cy="600419"/>
          </a:xfrm>
          <a:prstGeom prst="rect">
            <a:avLst/>
          </a:prstGeom>
          <a:solidFill>
            <a:srgbClr val="00FFFF"/>
          </a:solidFill>
          <a:ln w="12700"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 flipV="1">
            <a:off x="8468731" y="3767187"/>
            <a:ext cx="28608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 rot="10800000" flipH="1">
            <a:off x="7784116" y="3767187"/>
            <a:ext cx="27754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7114169" y="3767187"/>
            <a:ext cx="278969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6397808" y="3767187"/>
            <a:ext cx="33163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 flipH="1">
            <a:off x="6537293" y="4769638"/>
            <a:ext cx="2078039" cy="600420"/>
          </a:xfrm>
          <a:prstGeom prst="rect">
            <a:avLst/>
          </a:prstGeom>
          <a:solidFill>
            <a:srgbClr val="00FFFF"/>
          </a:solidFill>
          <a:ln w="12700"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 flipV="1">
            <a:off x="8468731" y="5069191"/>
            <a:ext cx="28608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>
            <a:off x="7784116" y="5069191"/>
            <a:ext cx="27754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7114169" y="5069191"/>
            <a:ext cx="278969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Line 34"/>
          <p:cNvSpPr>
            <a:spLocks noChangeShapeType="1"/>
          </p:cNvSpPr>
          <p:nvPr/>
        </p:nvSpPr>
        <p:spPr bwMode="auto">
          <a:xfrm flipV="1">
            <a:off x="6397809" y="5069191"/>
            <a:ext cx="32024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4835110" y="4989851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交换结构</a:t>
            </a:r>
          </a:p>
        </p:txBody>
      </p:sp>
      <p:sp>
        <p:nvSpPr>
          <p:cNvPr id="41" name="Text Box 36"/>
          <p:cNvSpPr txBox="1">
            <a:spLocks noChangeArrowheads="1"/>
          </p:cNvSpPr>
          <p:nvPr/>
        </p:nvSpPr>
        <p:spPr bwMode="auto">
          <a:xfrm>
            <a:off x="2581904" y="4403080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输入端口</a:t>
            </a:r>
          </a:p>
        </p:txBody>
      </p:sp>
      <p:sp>
        <p:nvSpPr>
          <p:cNvPr id="42" name="Text Box 37"/>
          <p:cNvSpPr txBox="1">
            <a:spLocks noChangeArrowheads="1"/>
          </p:cNvSpPr>
          <p:nvPr/>
        </p:nvSpPr>
        <p:spPr bwMode="auto">
          <a:xfrm>
            <a:off x="7089540" y="3145746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输出端口</a:t>
            </a:r>
          </a:p>
        </p:txBody>
      </p:sp>
      <p:sp>
        <p:nvSpPr>
          <p:cNvPr id="43" name="Line 38"/>
          <p:cNvSpPr>
            <a:spLocks noChangeShapeType="1"/>
          </p:cNvSpPr>
          <p:nvPr/>
        </p:nvSpPr>
        <p:spPr bwMode="auto">
          <a:xfrm>
            <a:off x="1366982" y="3127475"/>
            <a:ext cx="9741285" cy="0"/>
          </a:xfrm>
          <a:prstGeom prst="line">
            <a:avLst/>
          </a:prstGeom>
          <a:noFill/>
          <a:ln w="28575">
            <a:solidFill>
              <a:srgbClr val="3333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Line 39"/>
          <p:cNvSpPr>
            <a:spLocks noChangeShapeType="1"/>
          </p:cNvSpPr>
          <p:nvPr/>
        </p:nvSpPr>
        <p:spPr bwMode="auto">
          <a:xfrm>
            <a:off x="9270860" y="3127475"/>
            <a:ext cx="0" cy="252123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Text Box 40"/>
          <p:cNvSpPr txBox="1">
            <a:spLocks noChangeArrowheads="1"/>
          </p:cNvSpPr>
          <p:nvPr/>
        </p:nvSpPr>
        <p:spPr bwMode="auto">
          <a:xfrm>
            <a:off x="8955478" y="4151927"/>
            <a:ext cx="1741153" cy="535531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分组转发。</a:t>
            </a:r>
            <a:endParaRPr kumimoji="1" lang="en-US" altLang="zh-CN" sz="16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90000"/>
              </a:lnSpc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数据层面</a:t>
            </a:r>
            <a:r>
              <a:rPr kumimoji="1" lang="zh-CN" altLang="en-US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（硬件）</a:t>
            </a:r>
          </a:p>
        </p:txBody>
      </p:sp>
      <p:sp>
        <p:nvSpPr>
          <p:cNvPr id="46" name="Rectangle 41"/>
          <p:cNvSpPr>
            <a:spLocks noChangeArrowheads="1"/>
          </p:cNvSpPr>
          <p:nvPr/>
        </p:nvSpPr>
        <p:spPr bwMode="auto">
          <a:xfrm>
            <a:off x="4523305" y="3631862"/>
            <a:ext cx="1595535" cy="1146973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Rectangle 42"/>
          <p:cNvSpPr>
            <a:spLocks noChangeArrowheads="1"/>
          </p:cNvSpPr>
          <p:nvPr/>
        </p:nvSpPr>
        <p:spPr bwMode="auto">
          <a:xfrm>
            <a:off x="4802273" y="4232283"/>
            <a:ext cx="1040443" cy="38495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转发表</a:t>
            </a: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4802274" y="3712007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分组处理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7089540" y="4403080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输出端口</a:t>
            </a:r>
          </a:p>
        </p:txBody>
      </p:sp>
      <p:sp>
        <p:nvSpPr>
          <p:cNvPr id="50" name="Text Box 45"/>
          <p:cNvSpPr txBox="1">
            <a:spLocks noChangeArrowheads="1"/>
          </p:cNvSpPr>
          <p:nvPr/>
        </p:nvSpPr>
        <p:spPr bwMode="auto">
          <a:xfrm rot="5400000">
            <a:off x="3031476" y="4138551"/>
            <a:ext cx="3818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51" name="Text Box 46"/>
          <p:cNvSpPr txBox="1">
            <a:spLocks noChangeArrowheads="1"/>
          </p:cNvSpPr>
          <p:nvPr/>
        </p:nvSpPr>
        <p:spPr bwMode="auto">
          <a:xfrm rot="5400000">
            <a:off x="7517762" y="4138551"/>
            <a:ext cx="3818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52" name="Line 47"/>
          <p:cNvSpPr>
            <a:spLocks noChangeShapeType="1"/>
          </p:cNvSpPr>
          <p:nvPr/>
        </p:nvSpPr>
        <p:spPr bwMode="auto">
          <a:xfrm flipH="1" flipV="1">
            <a:off x="3831574" y="3849958"/>
            <a:ext cx="970700" cy="492687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 flipH="1">
            <a:off x="3831574" y="4505559"/>
            <a:ext cx="970700" cy="49268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Rectangle 49"/>
          <p:cNvSpPr>
            <a:spLocks noChangeArrowheads="1"/>
          </p:cNvSpPr>
          <p:nvPr/>
        </p:nvSpPr>
        <p:spPr bwMode="auto">
          <a:xfrm>
            <a:off x="8057392" y="3659454"/>
            <a:ext cx="415608" cy="233861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55" name="Rectangle 50"/>
          <p:cNvSpPr>
            <a:spLocks noChangeArrowheads="1"/>
          </p:cNvSpPr>
          <p:nvPr/>
        </p:nvSpPr>
        <p:spPr bwMode="auto">
          <a:xfrm>
            <a:off x="8078743" y="4949633"/>
            <a:ext cx="415608" cy="236489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56" name="Rectangle 51"/>
          <p:cNvSpPr>
            <a:spLocks noChangeArrowheads="1"/>
          </p:cNvSpPr>
          <p:nvPr/>
        </p:nvSpPr>
        <p:spPr bwMode="auto">
          <a:xfrm>
            <a:off x="2231768" y="4949633"/>
            <a:ext cx="415608" cy="236489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57" name="Rectangle 52"/>
          <p:cNvSpPr>
            <a:spLocks noChangeArrowheads="1"/>
          </p:cNvSpPr>
          <p:nvPr/>
        </p:nvSpPr>
        <p:spPr bwMode="auto">
          <a:xfrm flipH="1">
            <a:off x="6716631" y="3602957"/>
            <a:ext cx="415608" cy="327144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58" name="Rectangle 53"/>
          <p:cNvSpPr>
            <a:spLocks noChangeArrowheads="1"/>
          </p:cNvSpPr>
          <p:nvPr/>
        </p:nvSpPr>
        <p:spPr bwMode="auto">
          <a:xfrm flipH="1">
            <a:off x="6716631" y="4904964"/>
            <a:ext cx="415608" cy="328457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59" name="Rectangle 54"/>
          <p:cNvSpPr>
            <a:spLocks noChangeArrowheads="1"/>
          </p:cNvSpPr>
          <p:nvPr/>
        </p:nvSpPr>
        <p:spPr bwMode="auto">
          <a:xfrm>
            <a:off x="2231768" y="3659454"/>
            <a:ext cx="415608" cy="233861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60" name="Rectangle 55"/>
          <p:cNvSpPr>
            <a:spLocks noChangeArrowheads="1"/>
          </p:cNvSpPr>
          <p:nvPr/>
        </p:nvSpPr>
        <p:spPr bwMode="auto">
          <a:xfrm>
            <a:off x="2892185" y="3631862"/>
            <a:ext cx="415608" cy="273276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61" name="Rectangle 56"/>
          <p:cNvSpPr>
            <a:spLocks noChangeArrowheads="1"/>
          </p:cNvSpPr>
          <p:nvPr/>
        </p:nvSpPr>
        <p:spPr bwMode="auto">
          <a:xfrm>
            <a:off x="2892185" y="4932553"/>
            <a:ext cx="415608" cy="273276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62" name="Rectangle 57"/>
          <p:cNvSpPr>
            <a:spLocks noChangeArrowheads="1"/>
          </p:cNvSpPr>
          <p:nvPr/>
        </p:nvSpPr>
        <p:spPr bwMode="auto">
          <a:xfrm flipH="1">
            <a:off x="7387012" y="3631862"/>
            <a:ext cx="415608" cy="273276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63" name="Rectangle 58"/>
          <p:cNvSpPr>
            <a:spLocks noChangeArrowheads="1"/>
          </p:cNvSpPr>
          <p:nvPr/>
        </p:nvSpPr>
        <p:spPr bwMode="auto">
          <a:xfrm flipH="1">
            <a:off x="7396975" y="4932553"/>
            <a:ext cx="415608" cy="273276"/>
          </a:xfrm>
          <a:prstGeom prst="rect">
            <a:avLst/>
          </a:prstGeom>
          <a:solidFill>
            <a:srgbClr val="00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>
            <a:off x="5113979" y="2810844"/>
            <a:ext cx="415608" cy="655601"/>
          </a:xfrm>
          <a:prstGeom prst="upDownArrow">
            <a:avLst>
              <a:gd name="adj1" fmla="val 50000"/>
              <a:gd name="adj2" fmla="val 34178"/>
            </a:avLst>
          </a:prstGeom>
          <a:solidFill>
            <a:srgbClr val="CC00CC"/>
          </a:solidFill>
          <a:ln w="2857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7" name="肘形连接符 66"/>
          <p:cNvCxnSpPr>
            <a:stCxn id="9" idx="1"/>
            <a:endCxn id="17" idx="0"/>
          </p:cNvCxnSpPr>
          <p:nvPr/>
        </p:nvCxnSpPr>
        <p:spPr>
          <a:xfrm rot="10800000" flipV="1">
            <a:off x="3761832" y="2210422"/>
            <a:ext cx="485349" cy="1392535"/>
          </a:xfrm>
          <a:prstGeom prst="bentConnector2">
            <a:avLst/>
          </a:prstGeom>
          <a:ln w="12700">
            <a:prstDash val="sysDash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9351742" y="1692189"/>
            <a:ext cx="1829347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路由选择部分</a:t>
            </a:r>
            <a:endParaRPr lang="en-US" altLang="zh-CN" sz="213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351742" y="3334873"/>
            <a:ext cx="1829347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分组转发部分</a:t>
            </a:r>
          </a:p>
        </p:txBody>
      </p:sp>
      <p:cxnSp>
        <p:nvCxnSpPr>
          <p:cNvPr id="71" name="直接箭头连接符 70"/>
          <p:cNvCxnSpPr/>
          <p:nvPr/>
        </p:nvCxnSpPr>
        <p:spPr>
          <a:xfrm>
            <a:off x="3761831" y="3930102"/>
            <a:ext cx="0" cy="97486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70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821447" y="828031"/>
            <a:ext cx="10471285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821448" y="761396"/>
            <a:ext cx="4964821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“转发”和“路由选择”的区别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21841" y="1386138"/>
            <a:ext cx="9752441" cy="4709861"/>
            <a:chOff x="906033" y="1039603"/>
            <a:chExt cx="7249640" cy="3532396"/>
          </a:xfrm>
        </p:grpSpPr>
        <p:sp>
          <p:nvSpPr>
            <p:cNvPr id="6" name="任意多边形 5"/>
            <p:cNvSpPr/>
            <p:nvPr/>
          </p:nvSpPr>
          <p:spPr>
            <a:xfrm>
              <a:off x="906033" y="1039603"/>
              <a:ext cx="3387682" cy="576000"/>
            </a:xfrm>
            <a:custGeom>
              <a:avLst/>
              <a:gdLst>
                <a:gd name="connsiteX0" fmla="*/ 0 w 3387682"/>
                <a:gd name="connsiteY0" fmla="*/ 0 h 576000"/>
                <a:gd name="connsiteX1" fmla="*/ 3387682 w 3387682"/>
                <a:gd name="connsiteY1" fmla="*/ 0 h 576000"/>
                <a:gd name="connsiteX2" fmla="*/ 3387682 w 3387682"/>
                <a:gd name="connsiteY2" fmla="*/ 576000 h 576000"/>
                <a:gd name="connsiteX3" fmla="*/ 0 w 3387682"/>
                <a:gd name="connsiteY3" fmla="*/ 576000 h 576000"/>
                <a:gd name="connsiteX4" fmla="*/ 0 w 3387682"/>
                <a:gd name="connsiteY4" fmla="*/ 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7682" h="576000">
                  <a:moveTo>
                    <a:pt x="0" y="0"/>
                  </a:moveTo>
                  <a:lnTo>
                    <a:pt x="3387682" y="0"/>
                  </a:lnTo>
                  <a:lnTo>
                    <a:pt x="3387682" y="576000"/>
                  </a:lnTo>
                  <a:lnTo>
                    <a:pt x="0" y="576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0688" tIns="97536" rIns="170688" bIns="97536" numCol="1" spcCol="1270" anchor="ctr" anchorCtr="0">
              <a:noAutofit/>
            </a:bodyPr>
            <a:lstStyle/>
            <a:p>
              <a:pPr algn="ctr" defTabSz="106677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转发</a:t>
              </a: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906033" y="1615602"/>
              <a:ext cx="3387682" cy="2956397"/>
            </a:xfrm>
            <a:custGeom>
              <a:avLst/>
              <a:gdLst>
                <a:gd name="connsiteX0" fmla="*/ 0 w 3387682"/>
                <a:gd name="connsiteY0" fmla="*/ 0 h 2854800"/>
                <a:gd name="connsiteX1" fmla="*/ 3387682 w 3387682"/>
                <a:gd name="connsiteY1" fmla="*/ 0 h 2854800"/>
                <a:gd name="connsiteX2" fmla="*/ 3387682 w 3387682"/>
                <a:gd name="connsiteY2" fmla="*/ 2854800 h 2854800"/>
                <a:gd name="connsiteX3" fmla="*/ 0 w 3387682"/>
                <a:gd name="connsiteY3" fmla="*/ 2854800 h 2854800"/>
                <a:gd name="connsiteX4" fmla="*/ 0 w 3387682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7682" h="2854800">
                  <a:moveTo>
                    <a:pt x="0" y="0"/>
                  </a:moveTo>
                  <a:lnTo>
                    <a:pt x="3387682" y="0"/>
                  </a:lnTo>
                  <a:lnTo>
                    <a:pt x="3387682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132757" bIns="149352" numCol="1" spcCol="1270" anchor="t" anchorCtr="0">
              <a:noAutofit/>
            </a:bodyPr>
            <a:lstStyle/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根据转发表将用户的 </a:t>
              </a:r>
              <a:r>
                <a:rPr lang="en-US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数据报从合适的端口转发出去。</a:t>
              </a:r>
            </a:p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仅涉及到一个路由器。</a:t>
              </a:r>
            </a:p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转发表是从路由表得出的。</a:t>
              </a:r>
            </a:p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转发表必须包含完成转发功能所必需的信息，每一行必须包含从要到达的目的网络到输出端口和某些 </a:t>
              </a:r>
              <a:r>
                <a:rPr lang="en-US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MAC </a:t>
              </a: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地址信息（如下一跳的以太网地址）的映射。</a:t>
              </a:r>
            </a:p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4767991" y="1039603"/>
              <a:ext cx="3387682" cy="576000"/>
            </a:xfrm>
            <a:custGeom>
              <a:avLst/>
              <a:gdLst>
                <a:gd name="connsiteX0" fmla="*/ 0 w 3387682"/>
                <a:gd name="connsiteY0" fmla="*/ 0 h 576000"/>
                <a:gd name="connsiteX1" fmla="*/ 3387682 w 3387682"/>
                <a:gd name="connsiteY1" fmla="*/ 0 h 576000"/>
                <a:gd name="connsiteX2" fmla="*/ 3387682 w 3387682"/>
                <a:gd name="connsiteY2" fmla="*/ 576000 h 576000"/>
                <a:gd name="connsiteX3" fmla="*/ 0 w 3387682"/>
                <a:gd name="connsiteY3" fmla="*/ 576000 h 576000"/>
                <a:gd name="connsiteX4" fmla="*/ 0 w 3387682"/>
                <a:gd name="connsiteY4" fmla="*/ 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7682" h="576000">
                  <a:moveTo>
                    <a:pt x="0" y="0"/>
                  </a:moveTo>
                  <a:lnTo>
                    <a:pt x="3387682" y="0"/>
                  </a:lnTo>
                  <a:lnTo>
                    <a:pt x="3387682" y="576000"/>
                  </a:lnTo>
                  <a:lnTo>
                    <a:pt x="0" y="576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hueOff val="-4464770"/>
                <a:satOff val="26899"/>
                <a:lumOff val="2156"/>
                <a:alphaOff val="0"/>
              </a:schemeClr>
            </a:lnRef>
            <a:fillRef idx="1">
              <a:schemeClr val="accent4">
                <a:hueOff val="-4464770"/>
                <a:satOff val="26899"/>
                <a:lumOff val="2156"/>
                <a:alphaOff val="0"/>
              </a:schemeClr>
            </a:fillRef>
            <a:effectRef idx="0">
              <a:schemeClr val="accent4">
                <a:hueOff val="-4464770"/>
                <a:satOff val="26899"/>
                <a:lumOff val="215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0688" tIns="97536" rIns="170688" bIns="97536" numCol="1" spcCol="1270" anchor="ctr" anchorCtr="0">
              <a:noAutofit/>
            </a:bodyPr>
            <a:lstStyle/>
            <a:p>
              <a:pPr algn="ctr" defTabSz="106677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路由选择</a:t>
              </a: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4767991" y="1615602"/>
              <a:ext cx="3387682" cy="2956397"/>
            </a:xfrm>
            <a:custGeom>
              <a:avLst/>
              <a:gdLst>
                <a:gd name="connsiteX0" fmla="*/ 0 w 3387682"/>
                <a:gd name="connsiteY0" fmla="*/ 0 h 2854800"/>
                <a:gd name="connsiteX1" fmla="*/ 3387682 w 3387682"/>
                <a:gd name="connsiteY1" fmla="*/ 0 h 2854800"/>
                <a:gd name="connsiteX2" fmla="*/ 3387682 w 3387682"/>
                <a:gd name="connsiteY2" fmla="*/ 2854800 h 2854800"/>
                <a:gd name="connsiteX3" fmla="*/ 0 w 3387682"/>
                <a:gd name="connsiteY3" fmla="*/ 2854800 h 2854800"/>
                <a:gd name="connsiteX4" fmla="*/ 0 w 3387682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7682" h="2854800">
                  <a:moveTo>
                    <a:pt x="0" y="0"/>
                  </a:moveTo>
                  <a:lnTo>
                    <a:pt x="3387682" y="0"/>
                  </a:lnTo>
                  <a:lnTo>
                    <a:pt x="3387682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-3945710"/>
                <a:satOff val="22157"/>
                <a:lumOff val="1408"/>
                <a:alphaOff val="0"/>
              </a:schemeClr>
            </a:lnRef>
            <a:fillRef idx="1">
              <a:schemeClr val="accent4">
                <a:tint val="40000"/>
                <a:alpha val="90000"/>
                <a:hueOff val="-3945710"/>
                <a:satOff val="22157"/>
                <a:lumOff val="1408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-3945710"/>
                <a:satOff val="22157"/>
                <a:lumOff val="140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132757" bIns="149352" numCol="1" spcCol="1270" anchor="t" anchorCtr="0">
              <a:noAutofit/>
            </a:bodyPr>
            <a:lstStyle/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按照路由选择算法，根据网络拓扑的变化情况，</a:t>
              </a:r>
              <a:r>
                <a:rPr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</a:t>
              </a: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地改变所选择的路由，并由此构造出整个的路由表。</a:t>
              </a:r>
            </a:p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涉及到</a:t>
              </a:r>
              <a:r>
                <a:rPr lang="zh-CN" altLang="en-US" sz="2133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很多路由器</a:t>
              </a: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152396" lvl="1" indent="-152396" defTabSz="829713">
                <a:lnSpc>
                  <a:spcPts val="32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路由表一般仅包含从目的网络到下一跳（用 </a:t>
              </a:r>
              <a:r>
                <a:rPr lang="en-US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地址表示）的映射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209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6A68541E-9A27-2EE7-34EE-80480666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6" y="59530"/>
            <a:ext cx="3057547" cy="17478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A66117C-FF4D-77EA-E859-2BEE2E66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86" y="742936"/>
            <a:ext cx="3752877" cy="19240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A2AD894-B7D5-FCC3-49E3-800300C5B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100" y="1643250"/>
            <a:ext cx="3819553" cy="162402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C85A871-63A8-7109-E52C-F73BCFF80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596" y="2349145"/>
            <a:ext cx="6100807" cy="297182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ECE429D-E761-432C-4744-A16B7BE60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2943" y="160872"/>
            <a:ext cx="3333774" cy="178118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6FAD295-A9E7-8AA2-E93B-0975AD45A0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6496" y="4435330"/>
            <a:ext cx="5747410" cy="233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723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D4D878F-2F5B-8455-A43C-8D49C966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1125"/>
            <a:ext cx="2771795" cy="5857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90FC96-B9DD-D133-1BA2-728520C9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37" y="2389579"/>
            <a:ext cx="5629316" cy="6238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BF0102C-85C1-4644-D499-310558808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6" y="207165"/>
            <a:ext cx="6467522" cy="4286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9790A7-D287-9EC8-4D36-71102C31E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2" y="796069"/>
            <a:ext cx="6047688" cy="8230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E9BE0CE-29BD-0CDA-CCA1-388E97C88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86" y="1847841"/>
            <a:ext cx="5229263" cy="43815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D2A4956-66A7-90D7-340A-2B7C3B1AE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661" y="2500950"/>
            <a:ext cx="5272126" cy="4476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FF10C9F-8F00-C84C-C225-83A9A54768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400" y="4712273"/>
            <a:ext cx="6283694" cy="10078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3BE066-062C-7379-BA66-D1AEA428B7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002" y="3259439"/>
            <a:ext cx="9004412" cy="11420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DDF66B5-08B7-6F77-6B01-5A81B109602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229" t="29039" r="27608" b="44133"/>
          <a:stretch/>
        </p:blipFill>
        <p:spPr>
          <a:xfrm>
            <a:off x="6496008" y="4401462"/>
            <a:ext cx="5402688" cy="13804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A7DE932-6B1A-A780-512D-3EBA2574DE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356" y="485643"/>
            <a:ext cx="5695992" cy="76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278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212F0C4-A65B-45A7-E77D-69A15164F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54" y="98090"/>
            <a:ext cx="3944712" cy="24765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6D040D-B500-89BD-977D-BA8318973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50" y="1222344"/>
            <a:ext cx="4268885" cy="24765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CAA538-8A88-A9F4-229D-F277F81DD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23" y="3926837"/>
            <a:ext cx="3749214" cy="23621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CFD7EE2-2042-FC04-820F-9E42451E5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930" y="2140745"/>
            <a:ext cx="9167911" cy="7001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111AA33-FEC0-DF30-33B9-7EC3B6C6B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306" y="114278"/>
            <a:ext cx="7091081" cy="10286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4418893-8701-BA9C-2BA2-728821E73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5259" y="3281516"/>
            <a:ext cx="5791242" cy="25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188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902DBA41-3DDA-5487-2FE5-3EBBA27DE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1" y="189935"/>
            <a:ext cx="8029564" cy="547152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4F2317-4D5E-29DF-9E6C-1CC8EF7EAC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55370" r="45506"/>
          <a:stretch/>
        </p:blipFill>
        <p:spPr>
          <a:xfrm>
            <a:off x="7842726" y="189935"/>
            <a:ext cx="3791590" cy="21477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BB8288-EECE-8C61-BC4E-8BC29AB757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421"/>
          <a:stretch/>
        </p:blipFill>
        <p:spPr>
          <a:xfrm>
            <a:off x="8363267" y="2512449"/>
            <a:ext cx="3382368" cy="200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073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936BB-B4E4-C565-7EDF-E1254E01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365125"/>
            <a:ext cx="11834191" cy="1325563"/>
          </a:xfrm>
        </p:spPr>
        <p:txBody>
          <a:bodyPr/>
          <a:lstStyle/>
          <a:p>
            <a:r>
              <a:rPr lang="zh-CN" altLang="en-US" dirty="0"/>
              <a:t>第五章 </a:t>
            </a:r>
            <a:r>
              <a:rPr lang="en-US" altLang="zh-CN" dirty="0"/>
              <a:t>（</a:t>
            </a:r>
            <a:r>
              <a:rPr lang="zh-CN" altLang="en-US" b="1" dirty="0"/>
              <a:t>重要</a:t>
            </a:r>
            <a:r>
              <a:rPr lang="zh-CN" altLang="en-US" dirty="0"/>
              <a:t>，选择、填空、简答、案例</a:t>
            </a:r>
            <a:r>
              <a:rPr lang="en-US" altLang="zh-CN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2BE90-5A92-755B-5839-F615ACCEA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0078" cy="4351338"/>
          </a:xfrm>
        </p:spPr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/>
          </a:p>
          <a:p>
            <a:pPr lvl="1"/>
            <a:r>
              <a:rPr lang="zh-CN" altLang="en-US" dirty="0"/>
              <a:t>端口</a:t>
            </a:r>
            <a:endParaRPr lang="en-US" altLang="zh-CN" dirty="0"/>
          </a:p>
          <a:p>
            <a:pPr lvl="1"/>
            <a:r>
              <a:rPr lang="en-US" altLang="zh-CN" dirty="0"/>
              <a:t>UDP</a:t>
            </a:r>
            <a:r>
              <a:rPr lang="zh-CN" altLang="en-US" dirty="0"/>
              <a:t>与</a:t>
            </a:r>
            <a:r>
              <a:rPr lang="en-US" altLang="zh-CN" dirty="0"/>
              <a:t>TCP</a:t>
            </a:r>
            <a:r>
              <a:rPr lang="zh-CN" altLang="en-US" dirty="0"/>
              <a:t>的异同</a:t>
            </a:r>
            <a:endParaRPr lang="en-US" altLang="zh-CN" dirty="0"/>
          </a:p>
          <a:p>
            <a:r>
              <a:rPr lang="en-US" altLang="zh-CN" dirty="0"/>
              <a:t>UDP</a:t>
            </a:r>
            <a:r>
              <a:rPr lang="zh-CN" altLang="en-US" dirty="0"/>
              <a:t>用户数据报协议</a:t>
            </a:r>
            <a:endParaRPr lang="en-US" altLang="zh-CN" dirty="0"/>
          </a:p>
          <a:p>
            <a:pPr lvl="1"/>
            <a:r>
              <a:rPr lang="zh-CN" altLang="en-US" dirty="0"/>
              <a:t>特点</a:t>
            </a:r>
            <a:endParaRPr lang="en-US" altLang="zh-CN" dirty="0"/>
          </a:p>
          <a:p>
            <a:pPr lvl="1"/>
            <a:r>
              <a:rPr lang="zh-CN" altLang="en-US" dirty="0"/>
              <a:t>可靠性保证来自应用程序</a:t>
            </a:r>
            <a:endParaRPr lang="en-US" altLang="zh-CN" dirty="0"/>
          </a:p>
          <a:p>
            <a:pPr lvl="1"/>
            <a:r>
              <a:rPr lang="zh-CN" altLang="en-US" dirty="0"/>
              <a:t>报文格式与封装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49F558-09A5-62E3-9663-943D26453924}"/>
              </a:ext>
            </a:extLst>
          </p:cNvPr>
          <p:cNvSpPr txBox="1"/>
          <p:nvPr/>
        </p:nvSpPr>
        <p:spPr>
          <a:xfrm>
            <a:off x="6680718" y="1825625"/>
            <a:ext cx="5218923" cy="3342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TCP</a:t>
            </a:r>
            <a:r>
              <a:rPr lang="zh-CN" altLang="en-US" dirty="0"/>
              <a:t>可靠传输</a:t>
            </a:r>
            <a:endParaRPr lang="en-US" altLang="zh-CN" dirty="0"/>
          </a:p>
          <a:p>
            <a:pPr lvl="1"/>
            <a:r>
              <a:rPr lang="zh-CN" altLang="en-US" dirty="0"/>
              <a:t>特点</a:t>
            </a:r>
            <a:endParaRPr lang="en-US" altLang="zh-CN" dirty="0"/>
          </a:p>
          <a:p>
            <a:pPr lvl="1"/>
            <a:r>
              <a:rPr lang="zh-CN" altLang="en-US" dirty="0"/>
              <a:t>报文格式预封装</a:t>
            </a:r>
            <a:endParaRPr lang="en-US" altLang="zh-CN" dirty="0"/>
          </a:p>
          <a:p>
            <a:pPr lvl="1"/>
            <a:r>
              <a:rPr lang="zh-CN" altLang="en-US" dirty="0"/>
              <a:t>连接的建立与释放（会绘图）</a:t>
            </a:r>
            <a:endParaRPr lang="en-US" altLang="zh-CN" dirty="0"/>
          </a:p>
          <a:p>
            <a:pPr lvl="1"/>
            <a:r>
              <a:rPr lang="zh-CN" altLang="en-US" dirty="0"/>
              <a:t>流量控制</a:t>
            </a:r>
            <a:endParaRPr lang="en-US" altLang="zh-CN" dirty="0"/>
          </a:p>
          <a:p>
            <a:pPr lvl="1"/>
            <a:r>
              <a:rPr lang="zh-CN" altLang="en-US" dirty="0"/>
              <a:t>拥塞控制</a:t>
            </a:r>
            <a:endParaRPr lang="en-US" altLang="zh-CN" dirty="0"/>
          </a:p>
          <a:p>
            <a:pPr lvl="1"/>
            <a:r>
              <a:rPr lang="zh-CN" altLang="en-US" dirty="0"/>
              <a:t>停等协议（确认机制）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901386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8" name="AutoShape 5"/>
          <p:cNvSpPr>
            <a:spLocks noChangeArrowheads="1"/>
          </p:cNvSpPr>
          <p:nvPr/>
        </p:nvSpPr>
        <p:spPr bwMode="auto">
          <a:xfrm>
            <a:off x="726858" y="841882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079" name="Rectangle 6"/>
          <p:cNvSpPr>
            <a:spLocks noChangeArrowheads="1"/>
          </p:cNvSpPr>
          <p:nvPr/>
        </p:nvSpPr>
        <p:spPr bwMode="auto">
          <a:xfrm>
            <a:off x="3985390" y="785521"/>
            <a:ext cx="400622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5.1.3 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运输层的端口</a:t>
            </a:r>
          </a:p>
        </p:txBody>
      </p:sp>
      <p:sp>
        <p:nvSpPr>
          <p:cNvPr id="1049080" name="圆角矩形 4"/>
          <p:cNvSpPr/>
          <p:nvPr/>
        </p:nvSpPr>
        <p:spPr>
          <a:xfrm>
            <a:off x="726860" y="1419613"/>
            <a:ext cx="10738280" cy="275196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312" name="组合 163"/>
          <p:cNvGrpSpPr/>
          <p:nvPr/>
        </p:nvGrpSpPr>
        <p:grpSpPr>
          <a:xfrm>
            <a:off x="1806393" y="1498477"/>
            <a:ext cx="8409372" cy="2114363"/>
            <a:chOff x="1354795" y="1123857"/>
            <a:chExt cx="6307029" cy="1585772"/>
          </a:xfrm>
        </p:grpSpPr>
        <p:sp>
          <p:nvSpPr>
            <p:cNvPr id="1049081" name="Rectangle 174"/>
            <p:cNvSpPr>
              <a:spLocks noChangeArrowheads="1"/>
            </p:cNvSpPr>
            <p:nvPr/>
          </p:nvSpPr>
          <p:spPr bwMode="auto">
            <a:xfrm>
              <a:off x="1518204" y="1951646"/>
              <a:ext cx="5989193" cy="243382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82" name="Rectangle 2"/>
            <p:cNvSpPr>
              <a:spLocks noChangeArrowheads="1"/>
            </p:cNvSpPr>
            <p:nvPr/>
          </p:nvSpPr>
          <p:spPr bwMode="auto">
            <a:xfrm>
              <a:off x="1523156" y="1377825"/>
              <a:ext cx="996549" cy="13142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83" name="Line 7"/>
            <p:cNvSpPr>
              <a:spLocks noChangeShapeType="1"/>
            </p:cNvSpPr>
            <p:nvPr/>
          </p:nvSpPr>
          <p:spPr bwMode="auto">
            <a:xfrm>
              <a:off x="1523156" y="2198772"/>
              <a:ext cx="9953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84" name="Line 8"/>
            <p:cNvSpPr>
              <a:spLocks noChangeShapeType="1"/>
            </p:cNvSpPr>
            <p:nvPr/>
          </p:nvSpPr>
          <p:spPr bwMode="auto">
            <a:xfrm>
              <a:off x="1523156" y="2446835"/>
              <a:ext cx="9953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85" name="Rectangle 9"/>
            <p:cNvSpPr>
              <a:spLocks noChangeArrowheads="1"/>
            </p:cNvSpPr>
            <p:nvPr/>
          </p:nvSpPr>
          <p:spPr bwMode="auto">
            <a:xfrm>
              <a:off x="1528108" y="1720432"/>
              <a:ext cx="989121" cy="231214"/>
            </a:xfrm>
            <a:prstGeom prst="rect">
              <a:avLst/>
            </a:prstGeom>
            <a:solidFill>
              <a:srgbClr val="FF6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86" name="Rectangle 10"/>
            <p:cNvSpPr>
              <a:spLocks noChangeArrowheads="1"/>
            </p:cNvSpPr>
            <p:nvPr/>
          </p:nvSpPr>
          <p:spPr bwMode="auto">
            <a:xfrm>
              <a:off x="1490519" y="1542643"/>
              <a:ext cx="277722" cy="1166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ts val="533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ts val="8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ts val="1067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ts val="8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grpSp>
          <p:nvGrpSpPr>
            <p:cNvPr id="313" name="Group 15"/>
            <p:cNvGrpSpPr/>
            <p:nvPr/>
          </p:nvGrpSpPr>
          <p:grpSpPr bwMode="auto">
            <a:xfrm>
              <a:off x="3388744" y="1957262"/>
              <a:ext cx="729151" cy="734827"/>
              <a:chOff x="2017" y="1543"/>
              <a:chExt cx="619" cy="922"/>
            </a:xfrm>
          </p:grpSpPr>
          <p:sp>
            <p:nvSpPr>
              <p:cNvPr id="1049087" name="Rectangle 12"/>
              <p:cNvSpPr>
                <a:spLocks noChangeArrowheads="1"/>
              </p:cNvSpPr>
              <p:nvPr/>
            </p:nvSpPr>
            <p:spPr bwMode="auto">
              <a:xfrm>
                <a:off x="2017" y="1543"/>
                <a:ext cx="619" cy="92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9088" name="Line 13"/>
              <p:cNvSpPr>
                <a:spLocks noChangeShapeType="1"/>
              </p:cNvSpPr>
              <p:nvPr/>
            </p:nvSpPr>
            <p:spPr bwMode="auto">
              <a:xfrm>
                <a:off x="2017" y="1845"/>
                <a:ext cx="61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9089" name="Line 14"/>
              <p:cNvSpPr>
                <a:spLocks noChangeShapeType="1"/>
              </p:cNvSpPr>
              <p:nvPr/>
            </p:nvSpPr>
            <p:spPr bwMode="auto">
              <a:xfrm>
                <a:off x="2017" y="2157"/>
                <a:ext cx="61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49090" name="Rectangle 16"/>
            <p:cNvSpPr>
              <a:spLocks noChangeArrowheads="1"/>
            </p:cNvSpPr>
            <p:nvPr/>
          </p:nvSpPr>
          <p:spPr bwMode="auto">
            <a:xfrm>
              <a:off x="6505897" y="1377825"/>
              <a:ext cx="997786" cy="13142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91" name="Line 21"/>
            <p:cNvSpPr>
              <a:spLocks noChangeShapeType="1"/>
            </p:cNvSpPr>
            <p:nvPr/>
          </p:nvSpPr>
          <p:spPr bwMode="auto">
            <a:xfrm>
              <a:off x="6505897" y="2198772"/>
              <a:ext cx="9965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92" name="Line 22"/>
            <p:cNvSpPr>
              <a:spLocks noChangeShapeType="1"/>
            </p:cNvSpPr>
            <p:nvPr/>
          </p:nvSpPr>
          <p:spPr bwMode="auto">
            <a:xfrm>
              <a:off x="6505897" y="2446835"/>
              <a:ext cx="9965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093" name="Rectangle 23"/>
            <p:cNvSpPr>
              <a:spLocks noChangeArrowheads="1"/>
            </p:cNvSpPr>
            <p:nvPr/>
          </p:nvSpPr>
          <p:spPr bwMode="auto">
            <a:xfrm>
              <a:off x="6508373" y="1720432"/>
              <a:ext cx="995310" cy="231214"/>
            </a:xfrm>
            <a:prstGeom prst="rect">
              <a:avLst/>
            </a:prstGeom>
            <a:solidFill>
              <a:srgbClr val="FF6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4" name="Group 29"/>
            <p:cNvGrpSpPr/>
            <p:nvPr/>
          </p:nvGrpSpPr>
          <p:grpSpPr bwMode="auto">
            <a:xfrm>
              <a:off x="4896565" y="1957262"/>
              <a:ext cx="729151" cy="734827"/>
              <a:chOff x="3295" y="1543"/>
              <a:chExt cx="619" cy="922"/>
            </a:xfrm>
          </p:grpSpPr>
          <p:sp>
            <p:nvSpPr>
              <p:cNvPr id="1049094" name="Rectangle 26"/>
              <p:cNvSpPr>
                <a:spLocks noChangeArrowheads="1"/>
              </p:cNvSpPr>
              <p:nvPr/>
            </p:nvSpPr>
            <p:spPr bwMode="auto">
              <a:xfrm>
                <a:off x="3295" y="1543"/>
                <a:ext cx="619" cy="92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9095" name="Line 27"/>
              <p:cNvSpPr>
                <a:spLocks noChangeShapeType="1"/>
              </p:cNvSpPr>
              <p:nvPr/>
            </p:nvSpPr>
            <p:spPr bwMode="auto">
              <a:xfrm>
                <a:off x="3295" y="1845"/>
                <a:ext cx="61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9096" name="Line 28"/>
              <p:cNvSpPr>
                <a:spLocks noChangeShapeType="1"/>
              </p:cNvSpPr>
              <p:nvPr/>
            </p:nvSpPr>
            <p:spPr bwMode="auto">
              <a:xfrm>
                <a:off x="3295" y="2157"/>
                <a:ext cx="61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49097" name="Rectangle 31"/>
            <p:cNvSpPr>
              <a:spLocks noChangeArrowheads="1"/>
            </p:cNvSpPr>
            <p:nvPr/>
          </p:nvSpPr>
          <p:spPr bwMode="auto">
            <a:xfrm>
              <a:off x="3242326" y="1552980"/>
              <a:ext cx="2662826" cy="274435"/>
            </a:xfrm>
            <a:prstGeom prst="rect">
              <a:avLst/>
            </a:prstGeom>
            <a:noFill/>
            <a:ln>
              <a:noFill/>
            </a:ln>
          </p:spPr>
          <p:txBody>
            <a:bodyPr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运输层提供应用进程</a:t>
              </a:r>
              <a:r>
                <a:rPr lang="zh-CN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间的</a:t>
              </a:r>
              <a:r>
                <a:rPr lang="zh-CN" altLang="zh-CN" sz="1600" b="1" dirty="0">
                  <a:solidFill>
                    <a:srgbClr val="99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</a:t>
              </a:r>
              <a:r>
                <a:rPr lang="zh-CN" altLang="en-US" sz="1600" b="1" dirty="0">
                  <a:solidFill>
                    <a:srgbClr val="99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</a:t>
              </a:r>
            </a:p>
          </p:txBody>
        </p:sp>
        <p:sp>
          <p:nvSpPr>
            <p:cNvPr id="1049098" name="Rectangle 98"/>
            <p:cNvSpPr>
              <a:spLocks noChangeArrowheads="1"/>
            </p:cNvSpPr>
            <p:nvPr/>
          </p:nvSpPr>
          <p:spPr bwMode="auto">
            <a:xfrm>
              <a:off x="2650927" y="1301066"/>
              <a:ext cx="798297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1049099" name="Freeform 100"/>
            <p:cNvSpPr/>
            <p:nvPr/>
          </p:nvSpPr>
          <p:spPr bwMode="auto">
            <a:xfrm>
              <a:off x="6218693" y="1451776"/>
              <a:ext cx="370146" cy="83311"/>
            </a:xfrm>
            <a:custGeom>
              <a:avLst/>
              <a:gdLst>
                <a:gd name="T0" fmla="*/ 0 w 297"/>
                <a:gd name="T1" fmla="*/ 0 h 105"/>
                <a:gd name="T2" fmla="*/ 2147483647 w 297"/>
                <a:gd name="T3" fmla="*/ 2147483647 h 105"/>
                <a:gd name="T4" fmla="*/ 0 60000 65536"/>
                <a:gd name="T5" fmla="*/ 0 60000 65536"/>
                <a:gd name="T6" fmla="*/ 0 w 297"/>
                <a:gd name="T7" fmla="*/ 0 h 105"/>
                <a:gd name="T8" fmla="*/ 297 w 297"/>
                <a:gd name="T9" fmla="*/ 105 h 1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7" h="105">
                  <a:moveTo>
                    <a:pt x="0" y="0"/>
                  </a:moveTo>
                  <a:lnTo>
                    <a:pt x="297" y="105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0" name="Rectangle 101"/>
            <p:cNvSpPr>
              <a:spLocks noChangeArrowheads="1"/>
            </p:cNvSpPr>
            <p:nvPr/>
          </p:nvSpPr>
          <p:spPr bwMode="auto">
            <a:xfrm>
              <a:off x="5474686" y="1301066"/>
              <a:ext cx="798297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1049101" name="AutoShape 102"/>
            <p:cNvSpPr>
              <a:spLocks noChangeArrowheads="1"/>
            </p:cNvSpPr>
            <p:nvPr/>
          </p:nvSpPr>
          <p:spPr bwMode="auto">
            <a:xfrm>
              <a:off x="2533322" y="1770045"/>
              <a:ext cx="3996096" cy="111394"/>
            </a:xfrm>
            <a:prstGeom prst="leftRightArrow">
              <a:avLst>
                <a:gd name="adj1" fmla="val 59167"/>
                <a:gd name="adj2" fmla="val 216108"/>
              </a:avLst>
            </a:prstGeom>
            <a:solidFill>
              <a:schemeClr val="accent6">
                <a:lumMod val="75000"/>
              </a:schemeClr>
            </a:solidFill>
            <a:ln w="635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2" name="Oval 138"/>
            <p:cNvSpPr>
              <a:spLocks noChangeArrowheads="1"/>
            </p:cNvSpPr>
            <p:nvPr/>
          </p:nvSpPr>
          <p:spPr bwMode="auto">
            <a:xfrm>
              <a:off x="6984983" y="1413396"/>
              <a:ext cx="434520" cy="16194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3" name="Line 157"/>
            <p:cNvSpPr>
              <a:spLocks noChangeShapeType="1"/>
            </p:cNvSpPr>
            <p:nvPr/>
          </p:nvSpPr>
          <p:spPr bwMode="auto">
            <a:xfrm rot="5400000">
              <a:off x="3501724" y="2444495"/>
              <a:ext cx="4895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4" name="Line 158"/>
            <p:cNvSpPr>
              <a:spLocks noChangeShapeType="1"/>
            </p:cNvSpPr>
            <p:nvPr/>
          </p:nvSpPr>
          <p:spPr bwMode="auto">
            <a:xfrm rot="5400000">
              <a:off x="5007507" y="2443091"/>
              <a:ext cx="4961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5" name="Rectangle 175"/>
            <p:cNvSpPr>
              <a:spLocks noChangeArrowheads="1"/>
            </p:cNvSpPr>
            <p:nvPr/>
          </p:nvSpPr>
          <p:spPr bwMode="auto">
            <a:xfrm>
              <a:off x="4266449" y="1974112"/>
              <a:ext cx="535004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049106" name="Freeform 99"/>
            <p:cNvSpPr/>
            <p:nvPr/>
          </p:nvSpPr>
          <p:spPr bwMode="auto">
            <a:xfrm>
              <a:off x="2461521" y="1459264"/>
              <a:ext cx="225307" cy="66462"/>
            </a:xfrm>
            <a:custGeom>
              <a:avLst/>
              <a:gdLst>
                <a:gd name="T0" fmla="*/ 2147483647 w 174"/>
                <a:gd name="T1" fmla="*/ 0 h 84"/>
                <a:gd name="T2" fmla="*/ 0 w 174"/>
                <a:gd name="T3" fmla="*/ 2147483647 h 84"/>
                <a:gd name="T4" fmla="*/ 0 60000 65536"/>
                <a:gd name="T5" fmla="*/ 0 60000 65536"/>
                <a:gd name="T6" fmla="*/ 0 w 174"/>
                <a:gd name="T7" fmla="*/ 0 h 84"/>
                <a:gd name="T8" fmla="*/ 174 w 174"/>
                <a:gd name="T9" fmla="*/ 84 h 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4" h="84">
                  <a:moveTo>
                    <a:pt x="174" y="0"/>
                  </a:moveTo>
                  <a:lnTo>
                    <a:pt x="0" y="8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7" name="Oval 131"/>
            <p:cNvSpPr>
              <a:spLocks noChangeArrowheads="1"/>
            </p:cNvSpPr>
            <p:nvPr/>
          </p:nvSpPr>
          <p:spPr bwMode="auto">
            <a:xfrm>
              <a:off x="1576388" y="1409652"/>
              <a:ext cx="434519" cy="163815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08" name="Rectangle 132"/>
            <p:cNvSpPr>
              <a:spLocks noChangeArrowheads="1"/>
            </p:cNvSpPr>
            <p:nvPr/>
          </p:nvSpPr>
          <p:spPr bwMode="auto">
            <a:xfrm>
              <a:off x="1608575" y="1355633"/>
              <a:ext cx="462869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</a:t>
              </a:r>
              <a:r>
                <a:rPr lang="en-US" altLang="zh-CN" sz="16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5" name="Group 197"/>
            <p:cNvGrpSpPr/>
            <p:nvPr/>
          </p:nvGrpSpPr>
          <p:grpSpPr bwMode="auto">
            <a:xfrm>
              <a:off x="2045572" y="1424581"/>
              <a:ext cx="482932" cy="274572"/>
              <a:chOff x="798" y="803"/>
              <a:chExt cx="409" cy="345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1049109" name="Oval 128"/>
              <p:cNvSpPr>
                <a:spLocks noChangeArrowheads="1"/>
              </p:cNvSpPr>
              <p:nvPr/>
            </p:nvSpPr>
            <p:spPr bwMode="auto">
              <a:xfrm>
                <a:off x="798" y="849"/>
                <a:ext cx="368" cy="204"/>
              </a:xfrm>
              <a:prstGeom prst="ellipse">
                <a:avLst/>
              </a:prstGeom>
              <a:grp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9110" name="Rectangle 129"/>
              <p:cNvSpPr>
                <a:spLocks noChangeArrowheads="1"/>
              </p:cNvSpPr>
              <p:nvPr/>
            </p:nvSpPr>
            <p:spPr bwMode="auto">
              <a:xfrm>
                <a:off x="815" y="803"/>
                <a:ext cx="392" cy="3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120651" tIns="59267" rIns="120651" bIns="59267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AP</a:t>
                </a:r>
                <a:r>
                  <a:rPr lang="en-US" altLang="zh-CN" sz="16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49111" name="Rectangle 139"/>
            <p:cNvSpPr>
              <a:spLocks noChangeArrowheads="1"/>
            </p:cNvSpPr>
            <p:nvPr/>
          </p:nvSpPr>
          <p:spPr bwMode="auto">
            <a:xfrm>
              <a:off x="7003552" y="1375291"/>
              <a:ext cx="462869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AP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12" name="Oval 135"/>
            <p:cNvSpPr>
              <a:spLocks noChangeArrowheads="1"/>
            </p:cNvSpPr>
            <p:nvPr/>
          </p:nvSpPr>
          <p:spPr bwMode="auto">
            <a:xfrm>
              <a:off x="6555415" y="1480794"/>
              <a:ext cx="433282" cy="16287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13" name="Rectangle 136"/>
            <p:cNvSpPr>
              <a:spLocks noChangeArrowheads="1"/>
            </p:cNvSpPr>
            <p:nvPr/>
          </p:nvSpPr>
          <p:spPr bwMode="auto">
            <a:xfrm>
              <a:off x="6572747" y="1436136"/>
              <a:ext cx="462869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AP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14" name="Rectangle 244"/>
            <p:cNvSpPr>
              <a:spLocks noChangeArrowheads="1"/>
            </p:cNvSpPr>
            <p:nvPr/>
          </p:nvSpPr>
          <p:spPr bwMode="auto">
            <a:xfrm>
              <a:off x="1354795" y="1123857"/>
              <a:ext cx="1312861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 </a:t>
              </a:r>
              <a:r>
                <a:rPr lang="en-US" altLang="zh-CN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的协议栈</a:t>
              </a:r>
            </a:p>
          </p:txBody>
        </p:sp>
        <p:sp>
          <p:nvSpPr>
            <p:cNvPr id="1049115" name="Rectangle 245"/>
            <p:cNvSpPr>
              <a:spLocks noChangeArrowheads="1"/>
            </p:cNvSpPr>
            <p:nvPr/>
          </p:nvSpPr>
          <p:spPr bwMode="auto">
            <a:xfrm>
              <a:off x="6358581" y="1123857"/>
              <a:ext cx="1303243" cy="274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 </a:t>
              </a:r>
              <a:r>
                <a:rPr lang="en-US" altLang="zh-CN" sz="16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 </a:t>
              </a:r>
              <a:r>
                <a:rPr lang="zh-CN" altLang="en-US" sz="16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的协议栈</a:t>
              </a:r>
            </a:p>
          </p:txBody>
        </p:sp>
        <p:sp>
          <p:nvSpPr>
            <p:cNvPr id="1049116" name="Rectangle 10"/>
            <p:cNvSpPr>
              <a:spLocks noChangeArrowheads="1"/>
            </p:cNvSpPr>
            <p:nvPr/>
          </p:nvSpPr>
          <p:spPr bwMode="auto">
            <a:xfrm>
              <a:off x="7281090" y="1542643"/>
              <a:ext cx="277722" cy="1166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ts val="533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ts val="8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ts val="1067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ts val="8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316" name="组合 143"/>
          <p:cNvGrpSpPr/>
          <p:nvPr/>
        </p:nvGrpSpPr>
        <p:grpSpPr>
          <a:xfrm>
            <a:off x="1081337" y="1968809"/>
            <a:ext cx="2002619" cy="713075"/>
            <a:chOff x="811003" y="1423671"/>
            <a:chExt cx="1501964" cy="534806"/>
          </a:xfrm>
        </p:grpSpPr>
        <p:sp>
          <p:nvSpPr>
            <p:cNvPr id="1049117" name="椭圆 144"/>
            <p:cNvSpPr/>
            <p:nvPr/>
          </p:nvSpPr>
          <p:spPr>
            <a:xfrm>
              <a:off x="1765743" y="1593158"/>
              <a:ext cx="547224" cy="36531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118" name="Rectangle 98"/>
            <p:cNvSpPr>
              <a:spLocks noChangeArrowheads="1"/>
            </p:cNvSpPr>
            <p:nvPr/>
          </p:nvSpPr>
          <p:spPr bwMode="auto">
            <a:xfrm>
              <a:off x="811003" y="1423671"/>
              <a:ext cx="541015" cy="30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67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cxnSp>
          <p:nvCxnSpPr>
            <p:cNvPr id="3145733" name="直接连接符 146"/>
            <p:cNvCxnSpPr>
              <a:cxnSpLocks/>
            </p:cNvCxnSpPr>
            <p:nvPr/>
          </p:nvCxnSpPr>
          <p:spPr>
            <a:xfrm>
              <a:off x="1284233" y="1633378"/>
              <a:ext cx="562557" cy="110949"/>
            </a:xfrm>
            <a:prstGeom prst="line">
              <a:avLst/>
            </a:prstGeom>
            <a:ln w="1270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7" name="组合 147"/>
          <p:cNvGrpSpPr/>
          <p:nvPr/>
        </p:nvGrpSpPr>
        <p:grpSpPr>
          <a:xfrm>
            <a:off x="8992960" y="2001319"/>
            <a:ext cx="1953146" cy="680712"/>
            <a:chOff x="-297165" y="1386983"/>
            <a:chExt cx="1464860" cy="510534"/>
          </a:xfrm>
        </p:grpSpPr>
        <p:sp>
          <p:nvSpPr>
            <p:cNvPr id="1049119" name="椭圆 148"/>
            <p:cNvSpPr/>
            <p:nvPr/>
          </p:nvSpPr>
          <p:spPr>
            <a:xfrm>
              <a:off x="-297165" y="1532198"/>
              <a:ext cx="547224" cy="36531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9120" name="Rectangle 98"/>
            <p:cNvSpPr>
              <a:spLocks noChangeArrowheads="1"/>
            </p:cNvSpPr>
            <p:nvPr/>
          </p:nvSpPr>
          <p:spPr bwMode="auto">
            <a:xfrm>
              <a:off x="626680" y="1386983"/>
              <a:ext cx="541015" cy="305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20651" tIns="59267" rIns="120651" bIns="59267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67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  <a:endParaRPr lang="en-US" altLang="zh-CN" sz="18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45734" name="直接连接符 150"/>
            <p:cNvCxnSpPr>
              <a:cxnSpLocks/>
            </p:cNvCxnSpPr>
            <p:nvPr/>
          </p:nvCxnSpPr>
          <p:spPr>
            <a:xfrm flipH="1">
              <a:off x="148855" y="1605572"/>
              <a:ext cx="545860" cy="80939"/>
            </a:xfrm>
            <a:prstGeom prst="line">
              <a:avLst/>
            </a:prstGeom>
            <a:ln w="1270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8" name="组合 151"/>
          <p:cNvGrpSpPr/>
          <p:nvPr/>
        </p:nvGrpSpPr>
        <p:grpSpPr>
          <a:xfrm>
            <a:off x="2419108" y="2085585"/>
            <a:ext cx="7211459" cy="1724895"/>
            <a:chOff x="1804171" y="1511252"/>
            <a:chExt cx="5408594" cy="1293671"/>
          </a:xfrm>
        </p:grpSpPr>
        <p:sp>
          <p:nvSpPr>
            <p:cNvPr id="1049121" name="Line 248"/>
            <p:cNvSpPr>
              <a:spLocks noChangeShapeType="1"/>
            </p:cNvSpPr>
            <p:nvPr/>
          </p:nvSpPr>
          <p:spPr bwMode="auto">
            <a:xfrm>
              <a:off x="6781959" y="1588011"/>
              <a:ext cx="262445" cy="312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2" name="Line 249"/>
            <p:cNvSpPr>
              <a:spLocks noChangeShapeType="1"/>
            </p:cNvSpPr>
            <p:nvPr/>
          </p:nvSpPr>
          <p:spPr bwMode="auto">
            <a:xfrm flipH="1">
              <a:off x="7044404" y="1511252"/>
              <a:ext cx="168361" cy="3819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3" name="椭圆 85"/>
            <p:cNvSpPr>
              <a:spLocks noChangeArrowheads="1"/>
            </p:cNvSpPr>
            <p:nvPr/>
          </p:nvSpPr>
          <p:spPr bwMode="auto">
            <a:xfrm>
              <a:off x="7123633" y="1645112"/>
              <a:ext cx="56946" cy="43060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4" name="椭圆 85"/>
            <p:cNvSpPr>
              <a:spLocks noChangeArrowheads="1"/>
            </p:cNvSpPr>
            <p:nvPr/>
          </p:nvSpPr>
          <p:spPr bwMode="auto">
            <a:xfrm>
              <a:off x="7010980" y="1883814"/>
              <a:ext cx="55707" cy="42124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5" name="椭圆 85"/>
            <p:cNvSpPr>
              <a:spLocks noChangeArrowheads="1"/>
            </p:cNvSpPr>
            <p:nvPr/>
          </p:nvSpPr>
          <p:spPr bwMode="auto">
            <a:xfrm>
              <a:off x="6817860" y="1645112"/>
              <a:ext cx="56946" cy="43060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6" name="Freeform 32"/>
            <p:cNvSpPr/>
            <p:nvPr/>
          </p:nvSpPr>
          <p:spPr bwMode="auto">
            <a:xfrm>
              <a:off x="1999766" y="1897856"/>
              <a:ext cx="5039686" cy="907067"/>
            </a:xfrm>
            <a:custGeom>
              <a:avLst/>
              <a:gdLst>
                <a:gd name="T0" fmla="*/ 0 w 4272"/>
                <a:gd name="T1" fmla="*/ 0 h 1138"/>
                <a:gd name="T2" fmla="*/ 0 w 4272"/>
                <a:gd name="T3" fmla="*/ 2147483647 h 1138"/>
                <a:gd name="T4" fmla="*/ 2147483647 w 4272"/>
                <a:gd name="T5" fmla="*/ 2147483647 h 1138"/>
                <a:gd name="T6" fmla="*/ 2147483647 w 4272"/>
                <a:gd name="T7" fmla="*/ 2147483647 h 1138"/>
                <a:gd name="T8" fmla="*/ 2147483647 w 4272"/>
                <a:gd name="T9" fmla="*/ 2147483647 h 1138"/>
                <a:gd name="T10" fmla="*/ 2147483647 w 4272"/>
                <a:gd name="T11" fmla="*/ 2147483647 h 1138"/>
                <a:gd name="T12" fmla="*/ 2147483647 w 4272"/>
                <a:gd name="T13" fmla="*/ 2147483647 h 1138"/>
                <a:gd name="T14" fmla="*/ 2147483647 w 4272"/>
                <a:gd name="T15" fmla="*/ 2147483647 h 1138"/>
                <a:gd name="T16" fmla="*/ 2147483647 w 4272"/>
                <a:gd name="T17" fmla="*/ 2147483647 h 1138"/>
                <a:gd name="T18" fmla="*/ 2147483647 w 4272"/>
                <a:gd name="T19" fmla="*/ 2147483647 h 1138"/>
                <a:gd name="T20" fmla="*/ 2147483647 w 4272"/>
                <a:gd name="T21" fmla="*/ 2147483647 h 1138"/>
                <a:gd name="T22" fmla="*/ 2147483647 w 4272"/>
                <a:gd name="T23" fmla="*/ 2147483647 h 1138"/>
                <a:gd name="T24" fmla="*/ 2147483647 w 4272"/>
                <a:gd name="T25" fmla="*/ 2147483647 h 1138"/>
                <a:gd name="T26" fmla="*/ 2147483647 w 4272"/>
                <a:gd name="T27" fmla="*/ 2147483647 h 1138"/>
                <a:gd name="T28" fmla="*/ 2147483647 w 4272"/>
                <a:gd name="T29" fmla="*/ 2147483647 h 1138"/>
                <a:gd name="T30" fmla="*/ 2147483647 w 4272"/>
                <a:gd name="T31" fmla="*/ 2147483647 h 1138"/>
                <a:gd name="T32" fmla="*/ 2147483647 w 4272"/>
                <a:gd name="T33" fmla="*/ 2147483647 h 1138"/>
                <a:gd name="T34" fmla="*/ 2147483647 w 4272"/>
                <a:gd name="T35" fmla="*/ 2147483647 h 1138"/>
                <a:gd name="T36" fmla="*/ 2147483647 w 4272"/>
                <a:gd name="T37" fmla="*/ 2147483647 h 1138"/>
                <a:gd name="T38" fmla="*/ 2147483647 w 4272"/>
                <a:gd name="T39" fmla="*/ 2147483647 h 1138"/>
                <a:gd name="T40" fmla="*/ 2147483647 w 4272"/>
                <a:gd name="T41" fmla="*/ 2147483647 h 1138"/>
                <a:gd name="T42" fmla="*/ 2147483647 w 4272"/>
                <a:gd name="T43" fmla="*/ 2147483647 h 1138"/>
                <a:gd name="T44" fmla="*/ 2147483647 w 4272"/>
                <a:gd name="T45" fmla="*/ 2147483647 h 1138"/>
                <a:gd name="T46" fmla="*/ 2147483647 w 4272"/>
                <a:gd name="T47" fmla="*/ 2147483647 h 1138"/>
                <a:gd name="T48" fmla="*/ 2147483647 w 4272"/>
                <a:gd name="T49" fmla="*/ 2147483647 h 1138"/>
                <a:gd name="T50" fmla="*/ 2147483647 w 4272"/>
                <a:gd name="T51" fmla="*/ 2147483647 h 1138"/>
                <a:gd name="T52" fmla="*/ 2147483647 w 4272"/>
                <a:gd name="T53" fmla="*/ 2147483647 h 1138"/>
                <a:gd name="T54" fmla="*/ 2147483647 w 4272"/>
                <a:gd name="T55" fmla="*/ 2147483647 h 1138"/>
                <a:gd name="T56" fmla="*/ 2147483647 w 4272"/>
                <a:gd name="T57" fmla="*/ 2147483647 h 1138"/>
                <a:gd name="T58" fmla="*/ 2147483647 w 4272"/>
                <a:gd name="T59" fmla="*/ 2147483647 h 1138"/>
                <a:gd name="T60" fmla="*/ 2147483647 w 4272"/>
                <a:gd name="T61" fmla="*/ 2147483647 h 1138"/>
                <a:gd name="T62" fmla="*/ 2147483647 w 4272"/>
                <a:gd name="T63" fmla="*/ 2147483647 h 1138"/>
                <a:gd name="T64" fmla="*/ 2147483647 w 4272"/>
                <a:gd name="T65" fmla="*/ 2147483647 h 1138"/>
                <a:gd name="T66" fmla="*/ 2147483647 w 4272"/>
                <a:gd name="T67" fmla="*/ 2147483647 h 1138"/>
                <a:gd name="T68" fmla="*/ 2147483647 w 4272"/>
                <a:gd name="T69" fmla="*/ 2147483647 h 1138"/>
                <a:gd name="T70" fmla="*/ 2147483647 w 4272"/>
                <a:gd name="T71" fmla="*/ 2147483647 h 1138"/>
                <a:gd name="T72" fmla="*/ 2147483647 w 4272"/>
                <a:gd name="T73" fmla="*/ 2147483647 h 1138"/>
                <a:gd name="T74" fmla="*/ 2147483647 w 4272"/>
                <a:gd name="T75" fmla="*/ 2147483647 h 1138"/>
                <a:gd name="T76" fmla="*/ 2147483647 w 4272"/>
                <a:gd name="T77" fmla="*/ 2147483647 h 1138"/>
                <a:gd name="T78" fmla="*/ 2147483647 w 4272"/>
                <a:gd name="T79" fmla="*/ 2147483647 h 1138"/>
                <a:gd name="T80" fmla="*/ 2147483647 w 4272"/>
                <a:gd name="T81" fmla="*/ 2147483647 h 1138"/>
                <a:gd name="T82" fmla="*/ 2147483647 w 4272"/>
                <a:gd name="T83" fmla="*/ 0 h 113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272"/>
                <a:gd name="T127" fmla="*/ 0 h 1138"/>
                <a:gd name="T128" fmla="*/ 4272 w 4272"/>
                <a:gd name="T129" fmla="*/ 1138 h 113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272" h="1138">
                  <a:moveTo>
                    <a:pt x="0" y="0"/>
                  </a:moveTo>
                  <a:lnTo>
                    <a:pt x="0" y="996"/>
                  </a:lnTo>
                  <a:lnTo>
                    <a:pt x="9" y="1056"/>
                  </a:lnTo>
                  <a:lnTo>
                    <a:pt x="36" y="1094"/>
                  </a:lnTo>
                  <a:lnTo>
                    <a:pt x="75" y="1110"/>
                  </a:lnTo>
                  <a:lnTo>
                    <a:pt x="127" y="1116"/>
                  </a:lnTo>
                  <a:lnTo>
                    <a:pt x="1211" y="1116"/>
                  </a:lnTo>
                  <a:lnTo>
                    <a:pt x="1250" y="1116"/>
                  </a:lnTo>
                  <a:lnTo>
                    <a:pt x="1287" y="1100"/>
                  </a:lnTo>
                  <a:lnTo>
                    <a:pt x="1305" y="1056"/>
                  </a:lnTo>
                  <a:lnTo>
                    <a:pt x="1308" y="1022"/>
                  </a:lnTo>
                  <a:lnTo>
                    <a:pt x="1308" y="307"/>
                  </a:lnTo>
                  <a:lnTo>
                    <a:pt x="1311" y="261"/>
                  </a:lnTo>
                  <a:cubicBezTo>
                    <a:pt x="1322" y="241"/>
                    <a:pt x="1325" y="202"/>
                    <a:pt x="1376" y="191"/>
                  </a:cubicBezTo>
                  <a:cubicBezTo>
                    <a:pt x="1430" y="181"/>
                    <a:pt x="1567" y="182"/>
                    <a:pt x="1620" y="191"/>
                  </a:cubicBezTo>
                  <a:cubicBezTo>
                    <a:pt x="1673" y="200"/>
                    <a:pt x="1669" y="238"/>
                    <a:pt x="1676" y="252"/>
                  </a:cubicBezTo>
                  <a:lnTo>
                    <a:pt x="1680" y="280"/>
                  </a:lnTo>
                  <a:lnTo>
                    <a:pt x="1680" y="1014"/>
                  </a:lnTo>
                  <a:lnTo>
                    <a:pt x="1683" y="1047"/>
                  </a:lnTo>
                  <a:lnTo>
                    <a:pt x="1701" y="1100"/>
                  </a:lnTo>
                  <a:lnTo>
                    <a:pt x="1755" y="1116"/>
                  </a:lnTo>
                  <a:lnTo>
                    <a:pt x="1808" y="1116"/>
                  </a:lnTo>
                  <a:lnTo>
                    <a:pt x="2486" y="1116"/>
                  </a:lnTo>
                  <a:lnTo>
                    <a:pt x="2564" y="1116"/>
                  </a:lnTo>
                  <a:cubicBezTo>
                    <a:pt x="2583" y="1112"/>
                    <a:pt x="2593" y="1111"/>
                    <a:pt x="2600" y="1091"/>
                  </a:cubicBezTo>
                  <a:cubicBezTo>
                    <a:pt x="2607" y="1072"/>
                    <a:pt x="2610" y="1138"/>
                    <a:pt x="2608" y="999"/>
                  </a:cubicBezTo>
                  <a:lnTo>
                    <a:pt x="2608" y="264"/>
                  </a:lnTo>
                  <a:lnTo>
                    <a:pt x="2616" y="227"/>
                  </a:lnTo>
                  <a:cubicBezTo>
                    <a:pt x="2627" y="215"/>
                    <a:pt x="2634" y="196"/>
                    <a:pt x="2676" y="191"/>
                  </a:cubicBezTo>
                  <a:cubicBezTo>
                    <a:pt x="2721" y="184"/>
                    <a:pt x="2824" y="187"/>
                    <a:pt x="2868" y="195"/>
                  </a:cubicBezTo>
                  <a:cubicBezTo>
                    <a:pt x="2912" y="203"/>
                    <a:pt x="2925" y="238"/>
                    <a:pt x="2928" y="251"/>
                  </a:cubicBezTo>
                  <a:lnTo>
                    <a:pt x="2928" y="280"/>
                  </a:lnTo>
                  <a:cubicBezTo>
                    <a:pt x="2928" y="280"/>
                    <a:pt x="2925" y="867"/>
                    <a:pt x="2928" y="1002"/>
                  </a:cubicBezTo>
                  <a:cubicBezTo>
                    <a:pt x="2930" y="1136"/>
                    <a:pt x="2930" y="1068"/>
                    <a:pt x="2944" y="1087"/>
                  </a:cubicBezTo>
                  <a:cubicBezTo>
                    <a:pt x="2958" y="1107"/>
                    <a:pt x="2995" y="1113"/>
                    <a:pt x="3014" y="1116"/>
                  </a:cubicBezTo>
                  <a:lnTo>
                    <a:pt x="3071" y="1116"/>
                  </a:lnTo>
                  <a:lnTo>
                    <a:pt x="4117" y="1116"/>
                  </a:lnTo>
                  <a:lnTo>
                    <a:pt x="4190" y="1116"/>
                  </a:lnTo>
                  <a:lnTo>
                    <a:pt x="4251" y="1097"/>
                  </a:lnTo>
                  <a:lnTo>
                    <a:pt x="4269" y="1044"/>
                  </a:lnTo>
                  <a:lnTo>
                    <a:pt x="4271" y="994"/>
                  </a:lnTo>
                  <a:lnTo>
                    <a:pt x="4272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ysDot"/>
              <a:round/>
              <a:headEnd type="none" w="med" len="lg"/>
              <a:tailEnd type="none" w="med" len="lg"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7" name="椭圆 85"/>
            <p:cNvSpPr>
              <a:spLocks noChangeArrowheads="1"/>
            </p:cNvSpPr>
            <p:nvPr/>
          </p:nvSpPr>
          <p:spPr bwMode="auto">
            <a:xfrm>
              <a:off x="2153272" y="1650728"/>
              <a:ext cx="48610" cy="45719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8" name="椭圆 85"/>
            <p:cNvSpPr>
              <a:spLocks noChangeArrowheads="1"/>
            </p:cNvSpPr>
            <p:nvPr/>
          </p:nvSpPr>
          <p:spPr bwMode="auto">
            <a:xfrm>
              <a:off x="1846261" y="1652600"/>
              <a:ext cx="48610" cy="45719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29" name="椭圆 85"/>
            <p:cNvSpPr>
              <a:spLocks noChangeArrowheads="1"/>
            </p:cNvSpPr>
            <p:nvPr/>
          </p:nvSpPr>
          <p:spPr bwMode="auto">
            <a:xfrm>
              <a:off x="1966341" y="1876324"/>
              <a:ext cx="48610" cy="45719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30" name="Line 246"/>
            <p:cNvSpPr>
              <a:spLocks noChangeShapeType="1"/>
            </p:cNvSpPr>
            <p:nvPr/>
          </p:nvSpPr>
          <p:spPr bwMode="auto">
            <a:xfrm>
              <a:off x="1804171" y="1530910"/>
              <a:ext cx="189406" cy="3622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131" name="Line 247"/>
            <p:cNvSpPr>
              <a:spLocks noChangeShapeType="1"/>
            </p:cNvSpPr>
            <p:nvPr/>
          </p:nvSpPr>
          <p:spPr bwMode="auto">
            <a:xfrm flipH="1">
              <a:off x="2013383" y="1573034"/>
              <a:ext cx="240162" cy="3201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9132" name="矩形 164"/>
          <p:cNvSpPr/>
          <p:nvPr/>
        </p:nvSpPr>
        <p:spPr>
          <a:xfrm>
            <a:off x="1320725" y="4184726"/>
            <a:ext cx="9550545" cy="521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3733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应用进程都可以通过运输层再传送到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层（网络层）。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9133" name="矩形 165"/>
          <p:cNvSpPr/>
          <p:nvPr/>
        </p:nvSpPr>
        <p:spPr>
          <a:xfrm>
            <a:off x="5289709" y="5206605"/>
            <a:ext cx="3420243" cy="429092"/>
          </a:xfrm>
          <a:prstGeom prst="rect">
            <a:avLst/>
          </a:prstGeom>
          <a:solidFill>
            <a:srgbClr val="C00000"/>
          </a:solidFill>
        </p:spPr>
        <p:txBody>
          <a:bodyPr wrap="square" tIns="0" bIns="0">
            <a:spAutoFit/>
          </a:bodyPr>
          <a:lstStyle/>
          <a:p>
            <a:pPr algn="ctr">
              <a:lnSpc>
                <a:spcPts val="3733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如何指明各应用进程？</a:t>
            </a:r>
          </a:p>
        </p:txBody>
      </p:sp>
      <p:sp>
        <p:nvSpPr>
          <p:cNvPr id="1049134" name="矩形 166"/>
          <p:cNvSpPr/>
          <p:nvPr/>
        </p:nvSpPr>
        <p:spPr>
          <a:xfrm>
            <a:off x="1320725" y="4666284"/>
            <a:ext cx="9550545" cy="995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>
              <a:lnSpc>
                <a:spcPts val="3733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分用：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运输层从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层收到发送给应用进程的数据后，必须分别交付给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指明的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各应用进程。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32" grpId="0"/>
      <p:bldP spid="1049133" grpId="0" animBg="1"/>
      <p:bldP spid="1049134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9" name="圆角矩形 67"/>
          <p:cNvSpPr/>
          <p:nvPr/>
        </p:nvSpPr>
        <p:spPr>
          <a:xfrm>
            <a:off x="742618" y="2894159"/>
            <a:ext cx="10731701" cy="246391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190" name="AutoShape 5"/>
          <p:cNvSpPr>
            <a:spLocks noChangeArrowheads="1"/>
          </p:cNvSpPr>
          <p:nvPr/>
        </p:nvSpPr>
        <p:spPr bwMode="auto">
          <a:xfrm>
            <a:off x="742618" y="822667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191" name="Rectangle 6"/>
          <p:cNvSpPr>
            <a:spLocks noChangeArrowheads="1"/>
          </p:cNvSpPr>
          <p:nvPr/>
        </p:nvSpPr>
        <p:spPr bwMode="auto">
          <a:xfrm>
            <a:off x="3957861" y="778385"/>
            <a:ext cx="4175630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TCP/IP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运输层端口的标志</a:t>
            </a:r>
          </a:p>
        </p:txBody>
      </p:sp>
      <p:sp>
        <p:nvSpPr>
          <p:cNvPr id="1049192" name="Rectangle 68"/>
          <p:cNvSpPr>
            <a:spLocks noChangeArrowheads="1"/>
          </p:cNvSpPr>
          <p:nvPr/>
        </p:nvSpPr>
        <p:spPr bwMode="auto">
          <a:xfrm>
            <a:off x="742617" y="1295467"/>
            <a:ext cx="10913280" cy="1584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57708" indent="-357708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端口用一个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16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位端口号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进行标志，允许有 </a:t>
            </a:r>
            <a:r>
              <a:rPr lang="en-US" altLang="zh-CN" sz="2667" b="1">
                <a:latin typeface="微软雅黑" pitchFamily="34" charset="-122"/>
                <a:ea typeface="微软雅黑" pitchFamily="34" charset="-122"/>
              </a:rPr>
              <a:t>65,536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个不同的端口号。</a:t>
            </a:r>
          </a:p>
          <a:p>
            <a:pPr marL="357708" indent="-357708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端口号只具有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本地意义，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只是为了标志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本计算机应用层中的各进程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57708" indent="-357708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在互联网中，不同计算机的相同端口号没有联系。</a:t>
            </a:r>
          </a:p>
        </p:txBody>
      </p:sp>
      <p:grpSp>
        <p:nvGrpSpPr>
          <p:cNvPr id="342" name="组合 66"/>
          <p:cNvGrpSpPr/>
          <p:nvPr/>
        </p:nvGrpSpPr>
        <p:grpSpPr>
          <a:xfrm>
            <a:off x="3223027" y="3037702"/>
            <a:ext cx="5425461" cy="2289655"/>
            <a:chOff x="2417271" y="2487614"/>
            <a:chExt cx="4069096" cy="1717241"/>
          </a:xfrm>
        </p:grpSpPr>
        <p:grpSp>
          <p:nvGrpSpPr>
            <p:cNvPr id="343" name="组合 3"/>
            <p:cNvGrpSpPr/>
            <p:nvPr/>
          </p:nvGrpSpPr>
          <p:grpSpPr>
            <a:xfrm>
              <a:off x="5005740" y="2487614"/>
              <a:ext cx="1480627" cy="1717241"/>
              <a:chOff x="4981103" y="2487613"/>
              <a:chExt cx="1903188" cy="2132172"/>
            </a:xfrm>
          </p:grpSpPr>
          <p:grpSp>
            <p:nvGrpSpPr>
              <p:cNvPr id="344" name="Group 223"/>
              <p:cNvGrpSpPr/>
              <p:nvPr/>
            </p:nvGrpSpPr>
            <p:grpSpPr bwMode="auto">
              <a:xfrm>
                <a:off x="5025269" y="2487613"/>
                <a:ext cx="1819273" cy="1360190"/>
                <a:chOff x="1234" y="3088"/>
                <a:chExt cx="572" cy="571"/>
              </a:xfrm>
            </p:grpSpPr>
            <p:sp>
              <p:nvSpPr>
                <p:cNvPr id="1049193" name="Rectangle 224"/>
                <p:cNvSpPr>
                  <a:spLocks noChangeArrowheads="1"/>
                </p:cNvSpPr>
                <p:nvPr/>
              </p:nvSpPr>
              <p:spPr bwMode="auto">
                <a:xfrm>
                  <a:off x="1270" y="3127"/>
                  <a:ext cx="503" cy="376"/>
                </a:xfrm>
                <a:prstGeom prst="rect">
                  <a:avLst/>
                </a:prstGeom>
                <a:solidFill>
                  <a:srgbClr val="0000CC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194" name="Freeform 225"/>
                <p:cNvSpPr>
                  <a:spLocks noEditPoints="1"/>
                </p:cNvSpPr>
                <p:nvPr/>
              </p:nvSpPr>
              <p:spPr bwMode="auto">
                <a:xfrm>
                  <a:off x="1234" y="3088"/>
                  <a:ext cx="572" cy="476"/>
                </a:xfrm>
                <a:custGeom>
                  <a:avLst/>
                  <a:gdLst>
                    <a:gd name="T0" fmla="*/ 0 w 10862"/>
                    <a:gd name="T1" fmla="*/ 0 h 9055"/>
                    <a:gd name="T2" fmla="*/ 572 w 10862"/>
                    <a:gd name="T3" fmla="*/ 0 h 9055"/>
                    <a:gd name="T4" fmla="*/ 572 w 10862"/>
                    <a:gd name="T5" fmla="*/ 476 h 9055"/>
                    <a:gd name="T6" fmla="*/ 0 w 10862"/>
                    <a:gd name="T7" fmla="*/ 476 h 9055"/>
                    <a:gd name="T8" fmla="*/ 0 w 10862"/>
                    <a:gd name="T9" fmla="*/ 0 h 9055"/>
                    <a:gd name="T10" fmla="*/ 51 w 10862"/>
                    <a:gd name="T11" fmla="*/ 48 h 9055"/>
                    <a:gd name="T12" fmla="*/ 527 w 10862"/>
                    <a:gd name="T13" fmla="*/ 48 h 9055"/>
                    <a:gd name="T14" fmla="*/ 527 w 10862"/>
                    <a:gd name="T15" fmla="*/ 403 h 9055"/>
                    <a:gd name="T16" fmla="*/ 51 w 10862"/>
                    <a:gd name="T17" fmla="*/ 403 h 9055"/>
                    <a:gd name="T18" fmla="*/ 51 w 10862"/>
                    <a:gd name="T19" fmla="*/ 48 h 905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862" h="9055">
                      <a:moveTo>
                        <a:pt x="0" y="0"/>
                      </a:moveTo>
                      <a:lnTo>
                        <a:pt x="10862" y="0"/>
                      </a:lnTo>
                      <a:lnTo>
                        <a:pt x="10862" y="9055"/>
                      </a:lnTo>
                      <a:lnTo>
                        <a:pt x="0" y="9055"/>
                      </a:lnTo>
                      <a:lnTo>
                        <a:pt x="0" y="0"/>
                      </a:lnTo>
                      <a:close/>
                      <a:moveTo>
                        <a:pt x="963" y="922"/>
                      </a:moveTo>
                      <a:lnTo>
                        <a:pt x="9998" y="922"/>
                      </a:lnTo>
                      <a:lnTo>
                        <a:pt x="9998" y="7663"/>
                      </a:lnTo>
                      <a:lnTo>
                        <a:pt x="963" y="7663"/>
                      </a:lnTo>
                      <a:lnTo>
                        <a:pt x="963" y="922"/>
                      </a:lnTo>
                      <a:close/>
                    </a:path>
                  </a:pathLst>
                </a:custGeom>
                <a:solidFill>
                  <a:srgbClr val="83A7C6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667"/>
                </a:p>
              </p:txBody>
            </p:sp>
            <p:sp>
              <p:nvSpPr>
                <p:cNvPr id="104919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285" y="3136"/>
                  <a:ext cx="475" cy="8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196" name="Rectangle 227"/>
                <p:cNvSpPr>
                  <a:spLocks noChangeArrowheads="1"/>
                </p:cNvSpPr>
                <p:nvPr/>
              </p:nvSpPr>
              <p:spPr bwMode="auto">
                <a:xfrm>
                  <a:off x="1285" y="3138"/>
                  <a:ext cx="9" cy="349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197" name="Rectangle 228"/>
                <p:cNvSpPr>
                  <a:spLocks noChangeArrowheads="1"/>
                </p:cNvSpPr>
                <p:nvPr/>
              </p:nvSpPr>
              <p:spPr bwMode="auto">
                <a:xfrm>
                  <a:off x="1752" y="3136"/>
                  <a:ext cx="8" cy="35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198" name="Rectangle 229"/>
                <p:cNvSpPr>
                  <a:spLocks noChangeArrowheads="1"/>
                </p:cNvSpPr>
                <p:nvPr/>
              </p:nvSpPr>
              <p:spPr bwMode="auto">
                <a:xfrm>
                  <a:off x="1285" y="3482"/>
                  <a:ext cx="475" cy="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199" name="Rectangle 230"/>
                <p:cNvSpPr>
                  <a:spLocks noChangeArrowheads="1"/>
                </p:cNvSpPr>
                <p:nvPr/>
              </p:nvSpPr>
              <p:spPr bwMode="auto">
                <a:xfrm>
                  <a:off x="1417" y="3565"/>
                  <a:ext cx="228" cy="32"/>
                </a:xfrm>
                <a:prstGeom prst="rect">
                  <a:avLst/>
                </a:prstGeom>
                <a:solidFill>
                  <a:srgbClr val="5781A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00" name="Rectangle 231"/>
                <p:cNvSpPr>
                  <a:spLocks noChangeArrowheads="1"/>
                </p:cNvSpPr>
                <p:nvPr/>
              </p:nvSpPr>
              <p:spPr bwMode="auto">
                <a:xfrm>
                  <a:off x="1436" y="3598"/>
                  <a:ext cx="186" cy="19"/>
                </a:xfrm>
                <a:prstGeom prst="rect">
                  <a:avLst/>
                </a:prstGeom>
                <a:solidFill>
                  <a:srgbClr val="325373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01" name="Rectangle 232"/>
                <p:cNvSpPr>
                  <a:spLocks noChangeArrowheads="1"/>
                </p:cNvSpPr>
                <p:nvPr/>
              </p:nvSpPr>
              <p:spPr bwMode="auto">
                <a:xfrm>
                  <a:off x="1334" y="3620"/>
                  <a:ext cx="384" cy="39"/>
                </a:xfrm>
                <a:prstGeom prst="rect">
                  <a:avLst/>
                </a:prstGeom>
                <a:solidFill>
                  <a:srgbClr val="5781A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</p:grpSp>
          <p:grpSp>
            <p:nvGrpSpPr>
              <p:cNvPr id="345" name="Group 5"/>
              <p:cNvGrpSpPr/>
              <p:nvPr/>
            </p:nvGrpSpPr>
            <p:grpSpPr bwMode="auto">
              <a:xfrm>
                <a:off x="5055491" y="3835401"/>
                <a:ext cx="1828800" cy="451861"/>
                <a:chOff x="3504" y="3216"/>
                <a:chExt cx="1200" cy="496"/>
              </a:xfrm>
              <a:solidFill>
                <a:srgbClr val="66FFFF"/>
              </a:solidFill>
            </p:grpSpPr>
            <p:sp>
              <p:nvSpPr>
                <p:cNvPr id="1049202" name="Rectangle 6"/>
                <p:cNvSpPr>
                  <a:spLocks noChangeArrowheads="1"/>
                </p:cNvSpPr>
                <p:nvPr/>
              </p:nvSpPr>
              <p:spPr bwMode="auto">
                <a:xfrm>
                  <a:off x="3504" y="3216"/>
                  <a:ext cx="1200" cy="496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33"/>
                </a:p>
              </p:txBody>
            </p:sp>
            <p:sp>
              <p:nvSpPr>
                <p:cNvPr id="1049203" name="Rectangle 7"/>
                <p:cNvSpPr>
                  <a:spLocks noChangeArrowheads="1"/>
                </p:cNvSpPr>
                <p:nvPr/>
              </p:nvSpPr>
              <p:spPr bwMode="auto">
                <a:xfrm>
                  <a:off x="3648" y="3419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kumimoji="1" lang="en-US" altLang="zh-CN" sz="1600" b="1" dirty="0">
                      <a:latin typeface="微软雅黑" pitchFamily="34" charset="-122"/>
                      <a:ea typeface="微软雅黑" pitchFamily="34" charset="-122"/>
                    </a:rPr>
                    <a:t>70</a:t>
                  </a:r>
                  <a:endParaRPr kumimoji="1" lang="zh-CN" altLang="en-US" sz="1600" b="1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049204" name="Rectangle 8"/>
                <p:cNvSpPr>
                  <a:spLocks noChangeArrowheads="1"/>
                </p:cNvSpPr>
                <p:nvPr/>
              </p:nvSpPr>
              <p:spPr bwMode="auto">
                <a:xfrm>
                  <a:off x="3984" y="3419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kumimoji="1" lang="zh-CN" altLang="en-US" sz="1600" b="1">
                      <a:latin typeface="微软雅黑" pitchFamily="34" charset="-122"/>
                      <a:ea typeface="微软雅黑" pitchFamily="34" charset="-122"/>
                    </a:rPr>
                    <a:t>80</a:t>
                  </a:r>
                </a:p>
              </p:txBody>
            </p:sp>
            <p:sp>
              <p:nvSpPr>
                <p:cNvPr id="1049205" name="Rectangle 9"/>
                <p:cNvSpPr>
                  <a:spLocks noChangeArrowheads="1"/>
                </p:cNvSpPr>
                <p:nvPr/>
              </p:nvSpPr>
              <p:spPr bwMode="auto">
                <a:xfrm>
                  <a:off x="4320" y="3419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kumimoji="1" lang="en-US" altLang="zh-CN" sz="1600" b="1" dirty="0">
                      <a:latin typeface="微软雅黑" pitchFamily="34" charset="-122"/>
                      <a:ea typeface="微软雅黑" pitchFamily="34" charset="-122"/>
                    </a:rPr>
                    <a:t>90</a:t>
                  </a:r>
                  <a:endParaRPr kumimoji="1" lang="zh-CN" altLang="en-US" sz="1600" b="1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049206" name="Oval 13"/>
              <p:cNvSpPr>
                <a:spLocks noChangeArrowheads="1"/>
              </p:cNvSpPr>
              <p:nvPr/>
            </p:nvSpPr>
            <p:spPr bwMode="auto">
              <a:xfrm>
                <a:off x="5743263" y="2818789"/>
                <a:ext cx="381000" cy="381000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latin typeface="微软雅黑" pitchFamily="34" charset="-122"/>
                    <a:ea typeface="微软雅黑" pitchFamily="34" charset="-122"/>
                  </a:rPr>
                  <a:t>P2</a:t>
                </a:r>
              </a:p>
            </p:txBody>
          </p:sp>
          <p:sp>
            <p:nvSpPr>
              <p:cNvPr id="1049207" name="Oval 14"/>
              <p:cNvSpPr>
                <a:spLocks noChangeArrowheads="1"/>
              </p:cNvSpPr>
              <p:nvPr/>
            </p:nvSpPr>
            <p:spPr bwMode="auto">
              <a:xfrm>
                <a:off x="5224517" y="2719143"/>
                <a:ext cx="381000" cy="381000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P1</a:t>
                </a:r>
              </a:p>
            </p:txBody>
          </p:sp>
          <p:sp>
            <p:nvSpPr>
              <p:cNvPr id="1049208" name="Oval 15"/>
              <p:cNvSpPr>
                <a:spLocks noChangeArrowheads="1"/>
              </p:cNvSpPr>
              <p:nvPr/>
            </p:nvSpPr>
            <p:spPr bwMode="auto">
              <a:xfrm>
                <a:off x="6215117" y="2719143"/>
                <a:ext cx="381000" cy="381000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latin typeface="微软雅黑" pitchFamily="34" charset="-122"/>
                    <a:ea typeface="微软雅黑" pitchFamily="34" charset="-122"/>
                  </a:rPr>
                  <a:t>P3</a:t>
                </a:r>
              </a:p>
            </p:txBody>
          </p:sp>
          <p:sp>
            <p:nvSpPr>
              <p:cNvPr id="1049209" name="AutoShape 16"/>
              <p:cNvSpPr>
                <a:spLocks noChangeArrowheads="1"/>
              </p:cNvSpPr>
              <p:nvPr/>
            </p:nvSpPr>
            <p:spPr bwMode="auto">
              <a:xfrm>
                <a:off x="5826466" y="3234959"/>
                <a:ext cx="225486" cy="671900"/>
              </a:xfrm>
              <a:prstGeom prst="upArrow">
                <a:avLst>
                  <a:gd name="adj1" fmla="val 50000"/>
                  <a:gd name="adj2" fmla="val 45000"/>
                </a:avLst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/>
              </a:p>
            </p:txBody>
          </p:sp>
          <p:sp>
            <p:nvSpPr>
              <p:cNvPr id="1049210" name="Text Box 10"/>
              <p:cNvSpPr txBox="1">
                <a:spLocks noChangeArrowheads="1"/>
              </p:cNvSpPr>
              <p:nvPr/>
            </p:nvSpPr>
            <p:spPr bwMode="auto">
              <a:xfrm>
                <a:off x="4981103" y="4266242"/>
                <a:ext cx="1865567" cy="3535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r>
                  <a:rPr kumimoji="1" lang="en-US" altLang="zh-CN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92</a:t>
                </a:r>
                <a:r>
                  <a:rPr kumimoji="1" lang="zh-CN" altLang="en-US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.1</a:t>
                </a:r>
                <a:r>
                  <a:rPr kumimoji="1" lang="en-US" altLang="zh-CN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68</a:t>
                </a:r>
                <a:r>
                  <a:rPr kumimoji="1" lang="zh-CN" altLang="en-US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kumimoji="1" lang="en-US" altLang="zh-CN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r>
                  <a:rPr kumimoji="1" lang="zh-CN" altLang="en-US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kumimoji="1" lang="en-US" altLang="zh-CN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7</a:t>
                </a:r>
                <a:r>
                  <a:rPr kumimoji="1" lang="zh-CN" altLang="en-US" sz="1867" b="1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:80</a:t>
                </a:r>
                <a:endParaRPr kumimoji="1" lang="en-US" altLang="zh-CN" sz="1867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346" name="组合 2"/>
            <p:cNvGrpSpPr/>
            <p:nvPr/>
          </p:nvGrpSpPr>
          <p:grpSpPr>
            <a:xfrm>
              <a:off x="2417271" y="2487614"/>
              <a:ext cx="1561965" cy="1717241"/>
              <a:chOff x="1814296" y="2487613"/>
              <a:chExt cx="2007739" cy="2132172"/>
            </a:xfrm>
          </p:grpSpPr>
          <p:grpSp>
            <p:nvGrpSpPr>
              <p:cNvPr id="347" name="Group 223"/>
              <p:cNvGrpSpPr/>
              <p:nvPr/>
            </p:nvGrpSpPr>
            <p:grpSpPr bwMode="auto">
              <a:xfrm>
                <a:off x="1935339" y="2487613"/>
                <a:ext cx="1819273" cy="1360190"/>
                <a:chOff x="1234" y="3088"/>
                <a:chExt cx="572" cy="571"/>
              </a:xfrm>
            </p:grpSpPr>
            <p:sp>
              <p:nvSpPr>
                <p:cNvPr id="1049211" name="Rectangle 224"/>
                <p:cNvSpPr>
                  <a:spLocks noChangeArrowheads="1"/>
                </p:cNvSpPr>
                <p:nvPr/>
              </p:nvSpPr>
              <p:spPr bwMode="auto">
                <a:xfrm>
                  <a:off x="1270" y="3127"/>
                  <a:ext cx="503" cy="376"/>
                </a:xfrm>
                <a:prstGeom prst="rect">
                  <a:avLst/>
                </a:prstGeom>
                <a:solidFill>
                  <a:srgbClr val="0000CC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2" name="Freeform 225"/>
                <p:cNvSpPr>
                  <a:spLocks noEditPoints="1"/>
                </p:cNvSpPr>
                <p:nvPr/>
              </p:nvSpPr>
              <p:spPr bwMode="auto">
                <a:xfrm>
                  <a:off x="1234" y="3088"/>
                  <a:ext cx="572" cy="476"/>
                </a:xfrm>
                <a:custGeom>
                  <a:avLst/>
                  <a:gdLst>
                    <a:gd name="T0" fmla="*/ 0 w 10862"/>
                    <a:gd name="T1" fmla="*/ 0 h 9055"/>
                    <a:gd name="T2" fmla="*/ 572 w 10862"/>
                    <a:gd name="T3" fmla="*/ 0 h 9055"/>
                    <a:gd name="T4" fmla="*/ 572 w 10862"/>
                    <a:gd name="T5" fmla="*/ 476 h 9055"/>
                    <a:gd name="T6" fmla="*/ 0 w 10862"/>
                    <a:gd name="T7" fmla="*/ 476 h 9055"/>
                    <a:gd name="T8" fmla="*/ 0 w 10862"/>
                    <a:gd name="T9" fmla="*/ 0 h 9055"/>
                    <a:gd name="T10" fmla="*/ 51 w 10862"/>
                    <a:gd name="T11" fmla="*/ 48 h 9055"/>
                    <a:gd name="T12" fmla="*/ 527 w 10862"/>
                    <a:gd name="T13" fmla="*/ 48 h 9055"/>
                    <a:gd name="T14" fmla="*/ 527 w 10862"/>
                    <a:gd name="T15" fmla="*/ 403 h 9055"/>
                    <a:gd name="T16" fmla="*/ 51 w 10862"/>
                    <a:gd name="T17" fmla="*/ 403 h 9055"/>
                    <a:gd name="T18" fmla="*/ 51 w 10862"/>
                    <a:gd name="T19" fmla="*/ 48 h 905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862" h="9055">
                      <a:moveTo>
                        <a:pt x="0" y="0"/>
                      </a:moveTo>
                      <a:lnTo>
                        <a:pt x="10862" y="0"/>
                      </a:lnTo>
                      <a:lnTo>
                        <a:pt x="10862" y="9055"/>
                      </a:lnTo>
                      <a:lnTo>
                        <a:pt x="0" y="9055"/>
                      </a:lnTo>
                      <a:lnTo>
                        <a:pt x="0" y="0"/>
                      </a:lnTo>
                      <a:close/>
                      <a:moveTo>
                        <a:pt x="963" y="922"/>
                      </a:moveTo>
                      <a:lnTo>
                        <a:pt x="9998" y="922"/>
                      </a:lnTo>
                      <a:lnTo>
                        <a:pt x="9998" y="7663"/>
                      </a:lnTo>
                      <a:lnTo>
                        <a:pt x="963" y="7663"/>
                      </a:lnTo>
                      <a:lnTo>
                        <a:pt x="963" y="922"/>
                      </a:lnTo>
                      <a:close/>
                    </a:path>
                  </a:pathLst>
                </a:custGeom>
                <a:solidFill>
                  <a:srgbClr val="83A7C6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 sz="2667"/>
                </a:p>
              </p:txBody>
            </p:sp>
            <p:sp>
              <p:nvSpPr>
                <p:cNvPr id="1049213" name="Rectangle 226"/>
                <p:cNvSpPr>
                  <a:spLocks noChangeArrowheads="1"/>
                </p:cNvSpPr>
                <p:nvPr/>
              </p:nvSpPr>
              <p:spPr bwMode="auto">
                <a:xfrm>
                  <a:off x="1285" y="3136"/>
                  <a:ext cx="475" cy="8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4" name="Rectangle 227"/>
                <p:cNvSpPr>
                  <a:spLocks noChangeArrowheads="1"/>
                </p:cNvSpPr>
                <p:nvPr/>
              </p:nvSpPr>
              <p:spPr bwMode="auto">
                <a:xfrm>
                  <a:off x="1285" y="3138"/>
                  <a:ext cx="9" cy="349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5" name="Rectangle 228"/>
                <p:cNvSpPr>
                  <a:spLocks noChangeArrowheads="1"/>
                </p:cNvSpPr>
                <p:nvPr/>
              </p:nvSpPr>
              <p:spPr bwMode="auto">
                <a:xfrm>
                  <a:off x="1752" y="3136"/>
                  <a:ext cx="8" cy="35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6" name="Rectangle 229"/>
                <p:cNvSpPr>
                  <a:spLocks noChangeArrowheads="1"/>
                </p:cNvSpPr>
                <p:nvPr/>
              </p:nvSpPr>
              <p:spPr bwMode="auto">
                <a:xfrm>
                  <a:off x="1285" y="3482"/>
                  <a:ext cx="475" cy="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7" name="Rectangle 230"/>
                <p:cNvSpPr>
                  <a:spLocks noChangeArrowheads="1"/>
                </p:cNvSpPr>
                <p:nvPr/>
              </p:nvSpPr>
              <p:spPr bwMode="auto">
                <a:xfrm>
                  <a:off x="1417" y="3565"/>
                  <a:ext cx="228" cy="32"/>
                </a:xfrm>
                <a:prstGeom prst="rect">
                  <a:avLst/>
                </a:prstGeom>
                <a:solidFill>
                  <a:srgbClr val="5781A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8" name="Rectangle 231"/>
                <p:cNvSpPr>
                  <a:spLocks noChangeArrowheads="1"/>
                </p:cNvSpPr>
                <p:nvPr/>
              </p:nvSpPr>
              <p:spPr bwMode="auto">
                <a:xfrm>
                  <a:off x="1436" y="3598"/>
                  <a:ext cx="186" cy="19"/>
                </a:xfrm>
                <a:prstGeom prst="rect">
                  <a:avLst/>
                </a:prstGeom>
                <a:solidFill>
                  <a:srgbClr val="325373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  <p:sp>
              <p:nvSpPr>
                <p:cNvPr id="1049219" name="Rectangle 232"/>
                <p:cNvSpPr>
                  <a:spLocks noChangeArrowheads="1"/>
                </p:cNvSpPr>
                <p:nvPr/>
              </p:nvSpPr>
              <p:spPr bwMode="auto">
                <a:xfrm>
                  <a:off x="1334" y="3620"/>
                  <a:ext cx="384" cy="39"/>
                </a:xfrm>
                <a:prstGeom prst="rect">
                  <a:avLst/>
                </a:prstGeom>
                <a:solidFill>
                  <a:srgbClr val="5781A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kern="1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algn="r" eaLnBrk="1" hangingPunct="1"/>
                  <a:endParaRPr lang="zh-CN" altLang="en-US" sz="2667"/>
                </a:p>
              </p:txBody>
            </p:sp>
          </p:grpSp>
          <p:grpSp>
            <p:nvGrpSpPr>
              <p:cNvPr id="348" name="Group 5"/>
              <p:cNvGrpSpPr/>
              <p:nvPr/>
            </p:nvGrpSpPr>
            <p:grpSpPr bwMode="auto">
              <a:xfrm>
                <a:off x="1965561" y="3835401"/>
                <a:ext cx="1828800" cy="451861"/>
                <a:chOff x="3504" y="3216"/>
                <a:chExt cx="1200" cy="496"/>
              </a:xfrm>
              <a:solidFill>
                <a:srgbClr val="66FFFF"/>
              </a:solidFill>
            </p:grpSpPr>
            <p:sp>
              <p:nvSpPr>
                <p:cNvPr id="1049220" name="Rectangle 6"/>
                <p:cNvSpPr>
                  <a:spLocks noChangeArrowheads="1"/>
                </p:cNvSpPr>
                <p:nvPr/>
              </p:nvSpPr>
              <p:spPr bwMode="auto">
                <a:xfrm>
                  <a:off x="3504" y="3216"/>
                  <a:ext cx="1200" cy="496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33"/>
                </a:p>
              </p:txBody>
            </p:sp>
            <p:sp>
              <p:nvSpPr>
                <p:cNvPr id="1049221" name="Rectangle 7"/>
                <p:cNvSpPr>
                  <a:spLocks noChangeArrowheads="1"/>
                </p:cNvSpPr>
                <p:nvPr/>
              </p:nvSpPr>
              <p:spPr bwMode="auto">
                <a:xfrm>
                  <a:off x="3648" y="3419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kumimoji="1" lang="en-US" altLang="zh-CN" sz="1600" b="1" dirty="0">
                      <a:latin typeface="微软雅黑" pitchFamily="34" charset="-122"/>
                      <a:ea typeface="微软雅黑" pitchFamily="34" charset="-122"/>
                    </a:rPr>
                    <a:t>70</a:t>
                  </a:r>
                  <a:endParaRPr kumimoji="1" lang="zh-CN" altLang="en-US" sz="1600" b="1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049222" name="Rectangle 8"/>
                <p:cNvSpPr>
                  <a:spLocks noChangeArrowheads="1"/>
                </p:cNvSpPr>
                <p:nvPr/>
              </p:nvSpPr>
              <p:spPr bwMode="auto">
                <a:xfrm>
                  <a:off x="3984" y="3419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kumimoji="1" lang="zh-CN" altLang="en-US" sz="1600" b="1">
                      <a:latin typeface="微软雅黑" pitchFamily="34" charset="-122"/>
                      <a:ea typeface="微软雅黑" pitchFamily="34" charset="-122"/>
                    </a:rPr>
                    <a:t>80</a:t>
                  </a:r>
                </a:p>
              </p:txBody>
            </p:sp>
            <p:sp>
              <p:nvSpPr>
                <p:cNvPr id="1049223" name="Rectangle 9"/>
                <p:cNvSpPr>
                  <a:spLocks noChangeArrowheads="1"/>
                </p:cNvSpPr>
                <p:nvPr/>
              </p:nvSpPr>
              <p:spPr bwMode="auto">
                <a:xfrm>
                  <a:off x="4320" y="3419"/>
                  <a:ext cx="24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kumimoji="1" lang="en-US" altLang="zh-CN" sz="1600" b="1" dirty="0">
                      <a:latin typeface="微软雅黑" pitchFamily="34" charset="-122"/>
                      <a:ea typeface="微软雅黑" pitchFamily="34" charset="-122"/>
                    </a:rPr>
                    <a:t>90</a:t>
                  </a:r>
                  <a:endParaRPr kumimoji="1" lang="zh-CN" altLang="en-US" sz="1600" b="1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049224" name="Oval 13"/>
              <p:cNvSpPr>
                <a:spLocks noChangeArrowheads="1"/>
              </p:cNvSpPr>
              <p:nvPr/>
            </p:nvSpPr>
            <p:spPr bwMode="auto">
              <a:xfrm>
                <a:off x="2653333" y="2818789"/>
                <a:ext cx="381000" cy="381000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latin typeface="微软雅黑" pitchFamily="34" charset="-122"/>
                    <a:ea typeface="微软雅黑" pitchFamily="34" charset="-122"/>
                  </a:rPr>
                  <a:t>P2</a:t>
                </a:r>
              </a:p>
            </p:txBody>
          </p:sp>
          <p:sp>
            <p:nvSpPr>
              <p:cNvPr id="1049225" name="Oval 14"/>
              <p:cNvSpPr>
                <a:spLocks noChangeArrowheads="1"/>
              </p:cNvSpPr>
              <p:nvPr/>
            </p:nvSpPr>
            <p:spPr bwMode="auto">
              <a:xfrm>
                <a:off x="2134587" y="2719143"/>
                <a:ext cx="381000" cy="381000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 dirty="0">
                    <a:latin typeface="微软雅黑" pitchFamily="34" charset="-122"/>
                    <a:ea typeface="微软雅黑" pitchFamily="34" charset="-122"/>
                  </a:rPr>
                  <a:t>P1</a:t>
                </a:r>
              </a:p>
            </p:txBody>
          </p:sp>
          <p:sp>
            <p:nvSpPr>
              <p:cNvPr id="1049226" name="Oval 15"/>
              <p:cNvSpPr>
                <a:spLocks noChangeArrowheads="1"/>
              </p:cNvSpPr>
              <p:nvPr/>
            </p:nvSpPr>
            <p:spPr bwMode="auto">
              <a:xfrm>
                <a:off x="3125187" y="2719143"/>
                <a:ext cx="381000" cy="381000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en-US" altLang="zh-CN" sz="1600" b="1">
                    <a:latin typeface="微软雅黑" pitchFamily="34" charset="-122"/>
                    <a:ea typeface="微软雅黑" pitchFamily="34" charset="-122"/>
                  </a:rPr>
                  <a:t>P3</a:t>
                </a:r>
              </a:p>
            </p:txBody>
          </p:sp>
          <p:sp>
            <p:nvSpPr>
              <p:cNvPr id="1049227" name="AutoShape 16"/>
              <p:cNvSpPr>
                <a:spLocks noChangeArrowheads="1"/>
              </p:cNvSpPr>
              <p:nvPr/>
            </p:nvSpPr>
            <p:spPr bwMode="auto">
              <a:xfrm>
                <a:off x="2736536" y="3234959"/>
                <a:ext cx="225486" cy="671900"/>
              </a:xfrm>
              <a:prstGeom prst="upArrow">
                <a:avLst>
                  <a:gd name="adj1" fmla="val 50000"/>
                  <a:gd name="adj2" fmla="val 45000"/>
                </a:avLst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33"/>
              </a:p>
            </p:txBody>
          </p:sp>
          <p:sp>
            <p:nvSpPr>
              <p:cNvPr id="1049228" name="Text Box 10"/>
              <p:cNvSpPr txBox="1">
                <a:spLocks noChangeArrowheads="1"/>
              </p:cNvSpPr>
              <p:nvPr/>
            </p:nvSpPr>
            <p:spPr bwMode="auto">
              <a:xfrm>
                <a:off x="1814296" y="4266242"/>
                <a:ext cx="2007739" cy="3535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r>
                  <a:rPr kumimoji="1" lang="en-US" altLang="zh-CN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92</a:t>
                </a:r>
                <a:r>
                  <a:rPr kumimoji="1" lang="zh-CN" altLang="en-US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.1</a:t>
                </a:r>
                <a:r>
                  <a:rPr kumimoji="1" lang="en-US" altLang="zh-CN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68</a:t>
                </a:r>
                <a:r>
                  <a:rPr kumimoji="1" lang="zh-CN" altLang="en-US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kumimoji="1" lang="en-US" altLang="zh-CN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10</a:t>
                </a:r>
                <a:r>
                  <a:rPr kumimoji="1" lang="zh-CN" altLang="en-US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kumimoji="1" lang="en-US" altLang="zh-CN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r>
                  <a:rPr kumimoji="1" lang="zh-CN" altLang="en-US" sz="1867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:80</a:t>
                </a:r>
                <a:endParaRPr kumimoji="1" lang="en-US" altLang="zh-CN" sz="18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49229" name="Rectangle 396"/>
            <p:cNvSpPr>
              <a:spLocks noChangeArrowheads="1"/>
            </p:cNvSpPr>
            <p:nvPr/>
          </p:nvSpPr>
          <p:spPr bwMode="auto">
            <a:xfrm>
              <a:off x="4264970" y="3320611"/>
              <a:ext cx="490520" cy="2744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algn="ctr" defTabSz="1015975" eaLnBrk="0" hangingPunct="0"/>
              <a:r>
                <a:rPr kumimoji="1"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端口</a:t>
              </a:r>
            </a:p>
          </p:txBody>
        </p:sp>
        <p:sp>
          <p:nvSpPr>
            <p:cNvPr id="1049230" name="Line 399"/>
            <p:cNvSpPr>
              <a:spLocks noChangeShapeType="1"/>
            </p:cNvSpPr>
            <p:nvPr/>
          </p:nvSpPr>
          <p:spPr bwMode="auto">
            <a:xfrm flipH="1">
              <a:off x="3761794" y="3519669"/>
              <a:ext cx="488037" cy="303717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/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9231" name="Line 399"/>
            <p:cNvSpPr>
              <a:spLocks noChangeShapeType="1"/>
            </p:cNvSpPr>
            <p:nvPr/>
          </p:nvSpPr>
          <p:spPr bwMode="auto">
            <a:xfrm>
              <a:off x="4744254" y="3498824"/>
              <a:ext cx="496873" cy="324563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/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49232" name="矩形 1"/>
          <p:cNvSpPr/>
          <p:nvPr/>
        </p:nvSpPr>
        <p:spPr>
          <a:xfrm>
            <a:off x="1936379" y="5330058"/>
            <a:ext cx="8402917" cy="95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467"/>
              </a:lnSpc>
              <a:spcBef>
                <a:spcPts val="800"/>
              </a:spcBef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由此可见，两个计算机中的进程要互相通信，不仅必须知道对方的端口号，而且还要知道对方的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地址。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23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>
            <a:off x="630621" y="1364914"/>
            <a:ext cx="11014843" cy="39722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42618" y="825997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138220" y="781716"/>
            <a:ext cx="394050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两大类、三种类型的端口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205189" y="3118942"/>
            <a:ext cx="1583564" cy="448441"/>
            <a:chOff x="945931" y="1776249"/>
            <a:chExt cx="1187673" cy="33633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45931" y="1944414"/>
              <a:ext cx="1187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945931" y="1776249"/>
              <a:ext cx="0" cy="336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133604" y="1776249"/>
              <a:ext cx="0" cy="336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040996" y="3118942"/>
            <a:ext cx="4750675" cy="448441"/>
            <a:chOff x="945931" y="1776249"/>
            <a:chExt cx="1187673" cy="336331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945931" y="1944414"/>
              <a:ext cx="1187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945931" y="1776249"/>
              <a:ext cx="0" cy="336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2133604" y="1776249"/>
              <a:ext cx="0" cy="336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8056384" y="3118942"/>
            <a:ext cx="3084584" cy="448441"/>
            <a:chOff x="945931" y="1776249"/>
            <a:chExt cx="1187673" cy="336331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945931" y="1944414"/>
              <a:ext cx="1187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945931" y="1776249"/>
              <a:ext cx="0" cy="336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133604" y="1776249"/>
              <a:ext cx="0" cy="336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994988" y="2684531"/>
            <a:ext cx="35298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66610" y="2684531"/>
            <a:ext cx="85792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1023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76646" y="3563252"/>
            <a:ext cx="85792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1024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20918" y="3563252"/>
            <a:ext cx="110479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49,151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39330" y="2684531"/>
            <a:ext cx="110479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49,152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60822" y="2684531"/>
            <a:ext cx="1104790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65,535</a:t>
            </a:r>
            <a:endParaRPr lang="zh-CN" altLang="en-US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24524" y="1812957"/>
            <a:ext cx="292580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服务器端使用的端口号</a:t>
            </a:r>
          </a:p>
        </p:txBody>
      </p:sp>
      <p:sp>
        <p:nvSpPr>
          <p:cNvPr id="28" name="矩形 27"/>
          <p:cNvSpPr/>
          <p:nvPr/>
        </p:nvSpPr>
        <p:spPr>
          <a:xfrm>
            <a:off x="8272832" y="1812957"/>
            <a:ext cx="265168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客户端使用的端口号</a:t>
            </a:r>
          </a:p>
        </p:txBody>
      </p:sp>
      <p:sp>
        <p:nvSpPr>
          <p:cNvPr id="29" name="右大括号 28"/>
          <p:cNvSpPr/>
          <p:nvPr/>
        </p:nvSpPr>
        <p:spPr>
          <a:xfrm rot="16200000">
            <a:off x="4296906" y="-708156"/>
            <a:ext cx="381039" cy="6412303"/>
          </a:xfrm>
          <a:prstGeom prst="rightBrace">
            <a:avLst>
              <a:gd name="adj1" fmla="val 345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0" name="右大括号 29"/>
          <p:cNvSpPr/>
          <p:nvPr/>
        </p:nvSpPr>
        <p:spPr>
          <a:xfrm rot="16200000">
            <a:off x="9408157" y="955703"/>
            <a:ext cx="381039" cy="3084584"/>
          </a:xfrm>
          <a:prstGeom prst="rightBrace">
            <a:avLst>
              <a:gd name="adj1" fmla="val 345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1" name="AutoShape 16"/>
          <p:cNvSpPr>
            <a:spLocks noChangeArrowheads="1"/>
          </p:cNvSpPr>
          <p:nvPr/>
        </p:nvSpPr>
        <p:spPr bwMode="auto">
          <a:xfrm>
            <a:off x="2055476" y="3567384"/>
            <a:ext cx="344905" cy="447275"/>
          </a:xfrm>
          <a:prstGeom prst="upArrow">
            <a:avLst>
              <a:gd name="adj1" fmla="val 50000"/>
              <a:gd name="adj2" fmla="val 4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33"/>
          </a:p>
        </p:txBody>
      </p:sp>
      <p:sp>
        <p:nvSpPr>
          <p:cNvPr id="32" name="矩形 31"/>
          <p:cNvSpPr/>
          <p:nvPr/>
        </p:nvSpPr>
        <p:spPr>
          <a:xfrm>
            <a:off x="860595" y="4075353"/>
            <a:ext cx="2651688" cy="1077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熟知端口</a:t>
            </a:r>
            <a:endParaRPr lang="en-US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（全球通用端口号）</a:t>
            </a:r>
            <a:endParaRPr lang="en-US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IANA </a:t>
            </a:r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负责分配）</a:t>
            </a:r>
          </a:p>
        </p:txBody>
      </p:sp>
      <p:sp>
        <p:nvSpPr>
          <p:cNvPr id="33" name="AutoShape 16"/>
          <p:cNvSpPr>
            <a:spLocks noChangeArrowheads="1"/>
          </p:cNvSpPr>
          <p:nvPr/>
        </p:nvSpPr>
        <p:spPr bwMode="auto">
          <a:xfrm>
            <a:off x="5239617" y="3567384"/>
            <a:ext cx="344905" cy="447275"/>
          </a:xfrm>
          <a:prstGeom prst="upArrow">
            <a:avLst>
              <a:gd name="adj1" fmla="val 50000"/>
              <a:gd name="adj2" fmla="val 4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33"/>
          </a:p>
        </p:txBody>
      </p:sp>
      <p:sp>
        <p:nvSpPr>
          <p:cNvPr id="34" name="矩形 33"/>
          <p:cNvSpPr/>
          <p:nvPr/>
        </p:nvSpPr>
        <p:spPr>
          <a:xfrm>
            <a:off x="4189875" y="4075354"/>
            <a:ext cx="2452916" cy="7487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登记端口</a:t>
            </a:r>
            <a:endParaRPr lang="en-US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（在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IANA </a:t>
            </a:r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登记）</a:t>
            </a:r>
          </a:p>
        </p:txBody>
      </p:sp>
      <p:sp>
        <p:nvSpPr>
          <p:cNvPr id="35" name="AutoShape 16"/>
          <p:cNvSpPr>
            <a:spLocks noChangeArrowheads="1"/>
          </p:cNvSpPr>
          <p:nvPr/>
        </p:nvSpPr>
        <p:spPr bwMode="auto">
          <a:xfrm>
            <a:off x="9481725" y="3567384"/>
            <a:ext cx="344905" cy="447275"/>
          </a:xfrm>
          <a:prstGeom prst="upArrow">
            <a:avLst>
              <a:gd name="adj1" fmla="val 50000"/>
              <a:gd name="adj2" fmla="val 4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33"/>
          </a:p>
        </p:txBody>
      </p:sp>
      <p:sp>
        <p:nvSpPr>
          <p:cNvPr id="36" name="矩形 35"/>
          <p:cNvSpPr/>
          <p:nvPr/>
        </p:nvSpPr>
        <p:spPr>
          <a:xfrm>
            <a:off x="7724603" y="4075354"/>
            <a:ext cx="3748142" cy="7487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短暂端口</a:t>
            </a:r>
            <a:endParaRPr lang="en-US" altLang="zh-CN" sz="2133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（通信结束后，被系统收回）</a:t>
            </a:r>
          </a:p>
        </p:txBody>
      </p:sp>
    </p:spTree>
    <p:extLst>
      <p:ext uri="{BB962C8B-B14F-4D97-AF65-F5344CB8AC3E}">
        <p14:creationId xmlns:p14="http://schemas.microsoft.com/office/powerpoint/2010/main" val="15384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26860" y="815123"/>
            <a:ext cx="10738281" cy="503529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Text Box 155"/>
          <p:cNvSpPr txBox="1">
            <a:spLocks noChangeArrowheads="1"/>
          </p:cNvSpPr>
          <p:nvPr/>
        </p:nvSpPr>
        <p:spPr bwMode="auto">
          <a:xfrm>
            <a:off x="1717382" y="966501"/>
            <a:ext cx="8791593" cy="876522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在计算检验和时，临时把 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12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字节的“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伪首部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”和 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用户数据报连接在一起。伪首部仅仅是为了计算检验和。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864504" y="4688231"/>
            <a:ext cx="1030133" cy="402731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auto">
          <a:xfrm>
            <a:off x="4418959" y="3601052"/>
            <a:ext cx="4422000" cy="308329"/>
          </a:xfrm>
          <a:custGeom>
            <a:avLst/>
            <a:gdLst>
              <a:gd name="T0" fmla="*/ 0 w 2919"/>
              <a:gd name="T1" fmla="*/ 0 h 276"/>
              <a:gd name="T2" fmla="*/ 2919 w 2919"/>
              <a:gd name="T3" fmla="*/ 0 h 276"/>
              <a:gd name="T4" fmla="*/ 1066 w 2919"/>
              <a:gd name="T5" fmla="*/ 276 h 276"/>
              <a:gd name="T6" fmla="*/ 346 w 2919"/>
              <a:gd name="T7" fmla="*/ 268 h 276"/>
              <a:gd name="T8" fmla="*/ 0 w 2919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9" h="276">
                <a:moveTo>
                  <a:pt x="0" y="0"/>
                </a:moveTo>
                <a:lnTo>
                  <a:pt x="2919" y="0"/>
                </a:lnTo>
                <a:lnTo>
                  <a:pt x="1066" y="276"/>
                </a:lnTo>
                <a:lnTo>
                  <a:pt x="346" y="2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B0F0"/>
              </a:gs>
              <a:gs pos="100000">
                <a:srgbClr val="FF99FF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3102508" y="4767939"/>
            <a:ext cx="761997" cy="254504"/>
          </a:xfrm>
          <a:prstGeom prst="leftArrow">
            <a:avLst>
              <a:gd name="adj1" fmla="val 50000"/>
              <a:gd name="adj2" fmla="val 69093"/>
            </a:avLst>
          </a:prstGeom>
          <a:solidFill>
            <a:srgbClr val="CC00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2549568" y="2704224"/>
            <a:ext cx="6383800" cy="494096"/>
          </a:xfrm>
          <a:custGeom>
            <a:avLst/>
            <a:gdLst>
              <a:gd name="T0" fmla="*/ 0 w 3600"/>
              <a:gd name="T1" fmla="*/ 0 h 432"/>
              <a:gd name="T2" fmla="*/ 3600 w 3600"/>
              <a:gd name="T3" fmla="*/ 0 h 432"/>
              <a:gd name="T4" fmla="*/ 1056 w 3600"/>
              <a:gd name="T5" fmla="*/ 432 h 432"/>
              <a:gd name="T6" fmla="*/ 384 w 3600"/>
              <a:gd name="T7" fmla="*/ 432 h 432"/>
              <a:gd name="T8" fmla="*/ 0 w 3600"/>
              <a:gd name="T9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00" h="432">
                <a:moveTo>
                  <a:pt x="0" y="0"/>
                </a:moveTo>
                <a:lnTo>
                  <a:pt x="3600" y="0"/>
                </a:lnTo>
                <a:lnTo>
                  <a:pt x="1056" y="432"/>
                </a:lnTo>
                <a:lnTo>
                  <a:pt x="384" y="432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66FF99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418959" y="3198320"/>
            <a:ext cx="4422000" cy="402731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5524837" y="3198320"/>
            <a:ext cx="1515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554114" y="2301493"/>
            <a:ext cx="6379255" cy="402731"/>
          </a:xfrm>
          <a:prstGeom prst="rect">
            <a:avLst/>
          </a:prstGeom>
          <a:solidFill>
            <a:srgbClr val="99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4678007" y="2301493"/>
            <a:ext cx="3031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6629201" y="3198320"/>
            <a:ext cx="3031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7735079" y="3198320"/>
            <a:ext cx="1515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3226730" y="3198320"/>
            <a:ext cx="1192229" cy="402731"/>
          </a:xfrm>
          <a:custGeom>
            <a:avLst/>
            <a:gdLst>
              <a:gd name="T0" fmla="*/ 672 w 672"/>
              <a:gd name="T1" fmla="*/ 288 h 288"/>
              <a:gd name="T2" fmla="*/ 0 w 672"/>
              <a:gd name="T3" fmla="*/ 288 h 288"/>
              <a:gd name="T4" fmla="*/ 0 w 672"/>
              <a:gd name="T5" fmla="*/ 0 h 288"/>
              <a:gd name="T6" fmla="*/ 672 w 672"/>
              <a:gd name="T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288">
                <a:moveTo>
                  <a:pt x="672" y="288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</a:path>
            </a:pathLst>
          </a:custGeom>
          <a:solidFill>
            <a:srgbClr val="0000FF"/>
          </a:solidFill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3363217" y="320771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伪首部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4557877" y="3195524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源端口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5529745" y="3195524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目的端口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6803780" y="3194126"/>
            <a:ext cx="7168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长  度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7871639" y="3195524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检验和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880674" y="4727387"/>
            <a:ext cx="11432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数         据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3976680" y="4715195"/>
            <a:ext cx="7168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  部</a:t>
            </a:r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6807960" y="2301493"/>
            <a:ext cx="0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7316967" y="2301493"/>
            <a:ext cx="1515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7825973" y="2301493"/>
            <a:ext cx="0" cy="402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7821648" y="2335274"/>
            <a:ext cx="10502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UDP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长度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2972518" y="2335274"/>
            <a:ext cx="11256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源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5037475" y="2335274"/>
            <a:ext cx="13308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目的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6904912" y="2335274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7318481" y="2335274"/>
            <a:ext cx="43794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latin typeface="微软雅黑" pitchFamily="34" charset="-122"/>
                <a:ea typeface="微软雅黑" pitchFamily="34" charset="-122"/>
              </a:rPr>
              <a:t>17</a:t>
            </a:r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3823602" y="5295124"/>
            <a:ext cx="629290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289864" y="5159482"/>
            <a:ext cx="1119513" cy="257300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6258123" y="5119500"/>
            <a:ext cx="1064715" cy="33855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1973906" y="2013255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3447905" y="1993678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5573313" y="1993678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6904912" y="1993678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7401801" y="1993678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8153192" y="1993678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3567583" y="2865507"/>
            <a:ext cx="43794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12</a:t>
            </a:r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4779505" y="2869704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5949011" y="2869704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6970055" y="2869704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8131984" y="2869704"/>
            <a:ext cx="311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2609523" y="2865507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47" name="Text Box 46"/>
          <p:cNvSpPr txBox="1">
            <a:spLocks noChangeArrowheads="1"/>
          </p:cNvSpPr>
          <p:nvPr/>
        </p:nvSpPr>
        <p:spPr bwMode="auto">
          <a:xfrm>
            <a:off x="2427541" y="5087100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发送在前</a:t>
            </a:r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2826520" y="3909380"/>
            <a:ext cx="1981633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867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UDP </a:t>
            </a:r>
            <a:r>
              <a:rPr kumimoji="1" lang="zh-CN" altLang="en-US" sz="1867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用户数据报</a:t>
            </a: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4898638" y="4321685"/>
            <a:ext cx="5210333" cy="383705"/>
          </a:xfrm>
          <a:prstGeom prst="rect">
            <a:avLst/>
          </a:prstGeom>
          <a:gradFill flip="none" rotWithShape="1">
            <a:gsLst>
              <a:gs pos="0">
                <a:srgbClr val="00FFFF"/>
              </a:gs>
              <a:gs pos="100000">
                <a:srgbClr val="00B0F0"/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none" anchor="ctr"/>
          <a:lstStyle/>
          <a:p>
            <a:pPr defTabSz="1219170">
              <a:defRPr/>
            </a:pPr>
            <a:endParaRPr lang="zh-CN" altLang="en-US" sz="1600" b="1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Rectangle 59"/>
          <p:cNvSpPr>
            <a:spLocks noChangeArrowheads="1"/>
          </p:cNvSpPr>
          <p:nvPr/>
        </p:nvSpPr>
        <p:spPr bwMode="auto">
          <a:xfrm flipH="1">
            <a:off x="3226731" y="3187022"/>
            <a:ext cx="1196163" cy="406927"/>
          </a:xfrm>
          <a:prstGeom prst="rect">
            <a:avLst/>
          </a:prstGeom>
          <a:noFill/>
          <a:ln w="5715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94638" y="4691028"/>
            <a:ext cx="5221868" cy="402731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Rectangle 48"/>
          <p:cNvSpPr>
            <a:spLocks noChangeArrowheads="1"/>
          </p:cNvSpPr>
          <p:nvPr/>
        </p:nvSpPr>
        <p:spPr bwMode="auto">
          <a:xfrm>
            <a:off x="5924773" y="3909379"/>
            <a:ext cx="4191735" cy="402731"/>
          </a:xfrm>
          <a:prstGeom prst="rect">
            <a:avLst/>
          </a:prstGeom>
          <a:solidFill>
            <a:srgbClr val="66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93124" y="3909379"/>
            <a:ext cx="1031649" cy="402731"/>
          </a:xfrm>
          <a:prstGeom prst="rect">
            <a:avLst/>
          </a:prstGeom>
          <a:solidFill>
            <a:srgbClr val="CC00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50"/>
          <p:cNvSpPr txBox="1">
            <a:spLocks noChangeArrowheads="1"/>
          </p:cNvSpPr>
          <p:nvPr/>
        </p:nvSpPr>
        <p:spPr bwMode="auto">
          <a:xfrm>
            <a:off x="4973764" y="3909205"/>
            <a:ext cx="803425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  部</a:t>
            </a:r>
          </a:p>
        </p:txBody>
      </p:sp>
      <p:sp>
        <p:nvSpPr>
          <p:cNvPr id="49" name="Text Box 49"/>
          <p:cNvSpPr txBox="1">
            <a:spLocks noChangeArrowheads="1"/>
          </p:cNvSpPr>
          <p:nvPr/>
        </p:nvSpPr>
        <p:spPr bwMode="auto">
          <a:xfrm>
            <a:off x="7382283" y="3906496"/>
            <a:ext cx="1297150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867" b="1" dirty="0">
                <a:latin typeface="微软雅黑" pitchFamily="34" charset="-122"/>
                <a:ea typeface="微软雅黑" pitchFamily="34" charset="-122"/>
              </a:rPr>
              <a:t>数         据</a:t>
            </a:r>
          </a:p>
        </p:txBody>
      </p:sp>
    </p:spTree>
    <p:extLst>
      <p:ext uri="{BB962C8B-B14F-4D97-AF65-F5344CB8AC3E}">
        <p14:creationId xmlns:p14="http://schemas.microsoft.com/office/powerpoint/2010/main" val="211886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2" name="圆角矩形 5"/>
          <p:cNvSpPr/>
          <p:nvPr/>
        </p:nvSpPr>
        <p:spPr>
          <a:xfrm>
            <a:off x="726859" y="2970940"/>
            <a:ext cx="10738280" cy="266199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323" name="AutoShape 5"/>
          <p:cNvSpPr>
            <a:spLocks noChangeArrowheads="1"/>
          </p:cNvSpPr>
          <p:nvPr/>
        </p:nvSpPr>
        <p:spPr bwMode="auto">
          <a:xfrm>
            <a:off x="726858" y="826427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324" name="Rectangle 6"/>
          <p:cNvSpPr>
            <a:spLocks noChangeArrowheads="1"/>
          </p:cNvSpPr>
          <p:nvPr/>
        </p:nvSpPr>
        <p:spPr bwMode="auto">
          <a:xfrm>
            <a:off x="4298821" y="770066"/>
            <a:ext cx="3278462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5.2.1  UDP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sp>
        <p:nvSpPr>
          <p:cNvPr id="1049325" name="Rectangle 8"/>
          <p:cNvSpPr>
            <a:spLocks noChangeArrowheads="1"/>
          </p:cNvSpPr>
          <p:nvPr/>
        </p:nvSpPr>
        <p:spPr bwMode="auto">
          <a:xfrm>
            <a:off x="985994" y="1359852"/>
            <a:ext cx="10220004" cy="157620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80990" indent="-380990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只在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的数据报服务之上增加了一些功能：</a:t>
            </a:r>
          </a:p>
          <a:p>
            <a:pPr marL="833946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复用和分用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833946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差错检测</a:t>
            </a:r>
          </a:p>
        </p:txBody>
      </p:sp>
      <p:pic>
        <p:nvPicPr>
          <p:cNvPr id="2097162" name="对象 1"/>
          <p:cNvPicPr>
            <a:picLocks noGrp="1"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8139" y="3069461"/>
            <a:ext cx="5582983" cy="245279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42618" y="830572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730526" y="786291"/>
            <a:ext cx="27558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的主要特点</a:t>
            </a:r>
          </a:p>
        </p:txBody>
      </p:sp>
      <p:sp>
        <p:nvSpPr>
          <p:cNvPr id="8" name="Rectangle 68"/>
          <p:cNvSpPr>
            <a:spLocks noChangeArrowheads="1"/>
          </p:cNvSpPr>
          <p:nvPr/>
        </p:nvSpPr>
        <p:spPr bwMode="auto">
          <a:xfrm>
            <a:off x="742617" y="1315181"/>
            <a:ext cx="10913280" cy="3632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无连接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。发送数据之前不需要建立连接。</a:t>
            </a:r>
          </a:p>
          <a:p>
            <a:pPr marL="457189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使用尽最大努力交付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。即不保证可靠交付。</a:t>
            </a:r>
          </a:p>
          <a:p>
            <a:pPr marL="457189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面向报文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533" b="1" dirty="0"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一次传送和交付一个完整的报文。 </a:t>
            </a:r>
            <a:endParaRPr lang="en-US" altLang="zh-CN" sz="2533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没有拥塞控制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。网络出现的拥塞不会使源主机的发送速率降低。很适合多媒体通信的要求。 </a:t>
            </a:r>
          </a:p>
          <a:p>
            <a:pPr marL="457189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支持</a:t>
            </a: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一对一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一对多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多对一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多对多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等交互通信。</a:t>
            </a:r>
          </a:p>
          <a:p>
            <a:pPr marL="457189" indent="-457189">
              <a:lnSpc>
                <a:spcPts val="40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5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首部开销小，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只有 </a:t>
            </a:r>
            <a:r>
              <a:rPr lang="en-US" altLang="zh-CN" sz="2533" b="1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2533" b="1" dirty="0">
                <a:latin typeface="微软雅黑" pitchFamily="34" charset="-122"/>
                <a:ea typeface="微软雅黑" pitchFamily="34" charset="-122"/>
              </a:rPr>
              <a:t>个字节。</a:t>
            </a:r>
          </a:p>
        </p:txBody>
      </p:sp>
      <p:sp>
        <p:nvSpPr>
          <p:cNvPr id="2" name="矩形 1"/>
          <p:cNvSpPr/>
          <p:nvPr/>
        </p:nvSpPr>
        <p:spPr>
          <a:xfrm>
            <a:off x="2111352" y="5041722"/>
            <a:ext cx="8008469" cy="473335"/>
          </a:xfrm>
          <a:prstGeom prst="rect">
            <a:avLst/>
          </a:prstGeom>
          <a:solidFill>
            <a:srgbClr val="800080"/>
          </a:solidFill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  <a:buClr>
                <a:srgbClr val="0070C0"/>
              </a:buClr>
            </a:pP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通信的特点：简单方便，但不可靠。</a:t>
            </a:r>
          </a:p>
        </p:txBody>
      </p:sp>
    </p:spTree>
    <p:extLst>
      <p:ext uri="{BB962C8B-B14F-4D97-AF65-F5344CB8AC3E}">
        <p14:creationId xmlns:p14="http://schemas.microsoft.com/office/powerpoint/2010/main" val="265865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2" name="AutoShape 5"/>
          <p:cNvSpPr>
            <a:spLocks noChangeArrowheads="1"/>
          </p:cNvSpPr>
          <p:nvPr/>
        </p:nvSpPr>
        <p:spPr bwMode="auto">
          <a:xfrm>
            <a:off x="726858" y="829883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533" name="Rectangle 6"/>
          <p:cNvSpPr>
            <a:spLocks noChangeArrowheads="1"/>
          </p:cNvSpPr>
          <p:nvPr/>
        </p:nvSpPr>
        <p:spPr bwMode="auto">
          <a:xfrm>
            <a:off x="3677314" y="761330"/>
            <a:ext cx="450956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5.2.2  UDP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的首部格式</a:t>
            </a:r>
          </a:p>
        </p:txBody>
      </p:sp>
      <p:sp>
        <p:nvSpPr>
          <p:cNvPr id="1049534" name="圆角矩形 8"/>
          <p:cNvSpPr/>
          <p:nvPr/>
        </p:nvSpPr>
        <p:spPr>
          <a:xfrm>
            <a:off x="726858" y="1402554"/>
            <a:ext cx="10738281" cy="312942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535" name="矩形 1"/>
          <p:cNvSpPr/>
          <p:nvPr/>
        </p:nvSpPr>
        <p:spPr>
          <a:xfrm>
            <a:off x="1568729" y="4511103"/>
            <a:ext cx="9565521" cy="169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源端口：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源端口号。在需要对方回信时选用。不需要时可用全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目的端口：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目的端口号。终点交付报文时必须使用。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长度：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用户数据报的长度，其最小值是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（仅有首部）。</a:t>
            </a:r>
          </a:p>
          <a:p>
            <a:pPr>
              <a:lnSpc>
                <a:spcPts val="3200"/>
              </a:lnSpc>
            </a:pPr>
            <a:r>
              <a:rPr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检验和：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用户数据报在传输中是否有错。有错就丢弃。</a:t>
            </a:r>
          </a:p>
        </p:txBody>
      </p:sp>
      <p:grpSp>
        <p:nvGrpSpPr>
          <p:cNvPr id="383" name="组合 9"/>
          <p:cNvGrpSpPr/>
          <p:nvPr/>
        </p:nvGrpSpPr>
        <p:grpSpPr>
          <a:xfrm>
            <a:off x="2166094" y="1519324"/>
            <a:ext cx="8832689" cy="1224380"/>
            <a:chOff x="1624570" y="1139493"/>
            <a:chExt cx="6624517" cy="918285"/>
          </a:xfrm>
        </p:grpSpPr>
        <p:grpSp>
          <p:nvGrpSpPr>
            <p:cNvPr id="384" name="组合 5"/>
            <p:cNvGrpSpPr/>
            <p:nvPr/>
          </p:nvGrpSpPr>
          <p:grpSpPr>
            <a:xfrm>
              <a:off x="2091658" y="1139493"/>
              <a:ext cx="6157429" cy="918285"/>
              <a:chOff x="2091658" y="1139493"/>
              <a:chExt cx="6157429" cy="918285"/>
            </a:xfrm>
          </p:grpSpPr>
          <p:sp>
            <p:nvSpPr>
              <p:cNvPr id="1049536" name="Freeform 3"/>
              <p:cNvSpPr/>
              <p:nvPr/>
            </p:nvSpPr>
            <p:spPr bwMode="auto">
              <a:xfrm>
                <a:off x="2091658" y="1670941"/>
                <a:ext cx="3283840" cy="386837"/>
              </a:xfrm>
              <a:custGeom>
                <a:avLst/>
                <a:gdLst>
                  <a:gd name="T0" fmla="*/ 0 w 2919"/>
                  <a:gd name="T1" fmla="*/ 0 h 276"/>
                  <a:gd name="T2" fmla="*/ 2919 w 2919"/>
                  <a:gd name="T3" fmla="*/ 0 h 276"/>
                  <a:gd name="T4" fmla="*/ 1066 w 2919"/>
                  <a:gd name="T5" fmla="*/ 276 h 276"/>
                  <a:gd name="T6" fmla="*/ 346 w 2919"/>
                  <a:gd name="T7" fmla="*/ 268 h 276"/>
                  <a:gd name="T8" fmla="*/ 0 w 2919"/>
                  <a:gd name="T9" fmla="*/ 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9" h="276">
                    <a:moveTo>
                      <a:pt x="0" y="0"/>
                    </a:moveTo>
                    <a:lnTo>
                      <a:pt x="2919" y="0"/>
                    </a:lnTo>
                    <a:lnTo>
                      <a:pt x="1066" y="276"/>
                    </a:lnTo>
                    <a:lnTo>
                      <a:pt x="346" y="2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FFFF"/>
                  </a:gs>
                  <a:gs pos="84000">
                    <a:srgbClr val="FF99FF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 sz="1867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9537" name="Rectangle 8"/>
              <p:cNvSpPr>
                <a:spLocks noChangeArrowheads="1"/>
              </p:cNvSpPr>
              <p:nvPr/>
            </p:nvSpPr>
            <p:spPr bwMode="auto">
              <a:xfrm>
                <a:off x="2091658" y="1365241"/>
                <a:ext cx="3283840" cy="299074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67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9538" name="Line 10"/>
              <p:cNvSpPr>
                <a:spLocks noChangeShapeType="1"/>
              </p:cNvSpPr>
              <p:nvPr/>
            </p:nvSpPr>
            <p:spPr bwMode="auto">
              <a:xfrm>
                <a:off x="2912899" y="1365241"/>
                <a:ext cx="1124" cy="299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67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9539" name="Line 13"/>
              <p:cNvSpPr>
                <a:spLocks noChangeShapeType="1"/>
              </p:cNvSpPr>
              <p:nvPr/>
            </p:nvSpPr>
            <p:spPr bwMode="auto">
              <a:xfrm>
                <a:off x="3733015" y="1365241"/>
                <a:ext cx="2250" cy="299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67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9540" name="Line 14"/>
              <p:cNvSpPr>
                <a:spLocks noChangeShapeType="1"/>
              </p:cNvSpPr>
              <p:nvPr/>
            </p:nvSpPr>
            <p:spPr bwMode="auto">
              <a:xfrm>
                <a:off x="4554256" y="1365241"/>
                <a:ext cx="1125" cy="299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867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9541" name="Text Box 17"/>
              <p:cNvSpPr txBox="1">
                <a:spLocks noChangeArrowheads="1"/>
              </p:cNvSpPr>
              <p:nvPr/>
            </p:nvSpPr>
            <p:spPr bwMode="auto">
              <a:xfrm>
                <a:off x="2099533" y="1363164"/>
                <a:ext cx="675907" cy="2847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867" b="1">
                    <a:latin typeface="微软雅黑" pitchFamily="34" charset="-122"/>
                    <a:ea typeface="微软雅黑" pitchFamily="34" charset="-122"/>
                  </a:rPr>
                  <a:t>源端口</a:t>
                </a:r>
              </a:p>
            </p:txBody>
          </p:sp>
          <p:sp>
            <p:nvSpPr>
              <p:cNvPr id="1049542" name="Text Box 18"/>
              <p:cNvSpPr txBox="1">
                <a:spLocks noChangeArrowheads="1"/>
              </p:cNvSpPr>
              <p:nvPr/>
            </p:nvSpPr>
            <p:spPr bwMode="auto">
              <a:xfrm>
                <a:off x="2871274" y="1363164"/>
                <a:ext cx="855042" cy="2847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867" b="1">
                    <a:latin typeface="微软雅黑" pitchFamily="34" charset="-122"/>
                    <a:ea typeface="微软雅黑" pitchFamily="34" charset="-122"/>
                  </a:rPr>
                  <a:t>目的端口</a:t>
                </a:r>
              </a:p>
            </p:txBody>
          </p:sp>
          <p:sp>
            <p:nvSpPr>
              <p:cNvPr id="1049543" name="Text Box 19"/>
              <p:cNvSpPr txBox="1">
                <a:spLocks noChangeArrowheads="1"/>
              </p:cNvSpPr>
              <p:nvPr/>
            </p:nvSpPr>
            <p:spPr bwMode="auto">
              <a:xfrm>
                <a:off x="3817389" y="1362126"/>
                <a:ext cx="602569" cy="2847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867" b="1">
                    <a:latin typeface="微软雅黑" pitchFamily="34" charset="-122"/>
                    <a:ea typeface="微软雅黑" pitchFamily="34" charset="-122"/>
                  </a:rPr>
                  <a:t>长  度</a:t>
                </a:r>
              </a:p>
            </p:txBody>
          </p:sp>
          <p:sp>
            <p:nvSpPr>
              <p:cNvPr id="1049544" name="Text Box 20"/>
              <p:cNvSpPr txBox="1">
                <a:spLocks noChangeArrowheads="1"/>
              </p:cNvSpPr>
              <p:nvPr/>
            </p:nvSpPr>
            <p:spPr bwMode="auto">
              <a:xfrm>
                <a:off x="4628505" y="1363164"/>
                <a:ext cx="675907" cy="2847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867" b="1">
                    <a:latin typeface="微软雅黑" pitchFamily="34" charset="-122"/>
                    <a:ea typeface="微软雅黑" pitchFamily="34" charset="-122"/>
                  </a:rPr>
                  <a:t>检验和</a:t>
                </a:r>
              </a:p>
            </p:txBody>
          </p:sp>
          <p:sp>
            <p:nvSpPr>
              <p:cNvPr id="1049545" name="Text Box 41"/>
              <p:cNvSpPr txBox="1">
                <a:spLocks noChangeArrowheads="1"/>
              </p:cNvSpPr>
              <p:nvPr/>
            </p:nvSpPr>
            <p:spPr bwMode="auto">
              <a:xfrm>
                <a:off x="2390304" y="1139493"/>
                <a:ext cx="233477" cy="2539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1600" b="1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1049546" name="Text Box 42"/>
              <p:cNvSpPr txBox="1">
                <a:spLocks noChangeArrowheads="1"/>
              </p:cNvSpPr>
              <p:nvPr/>
            </p:nvSpPr>
            <p:spPr bwMode="auto">
              <a:xfrm>
                <a:off x="3258794" y="1139493"/>
                <a:ext cx="233477" cy="2539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1600" b="1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1049547" name="Text Box 43"/>
              <p:cNvSpPr txBox="1">
                <a:spLocks noChangeArrowheads="1"/>
              </p:cNvSpPr>
              <p:nvPr/>
            </p:nvSpPr>
            <p:spPr bwMode="auto">
              <a:xfrm>
                <a:off x="4017036" y="1139493"/>
                <a:ext cx="233477" cy="2539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1600" b="1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1049548" name="Text Box 44"/>
              <p:cNvSpPr txBox="1">
                <a:spLocks noChangeArrowheads="1"/>
              </p:cNvSpPr>
              <p:nvPr/>
            </p:nvSpPr>
            <p:spPr bwMode="auto">
              <a:xfrm>
                <a:off x="4879901" y="1139493"/>
                <a:ext cx="233477" cy="2539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1600" b="1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1049549" name="矩形 4"/>
              <p:cNvSpPr/>
              <p:nvPr/>
            </p:nvSpPr>
            <p:spPr>
              <a:xfrm>
                <a:off x="5438833" y="1203915"/>
                <a:ext cx="2810254" cy="5267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1867" b="1" dirty="0">
                    <a:latin typeface="微软雅黑" pitchFamily="34" charset="-122"/>
                    <a:ea typeface="微软雅黑" pitchFamily="34" charset="-122"/>
                  </a:rPr>
                  <a:t>首部字段：</a:t>
                </a:r>
                <a:r>
                  <a:rPr lang="en-US" altLang="zh-CN" sz="1867" b="1" dirty="0">
                    <a:latin typeface="微软雅黑" pitchFamily="34" charset="-122"/>
                    <a:ea typeface="微软雅黑" pitchFamily="34" charset="-122"/>
                  </a:rPr>
                  <a:t>8 </a:t>
                </a:r>
                <a:r>
                  <a:rPr lang="zh-CN" altLang="en-US" sz="1867" b="1" dirty="0">
                    <a:latin typeface="微软雅黑" pitchFamily="34" charset="-122"/>
                    <a:ea typeface="微软雅黑" pitchFamily="34" charset="-122"/>
                  </a:rPr>
                  <a:t>个字节，</a:t>
                </a:r>
                <a:r>
                  <a:rPr lang="en-US" altLang="zh-CN" sz="1867" b="1" dirty="0">
                    <a:latin typeface="微软雅黑" pitchFamily="34" charset="-122"/>
                    <a:ea typeface="微软雅黑" pitchFamily="34" charset="-122"/>
                  </a:rPr>
                  <a:t>4 </a:t>
                </a:r>
                <a:r>
                  <a:rPr lang="zh-CN" altLang="en-US" sz="1867" b="1" dirty="0">
                    <a:latin typeface="微软雅黑" pitchFamily="34" charset="-122"/>
                    <a:ea typeface="微软雅黑" pitchFamily="34" charset="-122"/>
                  </a:rPr>
                  <a:t>个字段，每个字段为 </a:t>
                </a:r>
                <a:r>
                  <a:rPr lang="en-US" altLang="zh-CN" sz="1867" b="1" dirty="0">
                    <a:latin typeface="微软雅黑" pitchFamily="34" charset="-122"/>
                    <a:ea typeface="微软雅黑" pitchFamily="34" charset="-122"/>
                  </a:rPr>
                  <a:t>2 </a:t>
                </a:r>
                <a:r>
                  <a:rPr lang="zh-CN" altLang="en-US" sz="1867" b="1" dirty="0">
                    <a:latin typeface="微软雅黑" pitchFamily="34" charset="-122"/>
                    <a:ea typeface="微软雅黑" pitchFamily="34" charset="-122"/>
                  </a:rPr>
                  <a:t>个字节。 </a:t>
                </a:r>
              </a:p>
            </p:txBody>
          </p:sp>
        </p:grpSp>
        <p:sp>
          <p:nvSpPr>
            <p:cNvPr id="1049550" name="Text Box 34"/>
            <p:cNvSpPr txBox="1">
              <a:spLocks noChangeArrowheads="1"/>
            </p:cNvSpPr>
            <p:nvPr/>
          </p:nvSpPr>
          <p:spPr bwMode="auto">
            <a:xfrm>
              <a:off x="1624570" y="1156743"/>
              <a:ext cx="446276" cy="2539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</p:grpSp>
      <p:sp>
        <p:nvSpPr>
          <p:cNvPr id="1049551" name="Rectangle 4"/>
          <p:cNvSpPr>
            <a:spLocks noChangeArrowheads="1"/>
          </p:cNvSpPr>
          <p:nvPr/>
        </p:nvSpPr>
        <p:spPr bwMode="auto">
          <a:xfrm>
            <a:off x="3333502" y="3110854"/>
            <a:ext cx="5159023" cy="563677"/>
          </a:xfrm>
          <a:prstGeom prst="rect">
            <a:avLst/>
          </a:prstGeom>
          <a:gradFill flip="none" rotWithShape="1">
            <a:gsLst>
              <a:gs pos="0">
                <a:srgbClr val="00FFFF"/>
              </a:gs>
              <a:gs pos="100000">
                <a:srgbClr val="00B0F0"/>
              </a:gs>
            </a:gsLst>
            <a:lin ang="16200000" scaled="1"/>
          </a:gra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1867" b="1" kern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52" name="Rectangle 2"/>
          <p:cNvSpPr>
            <a:spLocks noChangeArrowheads="1"/>
          </p:cNvSpPr>
          <p:nvPr/>
        </p:nvSpPr>
        <p:spPr bwMode="auto">
          <a:xfrm>
            <a:off x="2309552" y="3531372"/>
            <a:ext cx="1019989" cy="398765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53" name="AutoShape 6"/>
          <p:cNvSpPr>
            <a:spLocks noChangeArrowheads="1"/>
          </p:cNvSpPr>
          <p:nvPr/>
        </p:nvSpPr>
        <p:spPr bwMode="auto">
          <a:xfrm>
            <a:off x="1555060" y="3610295"/>
            <a:ext cx="754493" cy="251997"/>
          </a:xfrm>
          <a:prstGeom prst="leftArrow">
            <a:avLst>
              <a:gd name="adj1" fmla="val 50000"/>
              <a:gd name="adj2" fmla="val 69093"/>
            </a:avLst>
          </a:prstGeom>
          <a:solidFill>
            <a:srgbClr val="FF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54" name="Rectangle 9"/>
          <p:cNvSpPr>
            <a:spLocks noChangeArrowheads="1"/>
          </p:cNvSpPr>
          <p:nvPr/>
        </p:nvSpPr>
        <p:spPr bwMode="auto">
          <a:xfrm>
            <a:off x="3329542" y="3534142"/>
            <a:ext cx="5170445" cy="398765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55" name="Text Box 21"/>
          <p:cNvSpPr txBox="1">
            <a:spLocks noChangeArrowheads="1"/>
          </p:cNvSpPr>
          <p:nvPr/>
        </p:nvSpPr>
        <p:spPr bwMode="auto">
          <a:xfrm>
            <a:off x="5296020" y="3521373"/>
            <a:ext cx="1297150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1867" b="1" dirty="0">
                <a:latin typeface="微软雅黑" pitchFamily="34" charset="-122"/>
                <a:ea typeface="微软雅黑" pitchFamily="34" charset="-122"/>
              </a:rPr>
              <a:t>数         据</a:t>
            </a:r>
          </a:p>
        </p:txBody>
      </p:sp>
      <p:sp>
        <p:nvSpPr>
          <p:cNvPr id="1049556" name="Text Box 22"/>
          <p:cNvSpPr txBox="1">
            <a:spLocks noChangeArrowheads="1"/>
          </p:cNvSpPr>
          <p:nvPr/>
        </p:nvSpPr>
        <p:spPr bwMode="auto">
          <a:xfrm>
            <a:off x="2408552" y="3521373"/>
            <a:ext cx="803425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  部</a:t>
            </a:r>
          </a:p>
        </p:txBody>
      </p:sp>
      <p:sp>
        <p:nvSpPr>
          <p:cNvPr id="1049557" name="Line 31"/>
          <p:cNvSpPr>
            <a:spLocks noChangeShapeType="1"/>
          </p:cNvSpPr>
          <p:nvPr/>
        </p:nvSpPr>
        <p:spPr bwMode="auto">
          <a:xfrm>
            <a:off x="2269053" y="4132288"/>
            <a:ext cx="623093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58" name="Rectangle 32"/>
          <p:cNvSpPr>
            <a:spLocks noChangeArrowheads="1"/>
          </p:cNvSpPr>
          <p:nvPr/>
        </p:nvSpPr>
        <p:spPr bwMode="auto">
          <a:xfrm>
            <a:off x="4711028" y="3997982"/>
            <a:ext cx="1108489" cy="254767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59" name="Text Box 33"/>
          <p:cNvSpPr txBox="1">
            <a:spLocks noChangeArrowheads="1"/>
          </p:cNvSpPr>
          <p:nvPr/>
        </p:nvSpPr>
        <p:spPr bwMode="auto">
          <a:xfrm>
            <a:off x="4741972" y="3944762"/>
            <a:ext cx="1064714" cy="33855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1049560" name="Text Box 46"/>
          <p:cNvSpPr txBox="1">
            <a:spLocks noChangeArrowheads="1"/>
          </p:cNvSpPr>
          <p:nvPr/>
        </p:nvSpPr>
        <p:spPr bwMode="auto">
          <a:xfrm>
            <a:off x="1072373" y="3940698"/>
            <a:ext cx="100540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发送在前</a:t>
            </a:r>
          </a:p>
        </p:txBody>
      </p:sp>
      <p:sp>
        <p:nvSpPr>
          <p:cNvPr id="1049561" name="矩形 2"/>
          <p:cNvSpPr/>
          <p:nvPr/>
        </p:nvSpPr>
        <p:spPr>
          <a:xfrm>
            <a:off x="8460633" y="2666492"/>
            <a:ext cx="3009220" cy="42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个字段：首部，数据。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62" name="Rectangle 4"/>
          <p:cNvSpPr>
            <a:spLocks noChangeArrowheads="1"/>
          </p:cNvSpPr>
          <p:nvPr/>
        </p:nvSpPr>
        <p:spPr bwMode="auto">
          <a:xfrm>
            <a:off x="3328041" y="2711868"/>
            <a:ext cx="1021491" cy="398765"/>
          </a:xfrm>
          <a:prstGeom prst="rect">
            <a:avLst/>
          </a:prstGeom>
          <a:solidFill>
            <a:srgbClr val="CC00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63" name="Rectangle 48"/>
          <p:cNvSpPr>
            <a:spLocks noChangeArrowheads="1"/>
          </p:cNvSpPr>
          <p:nvPr/>
        </p:nvSpPr>
        <p:spPr bwMode="auto">
          <a:xfrm>
            <a:off x="4349531" y="2711868"/>
            <a:ext cx="4150456" cy="398765"/>
          </a:xfrm>
          <a:prstGeom prst="rect">
            <a:avLst/>
          </a:prstGeom>
          <a:solidFill>
            <a:srgbClr val="66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564" name="Text Box 49"/>
          <p:cNvSpPr txBox="1">
            <a:spLocks noChangeArrowheads="1"/>
          </p:cNvSpPr>
          <p:nvPr/>
        </p:nvSpPr>
        <p:spPr bwMode="auto">
          <a:xfrm>
            <a:off x="5819515" y="2700484"/>
            <a:ext cx="1297150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1867" b="1" dirty="0">
                <a:latin typeface="微软雅黑" pitchFamily="34" charset="-122"/>
                <a:ea typeface="微软雅黑" pitchFamily="34" charset="-122"/>
              </a:rPr>
              <a:t>数         据</a:t>
            </a:r>
          </a:p>
        </p:txBody>
      </p:sp>
      <p:sp>
        <p:nvSpPr>
          <p:cNvPr id="1049565" name="Text Box 50"/>
          <p:cNvSpPr txBox="1">
            <a:spLocks noChangeArrowheads="1"/>
          </p:cNvSpPr>
          <p:nvPr/>
        </p:nvSpPr>
        <p:spPr bwMode="auto">
          <a:xfrm>
            <a:off x="3461541" y="2700484"/>
            <a:ext cx="803425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  部</a:t>
            </a:r>
          </a:p>
        </p:txBody>
      </p:sp>
      <p:sp>
        <p:nvSpPr>
          <p:cNvPr id="1049566" name="Text Box 52"/>
          <p:cNvSpPr txBox="1">
            <a:spLocks noChangeArrowheads="1"/>
          </p:cNvSpPr>
          <p:nvPr/>
        </p:nvSpPr>
        <p:spPr bwMode="auto">
          <a:xfrm>
            <a:off x="1232336" y="2709160"/>
            <a:ext cx="1981633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1" lang="en-US" altLang="zh-CN" sz="1867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UDP </a:t>
            </a:r>
            <a:r>
              <a:rPr kumimoji="1" lang="zh-CN" altLang="en-US" sz="1867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用户数据报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4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3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726858" y="847618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700157" y="779065"/>
            <a:ext cx="47916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5.3.1  TCP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最主要的特点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26858" y="1373934"/>
            <a:ext cx="10738281" cy="431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面向连接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的运输层协议。</a:t>
            </a:r>
          </a:p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每一条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只能有两个端点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(endpoint)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，每一条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连接只能是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点对点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的（一对一）。 </a:t>
            </a:r>
          </a:p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可靠交付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的服务。</a:t>
            </a:r>
          </a:p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全双工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通信。</a:t>
            </a:r>
          </a:p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面向字节流</a:t>
            </a:r>
          </a:p>
          <a:p>
            <a:pPr marL="844530" indent="-457189">
              <a:lnSpc>
                <a:spcPts val="3733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中的“流”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(stream)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指的是流入或流出进程的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字节序列。</a:t>
            </a:r>
          </a:p>
          <a:p>
            <a:pPr marL="844530" indent="-457189">
              <a:lnSpc>
                <a:spcPts val="3733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面向字节流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：虽然应用程序和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的交互是一次一个数据块，但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把应用程序交下来的数据看成仅仅是一连串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无结构的字节流。</a:t>
            </a:r>
          </a:p>
        </p:txBody>
      </p:sp>
    </p:spTree>
    <p:extLst>
      <p:ext uri="{BB962C8B-B14F-4D97-AF65-F5344CB8AC3E}">
        <p14:creationId xmlns:p14="http://schemas.microsoft.com/office/powerpoint/2010/main" val="226332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30" name="AutoShape 5"/>
          <p:cNvSpPr>
            <a:spLocks noChangeArrowheads="1"/>
          </p:cNvSpPr>
          <p:nvPr/>
        </p:nvSpPr>
        <p:spPr bwMode="auto">
          <a:xfrm>
            <a:off x="742618" y="836216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831" name="Rectangle 6"/>
          <p:cNvSpPr>
            <a:spLocks noChangeArrowheads="1"/>
          </p:cNvSpPr>
          <p:nvPr/>
        </p:nvSpPr>
        <p:spPr bwMode="auto">
          <a:xfrm>
            <a:off x="3819667" y="791935"/>
            <a:ext cx="4457759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连接，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地址，套接字</a:t>
            </a:r>
          </a:p>
        </p:txBody>
      </p:sp>
      <p:sp>
        <p:nvSpPr>
          <p:cNvPr id="1049832" name="Rectangle 68"/>
          <p:cNvSpPr>
            <a:spLocks noChangeArrowheads="1"/>
          </p:cNvSpPr>
          <p:nvPr/>
        </p:nvSpPr>
        <p:spPr bwMode="auto">
          <a:xfrm>
            <a:off x="742617" y="1405692"/>
            <a:ext cx="10913280" cy="228966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连接就是由协议软件所提供的一种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抽象。</a:t>
            </a:r>
          </a:p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连接的端点是抽象的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套接字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，即（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地址：端口号）。</a:t>
            </a:r>
          </a:p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同一个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地址可以有多个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不同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连接。</a:t>
            </a:r>
          </a:p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同一个端口号也可以出现在多个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不同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连接中。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22" name="AutoShape 5"/>
          <p:cNvSpPr>
            <a:spLocks noChangeArrowheads="1"/>
          </p:cNvSpPr>
          <p:nvPr/>
        </p:nvSpPr>
        <p:spPr bwMode="auto">
          <a:xfrm>
            <a:off x="726860" y="830752"/>
            <a:ext cx="1073828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49823" name="Rectangle 6"/>
          <p:cNvSpPr>
            <a:spLocks noChangeArrowheads="1"/>
          </p:cNvSpPr>
          <p:nvPr/>
        </p:nvSpPr>
        <p:spPr bwMode="auto">
          <a:xfrm>
            <a:off x="4656754" y="799965"/>
            <a:ext cx="2684838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套接字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(socket)</a:t>
            </a:r>
            <a:endParaRPr lang="zh-CN" altLang="en-US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9824" name="圆角矩形 7"/>
          <p:cNvSpPr/>
          <p:nvPr/>
        </p:nvSpPr>
        <p:spPr>
          <a:xfrm>
            <a:off x="726860" y="1419605"/>
            <a:ext cx="10738281" cy="448514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49825" name="Rectangle 4"/>
          <p:cNvSpPr>
            <a:spLocks noChangeArrowheads="1"/>
          </p:cNvSpPr>
          <p:nvPr/>
        </p:nvSpPr>
        <p:spPr bwMode="auto">
          <a:xfrm>
            <a:off x="2302853" y="1608696"/>
            <a:ext cx="7621436" cy="576633"/>
          </a:xfrm>
          <a:prstGeom prst="rect">
            <a:avLst/>
          </a:prstGeom>
          <a:solidFill>
            <a:srgbClr val="FFFF99"/>
          </a:solidFill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套接字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socket = (IP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地址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端口号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)                   (5-1)</a:t>
            </a:r>
          </a:p>
        </p:txBody>
      </p:sp>
      <p:sp>
        <p:nvSpPr>
          <p:cNvPr id="1049826" name="矩形 10"/>
          <p:cNvSpPr/>
          <p:nvPr/>
        </p:nvSpPr>
        <p:spPr>
          <a:xfrm>
            <a:off x="2302854" y="2283216"/>
            <a:ext cx="7429948" cy="465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40000"/>
              </a:spcBef>
              <a:spcAft>
                <a:spcPct val="50000"/>
              </a:spcAft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例如：</a:t>
            </a:r>
          </a:p>
        </p:txBody>
      </p:sp>
      <p:sp>
        <p:nvSpPr>
          <p:cNvPr id="1049827" name="Rectangle 4"/>
          <p:cNvSpPr>
            <a:spLocks noChangeArrowheads="1"/>
          </p:cNvSpPr>
          <p:nvPr/>
        </p:nvSpPr>
        <p:spPr bwMode="auto">
          <a:xfrm>
            <a:off x="2302853" y="2808410"/>
            <a:ext cx="7621436" cy="576633"/>
          </a:xfrm>
          <a:prstGeom prst="rect">
            <a:avLst/>
          </a:prstGeom>
          <a:solidFill>
            <a:schemeClr val="bg1"/>
          </a:solidFill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套接字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socket = (192.169.1.20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: 2028)</a:t>
            </a:r>
          </a:p>
        </p:txBody>
      </p:sp>
      <p:grpSp>
        <p:nvGrpSpPr>
          <p:cNvPr id="426" name="组合 1"/>
          <p:cNvGrpSpPr/>
          <p:nvPr/>
        </p:nvGrpSpPr>
        <p:grpSpPr>
          <a:xfrm>
            <a:off x="855347" y="3895997"/>
            <a:ext cx="10526120" cy="1199715"/>
            <a:chOff x="641510" y="2921997"/>
            <a:chExt cx="7894590" cy="899786"/>
          </a:xfrm>
        </p:grpSpPr>
        <p:sp>
          <p:nvSpPr>
            <p:cNvPr id="1049828" name="Rectangle 5"/>
            <p:cNvSpPr>
              <a:spLocks noChangeArrowheads="1"/>
            </p:cNvSpPr>
            <p:nvPr/>
          </p:nvSpPr>
          <p:spPr bwMode="auto">
            <a:xfrm>
              <a:off x="641510" y="3322725"/>
              <a:ext cx="7894590" cy="499058"/>
            </a:xfrm>
            <a:prstGeom prst="rect">
              <a:avLst/>
            </a:prstGeom>
            <a:solidFill>
              <a:srgbClr val="FFFF99"/>
            </a:solidFill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TCP 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连接 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::= {socket</a:t>
              </a:r>
              <a:r>
                <a:rPr lang="en-US" altLang="zh-CN" sz="2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, socket</a:t>
              </a:r>
              <a:r>
                <a:rPr lang="en-US" altLang="zh-CN" sz="2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} = {(IP</a:t>
              </a:r>
              <a:r>
                <a:rPr lang="en-US" altLang="zh-CN" sz="2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: port</a:t>
              </a:r>
              <a:r>
                <a:rPr lang="en-US" altLang="zh-CN" sz="2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(IP</a:t>
              </a:r>
              <a:r>
                <a:rPr lang="en-US" altLang="zh-CN" sz="2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: port</a:t>
              </a:r>
              <a:r>
                <a:rPr lang="en-US" altLang="zh-CN" sz="2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)}      (5-2)</a:t>
              </a:r>
            </a:p>
          </p:txBody>
        </p:sp>
        <p:sp>
          <p:nvSpPr>
            <p:cNvPr id="1049829" name="矩形 12"/>
            <p:cNvSpPr/>
            <p:nvPr/>
          </p:nvSpPr>
          <p:spPr>
            <a:xfrm>
              <a:off x="826544" y="2921997"/>
              <a:ext cx="7517266" cy="3766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467"/>
                </a:lnSpc>
                <a:spcBef>
                  <a:spcPct val="40000"/>
                </a:spcBef>
                <a:spcAft>
                  <a:spcPct val="50000"/>
                </a:spcAft>
              </a:pP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每一条 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</a:rPr>
                <a:t>TCP 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连接</a:t>
              </a:r>
              <a:r>
                <a:rPr lang="zh-CN" altLang="en-US" sz="2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唯一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地被通信两端的两个端点（即</a:t>
              </a:r>
              <a:r>
                <a:rPr lang="zh-CN" altLang="en-US" sz="2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两个套接字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）所确定：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742618" y="827799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4650377" y="783517"/>
            <a:ext cx="29161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停止等待协议要点</a:t>
            </a:r>
          </a:p>
        </p:txBody>
      </p:sp>
      <p:sp>
        <p:nvSpPr>
          <p:cNvPr id="34" name="Rectangle 68"/>
          <p:cNvSpPr>
            <a:spLocks noChangeArrowheads="1"/>
          </p:cNvSpPr>
          <p:nvPr/>
        </p:nvSpPr>
        <p:spPr bwMode="auto">
          <a:xfrm>
            <a:off x="742618" y="1311931"/>
            <a:ext cx="10731701" cy="479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停止等待。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发送方每次只发送一个分组。在收到确认后再发送下一个分组。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暂存：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在发送完一个分组后，发送方必须暂存已发送的分组的副本，以备重发。</a:t>
            </a:r>
          </a:p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编号。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对发送的每个分组和确认都进行编号。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超时重传。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发送方为发送的每个分组设置一个超时计时器。若超时计时器超时位收到确认，发送方会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自动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超时重传分组。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超时计时器的重传时间应当比数据在分组传输的平均往返时间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更长一些，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防止不必要的重传。</a:t>
            </a:r>
          </a:p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也叫自动重传请求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ARQ (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utomatic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epeat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uest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189" indent="-457189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简单，但信道利用率太低。</a:t>
            </a:r>
            <a:endParaRPr lang="en-US" altLang="zh-CN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381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726860" y="1366699"/>
            <a:ext cx="10738281" cy="307979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5" name="Text Box 155"/>
          <p:cNvSpPr txBox="1">
            <a:spLocks noChangeArrowheads="1"/>
          </p:cNvSpPr>
          <p:nvPr/>
        </p:nvSpPr>
        <p:spPr bwMode="auto">
          <a:xfrm>
            <a:off x="3310967" y="4487525"/>
            <a:ext cx="5914517" cy="95103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3467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由于信道上一直有数据不间断地传送，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ts val="3467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流水线传输可获得很高的信道利用率。 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1615213" y="1370209"/>
            <a:ext cx="8993166" cy="2087527"/>
            <a:chOff x="667767" y="2780928"/>
            <a:chExt cx="8847081" cy="2053617"/>
          </a:xfrm>
        </p:grpSpPr>
        <p:sp>
          <p:nvSpPr>
            <p:cNvPr id="26" name="Freeform 4"/>
            <p:cNvSpPr>
              <a:spLocks/>
            </p:cNvSpPr>
            <p:nvPr/>
          </p:nvSpPr>
          <p:spPr bwMode="auto">
            <a:xfrm>
              <a:off x="1318642" y="3084140"/>
              <a:ext cx="7015162" cy="1627188"/>
            </a:xfrm>
            <a:custGeom>
              <a:avLst/>
              <a:gdLst>
                <a:gd name="T0" fmla="*/ 0 w 4131"/>
                <a:gd name="T1" fmla="*/ 1088 h 1088"/>
                <a:gd name="T2" fmla="*/ 987 w 4131"/>
                <a:gd name="T3" fmla="*/ 0 h 1088"/>
                <a:gd name="T4" fmla="*/ 4131 w 4131"/>
                <a:gd name="T5" fmla="*/ 6 h 1088"/>
                <a:gd name="T6" fmla="*/ 3165 w 4131"/>
                <a:gd name="T7" fmla="*/ 1080 h 1088"/>
                <a:gd name="T8" fmla="*/ 0 w 4131"/>
                <a:gd name="T9" fmla="*/ 1088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1" h="1088">
                  <a:moveTo>
                    <a:pt x="0" y="1088"/>
                  </a:moveTo>
                  <a:lnTo>
                    <a:pt x="987" y="0"/>
                  </a:lnTo>
                  <a:lnTo>
                    <a:pt x="4131" y="6"/>
                  </a:lnTo>
                  <a:lnTo>
                    <a:pt x="3165" y="1080"/>
                  </a:lnTo>
                  <a:lnTo>
                    <a:pt x="0" y="108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1044004" y="4711328"/>
              <a:ext cx="8197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6"/>
            <p:cNvSpPr>
              <a:spLocks noChangeShapeType="1"/>
            </p:cNvSpPr>
            <p:nvPr/>
          </p:nvSpPr>
          <p:spPr bwMode="auto">
            <a:xfrm>
              <a:off x="1044004" y="3084140"/>
              <a:ext cx="8197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7"/>
            <p:cNvSpPr txBox="1">
              <a:spLocks noChangeArrowheads="1"/>
            </p:cNvSpPr>
            <p:nvPr/>
          </p:nvSpPr>
          <p:spPr bwMode="auto">
            <a:xfrm>
              <a:off x="682054" y="2806329"/>
              <a:ext cx="366172" cy="413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133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 flipV="1">
              <a:off x="1307529" y="3084140"/>
              <a:ext cx="1693863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 flipV="1">
              <a:off x="1694879" y="3084140"/>
              <a:ext cx="1692275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 rot="18918223">
              <a:off x="1321685" y="3765482"/>
              <a:ext cx="720988" cy="413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133" b="1" dirty="0">
                  <a:latin typeface="微软雅黑" pitchFamily="34" charset="-122"/>
                  <a:ea typeface="微软雅黑" pitchFamily="34" charset="-122"/>
                </a:rPr>
                <a:t>分组</a:t>
              </a:r>
            </a:p>
          </p:txBody>
        </p:sp>
        <p:sp>
          <p:nvSpPr>
            <p:cNvPr id="33" name="Text Box 11"/>
            <p:cNvSpPr txBox="1">
              <a:spLocks noChangeArrowheads="1"/>
            </p:cNvSpPr>
            <p:nvPr/>
          </p:nvSpPr>
          <p:spPr bwMode="auto">
            <a:xfrm>
              <a:off x="9221217" y="2780928"/>
              <a:ext cx="293631" cy="413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133" b="1" i="1"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4" name="Text Box 12"/>
            <p:cNvSpPr txBox="1">
              <a:spLocks noChangeArrowheads="1"/>
            </p:cNvSpPr>
            <p:nvPr/>
          </p:nvSpPr>
          <p:spPr bwMode="auto">
            <a:xfrm>
              <a:off x="9221217" y="4366842"/>
              <a:ext cx="293631" cy="413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133" b="1" i="1"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5" name="Text Box 13"/>
            <p:cNvSpPr txBox="1">
              <a:spLocks noChangeArrowheads="1"/>
            </p:cNvSpPr>
            <p:nvPr/>
          </p:nvSpPr>
          <p:spPr bwMode="auto">
            <a:xfrm>
              <a:off x="667767" y="4420813"/>
              <a:ext cx="383517" cy="413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133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 rot="15894661">
              <a:off x="2034604" y="3347666"/>
              <a:ext cx="350837" cy="461962"/>
            </a:xfrm>
            <a:prstGeom prst="line">
              <a:avLst/>
            </a:prstGeom>
            <a:noFill/>
            <a:ln w="57150">
              <a:solidFill>
                <a:srgbClr val="CC00CC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15"/>
            <p:cNvSpPr>
              <a:spLocks noChangeShapeType="1"/>
            </p:cNvSpPr>
            <p:nvPr/>
          </p:nvSpPr>
          <p:spPr bwMode="auto">
            <a:xfrm flipV="1">
              <a:off x="2077467" y="3088903"/>
              <a:ext cx="1693862" cy="1627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 flipV="1">
              <a:off x="5544567" y="3088903"/>
              <a:ext cx="1693862" cy="1627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 flipH="1" flipV="1">
              <a:off x="3388742" y="3088903"/>
              <a:ext cx="1693862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 flipV="1">
              <a:off x="2461642" y="3084140"/>
              <a:ext cx="1692275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21"/>
            <p:cNvSpPr>
              <a:spLocks noChangeShapeType="1"/>
            </p:cNvSpPr>
            <p:nvPr/>
          </p:nvSpPr>
          <p:spPr bwMode="auto">
            <a:xfrm flipV="1">
              <a:off x="2847404" y="3084140"/>
              <a:ext cx="1693863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 flipV="1">
              <a:off x="3250629" y="3103190"/>
              <a:ext cx="1692275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23"/>
            <p:cNvSpPr>
              <a:spLocks noChangeShapeType="1"/>
            </p:cNvSpPr>
            <p:nvPr/>
          </p:nvSpPr>
          <p:spPr bwMode="auto">
            <a:xfrm flipV="1">
              <a:off x="3620517" y="3084140"/>
              <a:ext cx="1695450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 flipV="1">
              <a:off x="4395217" y="3084140"/>
              <a:ext cx="1695450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V="1">
              <a:off x="4784154" y="3084140"/>
              <a:ext cx="1692275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26"/>
            <p:cNvSpPr>
              <a:spLocks noChangeShapeType="1"/>
            </p:cNvSpPr>
            <p:nvPr/>
          </p:nvSpPr>
          <p:spPr bwMode="auto">
            <a:xfrm flipV="1">
              <a:off x="5169917" y="3084140"/>
              <a:ext cx="1693862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27"/>
            <p:cNvSpPr>
              <a:spLocks noChangeShapeType="1"/>
            </p:cNvSpPr>
            <p:nvPr/>
          </p:nvSpPr>
          <p:spPr bwMode="auto">
            <a:xfrm flipV="1">
              <a:off x="5558854" y="3084140"/>
              <a:ext cx="1692275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28"/>
            <p:cNvSpPr>
              <a:spLocks noChangeShapeType="1"/>
            </p:cNvSpPr>
            <p:nvPr/>
          </p:nvSpPr>
          <p:spPr bwMode="auto">
            <a:xfrm flipV="1">
              <a:off x="4003104" y="3084140"/>
              <a:ext cx="1695450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29"/>
            <p:cNvSpPr>
              <a:spLocks noChangeShapeType="1"/>
            </p:cNvSpPr>
            <p:nvPr/>
          </p:nvSpPr>
          <p:spPr bwMode="auto">
            <a:xfrm flipV="1">
              <a:off x="5928742" y="3084140"/>
              <a:ext cx="1693862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30"/>
            <p:cNvSpPr>
              <a:spLocks noChangeShapeType="1"/>
            </p:cNvSpPr>
            <p:nvPr/>
          </p:nvSpPr>
          <p:spPr bwMode="auto">
            <a:xfrm flipV="1">
              <a:off x="6301804" y="3084140"/>
              <a:ext cx="1692275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31"/>
            <p:cNvSpPr>
              <a:spLocks noChangeShapeType="1"/>
            </p:cNvSpPr>
            <p:nvPr/>
          </p:nvSpPr>
          <p:spPr bwMode="auto">
            <a:xfrm flipV="1">
              <a:off x="6673279" y="3084140"/>
              <a:ext cx="1693863" cy="1627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32"/>
            <p:cNvSpPr>
              <a:spLocks noChangeShapeType="1"/>
            </p:cNvSpPr>
            <p:nvPr/>
          </p:nvSpPr>
          <p:spPr bwMode="auto">
            <a:xfrm flipH="1" flipV="1">
              <a:off x="3772917" y="3088903"/>
              <a:ext cx="1693862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33"/>
            <p:cNvSpPr>
              <a:spLocks noChangeShapeType="1"/>
            </p:cNvSpPr>
            <p:nvPr/>
          </p:nvSpPr>
          <p:spPr bwMode="auto">
            <a:xfrm flipH="1" flipV="1">
              <a:off x="4155504" y="3088903"/>
              <a:ext cx="1693863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34"/>
            <p:cNvSpPr>
              <a:spLocks noChangeShapeType="1"/>
            </p:cNvSpPr>
            <p:nvPr/>
          </p:nvSpPr>
          <p:spPr bwMode="auto">
            <a:xfrm flipH="1" flipV="1">
              <a:off x="4541267" y="3088903"/>
              <a:ext cx="1692275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35"/>
            <p:cNvSpPr>
              <a:spLocks noChangeShapeType="1"/>
            </p:cNvSpPr>
            <p:nvPr/>
          </p:nvSpPr>
          <p:spPr bwMode="auto">
            <a:xfrm flipH="1" flipV="1">
              <a:off x="4925442" y="3088903"/>
              <a:ext cx="1692275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36"/>
            <p:cNvSpPr>
              <a:spLocks noChangeShapeType="1"/>
            </p:cNvSpPr>
            <p:nvPr/>
          </p:nvSpPr>
          <p:spPr bwMode="auto">
            <a:xfrm flipH="1" flipV="1">
              <a:off x="5308029" y="3088903"/>
              <a:ext cx="1693863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37"/>
            <p:cNvSpPr>
              <a:spLocks noChangeShapeType="1"/>
            </p:cNvSpPr>
            <p:nvPr/>
          </p:nvSpPr>
          <p:spPr bwMode="auto">
            <a:xfrm flipH="1" flipV="1">
              <a:off x="5692204" y="3088903"/>
              <a:ext cx="1692275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38"/>
            <p:cNvSpPr>
              <a:spLocks noChangeShapeType="1"/>
            </p:cNvSpPr>
            <p:nvPr/>
          </p:nvSpPr>
          <p:spPr bwMode="auto">
            <a:xfrm flipH="1" flipV="1">
              <a:off x="6076379" y="3088903"/>
              <a:ext cx="1692275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39"/>
            <p:cNvSpPr>
              <a:spLocks noChangeShapeType="1"/>
            </p:cNvSpPr>
            <p:nvPr/>
          </p:nvSpPr>
          <p:spPr bwMode="auto">
            <a:xfrm flipH="1" flipV="1">
              <a:off x="6458967" y="3088903"/>
              <a:ext cx="1695450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40"/>
            <p:cNvSpPr>
              <a:spLocks noChangeShapeType="1"/>
            </p:cNvSpPr>
            <p:nvPr/>
          </p:nvSpPr>
          <p:spPr bwMode="auto">
            <a:xfrm flipH="1" flipV="1">
              <a:off x="6843142" y="3088903"/>
              <a:ext cx="1692275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41"/>
            <p:cNvSpPr>
              <a:spLocks noChangeShapeType="1"/>
            </p:cNvSpPr>
            <p:nvPr/>
          </p:nvSpPr>
          <p:spPr bwMode="auto">
            <a:xfrm flipH="1" flipV="1">
              <a:off x="7227317" y="3088903"/>
              <a:ext cx="1693862" cy="16271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Text Box 18"/>
            <p:cNvSpPr txBox="1">
              <a:spLocks noChangeArrowheads="1"/>
            </p:cNvSpPr>
            <p:nvPr/>
          </p:nvSpPr>
          <p:spPr bwMode="auto">
            <a:xfrm rot="2268438">
              <a:off x="3422635" y="3548789"/>
              <a:ext cx="746598" cy="413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133" b="1" dirty="0">
                  <a:latin typeface="微软雅黑" pitchFamily="34" charset="-122"/>
                  <a:ea typeface="微软雅黑" pitchFamily="34" charset="-122"/>
                </a:rPr>
                <a:t>ACK</a:t>
              </a:r>
            </a:p>
          </p:txBody>
        </p:sp>
        <p:sp>
          <p:nvSpPr>
            <p:cNvPr id="41" name="Line 19"/>
            <p:cNvSpPr>
              <a:spLocks noChangeShapeType="1"/>
            </p:cNvSpPr>
            <p:nvPr/>
          </p:nvSpPr>
          <p:spPr bwMode="auto">
            <a:xfrm>
              <a:off x="4088829" y="3981078"/>
              <a:ext cx="292100" cy="279400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133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左大括号 1"/>
          <p:cNvSpPr/>
          <p:nvPr/>
        </p:nvSpPr>
        <p:spPr>
          <a:xfrm rot="16200000">
            <a:off x="4001043" y="1719338"/>
            <a:ext cx="305451" cy="3701036"/>
          </a:xfrm>
          <a:prstGeom prst="leftBrace">
            <a:avLst>
              <a:gd name="adj1" fmla="val 30208"/>
              <a:gd name="adj2" fmla="val 50000"/>
            </a:avLst>
          </a:prstGeom>
          <a:ln w="127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1576593" y="3686722"/>
            <a:ext cx="8186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流水线传输：</a:t>
            </a:r>
            <a:r>
              <a:rPr lang="zh-CN" altLang="en-US" sz="2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在收到确认之前，发送方连续发出多个分组。</a:t>
            </a:r>
          </a:p>
        </p:txBody>
      </p:sp>
      <p:sp>
        <p:nvSpPr>
          <p:cNvPr id="66" name="AutoShape 5"/>
          <p:cNvSpPr>
            <a:spLocks noChangeArrowheads="1"/>
          </p:cNvSpPr>
          <p:nvPr/>
        </p:nvSpPr>
        <p:spPr bwMode="auto">
          <a:xfrm>
            <a:off x="742618" y="827799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7" name="Rectangle 6"/>
          <p:cNvSpPr>
            <a:spLocks noChangeArrowheads="1"/>
          </p:cNvSpPr>
          <p:nvPr/>
        </p:nvSpPr>
        <p:spPr bwMode="auto">
          <a:xfrm>
            <a:off x="3967498" y="783517"/>
            <a:ext cx="428194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提高传输效率：流水线传输</a:t>
            </a:r>
          </a:p>
        </p:txBody>
      </p:sp>
      <p:sp>
        <p:nvSpPr>
          <p:cNvPr id="4" name="矩形 3"/>
          <p:cNvSpPr/>
          <p:nvPr/>
        </p:nvSpPr>
        <p:spPr>
          <a:xfrm>
            <a:off x="2303249" y="5492983"/>
            <a:ext cx="7868704" cy="50218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3467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ARQ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协议和滑动窗口协议采用流水线传输方式。</a:t>
            </a:r>
          </a:p>
        </p:txBody>
      </p:sp>
    </p:spTree>
    <p:extLst>
      <p:ext uri="{BB962C8B-B14F-4D97-AF65-F5344CB8AC3E}">
        <p14:creationId xmlns:p14="http://schemas.microsoft.com/office/powerpoint/2010/main" val="44799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58" y="838345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17269" y="781983"/>
            <a:ext cx="43574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5.4.2 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连续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ARQ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726858" y="1353184"/>
            <a:ext cx="10738281" cy="341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发送窗口：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发送方维持一个发送窗口，位于发送窗口内的分组都可被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连续发送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出去，而不需要等待对方的确认。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发送窗口滑动：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发送方每收到一个确认，就把发送窗口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向前滑动一个分组的位置。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累积确认：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接收方对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按序到达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最后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一个分组发送确认，表示：到这个分组为止的所有分组都已正确收到了。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49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圆角矩形 105"/>
          <p:cNvSpPr/>
          <p:nvPr/>
        </p:nvSpPr>
        <p:spPr>
          <a:xfrm>
            <a:off x="742618" y="1359230"/>
            <a:ext cx="10731701" cy="420623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4" name="AutoShape 5"/>
          <p:cNvSpPr>
            <a:spLocks noChangeArrowheads="1"/>
          </p:cNvSpPr>
          <p:nvPr/>
        </p:nvSpPr>
        <p:spPr bwMode="auto">
          <a:xfrm>
            <a:off x="742618" y="827471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5" name="Rectangle 6"/>
          <p:cNvSpPr>
            <a:spLocks noChangeArrowheads="1"/>
          </p:cNvSpPr>
          <p:nvPr/>
        </p:nvSpPr>
        <p:spPr bwMode="auto">
          <a:xfrm>
            <a:off x="5333256" y="783189"/>
            <a:ext cx="155042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累积确认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198686" y="3026983"/>
            <a:ext cx="9525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正确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198686" y="3355215"/>
            <a:ext cx="9525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正确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198686" y="3692171"/>
            <a:ext cx="9525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正确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15238" y="1725675"/>
            <a:ext cx="4478484" cy="426992"/>
            <a:chOff x="1211428" y="1464591"/>
            <a:chExt cx="3358863" cy="320244"/>
          </a:xfrm>
        </p:grpSpPr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1211428" y="1464591"/>
              <a:ext cx="3358863" cy="3202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4" name="Group 15"/>
            <p:cNvGrpSpPr>
              <a:grpSpLocks/>
            </p:cNvGrpSpPr>
            <p:nvPr/>
          </p:nvGrpSpPr>
          <p:grpSpPr bwMode="auto">
            <a:xfrm rot="344460">
              <a:off x="1533819" y="1464591"/>
              <a:ext cx="1357040" cy="191711"/>
              <a:chOff x="3024" y="1776"/>
              <a:chExt cx="1008" cy="144"/>
            </a:xfrm>
          </p:grpSpPr>
          <p:sp>
            <p:nvSpPr>
              <p:cNvPr id="96" name="Rectangle 16"/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864" cy="144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latin typeface="微软雅黑" pitchFamily="34" charset="-122"/>
                    <a:ea typeface="微软雅黑" pitchFamily="34" charset="-122"/>
                  </a:rPr>
                  <a:t>M</a:t>
                </a:r>
                <a:r>
                  <a:rPr lang="en-US" altLang="zh-CN" sz="1600" b="1" baseline="-25000" dirty="0"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97" name="AutoShape 17"/>
              <p:cNvSpPr>
                <a:spLocks noChangeArrowheads="1"/>
              </p:cNvSpPr>
              <p:nvPr/>
            </p:nvSpPr>
            <p:spPr bwMode="auto">
              <a:xfrm>
                <a:off x="3888" y="1776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1615238" y="2066977"/>
            <a:ext cx="4478484" cy="426992"/>
            <a:chOff x="1211428" y="1720568"/>
            <a:chExt cx="3358863" cy="320244"/>
          </a:xfrm>
        </p:grpSpPr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1211428" y="1720568"/>
              <a:ext cx="3358863" cy="3202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7" name="Group 20"/>
            <p:cNvGrpSpPr>
              <a:grpSpLocks/>
            </p:cNvGrpSpPr>
            <p:nvPr/>
          </p:nvGrpSpPr>
          <p:grpSpPr bwMode="auto">
            <a:xfrm rot="344460">
              <a:off x="1533819" y="1720568"/>
              <a:ext cx="1357040" cy="191711"/>
              <a:chOff x="3024" y="1776"/>
              <a:chExt cx="1008" cy="144"/>
            </a:xfrm>
          </p:grpSpPr>
          <p:sp>
            <p:nvSpPr>
              <p:cNvPr id="94" name="Rectangle 21"/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864" cy="144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latin typeface="微软雅黑" pitchFamily="34" charset="-122"/>
                    <a:ea typeface="微软雅黑" pitchFamily="34" charset="-122"/>
                  </a:rPr>
                  <a:t>M</a:t>
                </a:r>
                <a:r>
                  <a:rPr lang="en-US" altLang="zh-CN" sz="1600" b="1" baseline="-25000" dirty="0"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5" name="AutoShape 22"/>
              <p:cNvSpPr>
                <a:spLocks noChangeArrowheads="1"/>
              </p:cNvSpPr>
              <p:nvPr/>
            </p:nvSpPr>
            <p:spPr bwMode="auto">
              <a:xfrm>
                <a:off x="3888" y="1776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100" name="组合 99"/>
          <p:cNvGrpSpPr/>
          <p:nvPr/>
        </p:nvGrpSpPr>
        <p:grpSpPr>
          <a:xfrm>
            <a:off x="1615238" y="3089433"/>
            <a:ext cx="4478484" cy="426992"/>
            <a:chOff x="1211428" y="2487410"/>
            <a:chExt cx="3358863" cy="320244"/>
          </a:xfrm>
        </p:grpSpPr>
        <p:sp>
          <p:nvSpPr>
            <p:cNvPr id="22" name="Line 31"/>
            <p:cNvSpPr>
              <a:spLocks noChangeShapeType="1"/>
            </p:cNvSpPr>
            <p:nvPr/>
          </p:nvSpPr>
          <p:spPr bwMode="auto">
            <a:xfrm>
              <a:off x="1211428" y="2487410"/>
              <a:ext cx="3358863" cy="3202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3" name="Group 32"/>
            <p:cNvGrpSpPr>
              <a:grpSpLocks/>
            </p:cNvGrpSpPr>
            <p:nvPr/>
          </p:nvGrpSpPr>
          <p:grpSpPr bwMode="auto">
            <a:xfrm rot="344460">
              <a:off x="1533819" y="2487410"/>
              <a:ext cx="1357040" cy="191711"/>
              <a:chOff x="3024" y="1776"/>
              <a:chExt cx="1008" cy="144"/>
            </a:xfrm>
            <a:solidFill>
              <a:srgbClr val="FFFF99"/>
            </a:solidFill>
          </p:grpSpPr>
          <p:sp>
            <p:nvSpPr>
              <p:cNvPr id="88" name="Rectangle 33"/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864" cy="144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latin typeface="微软雅黑" pitchFamily="34" charset="-122"/>
                    <a:ea typeface="微软雅黑" pitchFamily="34" charset="-122"/>
                  </a:rPr>
                  <a:t>M</a:t>
                </a:r>
                <a:r>
                  <a:rPr lang="en-US" altLang="zh-CN" sz="1600" b="1" baseline="-25000" dirty="0">
                    <a:latin typeface="微软雅黑" pitchFamily="34" charset="-122"/>
                    <a:ea typeface="微软雅黑" pitchFamily="34" charset="-122"/>
                  </a:rPr>
                  <a:t>4</a:t>
                </a:r>
              </a:p>
            </p:txBody>
          </p:sp>
          <p:sp>
            <p:nvSpPr>
              <p:cNvPr id="89" name="AutoShape 34"/>
              <p:cNvSpPr>
                <a:spLocks noChangeArrowheads="1"/>
              </p:cNvSpPr>
              <p:nvPr/>
            </p:nvSpPr>
            <p:spPr bwMode="auto">
              <a:xfrm>
                <a:off x="3888" y="1776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1615238" y="3430737"/>
            <a:ext cx="4478484" cy="426992"/>
            <a:chOff x="1211428" y="2743388"/>
            <a:chExt cx="3358863" cy="320244"/>
          </a:xfrm>
        </p:grpSpPr>
        <p:sp>
          <p:nvSpPr>
            <p:cNvPr id="24" name="Line 35"/>
            <p:cNvSpPr>
              <a:spLocks noChangeShapeType="1"/>
            </p:cNvSpPr>
            <p:nvPr/>
          </p:nvSpPr>
          <p:spPr bwMode="auto">
            <a:xfrm>
              <a:off x="1211428" y="2743388"/>
              <a:ext cx="3358863" cy="3202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5" name="Group 36"/>
            <p:cNvGrpSpPr>
              <a:grpSpLocks/>
            </p:cNvGrpSpPr>
            <p:nvPr/>
          </p:nvGrpSpPr>
          <p:grpSpPr bwMode="auto">
            <a:xfrm rot="344460">
              <a:off x="1533819" y="2743388"/>
              <a:ext cx="1357040" cy="191711"/>
              <a:chOff x="3024" y="1776"/>
              <a:chExt cx="1008" cy="144"/>
            </a:xfrm>
            <a:solidFill>
              <a:srgbClr val="FFFF99"/>
            </a:solidFill>
          </p:grpSpPr>
          <p:sp>
            <p:nvSpPr>
              <p:cNvPr id="86" name="Rectangle 37"/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864" cy="144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latin typeface="微软雅黑" pitchFamily="34" charset="-122"/>
                    <a:ea typeface="微软雅黑" pitchFamily="34" charset="-122"/>
                  </a:rPr>
                  <a:t>M</a:t>
                </a:r>
                <a:r>
                  <a:rPr lang="en-US" altLang="zh-CN" sz="1600" b="1" baseline="-25000" dirty="0">
                    <a:latin typeface="微软雅黑" pitchFamily="34" charset="-122"/>
                    <a:ea typeface="微软雅黑" pitchFamily="34" charset="-122"/>
                  </a:rPr>
                  <a:t>5</a:t>
                </a:r>
              </a:p>
            </p:txBody>
          </p:sp>
          <p:sp>
            <p:nvSpPr>
              <p:cNvPr id="87" name="AutoShape 38"/>
              <p:cNvSpPr>
                <a:spLocks noChangeArrowheads="1"/>
              </p:cNvSpPr>
              <p:nvPr/>
            </p:nvSpPr>
            <p:spPr bwMode="auto">
              <a:xfrm>
                <a:off x="3888" y="1776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102" name="组合 101"/>
          <p:cNvGrpSpPr/>
          <p:nvPr/>
        </p:nvGrpSpPr>
        <p:grpSpPr>
          <a:xfrm>
            <a:off x="1615238" y="2206403"/>
            <a:ext cx="4478484" cy="457492"/>
            <a:chOff x="1211428" y="1825137"/>
            <a:chExt cx="3358863" cy="343119"/>
          </a:xfrm>
        </p:grpSpPr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>
              <a:off x="1211428" y="1849101"/>
              <a:ext cx="3358863" cy="319155"/>
            </a:xfrm>
            <a:prstGeom prst="line">
              <a:avLst/>
            </a:prstGeom>
            <a:noFill/>
            <a:ln w="28575">
              <a:solidFill>
                <a:srgbClr val="00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3" name="Group 50"/>
            <p:cNvGrpSpPr>
              <a:grpSpLocks/>
            </p:cNvGrpSpPr>
            <p:nvPr/>
          </p:nvGrpSpPr>
          <p:grpSpPr bwMode="auto">
            <a:xfrm rot="21254618">
              <a:off x="3213250" y="1825137"/>
              <a:ext cx="775987" cy="191711"/>
              <a:chOff x="3840" y="2448"/>
              <a:chExt cx="576" cy="144"/>
            </a:xfrm>
          </p:grpSpPr>
          <p:sp>
            <p:nvSpPr>
              <p:cNvPr id="80" name="AutoShape 51"/>
              <p:cNvSpPr>
                <a:spLocks noChangeArrowheads="1"/>
              </p:cNvSpPr>
              <p:nvPr/>
            </p:nvSpPr>
            <p:spPr bwMode="auto">
              <a:xfrm flipH="1">
                <a:off x="3840" y="2448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1" name="Rectangle 52"/>
              <p:cNvSpPr>
                <a:spLocks noChangeArrowheads="1"/>
              </p:cNvSpPr>
              <p:nvPr/>
            </p:nvSpPr>
            <p:spPr bwMode="auto">
              <a:xfrm flipH="1">
                <a:off x="3984" y="2448"/>
                <a:ext cx="432" cy="1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ACK</a:t>
                </a:r>
                <a:r>
                  <a:rPr lang="en-US" altLang="zh-CN" sz="1600" b="1" baseline="-25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</p:grpSp>
      </p:grpSp>
      <p:sp>
        <p:nvSpPr>
          <p:cNvPr id="35" name="Text Box 56"/>
          <p:cNvSpPr txBox="1">
            <a:spLocks noChangeArrowheads="1"/>
          </p:cNvSpPr>
          <p:nvPr/>
        </p:nvSpPr>
        <p:spPr bwMode="auto">
          <a:xfrm>
            <a:off x="6180359" y="1969670"/>
            <a:ext cx="52939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ACK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确认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，将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提交给上层协议或用户</a:t>
            </a:r>
          </a:p>
        </p:txBody>
      </p:sp>
      <p:sp>
        <p:nvSpPr>
          <p:cNvPr id="36" name="Text Box 57"/>
          <p:cNvSpPr txBox="1">
            <a:spLocks noChangeArrowheads="1"/>
          </p:cNvSpPr>
          <p:nvPr/>
        </p:nvSpPr>
        <p:spPr bwMode="auto">
          <a:xfrm>
            <a:off x="6198685" y="2328402"/>
            <a:ext cx="50005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ACK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确认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，将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提交给上层协议或用户</a:t>
            </a:r>
          </a:p>
        </p:txBody>
      </p:sp>
      <p:sp>
        <p:nvSpPr>
          <p:cNvPr id="37" name="Text Box 58"/>
          <p:cNvSpPr txBox="1">
            <a:spLocks noChangeArrowheads="1"/>
          </p:cNvSpPr>
          <p:nvPr/>
        </p:nvSpPr>
        <p:spPr bwMode="auto">
          <a:xfrm>
            <a:off x="6198686" y="2674062"/>
            <a:ext cx="9525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正确</a:t>
            </a:r>
          </a:p>
        </p:txBody>
      </p:sp>
      <p:sp>
        <p:nvSpPr>
          <p:cNvPr id="40" name="Text Box 63"/>
          <p:cNvSpPr txBox="1">
            <a:spLocks noChangeArrowheads="1"/>
          </p:cNvSpPr>
          <p:nvPr/>
        </p:nvSpPr>
        <p:spPr bwMode="auto">
          <a:xfrm>
            <a:off x="6198686" y="4085715"/>
            <a:ext cx="23663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ACK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累积确认，</a:t>
            </a:r>
            <a:endParaRPr lang="en-US" altLang="zh-CN" sz="16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表示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及之前的 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都正确。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81"/>
          <p:cNvSpPr txBox="1">
            <a:spLocks noChangeArrowheads="1"/>
          </p:cNvSpPr>
          <p:nvPr/>
        </p:nvSpPr>
        <p:spPr bwMode="auto">
          <a:xfrm>
            <a:off x="8389414" y="4111108"/>
            <a:ext cx="26028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  <a:p>
            <a:pPr eaLnBrk="1" hangingPunct="1"/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提交给上层协议或用户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1615238" y="4266856"/>
            <a:ext cx="4478484" cy="431349"/>
            <a:chOff x="1211428" y="3370477"/>
            <a:chExt cx="3358863" cy="323512"/>
          </a:xfrm>
        </p:grpSpPr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H="1">
              <a:off x="1211428" y="3373745"/>
              <a:ext cx="3358863" cy="320244"/>
            </a:xfrm>
            <a:prstGeom prst="line">
              <a:avLst/>
            </a:prstGeom>
            <a:noFill/>
            <a:ln w="28575">
              <a:solidFill>
                <a:srgbClr val="00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8" name="Group 89"/>
            <p:cNvGrpSpPr>
              <a:grpSpLocks/>
            </p:cNvGrpSpPr>
            <p:nvPr/>
          </p:nvGrpSpPr>
          <p:grpSpPr bwMode="auto">
            <a:xfrm rot="21254618">
              <a:off x="3213250" y="3370477"/>
              <a:ext cx="775987" cy="191711"/>
              <a:chOff x="3840" y="2448"/>
              <a:chExt cx="576" cy="144"/>
            </a:xfrm>
          </p:grpSpPr>
          <p:sp>
            <p:nvSpPr>
              <p:cNvPr id="63" name="AutoShape 90"/>
              <p:cNvSpPr>
                <a:spLocks noChangeArrowheads="1"/>
              </p:cNvSpPr>
              <p:nvPr/>
            </p:nvSpPr>
            <p:spPr bwMode="auto">
              <a:xfrm flipH="1">
                <a:off x="3840" y="2448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7" name="Rectangle 91"/>
              <p:cNvSpPr>
                <a:spLocks noChangeArrowheads="1"/>
              </p:cNvSpPr>
              <p:nvPr/>
            </p:nvSpPr>
            <p:spPr bwMode="auto">
              <a:xfrm flipH="1">
                <a:off x="3984" y="2448"/>
                <a:ext cx="432" cy="1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ACK</a:t>
                </a:r>
                <a:r>
                  <a:rPr lang="en-US" altLang="zh-CN" sz="1600" b="1" baseline="-25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615238" y="1423541"/>
            <a:ext cx="4478484" cy="3739808"/>
            <a:chOff x="1211428" y="1211865"/>
            <a:chExt cx="3358863" cy="3028156"/>
          </a:xfrm>
        </p:grpSpPr>
        <p:sp>
          <p:nvSpPr>
            <p:cNvPr id="32" name="Line 49"/>
            <p:cNvSpPr>
              <a:spLocks noChangeShapeType="1"/>
            </p:cNvSpPr>
            <p:nvPr/>
          </p:nvSpPr>
          <p:spPr bwMode="auto">
            <a:xfrm>
              <a:off x="4570291" y="1211865"/>
              <a:ext cx="0" cy="3028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95"/>
            <p:cNvSpPr>
              <a:spLocks noChangeShapeType="1"/>
            </p:cNvSpPr>
            <p:nvPr/>
          </p:nvSpPr>
          <p:spPr bwMode="auto">
            <a:xfrm>
              <a:off x="1211428" y="1235829"/>
              <a:ext cx="0" cy="3004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615238" y="2408281"/>
            <a:ext cx="4478484" cy="425540"/>
            <a:chOff x="1211428" y="1976545"/>
            <a:chExt cx="3358863" cy="319155"/>
          </a:xfrm>
        </p:grpSpPr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1211428" y="1976545"/>
              <a:ext cx="3358863" cy="319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9" name="Group 24"/>
            <p:cNvGrpSpPr>
              <a:grpSpLocks/>
            </p:cNvGrpSpPr>
            <p:nvPr/>
          </p:nvGrpSpPr>
          <p:grpSpPr bwMode="auto">
            <a:xfrm rot="344460">
              <a:off x="1533819" y="1976545"/>
              <a:ext cx="1357040" cy="191711"/>
              <a:chOff x="3024" y="1776"/>
              <a:chExt cx="1008" cy="144"/>
            </a:xfrm>
          </p:grpSpPr>
          <p:sp>
            <p:nvSpPr>
              <p:cNvPr id="92" name="Rectangle 25"/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864" cy="144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latin typeface="微软雅黑" pitchFamily="34" charset="-122"/>
                    <a:ea typeface="微软雅黑" pitchFamily="34" charset="-122"/>
                  </a:rPr>
                  <a:t>M</a:t>
                </a:r>
                <a:r>
                  <a:rPr lang="en-US" altLang="zh-CN" sz="1600" b="1" baseline="-25000" dirty="0"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93" name="AutoShape 26"/>
              <p:cNvSpPr>
                <a:spLocks noChangeArrowheads="1"/>
              </p:cNvSpPr>
              <p:nvPr/>
            </p:nvSpPr>
            <p:spPr bwMode="auto">
              <a:xfrm>
                <a:off x="3888" y="1776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1615238" y="2578205"/>
            <a:ext cx="4478484" cy="426992"/>
            <a:chOff x="1211428" y="2103989"/>
            <a:chExt cx="3358863" cy="320244"/>
          </a:xfrm>
        </p:grpSpPr>
        <p:sp>
          <p:nvSpPr>
            <p:cNvPr id="12" name="Line 13"/>
            <p:cNvSpPr>
              <a:spLocks noChangeShapeType="1"/>
            </p:cNvSpPr>
            <p:nvPr/>
          </p:nvSpPr>
          <p:spPr bwMode="auto">
            <a:xfrm flipH="1">
              <a:off x="1211428" y="2103989"/>
              <a:ext cx="3358863" cy="320244"/>
            </a:xfrm>
            <a:prstGeom prst="line">
              <a:avLst/>
            </a:prstGeom>
            <a:noFill/>
            <a:ln w="28575">
              <a:solidFill>
                <a:srgbClr val="00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4" name="Group 53"/>
            <p:cNvGrpSpPr>
              <a:grpSpLocks/>
            </p:cNvGrpSpPr>
            <p:nvPr/>
          </p:nvGrpSpPr>
          <p:grpSpPr bwMode="auto">
            <a:xfrm rot="21254618">
              <a:off x="3213250" y="2103989"/>
              <a:ext cx="775987" cy="191711"/>
              <a:chOff x="3840" y="2448"/>
              <a:chExt cx="576" cy="144"/>
            </a:xfrm>
          </p:grpSpPr>
          <p:sp>
            <p:nvSpPr>
              <p:cNvPr id="78" name="AutoShape 54"/>
              <p:cNvSpPr>
                <a:spLocks noChangeArrowheads="1"/>
              </p:cNvSpPr>
              <p:nvPr/>
            </p:nvSpPr>
            <p:spPr bwMode="auto">
              <a:xfrm flipH="1">
                <a:off x="3840" y="2448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9" name="Rectangle 55"/>
              <p:cNvSpPr>
                <a:spLocks noChangeArrowheads="1"/>
              </p:cNvSpPr>
              <p:nvPr/>
            </p:nvSpPr>
            <p:spPr bwMode="auto">
              <a:xfrm flipH="1">
                <a:off x="3984" y="2448"/>
                <a:ext cx="432" cy="1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ACK</a:t>
                </a:r>
                <a:r>
                  <a:rPr lang="en-US" altLang="zh-CN" sz="1600" b="1" baseline="-25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</p:grpSp>
      </p:grpSp>
      <p:grpSp>
        <p:nvGrpSpPr>
          <p:cNvPr id="99" name="组合 98"/>
          <p:cNvGrpSpPr/>
          <p:nvPr/>
        </p:nvGrpSpPr>
        <p:grpSpPr>
          <a:xfrm>
            <a:off x="1615238" y="2749583"/>
            <a:ext cx="4478484" cy="425540"/>
            <a:chOff x="1211428" y="2232522"/>
            <a:chExt cx="3358863" cy="319155"/>
          </a:xfrm>
        </p:grpSpPr>
        <p:sp>
          <p:nvSpPr>
            <p:cNvPr id="20" name="Line 27"/>
            <p:cNvSpPr>
              <a:spLocks noChangeShapeType="1"/>
            </p:cNvSpPr>
            <p:nvPr/>
          </p:nvSpPr>
          <p:spPr bwMode="auto">
            <a:xfrm>
              <a:off x="1211428" y="2232522"/>
              <a:ext cx="3358863" cy="319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1" name="Group 28"/>
            <p:cNvGrpSpPr>
              <a:grpSpLocks/>
            </p:cNvGrpSpPr>
            <p:nvPr/>
          </p:nvGrpSpPr>
          <p:grpSpPr bwMode="auto">
            <a:xfrm rot="344460">
              <a:off x="1533819" y="2232522"/>
              <a:ext cx="1357040" cy="191711"/>
              <a:chOff x="3024" y="1776"/>
              <a:chExt cx="1008" cy="144"/>
            </a:xfrm>
          </p:grpSpPr>
          <p:sp>
            <p:nvSpPr>
              <p:cNvPr id="90" name="Rectangle 29"/>
              <p:cNvSpPr>
                <a:spLocks noChangeArrowheads="1"/>
              </p:cNvSpPr>
              <p:nvPr/>
            </p:nvSpPr>
            <p:spPr bwMode="auto">
              <a:xfrm>
                <a:off x="3024" y="1776"/>
                <a:ext cx="864" cy="144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600" b="1" dirty="0">
                    <a:latin typeface="微软雅黑" pitchFamily="34" charset="-122"/>
                    <a:ea typeface="微软雅黑" pitchFamily="34" charset="-122"/>
                  </a:rPr>
                  <a:t>M</a:t>
                </a:r>
                <a:r>
                  <a:rPr lang="en-US" altLang="zh-CN" sz="1600" b="1" baseline="-25000" dirty="0">
                    <a:latin typeface="微软雅黑" pitchFamily="34" charset="-122"/>
                    <a:ea typeface="微软雅黑" pitchFamily="34" charset="-122"/>
                  </a:rPr>
                  <a:t>3</a:t>
                </a:r>
              </a:p>
            </p:txBody>
          </p:sp>
          <p:sp>
            <p:nvSpPr>
              <p:cNvPr id="91" name="AutoShape 30"/>
              <p:cNvSpPr>
                <a:spLocks noChangeArrowheads="1"/>
              </p:cNvSpPr>
              <p:nvPr/>
            </p:nvSpPr>
            <p:spPr bwMode="auto">
              <a:xfrm>
                <a:off x="3888" y="1776"/>
                <a:ext cx="144" cy="144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A006E59-24D0-B668-2BE0-4E3FC787B68F}"/>
              </a:ext>
            </a:extLst>
          </p:cNvPr>
          <p:cNvSpPr txBox="1"/>
          <p:nvPr/>
        </p:nvSpPr>
        <p:spPr>
          <a:xfrm>
            <a:off x="6548039" y="5852743"/>
            <a:ext cx="1841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ACK0  ack=100</a:t>
            </a:r>
          </a:p>
          <a:p>
            <a:r>
              <a:rPr lang="en-US" altLang="zh-CN" dirty="0"/>
              <a:t>ACK1  ack =300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FCAC746-40C2-7123-8DE8-2D28C9D92125}"/>
              </a:ext>
            </a:extLst>
          </p:cNvPr>
          <p:cNvSpPr txBox="1"/>
          <p:nvPr/>
        </p:nvSpPr>
        <p:spPr>
          <a:xfrm>
            <a:off x="4334265" y="5887795"/>
            <a:ext cx="1841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M0    seq=0</a:t>
            </a:r>
          </a:p>
          <a:p>
            <a:r>
              <a:rPr lang="en-US" altLang="zh-CN" dirty="0"/>
              <a:t>M1    seq =100</a:t>
            </a:r>
          </a:p>
          <a:p>
            <a:r>
              <a:rPr lang="en-US" altLang="zh-CN" dirty="0"/>
              <a:t>M2    seq=300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974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9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3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25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2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87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35" grpId="0"/>
      <p:bldP spid="36" grpId="0"/>
      <p:bldP spid="37" grpId="0"/>
      <p:bldP spid="40" grpId="0"/>
      <p:bldP spid="5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6" name="Rectangle 68"/>
          <p:cNvSpPr>
            <a:spLocks noChangeArrowheads="1"/>
          </p:cNvSpPr>
          <p:nvPr/>
        </p:nvSpPr>
        <p:spPr bwMode="auto">
          <a:xfrm>
            <a:off x="726860" y="1421231"/>
            <a:ext cx="10587317" cy="34181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虽然是面向字节流的，但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传送的数据单元却是报文段。</a:t>
            </a:r>
          </a:p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一个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报文段分为首部和数据两部分，而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的全部功能都体现在它首部中各字段的作用。</a:t>
            </a:r>
          </a:p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报文段首部的前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20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个字节是固定的，后面有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字节是根据需要而增加的选项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667" b="1" i="1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是整数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因此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首部的最小长度是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20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字节。</a:t>
            </a:r>
          </a:p>
        </p:txBody>
      </p:sp>
      <p:sp>
        <p:nvSpPr>
          <p:cNvPr id="1050227" name="AutoShape 5"/>
          <p:cNvSpPr>
            <a:spLocks noChangeArrowheads="1"/>
          </p:cNvSpPr>
          <p:nvPr/>
        </p:nvSpPr>
        <p:spPr bwMode="auto">
          <a:xfrm>
            <a:off x="726859" y="819777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 sz="2400">
              <a:latin typeface="宋体" charset="-122"/>
            </a:endParaRPr>
          </a:p>
        </p:txBody>
      </p:sp>
      <p:sp>
        <p:nvSpPr>
          <p:cNvPr id="1050228" name="Rectangle 6"/>
          <p:cNvSpPr>
            <a:spLocks noChangeArrowheads="1"/>
          </p:cNvSpPr>
          <p:nvPr/>
        </p:nvSpPr>
        <p:spPr bwMode="auto">
          <a:xfrm>
            <a:off x="3372983" y="763415"/>
            <a:ext cx="524214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5.5  </a:t>
            </a:r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报文段的首部格式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圆角矩形 84"/>
          <p:cNvSpPr/>
          <p:nvPr/>
        </p:nvSpPr>
        <p:spPr>
          <a:xfrm>
            <a:off x="726859" y="865633"/>
            <a:ext cx="10738283" cy="494995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H="1">
            <a:off x="2546515" y="1534165"/>
            <a:ext cx="14223" cy="3099544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9583727" y="1527003"/>
            <a:ext cx="0" cy="260424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9269433" y="2337397"/>
            <a:ext cx="602731" cy="981466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20</a:t>
            </a:r>
          </a:p>
          <a:p>
            <a:pPr algn="ctr" defTabSz="1015975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  <a:p>
            <a:pPr algn="ctr" defTabSz="1015975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固定</a:t>
            </a:r>
          </a:p>
          <a:p>
            <a:pPr algn="ctr" defTabSz="1015975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873095" y="1531777"/>
            <a:ext cx="6260557" cy="3107900"/>
          </a:xfrm>
          <a:prstGeom prst="rect">
            <a:avLst/>
          </a:prstGeom>
          <a:solidFill>
            <a:srgbClr val="00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2866631" y="2060501"/>
            <a:ext cx="62709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878268" y="2583259"/>
            <a:ext cx="62592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2866631" y="3104823"/>
            <a:ext cx="62709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2866631" y="3625193"/>
            <a:ext cx="62709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2878268" y="4147951"/>
            <a:ext cx="62592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6004667" y="1537745"/>
            <a:ext cx="0" cy="53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982152" y="1633225"/>
            <a:ext cx="1429881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目  的  端  口</a:t>
            </a: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2979007" y="3059060"/>
            <a:ext cx="654027" cy="61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</a:t>
            </a:r>
          </a:p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偏移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3877733" y="3729029"/>
            <a:ext cx="1224696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检   验   和</a:t>
            </a: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4041939" y="4211206"/>
            <a:ext cx="280962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选    项  （长  度  可  变）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970826" y="1633225"/>
            <a:ext cx="1102868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源  端  口</a:t>
            </a: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5428062" y="2130510"/>
            <a:ext cx="112488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序   号</a:t>
            </a: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6009839" y="3111985"/>
            <a:ext cx="0" cy="10299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6851563" y="3729029"/>
            <a:ext cx="1612623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紧   急   指   针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7188211" y="3178616"/>
            <a:ext cx="836770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窗   口</a:t>
            </a: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5228945" y="2674750"/>
            <a:ext cx="1499844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确    认    号</a:t>
            </a: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3652756" y="3111984"/>
            <a:ext cx="0" cy="5203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5222420" y="3106016"/>
            <a:ext cx="0" cy="5144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4820305" y="3111984"/>
            <a:ext cx="0" cy="5203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5019424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5614189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5417659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5813307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3867867" y="3189357"/>
            <a:ext cx="836770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保   留</a:t>
            </a:r>
          </a:p>
        </p:txBody>
      </p: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5707023" y="3097046"/>
            <a:ext cx="395943" cy="60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algn="ctr"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F</a:t>
            </a:r>
          </a:p>
          <a:p>
            <a:pPr algn="ctr"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I</a:t>
            </a:r>
          </a:p>
          <a:p>
            <a:pPr algn="ctr"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71" name="Rectangle 75"/>
          <p:cNvSpPr>
            <a:spLocks noChangeArrowheads="1"/>
          </p:cNvSpPr>
          <p:nvPr/>
        </p:nvSpPr>
        <p:spPr bwMode="auto">
          <a:xfrm>
            <a:off x="5536868" y="3097046"/>
            <a:ext cx="395944" cy="60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Y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72" name="Rectangle 76"/>
          <p:cNvSpPr>
            <a:spLocks noChangeArrowheads="1"/>
          </p:cNvSpPr>
          <p:nvPr/>
        </p:nvSpPr>
        <p:spPr bwMode="auto">
          <a:xfrm>
            <a:off x="5362427" y="3097046"/>
            <a:ext cx="368693" cy="60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R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73" name="Rectangle 77"/>
          <p:cNvSpPr>
            <a:spLocks noChangeArrowheads="1"/>
          </p:cNvSpPr>
          <p:nvPr/>
        </p:nvSpPr>
        <p:spPr bwMode="auto">
          <a:xfrm>
            <a:off x="5133460" y="3097046"/>
            <a:ext cx="391135" cy="60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P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H</a:t>
            </a:r>
          </a:p>
        </p:txBody>
      </p:sp>
      <p:sp>
        <p:nvSpPr>
          <p:cNvPr id="74" name="Rectangle 78"/>
          <p:cNvSpPr>
            <a:spLocks noChangeArrowheads="1"/>
          </p:cNvSpPr>
          <p:nvPr/>
        </p:nvSpPr>
        <p:spPr bwMode="auto">
          <a:xfrm>
            <a:off x="4938221" y="3097046"/>
            <a:ext cx="378311" cy="60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C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75" name="Rectangle 79"/>
          <p:cNvSpPr>
            <a:spLocks noChangeArrowheads="1"/>
          </p:cNvSpPr>
          <p:nvPr/>
        </p:nvSpPr>
        <p:spPr bwMode="auto">
          <a:xfrm>
            <a:off x="4744389" y="3097046"/>
            <a:ext cx="383120" cy="60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U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R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G</a:t>
            </a:r>
          </a:p>
        </p:txBody>
      </p:sp>
      <p:sp>
        <p:nvSpPr>
          <p:cNvPr id="76" name="Line 81"/>
          <p:cNvSpPr>
            <a:spLocks noChangeShapeType="1"/>
          </p:cNvSpPr>
          <p:nvPr/>
        </p:nvSpPr>
        <p:spPr bwMode="auto">
          <a:xfrm flipH="1">
            <a:off x="7557523" y="4161079"/>
            <a:ext cx="2587" cy="4833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Rectangle 83"/>
          <p:cNvSpPr>
            <a:spLocks noChangeArrowheads="1"/>
          </p:cNvSpPr>
          <p:nvPr/>
        </p:nvSpPr>
        <p:spPr bwMode="auto">
          <a:xfrm>
            <a:off x="7936139" y="4211206"/>
            <a:ext cx="1021445" cy="3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填    充</a:t>
            </a:r>
          </a:p>
        </p:txBody>
      </p:sp>
      <p:sp>
        <p:nvSpPr>
          <p:cNvPr id="78" name="Line 96"/>
          <p:cNvSpPr>
            <a:spLocks noChangeShapeType="1"/>
          </p:cNvSpPr>
          <p:nvPr/>
        </p:nvSpPr>
        <p:spPr bwMode="auto">
          <a:xfrm>
            <a:off x="9167375" y="1513873"/>
            <a:ext cx="6762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Line 97"/>
          <p:cNvSpPr>
            <a:spLocks noChangeShapeType="1"/>
          </p:cNvSpPr>
          <p:nvPr/>
        </p:nvSpPr>
        <p:spPr bwMode="auto">
          <a:xfrm>
            <a:off x="9167375" y="4141983"/>
            <a:ext cx="6762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Line 98"/>
          <p:cNvSpPr>
            <a:spLocks noChangeShapeType="1"/>
          </p:cNvSpPr>
          <p:nvPr/>
        </p:nvSpPr>
        <p:spPr bwMode="auto">
          <a:xfrm>
            <a:off x="2436441" y="1542517"/>
            <a:ext cx="4318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Line 99"/>
          <p:cNvSpPr>
            <a:spLocks noChangeShapeType="1"/>
          </p:cNvSpPr>
          <p:nvPr/>
        </p:nvSpPr>
        <p:spPr bwMode="auto">
          <a:xfrm>
            <a:off x="2448077" y="4625355"/>
            <a:ext cx="4318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Rectangle 104"/>
          <p:cNvSpPr>
            <a:spLocks noChangeArrowheads="1"/>
          </p:cNvSpPr>
          <p:nvPr/>
        </p:nvSpPr>
        <p:spPr bwMode="auto">
          <a:xfrm>
            <a:off x="2879928" y="2071297"/>
            <a:ext cx="6242088" cy="539467"/>
          </a:xfrm>
          <a:prstGeom prst="rect">
            <a:avLst/>
          </a:prstGeom>
          <a:noFill/>
          <a:ln w="5715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 Box 155"/>
          <p:cNvSpPr txBox="1">
            <a:spLocks noChangeArrowheads="1"/>
          </p:cNvSpPr>
          <p:nvPr/>
        </p:nvSpPr>
        <p:spPr bwMode="auto">
          <a:xfrm>
            <a:off x="1267013" y="4729008"/>
            <a:ext cx="9813364" cy="789319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序号：占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字节。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连接中传送的数据流中的</a:t>
            </a:r>
            <a:r>
              <a:rPr lang="zh-CN" altLang="en-US" sz="2133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每一个字节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都有一个序号。序号字段的值则指的是本报文段</a:t>
            </a:r>
            <a:r>
              <a:rPr lang="zh-CN" altLang="en-US" sz="2133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所发送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的数据的</a:t>
            </a:r>
            <a:r>
              <a:rPr lang="zh-CN" altLang="en-US" sz="2133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第一个字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节的序号。 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2436440" y="1043298"/>
            <a:ext cx="7084361" cy="499221"/>
            <a:chOff x="1827330" y="782473"/>
            <a:chExt cx="5313271" cy="374416"/>
          </a:xfrm>
        </p:grpSpPr>
        <p:sp>
          <p:nvSpPr>
            <p:cNvPr id="87" name="Line 37"/>
            <p:cNvSpPr>
              <a:spLocks noChangeShapeType="1"/>
            </p:cNvSpPr>
            <p:nvPr/>
          </p:nvSpPr>
          <p:spPr bwMode="auto">
            <a:xfrm>
              <a:off x="2152882" y="1060214"/>
              <a:ext cx="46886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Line 38"/>
            <p:cNvSpPr>
              <a:spLocks noChangeShapeType="1"/>
            </p:cNvSpPr>
            <p:nvPr/>
          </p:nvSpPr>
          <p:spPr bwMode="auto">
            <a:xfrm>
              <a:off x="2152882" y="891931"/>
              <a:ext cx="0" cy="1682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>
              <a:off x="2299311" y="976071"/>
              <a:ext cx="0" cy="841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Line 40"/>
            <p:cNvSpPr>
              <a:spLocks noChangeShapeType="1"/>
            </p:cNvSpPr>
            <p:nvPr/>
          </p:nvSpPr>
          <p:spPr bwMode="auto">
            <a:xfrm>
              <a:off x="2445739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>
              <a:off x="2592168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Line 42"/>
            <p:cNvSpPr>
              <a:spLocks noChangeShapeType="1"/>
            </p:cNvSpPr>
            <p:nvPr/>
          </p:nvSpPr>
          <p:spPr bwMode="auto">
            <a:xfrm>
              <a:off x="2739567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Line 43"/>
            <p:cNvSpPr>
              <a:spLocks noChangeShapeType="1"/>
            </p:cNvSpPr>
            <p:nvPr/>
          </p:nvSpPr>
          <p:spPr bwMode="auto">
            <a:xfrm>
              <a:off x="2885995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Line 44"/>
            <p:cNvSpPr>
              <a:spLocks noChangeShapeType="1"/>
            </p:cNvSpPr>
            <p:nvPr/>
          </p:nvSpPr>
          <p:spPr bwMode="auto">
            <a:xfrm>
              <a:off x="3031454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Line 45"/>
            <p:cNvSpPr>
              <a:spLocks noChangeShapeType="1"/>
            </p:cNvSpPr>
            <p:nvPr/>
          </p:nvSpPr>
          <p:spPr bwMode="auto">
            <a:xfrm>
              <a:off x="3177883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Line 46"/>
            <p:cNvSpPr>
              <a:spLocks noChangeShapeType="1"/>
            </p:cNvSpPr>
            <p:nvPr/>
          </p:nvSpPr>
          <p:spPr bwMode="auto">
            <a:xfrm>
              <a:off x="3325282" y="891930"/>
              <a:ext cx="0" cy="1682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Line 47"/>
            <p:cNvSpPr>
              <a:spLocks noChangeShapeType="1"/>
            </p:cNvSpPr>
            <p:nvPr/>
          </p:nvSpPr>
          <p:spPr bwMode="auto">
            <a:xfrm>
              <a:off x="3471710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8" name="Line 48"/>
            <p:cNvSpPr>
              <a:spLocks noChangeShapeType="1"/>
            </p:cNvSpPr>
            <p:nvPr/>
          </p:nvSpPr>
          <p:spPr bwMode="auto">
            <a:xfrm>
              <a:off x="3618139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9" name="Line 49"/>
            <p:cNvSpPr>
              <a:spLocks noChangeShapeType="1"/>
            </p:cNvSpPr>
            <p:nvPr/>
          </p:nvSpPr>
          <p:spPr bwMode="auto">
            <a:xfrm>
              <a:off x="3764568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Line 50"/>
            <p:cNvSpPr>
              <a:spLocks noChangeShapeType="1"/>
            </p:cNvSpPr>
            <p:nvPr/>
          </p:nvSpPr>
          <p:spPr bwMode="auto">
            <a:xfrm>
              <a:off x="3911966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Line 51"/>
            <p:cNvSpPr>
              <a:spLocks noChangeShapeType="1"/>
            </p:cNvSpPr>
            <p:nvPr/>
          </p:nvSpPr>
          <p:spPr bwMode="auto">
            <a:xfrm>
              <a:off x="4058395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Line 52"/>
            <p:cNvSpPr>
              <a:spLocks noChangeShapeType="1"/>
            </p:cNvSpPr>
            <p:nvPr/>
          </p:nvSpPr>
          <p:spPr bwMode="auto">
            <a:xfrm>
              <a:off x="4203855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Line 53"/>
            <p:cNvSpPr>
              <a:spLocks noChangeShapeType="1"/>
            </p:cNvSpPr>
            <p:nvPr/>
          </p:nvSpPr>
          <p:spPr bwMode="auto">
            <a:xfrm>
              <a:off x="4350283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" name="Line 54"/>
            <p:cNvSpPr>
              <a:spLocks noChangeShapeType="1"/>
            </p:cNvSpPr>
            <p:nvPr/>
          </p:nvSpPr>
          <p:spPr bwMode="auto">
            <a:xfrm>
              <a:off x="4496711" y="891931"/>
              <a:ext cx="0" cy="1682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Line 55"/>
            <p:cNvSpPr>
              <a:spLocks noChangeShapeType="1"/>
            </p:cNvSpPr>
            <p:nvPr/>
          </p:nvSpPr>
          <p:spPr bwMode="auto">
            <a:xfrm>
              <a:off x="4644110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Line 56"/>
            <p:cNvSpPr>
              <a:spLocks noChangeShapeType="1"/>
            </p:cNvSpPr>
            <p:nvPr/>
          </p:nvSpPr>
          <p:spPr bwMode="auto">
            <a:xfrm>
              <a:off x="4790539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Line 57"/>
            <p:cNvSpPr>
              <a:spLocks noChangeShapeType="1"/>
            </p:cNvSpPr>
            <p:nvPr/>
          </p:nvSpPr>
          <p:spPr bwMode="auto">
            <a:xfrm>
              <a:off x="4936968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8" name="Line 58"/>
            <p:cNvSpPr>
              <a:spLocks noChangeShapeType="1"/>
            </p:cNvSpPr>
            <p:nvPr/>
          </p:nvSpPr>
          <p:spPr bwMode="auto">
            <a:xfrm>
              <a:off x="5083396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Line 59"/>
            <p:cNvSpPr>
              <a:spLocks noChangeShapeType="1"/>
            </p:cNvSpPr>
            <p:nvPr/>
          </p:nvSpPr>
          <p:spPr bwMode="auto">
            <a:xfrm>
              <a:off x="5230795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>
              <a:off x="5376254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>
              <a:off x="5522683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>
              <a:off x="5669111" y="891931"/>
              <a:ext cx="0" cy="168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>
              <a:off x="5815540" y="976070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>
              <a:off x="5962939" y="976070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>
              <a:off x="6109368" y="976074"/>
              <a:ext cx="0" cy="84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>
              <a:off x="6255797" y="976074"/>
              <a:ext cx="0" cy="84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7" name="Line 67"/>
            <p:cNvSpPr>
              <a:spLocks noChangeShapeType="1"/>
            </p:cNvSpPr>
            <p:nvPr/>
          </p:nvSpPr>
          <p:spPr bwMode="auto">
            <a:xfrm>
              <a:off x="6402225" y="963550"/>
              <a:ext cx="0" cy="96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8" name="Line 68"/>
            <p:cNvSpPr>
              <a:spLocks noChangeShapeType="1"/>
            </p:cNvSpPr>
            <p:nvPr/>
          </p:nvSpPr>
          <p:spPr bwMode="auto">
            <a:xfrm>
              <a:off x="6548654" y="963550"/>
              <a:ext cx="0" cy="96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9" name="Line 69"/>
            <p:cNvSpPr>
              <a:spLocks noChangeShapeType="1"/>
            </p:cNvSpPr>
            <p:nvPr/>
          </p:nvSpPr>
          <p:spPr bwMode="auto">
            <a:xfrm>
              <a:off x="6695083" y="963550"/>
              <a:ext cx="0" cy="96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0" name="Line 70"/>
            <p:cNvSpPr>
              <a:spLocks noChangeShapeType="1"/>
            </p:cNvSpPr>
            <p:nvPr/>
          </p:nvSpPr>
          <p:spPr bwMode="auto">
            <a:xfrm>
              <a:off x="6841512" y="891931"/>
              <a:ext cx="0" cy="168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1" name="Line 98"/>
            <p:cNvSpPr>
              <a:spLocks noChangeShapeType="1"/>
            </p:cNvSpPr>
            <p:nvPr/>
          </p:nvSpPr>
          <p:spPr bwMode="auto">
            <a:xfrm>
              <a:off x="1827330" y="1156889"/>
              <a:ext cx="3238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Rectangle 80"/>
            <p:cNvSpPr>
              <a:spLocks noChangeArrowheads="1"/>
            </p:cNvSpPr>
            <p:nvPr/>
          </p:nvSpPr>
          <p:spPr bwMode="auto">
            <a:xfrm>
              <a:off x="1881948" y="782473"/>
              <a:ext cx="5258653" cy="228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  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0                                 8                                16                                24                          31</a:t>
              </a:r>
            </a:p>
          </p:txBody>
        </p:sp>
      </p:grpSp>
      <p:sp>
        <p:nvSpPr>
          <p:cNvPr id="86" name="Rectangle 4"/>
          <p:cNvSpPr>
            <a:spLocks noChangeArrowheads="1"/>
          </p:cNvSpPr>
          <p:nvPr/>
        </p:nvSpPr>
        <p:spPr bwMode="auto">
          <a:xfrm>
            <a:off x="2161191" y="2840763"/>
            <a:ext cx="659461" cy="550579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vert="horz" wrap="square" lIns="120651" tIns="59267" rIns="120651" bIns="59267" anchor="ctr">
            <a:spAutoFit/>
          </a:bodyPr>
          <a:lstStyle/>
          <a:p>
            <a:pPr algn="ctr" defTabSz="1015975" eaLnBrk="0" hangingPunct="0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</p:spTree>
    <p:extLst>
      <p:ext uri="{BB962C8B-B14F-4D97-AF65-F5344CB8AC3E}">
        <p14:creationId xmlns:p14="http://schemas.microsoft.com/office/powerpoint/2010/main" val="124757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511" name="圆角矩形 84"/>
          <p:cNvSpPr/>
          <p:nvPr/>
        </p:nvSpPr>
        <p:spPr>
          <a:xfrm>
            <a:off x="726859" y="865632"/>
            <a:ext cx="10738283" cy="49674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50512" name="Line 3"/>
          <p:cNvSpPr>
            <a:spLocks noChangeShapeType="1"/>
          </p:cNvSpPr>
          <p:nvPr/>
        </p:nvSpPr>
        <p:spPr bwMode="auto">
          <a:xfrm flipH="1">
            <a:off x="2546515" y="1534165"/>
            <a:ext cx="14223" cy="3099544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13" name="Line 5"/>
          <p:cNvSpPr>
            <a:spLocks noChangeShapeType="1"/>
          </p:cNvSpPr>
          <p:nvPr/>
        </p:nvSpPr>
        <p:spPr bwMode="auto">
          <a:xfrm>
            <a:off x="9583727" y="1527003"/>
            <a:ext cx="0" cy="260424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14" name="Rectangle 6"/>
          <p:cNvSpPr>
            <a:spLocks noChangeArrowheads="1"/>
          </p:cNvSpPr>
          <p:nvPr/>
        </p:nvSpPr>
        <p:spPr bwMode="auto">
          <a:xfrm>
            <a:off x="9258052" y="2337397"/>
            <a:ext cx="602731" cy="981466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20</a:t>
            </a:r>
          </a:p>
          <a:p>
            <a:pPr algn="ctr" defTabSz="1015975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  <a:p>
            <a:pPr algn="ctr" defTabSz="1015975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固定</a:t>
            </a:r>
          </a:p>
          <a:p>
            <a:pPr algn="ctr" defTabSz="1015975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1050515" name="Rectangle 7"/>
          <p:cNvSpPr>
            <a:spLocks noChangeArrowheads="1"/>
          </p:cNvSpPr>
          <p:nvPr/>
        </p:nvSpPr>
        <p:spPr bwMode="auto">
          <a:xfrm>
            <a:off x="2873095" y="1531777"/>
            <a:ext cx="6260557" cy="3107900"/>
          </a:xfrm>
          <a:prstGeom prst="rect">
            <a:avLst/>
          </a:prstGeom>
          <a:solidFill>
            <a:srgbClr val="00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16" name="Line 10"/>
          <p:cNvSpPr>
            <a:spLocks noChangeShapeType="1"/>
          </p:cNvSpPr>
          <p:nvPr/>
        </p:nvSpPr>
        <p:spPr bwMode="auto">
          <a:xfrm>
            <a:off x="2866631" y="2060501"/>
            <a:ext cx="62709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17" name="Line 11"/>
          <p:cNvSpPr>
            <a:spLocks noChangeShapeType="1"/>
          </p:cNvSpPr>
          <p:nvPr/>
        </p:nvSpPr>
        <p:spPr bwMode="auto">
          <a:xfrm>
            <a:off x="2878268" y="2583259"/>
            <a:ext cx="62592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18" name="Line 12"/>
          <p:cNvSpPr>
            <a:spLocks noChangeShapeType="1"/>
          </p:cNvSpPr>
          <p:nvPr/>
        </p:nvSpPr>
        <p:spPr bwMode="auto">
          <a:xfrm>
            <a:off x="2866631" y="3104823"/>
            <a:ext cx="62709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19" name="Line 13"/>
          <p:cNvSpPr>
            <a:spLocks noChangeShapeType="1"/>
          </p:cNvSpPr>
          <p:nvPr/>
        </p:nvSpPr>
        <p:spPr bwMode="auto">
          <a:xfrm>
            <a:off x="2866631" y="3625193"/>
            <a:ext cx="62709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20" name="Line 14"/>
          <p:cNvSpPr>
            <a:spLocks noChangeShapeType="1"/>
          </p:cNvSpPr>
          <p:nvPr/>
        </p:nvSpPr>
        <p:spPr bwMode="auto">
          <a:xfrm>
            <a:off x="2878268" y="4147951"/>
            <a:ext cx="62592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21" name="Line 15"/>
          <p:cNvSpPr>
            <a:spLocks noChangeShapeType="1"/>
          </p:cNvSpPr>
          <p:nvPr/>
        </p:nvSpPr>
        <p:spPr bwMode="auto">
          <a:xfrm>
            <a:off x="6004667" y="1537745"/>
            <a:ext cx="0" cy="53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22" name="Rectangle 16"/>
          <p:cNvSpPr>
            <a:spLocks noChangeArrowheads="1"/>
          </p:cNvSpPr>
          <p:nvPr/>
        </p:nvSpPr>
        <p:spPr bwMode="auto">
          <a:xfrm>
            <a:off x="6982152" y="1633225"/>
            <a:ext cx="1429881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目  的  端  口</a:t>
            </a:r>
          </a:p>
        </p:txBody>
      </p:sp>
      <p:sp>
        <p:nvSpPr>
          <p:cNvPr id="1050523" name="Rectangle 17"/>
          <p:cNvSpPr>
            <a:spLocks noChangeArrowheads="1"/>
          </p:cNvSpPr>
          <p:nvPr/>
        </p:nvSpPr>
        <p:spPr bwMode="auto">
          <a:xfrm>
            <a:off x="2979007" y="3059060"/>
            <a:ext cx="654027" cy="61213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数据</a:t>
            </a:r>
          </a:p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偏移</a:t>
            </a:r>
          </a:p>
        </p:txBody>
      </p:sp>
      <p:sp>
        <p:nvSpPr>
          <p:cNvPr id="1050524" name="Rectangle 18"/>
          <p:cNvSpPr>
            <a:spLocks noChangeArrowheads="1"/>
          </p:cNvSpPr>
          <p:nvPr/>
        </p:nvSpPr>
        <p:spPr bwMode="auto">
          <a:xfrm>
            <a:off x="3877733" y="3729029"/>
            <a:ext cx="1224696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检   验   和</a:t>
            </a:r>
          </a:p>
        </p:txBody>
      </p:sp>
      <p:sp>
        <p:nvSpPr>
          <p:cNvPr id="1050525" name="Rectangle 19"/>
          <p:cNvSpPr>
            <a:spLocks noChangeArrowheads="1"/>
          </p:cNvSpPr>
          <p:nvPr/>
        </p:nvSpPr>
        <p:spPr bwMode="auto">
          <a:xfrm>
            <a:off x="4041939" y="4211206"/>
            <a:ext cx="2809624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选    项  （长  度  可  变）</a:t>
            </a:r>
          </a:p>
        </p:txBody>
      </p:sp>
      <p:sp>
        <p:nvSpPr>
          <p:cNvPr id="1050526" name="Rectangle 20"/>
          <p:cNvSpPr>
            <a:spLocks noChangeArrowheads="1"/>
          </p:cNvSpPr>
          <p:nvPr/>
        </p:nvSpPr>
        <p:spPr bwMode="auto">
          <a:xfrm>
            <a:off x="3970826" y="1633225"/>
            <a:ext cx="1102868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源  端  口</a:t>
            </a:r>
          </a:p>
        </p:txBody>
      </p:sp>
      <p:sp>
        <p:nvSpPr>
          <p:cNvPr id="1050527" name="Rectangle 21"/>
          <p:cNvSpPr>
            <a:spLocks noChangeArrowheads="1"/>
          </p:cNvSpPr>
          <p:nvPr/>
        </p:nvSpPr>
        <p:spPr bwMode="auto">
          <a:xfrm>
            <a:off x="5428062" y="2130510"/>
            <a:ext cx="1124884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序   号</a:t>
            </a:r>
          </a:p>
        </p:txBody>
      </p:sp>
      <p:sp>
        <p:nvSpPr>
          <p:cNvPr id="1050528" name="Line 22"/>
          <p:cNvSpPr>
            <a:spLocks noChangeShapeType="1"/>
          </p:cNvSpPr>
          <p:nvPr/>
        </p:nvSpPr>
        <p:spPr bwMode="auto">
          <a:xfrm>
            <a:off x="6009839" y="3111985"/>
            <a:ext cx="0" cy="10299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29" name="Rectangle 23"/>
          <p:cNvSpPr>
            <a:spLocks noChangeArrowheads="1"/>
          </p:cNvSpPr>
          <p:nvPr/>
        </p:nvSpPr>
        <p:spPr bwMode="auto">
          <a:xfrm>
            <a:off x="6851563" y="3729029"/>
            <a:ext cx="1612623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紧   急   指   针</a:t>
            </a:r>
          </a:p>
        </p:txBody>
      </p:sp>
      <p:sp>
        <p:nvSpPr>
          <p:cNvPr id="1050530" name="Rectangle 24"/>
          <p:cNvSpPr>
            <a:spLocks noChangeArrowheads="1"/>
          </p:cNvSpPr>
          <p:nvPr/>
        </p:nvSpPr>
        <p:spPr bwMode="auto">
          <a:xfrm>
            <a:off x="7188211" y="3178616"/>
            <a:ext cx="836770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>
                <a:latin typeface="微软雅黑" pitchFamily="34" charset="-122"/>
                <a:ea typeface="微软雅黑" pitchFamily="34" charset="-122"/>
              </a:rPr>
              <a:t>窗   口</a:t>
            </a:r>
          </a:p>
        </p:txBody>
      </p:sp>
      <p:sp>
        <p:nvSpPr>
          <p:cNvPr id="1050531" name="Rectangle 25"/>
          <p:cNvSpPr>
            <a:spLocks noChangeArrowheads="1"/>
          </p:cNvSpPr>
          <p:nvPr/>
        </p:nvSpPr>
        <p:spPr bwMode="auto">
          <a:xfrm>
            <a:off x="5228945" y="2674749"/>
            <a:ext cx="1499844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lIns="120651" tIns="59267" rIns="120651" bIns="59267">
            <a:spAutoFit/>
          </a:bodyPr>
          <a:lstStyle/>
          <a:p>
            <a:pPr algn="ctr"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确    认    号</a:t>
            </a:r>
          </a:p>
        </p:txBody>
      </p:sp>
      <p:sp>
        <p:nvSpPr>
          <p:cNvPr id="1050532" name="Line 26"/>
          <p:cNvSpPr>
            <a:spLocks noChangeShapeType="1"/>
          </p:cNvSpPr>
          <p:nvPr/>
        </p:nvSpPr>
        <p:spPr bwMode="auto">
          <a:xfrm>
            <a:off x="3652756" y="3111984"/>
            <a:ext cx="0" cy="5203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3" name="Line 27"/>
          <p:cNvSpPr>
            <a:spLocks noChangeShapeType="1"/>
          </p:cNvSpPr>
          <p:nvPr/>
        </p:nvSpPr>
        <p:spPr bwMode="auto">
          <a:xfrm>
            <a:off x="5222420" y="3106016"/>
            <a:ext cx="0" cy="5144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4" name="Line 28"/>
          <p:cNvSpPr>
            <a:spLocks noChangeShapeType="1"/>
          </p:cNvSpPr>
          <p:nvPr/>
        </p:nvSpPr>
        <p:spPr bwMode="auto">
          <a:xfrm>
            <a:off x="4820305" y="3111984"/>
            <a:ext cx="0" cy="5203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5" name="Line 29"/>
          <p:cNvSpPr>
            <a:spLocks noChangeShapeType="1"/>
          </p:cNvSpPr>
          <p:nvPr/>
        </p:nvSpPr>
        <p:spPr bwMode="auto">
          <a:xfrm>
            <a:off x="5019424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6" name="Line 30"/>
          <p:cNvSpPr>
            <a:spLocks noChangeShapeType="1"/>
          </p:cNvSpPr>
          <p:nvPr/>
        </p:nvSpPr>
        <p:spPr bwMode="auto">
          <a:xfrm>
            <a:off x="5614189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7" name="Line 31"/>
          <p:cNvSpPr>
            <a:spLocks noChangeShapeType="1"/>
          </p:cNvSpPr>
          <p:nvPr/>
        </p:nvSpPr>
        <p:spPr bwMode="auto">
          <a:xfrm>
            <a:off x="5417659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8" name="Line 32"/>
          <p:cNvSpPr>
            <a:spLocks noChangeShapeType="1"/>
          </p:cNvSpPr>
          <p:nvPr/>
        </p:nvSpPr>
        <p:spPr bwMode="auto">
          <a:xfrm>
            <a:off x="5813307" y="3111984"/>
            <a:ext cx="0" cy="5120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39" name="Rectangle 33"/>
          <p:cNvSpPr>
            <a:spLocks noChangeArrowheads="1"/>
          </p:cNvSpPr>
          <p:nvPr/>
        </p:nvSpPr>
        <p:spPr bwMode="auto">
          <a:xfrm>
            <a:off x="3867867" y="3189357"/>
            <a:ext cx="836770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保   留</a:t>
            </a:r>
          </a:p>
        </p:txBody>
      </p:sp>
      <p:sp>
        <p:nvSpPr>
          <p:cNvPr id="1050540" name="Rectangle 34"/>
          <p:cNvSpPr>
            <a:spLocks noChangeArrowheads="1"/>
          </p:cNvSpPr>
          <p:nvPr/>
        </p:nvSpPr>
        <p:spPr bwMode="auto">
          <a:xfrm>
            <a:off x="5689237" y="3097046"/>
            <a:ext cx="395943" cy="60674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ctr"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F</a:t>
            </a:r>
          </a:p>
          <a:p>
            <a:pPr algn="ctr"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I</a:t>
            </a:r>
          </a:p>
          <a:p>
            <a:pPr algn="ctr"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1050541" name="Rectangle 75"/>
          <p:cNvSpPr>
            <a:spLocks noChangeArrowheads="1"/>
          </p:cNvSpPr>
          <p:nvPr/>
        </p:nvSpPr>
        <p:spPr bwMode="auto">
          <a:xfrm>
            <a:off x="5536868" y="3097046"/>
            <a:ext cx="395944" cy="60674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Y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1050542" name="Rectangle 76"/>
          <p:cNvSpPr>
            <a:spLocks noChangeArrowheads="1"/>
          </p:cNvSpPr>
          <p:nvPr/>
        </p:nvSpPr>
        <p:spPr bwMode="auto">
          <a:xfrm>
            <a:off x="5362427" y="3097046"/>
            <a:ext cx="368693" cy="60674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R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050543" name="Rectangle 77"/>
          <p:cNvSpPr>
            <a:spLocks noChangeArrowheads="1"/>
          </p:cNvSpPr>
          <p:nvPr/>
        </p:nvSpPr>
        <p:spPr bwMode="auto">
          <a:xfrm>
            <a:off x="5133460" y="3097046"/>
            <a:ext cx="391135" cy="60674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P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H</a:t>
            </a:r>
          </a:p>
        </p:txBody>
      </p:sp>
      <p:sp>
        <p:nvSpPr>
          <p:cNvPr id="1050544" name="Rectangle 78"/>
          <p:cNvSpPr>
            <a:spLocks noChangeArrowheads="1"/>
          </p:cNvSpPr>
          <p:nvPr/>
        </p:nvSpPr>
        <p:spPr bwMode="auto">
          <a:xfrm>
            <a:off x="4938221" y="3097046"/>
            <a:ext cx="378311" cy="60674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C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1050545" name="Rectangle 79"/>
          <p:cNvSpPr>
            <a:spLocks noChangeArrowheads="1"/>
          </p:cNvSpPr>
          <p:nvPr/>
        </p:nvSpPr>
        <p:spPr bwMode="auto">
          <a:xfrm>
            <a:off x="4744389" y="3097046"/>
            <a:ext cx="383120" cy="60674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U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R</a:t>
            </a:r>
          </a:p>
          <a:p>
            <a:pPr defTabSz="1015975" eaLnBrk="0" hangingPunct="0">
              <a:lnSpc>
                <a:spcPct val="7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G</a:t>
            </a:r>
          </a:p>
        </p:txBody>
      </p:sp>
      <p:sp>
        <p:nvSpPr>
          <p:cNvPr id="1050546" name="Line 81"/>
          <p:cNvSpPr>
            <a:spLocks noChangeShapeType="1"/>
          </p:cNvSpPr>
          <p:nvPr/>
        </p:nvSpPr>
        <p:spPr bwMode="auto">
          <a:xfrm flipH="1">
            <a:off x="7557523" y="4161079"/>
            <a:ext cx="2587" cy="4833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47" name="Rectangle 83"/>
          <p:cNvSpPr>
            <a:spLocks noChangeArrowheads="1"/>
          </p:cNvSpPr>
          <p:nvPr/>
        </p:nvSpPr>
        <p:spPr bwMode="auto">
          <a:xfrm>
            <a:off x="7936139" y="4211206"/>
            <a:ext cx="1021445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填    充</a:t>
            </a:r>
          </a:p>
        </p:txBody>
      </p:sp>
      <p:sp>
        <p:nvSpPr>
          <p:cNvPr id="1050548" name="Line 96"/>
          <p:cNvSpPr>
            <a:spLocks noChangeShapeType="1"/>
          </p:cNvSpPr>
          <p:nvPr/>
        </p:nvSpPr>
        <p:spPr bwMode="auto">
          <a:xfrm>
            <a:off x="9167375" y="1513873"/>
            <a:ext cx="6762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49" name="Line 97"/>
          <p:cNvSpPr>
            <a:spLocks noChangeShapeType="1"/>
          </p:cNvSpPr>
          <p:nvPr/>
        </p:nvSpPr>
        <p:spPr bwMode="auto">
          <a:xfrm>
            <a:off x="9167375" y="4141983"/>
            <a:ext cx="6762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50" name="Line 98"/>
          <p:cNvSpPr>
            <a:spLocks noChangeShapeType="1"/>
          </p:cNvSpPr>
          <p:nvPr/>
        </p:nvSpPr>
        <p:spPr bwMode="auto">
          <a:xfrm>
            <a:off x="2436441" y="1542517"/>
            <a:ext cx="4318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51" name="Line 99"/>
          <p:cNvSpPr>
            <a:spLocks noChangeShapeType="1"/>
          </p:cNvSpPr>
          <p:nvPr/>
        </p:nvSpPr>
        <p:spPr bwMode="auto">
          <a:xfrm>
            <a:off x="2448077" y="4625355"/>
            <a:ext cx="4318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52" name="Rectangle 104"/>
          <p:cNvSpPr>
            <a:spLocks noChangeArrowheads="1"/>
          </p:cNvSpPr>
          <p:nvPr/>
        </p:nvSpPr>
        <p:spPr bwMode="auto">
          <a:xfrm>
            <a:off x="2879928" y="2571169"/>
            <a:ext cx="6242088" cy="539467"/>
          </a:xfrm>
          <a:prstGeom prst="rect">
            <a:avLst/>
          </a:prstGeom>
          <a:noFill/>
          <a:ln w="57150">
            <a:solidFill>
              <a:srgbClr val="CC00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0553" name="Text Box 155"/>
          <p:cNvSpPr txBox="1">
            <a:spLocks noChangeArrowheads="1"/>
          </p:cNvSpPr>
          <p:nvPr/>
        </p:nvSpPr>
        <p:spPr bwMode="auto">
          <a:xfrm>
            <a:off x="2026955" y="4715710"/>
            <a:ext cx="7851887" cy="789319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确认号：占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字节，是</a:t>
            </a:r>
            <a:r>
              <a:rPr lang="zh-CN" altLang="en-US" sz="2133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期望收到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对方的下一个报文段的数据的</a:t>
            </a:r>
            <a:r>
              <a:rPr lang="zh-CN" altLang="en-US" sz="2133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第一个字节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的序号。 </a:t>
            </a:r>
          </a:p>
        </p:txBody>
      </p:sp>
      <p:grpSp>
        <p:nvGrpSpPr>
          <p:cNvPr id="554" name="组合 122"/>
          <p:cNvGrpSpPr/>
          <p:nvPr/>
        </p:nvGrpSpPr>
        <p:grpSpPr>
          <a:xfrm>
            <a:off x="2436440" y="1043298"/>
            <a:ext cx="7084361" cy="499221"/>
            <a:chOff x="1827330" y="782473"/>
            <a:chExt cx="5313271" cy="374416"/>
          </a:xfrm>
        </p:grpSpPr>
        <p:sp>
          <p:nvSpPr>
            <p:cNvPr id="1050554" name="Line 37"/>
            <p:cNvSpPr>
              <a:spLocks noChangeShapeType="1"/>
            </p:cNvSpPr>
            <p:nvPr/>
          </p:nvSpPr>
          <p:spPr bwMode="auto">
            <a:xfrm>
              <a:off x="2152882" y="1060214"/>
              <a:ext cx="46886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55" name="Line 38"/>
            <p:cNvSpPr>
              <a:spLocks noChangeShapeType="1"/>
            </p:cNvSpPr>
            <p:nvPr/>
          </p:nvSpPr>
          <p:spPr bwMode="auto">
            <a:xfrm>
              <a:off x="2152882" y="891931"/>
              <a:ext cx="0" cy="1682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56" name="Line 39"/>
            <p:cNvSpPr>
              <a:spLocks noChangeShapeType="1"/>
            </p:cNvSpPr>
            <p:nvPr/>
          </p:nvSpPr>
          <p:spPr bwMode="auto">
            <a:xfrm>
              <a:off x="2299311" y="976071"/>
              <a:ext cx="0" cy="841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57" name="Line 40"/>
            <p:cNvSpPr>
              <a:spLocks noChangeShapeType="1"/>
            </p:cNvSpPr>
            <p:nvPr/>
          </p:nvSpPr>
          <p:spPr bwMode="auto">
            <a:xfrm>
              <a:off x="2445739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58" name="Line 41"/>
            <p:cNvSpPr>
              <a:spLocks noChangeShapeType="1"/>
            </p:cNvSpPr>
            <p:nvPr/>
          </p:nvSpPr>
          <p:spPr bwMode="auto">
            <a:xfrm>
              <a:off x="2592168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59" name="Line 42"/>
            <p:cNvSpPr>
              <a:spLocks noChangeShapeType="1"/>
            </p:cNvSpPr>
            <p:nvPr/>
          </p:nvSpPr>
          <p:spPr bwMode="auto">
            <a:xfrm>
              <a:off x="2739567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0" name="Line 43"/>
            <p:cNvSpPr>
              <a:spLocks noChangeShapeType="1"/>
            </p:cNvSpPr>
            <p:nvPr/>
          </p:nvSpPr>
          <p:spPr bwMode="auto">
            <a:xfrm>
              <a:off x="2885995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1" name="Line 44"/>
            <p:cNvSpPr>
              <a:spLocks noChangeShapeType="1"/>
            </p:cNvSpPr>
            <p:nvPr/>
          </p:nvSpPr>
          <p:spPr bwMode="auto">
            <a:xfrm>
              <a:off x="3031454" y="976072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2" name="Line 45"/>
            <p:cNvSpPr>
              <a:spLocks noChangeShapeType="1"/>
            </p:cNvSpPr>
            <p:nvPr/>
          </p:nvSpPr>
          <p:spPr bwMode="auto">
            <a:xfrm>
              <a:off x="3177883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3" name="Line 46"/>
            <p:cNvSpPr>
              <a:spLocks noChangeShapeType="1"/>
            </p:cNvSpPr>
            <p:nvPr/>
          </p:nvSpPr>
          <p:spPr bwMode="auto">
            <a:xfrm>
              <a:off x="3325282" y="891930"/>
              <a:ext cx="0" cy="1682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4" name="Line 47"/>
            <p:cNvSpPr>
              <a:spLocks noChangeShapeType="1"/>
            </p:cNvSpPr>
            <p:nvPr/>
          </p:nvSpPr>
          <p:spPr bwMode="auto">
            <a:xfrm>
              <a:off x="3471710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5" name="Line 48"/>
            <p:cNvSpPr>
              <a:spLocks noChangeShapeType="1"/>
            </p:cNvSpPr>
            <p:nvPr/>
          </p:nvSpPr>
          <p:spPr bwMode="auto">
            <a:xfrm>
              <a:off x="3618139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6" name="Line 49"/>
            <p:cNvSpPr>
              <a:spLocks noChangeShapeType="1"/>
            </p:cNvSpPr>
            <p:nvPr/>
          </p:nvSpPr>
          <p:spPr bwMode="auto">
            <a:xfrm>
              <a:off x="3764568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7" name="Line 50"/>
            <p:cNvSpPr>
              <a:spLocks noChangeShapeType="1"/>
            </p:cNvSpPr>
            <p:nvPr/>
          </p:nvSpPr>
          <p:spPr bwMode="auto">
            <a:xfrm>
              <a:off x="3911966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8" name="Line 51"/>
            <p:cNvSpPr>
              <a:spLocks noChangeShapeType="1"/>
            </p:cNvSpPr>
            <p:nvPr/>
          </p:nvSpPr>
          <p:spPr bwMode="auto">
            <a:xfrm>
              <a:off x="4058395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69" name="Line 52"/>
            <p:cNvSpPr>
              <a:spLocks noChangeShapeType="1"/>
            </p:cNvSpPr>
            <p:nvPr/>
          </p:nvSpPr>
          <p:spPr bwMode="auto">
            <a:xfrm>
              <a:off x="4203855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0" name="Line 53"/>
            <p:cNvSpPr>
              <a:spLocks noChangeShapeType="1"/>
            </p:cNvSpPr>
            <p:nvPr/>
          </p:nvSpPr>
          <p:spPr bwMode="auto">
            <a:xfrm>
              <a:off x="4350283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1" name="Line 54"/>
            <p:cNvSpPr>
              <a:spLocks noChangeShapeType="1"/>
            </p:cNvSpPr>
            <p:nvPr/>
          </p:nvSpPr>
          <p:spPr bwMode="auto">
            <a:xfrm>
              <a:off x="4496711" y="891931"/>
              <a:ext cx="0" cy="1682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2" name="Line 55"/>
            <p:cNvSpPr>
              <a:spLocks noChangeShapeType="1"/>
            </p:cNvSpPr>
            <p:nvPr/>
          </p:nvSpPr>
          <p:spPr bwMode="auto">
            <a:xfrm>
              <a:off x="4644110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3" name="Line 56"/>
            <p:cNvSpPr>
              <a:spLocks noChangeShapeType="1"/>
            </p:cNvSpPr>
            <p:nvPr/>
          </p:nvSpPr>
          <p:spPr bwMode="auto">
            <a:xfrm>
              <a:off x="4790539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4" name="Line 57"/>
            <p:cNvSpPr>
              <a:spLocks noChangeShapeType="1"/>
            </p:cNvSpPr>
            <p:nvPr/>
          </p:nvSpPr>
          <p:spPr bwMode="auto">
            <a:xfrm>
              <a:off x="4936968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5" name="Line 58"/>
            <p:cNvSpPr>
              <a:spLocks noChangeShapeType="1"/>
            </p:cNvSpPr>
            <p:nvPr/>
          </p:nvSpPr>
          <p:spPr bwMode="auto">
            <a:xfrm>
              <a:off x="5083396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6" name="Line 59"/>
            <p:cNvSpPr>
              <a:spLocks noChangeShapeType="1"/>
            </p:cNvSpPr>
            <p:nvPr/>
          </p:nvSpPr>
          <p:spPr bwMode="auto">
            <a:xfrm>
              <a:off x="5230795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7" name="Line 60"/>
            <p:cNvSpPr>
              <a:spLocks noChangeShapeType="1"/>
            </p:cNvSpPr>
            <p:nvPr/>
          </p:nvSpPr>
          <p:spPr bwMode="auto">
            <a:xfrm>
              <a:off x="5376254" y="976073"/>
              <a:ext cx="0" cy="84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8" name="Line 61"/>
            <p:cNvSpPr>
              <a:spLocks noChangeShapeType="1"/>
            </p:cNvSpPr>
            <p:nvPr/>
          </p:nvSpPr>
          <p:spPr bwMode="auto">
            <a:xfrm>
              <a:off x="5522683" y="976071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79" name="Line 62"/>
            <p:cNvSpPr>
              <a:spLocks noChangeShapeType="1"/>
            </p:cNvSpPr>
            <p:nvPr/>
          </p:nvSpPr>
          <p:spPr bwMode="auto">
            <a:xfrm>
              <a:off x="5669111" y="891931"/>
              <a:ext cx="0" cy="168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0" name="Line 63"/>
            <p:cNvSpPr>
              <a:spLocks noChangeShapeType="1"/>
            </p:cNvSpPr>
            <p:nvPr/>
          </p:nvSpPr>
          <p:spPr bwMode="auto">
            <a:xfrm>
              <a:off x="5815540" y="976070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1" name="Line 64"/>
            <p:cNvSpPr>
              <a:spLocks noChangeShapeType="1"/>
            </p:cNvSpPr>
            <p:nvPr/>
          </p:nvSpPr>
          <p:spPr bwMode="auto">
            <a:xfrm>
              <a:off x="5962939" y="976070"/>
              <a:ext cx="0" cy="84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2" name="Line 65"/>
            <p:cNvSpPr>
              <a:spLocks noChangeShapeType="1"/>
            </p:cNvSpPr>
            <p:nvPr/>
          </p:nvSpPr>
          <p:spPr bwMode="auto">
            <a:xfrm>
              <a:off x="6109368" y="976074"/>
              <a:ext cx="0" cy="84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3" name="Line 66"/>
            <p:cNvSpPr>
              <a:spLocks noChangeShapeType="1"/>
            </p:cNvSpPr>
            <p:nvPr/>
          </p:nvSpPr>
          <p:spPr bwMode="auto">
            <a:xfrm>
              <a:off x="6255797" y="976074"/>
              <a:ext cx="0" cy="84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4" name="Line 67"/>
            <p:cNvSpPr>
              <a:spLocks noChangeShapeType="1"/>
            </p:cNvSpPr>
            <p:nvPr/>
          </p:nvSpPr>
          <p:spPr bwMode="auto">
            <a:xfrm>
              <a:off x="6402225" y="963550"/>
              <a:ext cx="0" cy="96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5" name="Line 68"/>
            <p:cNvSpPr>
              <a:spLocks noChangeShapeType="1"/>
            </p:cNvSpPr>
            <p:nvPr/>
          </p:nvSpPr>
          <p:spPr bwMode="auto">
            <a:xfrm>
              <a:off x="6548654" y="963550"/>
              <a:ext cx="0" cy="96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6" name="Line 69"/>
            <p:cNvSpPr>
              <a:spLocks noChangeShapeType="1"/>
            </p:cNvSpPr>
            <p:nvPr/>
          </p:nvSpPr>
          <p:spPr bwMode="auto">
            <a:xfrm>
              <a:off x="6695083" y="963550"/>
              <a:ext cx="0" cy="966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7" name="Line 70"/>
            <p:cNvSpPr>
              <a:spLocks noChangeShapeType="1"/>
            </p:cNvSpPr>
            <p:nvPr/>
          </p:nvSpPr>
          <p:spPr bwMode="auto">
            <a:xfrm>
              <a:off x="6841512" y="891931"/>
              <a:ext cx="0" cy="168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8" name="Line 98"/>
            <p:cNvSpPr>
              <a:spLocks noChangeShapeType="1"/>
            </p:cNvSpPr>
            <p:nvPr/>
          </p:nvSpPr>
          <p:spPr bwMode="auto">
            <a:xfrm>
              <a:off x="1827330" y="1156889"/>
              <a:ext cx="3238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0589" name="Rectangle 80"/>
            <p:cNvSpPr>
              <a:spLocks noChangeArrowheads="1"/>
            </p:cNvSpPr>
            <p:nvPr/>
          </p:nvSpPr>
          <p:spPr bwMode="auto">
            <a:xfrm>
              <a:off x="1881948" y="782473"/>
              <a:ext cx="5258653" cy="228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  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0                                 8                                16                                24                          31</a:t>
              </a:r>
            </a:p>
          </p:txBody>
        </p:sp>
      </p:grpSp>
      <p:sp>
        <p:nvSpPr>
          <p:cNvPr id="1050590" name="Rectangle 4"/>
          <p:cNvSpPr>
            <a:spLocks noChangeArrowheads="1"/>
          </p:cNvSpPr>
          <p:nvPr/>
        </p:nvSpPr>
        <p:spPr bwMode="auto">
          <a:xfrm>
            <a:off x="2161191" y="2840763"/>
            <a:ext cx="659461" cy="550579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vert="horz" wrap="square" lIns="120651" tIns="59267" rIns="120651" bIns="59267" anchor="ctr">
            <a:spAutoFit/>
          </a:bodyPr>
          <a:lstStyle/>
          <a:p>
            <a:pPr algn="ctr" defTabSz="1015975" eaLnBrk="0" hangingPunct="0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1050591" name="矩形 1"/>
          <p:cNvSpPr/>
          <p:nvPr/>
        </p:nvSpPr>
        <p:spPr>
          <a:xfrm>
            <a:off x="1614171" y="5858388"/>
            <a:ext cx="9155952" cy="400110"/>
          </a:xfrm>
          <a:prstGeom prst="rect">
            <a:avLst/>
          </a:prstGeom>
          <a:solidFill>
            <a:srgbClr val="0099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记住：若确认号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，则表明：到序号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– 1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为止的所有数据都已正确收到。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55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圆角矩形 84"/>
          <p:cNvSpPr/>
          <p:nvPr/>
        </p:nvSpPr>
        <p:spPr>
          <a:xfrm>
            <a:off x="726859" y="867243"/>
            <a:ext cx="10738283" cy="429642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1891863" y="1107862"/>
            <a:ext cx="8590455" cy="808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现有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5000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个字节的数据。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假设报文段的最大数据长度为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1000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个字节，初始序号为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1001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87" name="矩形 86"/>
          <p:cNvSpPr/>
          <p:nvPr/>
        </p:nvSpPr>
        <p:spPr>
          <a:xfrm>
            <a:off x="2508481" y="2088833"/>
            <a:ext cx="7413296" cy="4363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报文段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序号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1001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（数据字节序号：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1001 ~ 2000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8" name="矩形 87"/>
          <p:cNvSpPr/>
          <p:nvPr/>
        </p:nvSpPr>
        <p:spPr>
          <a:xfrm>
            <a:off x="2508481" y="2630154"/>
            <a:ext cx="7413296" cy="4363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报文段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序号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2001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（数据字节序号：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2001 ~ 3000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9" name="矩形 88"/>
          <p:cNvSpPr/>
          <p:nvPr/>
        </p:nvSpPr>
        <p:spPr>
          <a:xfrm>
            <a:off x="2508481" y="3174222"/>
            <a:ext cx="7413296" cy="4363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报文段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序号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3001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（数据字节序号：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3001 ~ 4000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90" name="矩形 89"/>
          <p:cNvSpPr/>
          <p:nvPr/>
        </p:nvSpPr>
        <p:spPr>
          <a:xfrm>
            <a:off x="2508481" y="3715543"/>
            <a:ext cx="7413296" cy="4363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报文段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序号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4001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（数据字节序号：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4001 ~ 5000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91" name="矩形 90"/>
          <p:cNvSpPr/>
          <p:nvPr/>
        </p:nvSpPr>
        <p:spPr>
          <a:xfrm>
            <a:off x="2508481" y="4256865"/>
            <a:ext cx="7413296" cy="4363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933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报文段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序号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5001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（数据字节序号：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5001 ~ 6000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655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794" name="AutoShape 5"/>
          <p:cNvSpPr>
            <a:spLocks noChangeArrowheads="1"/>
          </p:cNvSpPr>
          <p:nvPr/>
        </p:nvSpPr>
        <p:spPr bwMode="auto">
          <a:xfrm>
            <a:off x="742618" y="827799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1795" name="Rectangle 6"/>
          <p:cNvSpPr>
            <a:spLocks noChangeArrowheads="1"/>
          </p:cNvSpPr>
          <p:nvPr/>
        </p:nvSpPr>
        <p:spPr bwMode="auto">
          <a:xfrm>
            <a:off x="3429690" y="783517"/>
            <a:ext cx="5357557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选项（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）：最大报文段长度 </a:t>
            </a:r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MSS</a:t>
            </a:r>
            <a:endParaRPr lang="zh-CN" altLang="en-US" sz="26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796" name="Rectangle 8"/>
          <p:cNvSpPr>
            <a:spLocks noChangeArrowheads="1"/>
          </p:cNvSpPr>
          <p:nvPr/>
        </p:nvSpPr>
        <p:spPr bwMode="auto">
          <a:xfrm>
            <a:off x="742618" y="1315397"/>
            <a:ext cx="10731701" cy="147854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最大报文段长度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MSS 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(Maximum Segment Size)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是每个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报文段中的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数据字段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的最大长度。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3733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与接收窗口值没有关系。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1797" name="矩形 4"/>
          <p:cNvSpPr/>
          <p:nvPr/>
        </p:nvSpPr>
        <p:spPr>
          <a:xfrm>
            <a:off x="2008607" y="4947503"/>
            <a:ext cx="8199716" cy="951030"/>
          </a:xfrm>
          <a:prstGeom prst="rect">
            <a:avLst/>
          </a:prstGeom>
          <a:solidFill>
            <a:srgbClr val="000099"/>
          </a:solidFill>
        </p:spPr>
        <p:txBody>
          <a:bodyPr wrap="square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报文段长度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数据字段长度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TCP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首部长度</a:t>
            </a:r>
          </a:p>
          <a:p>
            <a:pPr algn="ctr">
              <a:lnSpc>
                <a:spcPts val="3467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数据字段长度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TCP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报文段长度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TCP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首部长度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1" name="组合 27"/>
          <p:cNvGrpSpPr/>
          <p:nvPr/>
        </p:nvGrpSpPr>
        <p:grpSpPr>
          <a:xfrm>
            <a:off x="2008607" y="2840019"/>
            <a:ext cx="8438387" cy="1854700"/>
            <a:chOff x="1177329" y="2056382"/>
            <a:chExt cx="6976306" cy="1594802"/>
          </a:xfrm>
        </p:grpSpPr>
        <p:sp>
          <p:nvSpPr>
            <p:cNvPr id="1051798" name="矩形 30"/>
            <p:cNvSpPr/>
            <p:nvPr/>
          </p:nvSpPr>
          <p:spPr>
            <a:xfrm>
              <a:off x="1177329" y="2556567"/>
              <a:ext cx="994787" cy="548348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051799" name="矩形 31"/>
            <p:cNvSpPr/>
            <p:nvPr/>
          </p:nvSpPr>
          <p:spPr>
            <a:xfrm>
              <a:off x="7158848" y="2556567"/>
              <a:ext cx="994787" cy="548348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尾部</a:t>
              </a:r>
            </a:p>
          </p:txBody>
        </p:sp>
        <p:sp>
          <p:nvSpPr>
            <p:cNvPr id="1051800" name="矩形 32"/>
            <p:cNvSpPr/>
            <p:nvPr/>
          </p:nvSpPr>
          <p:spPr>
            <a:xfrm>
              <a:off x="2162907" y="2556567"/>
              <a:ext cx="4995941" cy="5483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12" name="组合 15"/>
            <p:cNvGrpSpPr/>
            <p:nvPr/>
          </p:nvGrpSpPr>
          <p:grpSpPr>
            <a:xfrm>
              <a:off x="2682910" y="2629828"/>
              <a:ext cx="3959051" cy="411982"/>
              <a:chOff x="1748413" y="2421653"/>
              <a:chExt cx="3959051" cy="411982"/>
            </a:xfrm>
          </p:grpSpPr>
          <p:sp>
            <p:nvSpPr>
              <p:cNvPr id="1051801" name="矩形 14"/>
              <p:cNvSpPr/>
              <p:nvPr/>
            </p:nvSpPr>
            <p:spPr>
              <a:xfrm>
                <a:off x="1748413" y="2421653"/>
                <a:ext cx="994787" cy="411982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rgbClr val="00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</a:t>
                </a:r>
              </a:p>
            </p:txBody>
          </p:sp>
          <p:sp>
            <p:nvSpPr>
              <p:cNvPr id="1051802" name="矩形 16"/>
              <p:cNvSpPr/>
              <p:nvPr/>
            </p:nvSpPr>
            <p:spPr>
              <a:xfrm>
                <a:off x="2743196" y="2421653"/>
                <a:ext cx="994787" cy="411982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rgbClr val="00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TCP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</a:t>
                </a:r>
              </a:p>
            </p:txBody>
          </p:sp>
          <p:sp>
            <p:nvSpPr>
              <p:cNvPr id="1051803" name="矩形 17"/>
              <p:cNvSpPr/>
              <p:nvPr/>
            </p:nvSpPr>
            <p:spPr>
              <a:xfrm>
                <a:off x="3737983" y="2421653"/>
                <a:ext cx="1969481" cy="411982"/>
              </a:xfrm>
              <a:prstGeom prst="rect">
                <a:avLst/>
              </a:prstGeom>
              <a:solidFill>
                <a:srgbClr val="993300"/>
              </a:solidFill>
              <a:ln w="9525">
                <a:solidFill>
                  <a:srgbClr val="00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cxnSp>
          <p:nvCxnSpPr>
            <p:cNvPr id="3145872" name="直接箭头连接符 22"/>
            <p:cNvCxnSpPr>
              <a:cxnSpLocks/>
            </p:cNvCxnSpPr>
            <p:nvPr/>
          </p:nvCxnSpPr>
          <p:spPr>
            <a:xfrm>
              <a:off x="3677693" y="2394323"/>
              <a:ext cx="2964268" cy="0"/>
            </a:xfrm>
            <a:prstGeom prst="straightConnector1">
              <a:avLst/>
            </a:prstGeom>
            <a:ln w="12700">
              <a:solidFill>
                <a:srgbClr val="CC00CC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1804" name="Rectangle 4"/>
            <p:cNvSpPr>
              <a:spLocks noChangeArrowheads="1"/>
            </p:cNvSpPr>
            <p:nvPr/>
          </p:nvSpPr>
          <p:spPr bwMode="auto">
            <a:xfrm>
              <a:off x="4627267" y="2208573"/>
              <a:ext cx="1135465" cy="31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120651" tIns="59267" rIns="120651" bIns="59267" anchor="ctr">
              <a:spAutoFit/>
            </a:bodyPr>
            <a:lstStyle/>
            <a:p>
              <a:pPr algn="ctr" defTabSz="1015975" eaLnBrk="0" hangingPunct="0"/>
              <a:r>
                <a:rPr kumimoji="1" lang="en-US" altLang="zh-CN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TCP </a:t>
              </a:r>
              <a:r>
                <a:rPr kumimoji="1"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报文段</a:t>
              </a:r>
            </a:p>
          </p:txBody>
        </p:sp>
        <p:cxnSp>
          <p:nvCxnSpPr>
            <p:cNvPr id="3145873" name="直接箭头连接符 25"/>
            <p:cNvCxnSpPr>
              <a:cxnSpLocks/>
            </p:cNvCxnSpPr>
            <p:nvPr/>
          </p:nvCxnSpPr>
          <p:spPr>
            <a:xfrm>
              <a:off x="4662435" y="3319097"/>
              <a:ext cx="1979526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1805" name="Rectangle 4"/>
            <p:cNvSpPr>
              <a:spLocks noChangeArrowheads="1"/>
            </p:cNvSpPr>
            <p:nvPr/>
          </p:nvSpPr>
          <p:spPr bwMode="auto">
            <a:xfrm>
              <a:off x="5293193" y="3153443"/>
              <a:ext cx="615237" cy="31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120651" tIns="59267" rIns="120651" bIns="59267" anchor="ctr">
              <a:spAutoFit/>
            </a:bodyPr>
            <a:lstStyle/>
            <a:p>
              <a:pPr algn="ctr" defTabSz="1015975" eaLnBrk="0" hangingPunct="0"/>
              <a:r>
                <a:rPr kumimoji="1" lang="en-US" altLang="zh-CN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MSS</a:t>
              </a:r>
              <a:endParaRPr kumimoji="1"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145874" name="直接箭头连接符 28"/>
            <p:cNvCxnSpPr>
              <a:cxnSpLocks/>
            </p:cNvCxnSpPr>
            <p:nvPr/>
          </p:nvCxnSpPr>
          <p:spPr>
            <a:xfrm>
              <a:off x="2682910" y="3493864"/>
              <a:ext cx="39590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1806" name="Rectangle 4"/>
            <p:cNvSpPr>
              <a:spLocks noChangeArrowheads="1"/>
            </p:cNvSpPr>
            <p:nvPr/>
          </p:nvSpPr>
          <p:spPr bwMode="auto">
            <a:xfrm>
              <a:off x="3891935" y="3336546"/>
              <a:ext cx="642433" cy="31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120651" tIns="59267" rIns="120651" bIns="59267" anchor="ctr">
              <a:spAutoFit/>
            </a:bodyPr>
            <a:lstStyle/>
            <a:p>
              <a:pPr algn="ctr" defTabSz="1015975" eaLnBrk="0" hangingPunct="0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MTU</a:t>
              </a:r>
              <a:endParaRPr kumimoji="1"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145875" name="直接箭头连接符 19"/>
            <p:cNvCxnSpPr>
              <a:cxnSpLocks/>
            </p:cNvCxnSpPr>
            <p:nvPr/>
          </p:nvCxnSpPr>
          <p:spPr>
            <a:xfrm>
              <a:off x="2682910" y="2213698"/>
              <a:ext cx="3959051" cy="0"/>
            </a:xfrm>
            <a:prstGeom prst="straightConnector1">
              <a:avLst/>
            </a:prstGeom>
            <a:ln w="12700">
              <a:solidFill>
                <a:srgbClr val="000099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1807" name="Rectangle 4"/>
            <p:cNvSpPr>
              <a:spLocks noChangeArrowheads="1"/>
            </p:cNvSpPr>
            <p:nvPr/>
          </p:nvSpPr>
          <p:spPr bwMode="auto">
            <a:xfrm>
              <a:off x="3711821" y="2056382"/>
              <a:ext cx="954593" cy="31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120651" tIns="59267" rIns="120651" bIns="59267" anchor="ctr">
              <a:spAutoFit/>
            </a:bodyPr>
            <a:lstStyle/>
            <a:p>
              <a:pPr algn="ctr" defTabSz="1015975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1"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数据报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897" name="AutoShape 5"/>
          <p:cNvSpPr>
            <a:spLocks noChangeArrowheads="1"/>
          </p:cNvSpPr>
          <p:nvPr/>
        </p:nvSpPr>
        <p:spPr bwMode="auto">
          <a:xfrm>
            <a:off x="742618" y="826049"/>
            <a:ext cx="1073170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1898" name="Rectangle 6"/>
          <p:cNvSpPr>
            <a:spLocks noChangeArrowheads="1"/>
          </p:cNvSpPr>
          <p:nvPr/>
        </p:nvSpPr>
        <p:spPr bwMode="auto">
          <a:xfrm>
            <a:off x="3066971" y="781879"/>
            <a:ext cx="605806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5.6.1 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以字节为单位的滑动窗口</a:t>
            </a:r>
          </a:p>
        </p:txBody>
      </p:sp>
      <p:sp>
        <p:nvSpPr>
          <p:cNvPr id="1051899" name="Rectangle 8"/>
          <p:cNvSpPr>
            <a:spLocks noChangeArrowheads="1"/>
          </p:cNvSpPr>
          <p:nvPr/>
        </p:nvSpPr>
        <p:spPr bwMode="auto">
          <a:xfrm>
            <a:off x="742618" y="1376748"/>
            <a:ext cx="10731701" cy="398243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使用流水线传输和滑动窗口协议实现高效、可靠的传输。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的滑动窗口是以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字节为单位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发送方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和接收方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分别维持一个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和一个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接收窗口。</a:t>
            </a:r>
            <a:endParaRPr lang="en-US" altLang="zh-CN" sz="2667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：在没有收到确认的情况下，发送方可以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连续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把窗口内的数据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全部发送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出去。凡是已经发送过的数据，在未收到确认之前都必须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暂时保留，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以便在超时重传时使用。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接收窗口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：只允许接收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落入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窗口内的数据。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圆角矩形 148"/>
          <p:cNvSpPr/>
          <p:nvPr/>
        </p:nvSpPr>
        <p:spPr>
          <a:xfrm>
            <a:off x="726859" y="1361279"/>
            <a:ext cx="10738283" cy="459128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 Box 155"/>
          <p:cNvSpPr txBox="1">
            <a:spLocks noChangeArrowheads="1"/>
          </p:cNvSpPr>
          <p:nvPr/>
        </p:nvSpPr>
        <p:spPr bwMode="auto">
          <a:xfrm>
            <a:off x="2936725" y="1483510"/>
            <a:ext cx="6701545" cy="428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假定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发送了序号为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31 ~ 41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共 </a:t>
            </a: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11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个字节的数据</a:t>
            </a:r>
          </a:p>
        </p:txBody>
      </p:sp>
      <p:sp>
        <p:nvSpPr>
          <p:cNvPr id="61" name="Text Box 155"/>
          <p:cNvSpPr txBox="1">
            <a:spLocks noChangeArrowheads="1"/>
          </p:cNvSpPr>
          <p:nvPr/>
        </p:nvSpPr>
        <p:spPr bwMode="auto">
          <a:xfrm>
            <a:off x="3172221" y="4092546"/>
            <a:ext cx="6800039" cy="15438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2933"/>
              </a:lnSpc>
            </a:pP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后沿，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P2 =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当前，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前沿。</a:t>
            </a:r>
            <a:endParaRPr lang="en-US" altLang="zh-CN" sz="1867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933"/>
              </a:lnSpc>
            </a:pP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– 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= A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的发送窗口（又称为</a:t>
            </a:r>
            <a:r>
              <a:rPr lang="zh-CN" altLang="en-US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通知窗口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>
              <a:lnSpc>
                <a:spcPts val="2933"/>
              </a:lnSpc>
            </a:pP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– 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已发送但尚未收到确认的字节数</a:t>
            </a:r>
          </a:p>
          <a:p>
            <a:pPr>
              <a:lnSpc>
                <a:spcPts val="2933"/>
              </a:lnSpc>
            </a:pP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– P</a:t>
            </a:r>
            <a:r>
              <a:rPr lang="en-US" altLang="zh-CN" sz="1867" b="1" baseline="-25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867" b="1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允许发送但尚未发送的字节数（又称为</a:t>
            </a:r>
            <a:r>
              <a:rPr lang="zh-CN" altLang="en-US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可用窗口</a:t>
            </a:r>
            <a:r>
              <a:rPr lang="zh-CN" altLang="en-US" sz="1867" b="1" dirty="0">
                <a:latin typeface="微软雅黑" pitchFamily="34" charset="-122"/>
                <a:ea typeface="微软雅黑" pitchFamily="34" charset="-122"/>
              </a:rPr>
              <a:t>） </a:t>
            </a:r>
          </a:p>
        </p:txBody>
      </p:sp>
      <p:sp>
        <p:nvSpPr>
          <p:cNvPr id="63" name="Line 5"/>
          <p:cNvSpPr>
            <a:spLocks noChangeShapeType="1"/>
          </p:cNvSpPr>
          <p:nvPr/>
        </p:nvSpPr>
        <p:spPr bwMode="auto">
          <a:xfrm flipV="1">
            <a:off x="3199257" y="2136290"/>
            <a:ext cx="5779171" cy="102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9143842" y="3214765"/>
            <a:ext cx="1826141" cy="584775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待发送，</a:t>
            </a: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但当前不允许发送</a:t>
            </a:r>
          </a:p>
        </p:txBody>
      </p:sp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1979328" y="3226957"/>
            <a:ext cx="1005403" cy="584775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已发送并</a:t>
            </a:r>
          </a:p>
          <a:p>
            <a:pPr algn="ctr"/>
            <a:r>
              <a:rPr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收到确认</a:t>
            </a:r>
          </a:p>
        </p:txBody>
      </p:sp>
      <p:sp>
        <p:nvSpPr>
          <p:cNvPr id="66" name="Text Box 8"/>
          <p:cNvSpPr txBox="1">
            <a:spLocks noChangeArrowheads="1"/>
          </p:cNvSpPr>
          <p:nvPr/>
        </p:nvSpPr>
        <p:spPr bwMode="auto">
          <a:xfrm>
            <a:off x="3720906" y="1959686"/>
            <a:ext cx="4623381" cy="338554"/>
          </a:xfrm>
          <a:prstGeom prst="rect">
            <a:avLst/>
          </a:prstGeom>
          <a:solidFill>
            <a:srgbClr val="C3E3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的发送窗口 </a:t>
            </a:r>
            <a:r>
              <a: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= 20</a:t>
            </a:r>
            <a:r>
              <a: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字节，未收到确认前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位置不变</a:t>
            </a:r>
          </a:p>
        </p:txBody>
      </p:sp>
      <p:sp>
        <p:nvSpPr>
          <p:cNvPr id="67" name="Text Box 9"/>
          <p:cNvSpPr txBox="1">
            <a:spLocks noChangeArrowheads="1"/>
          </p:cNvSpPr>
          <p:nvPr/>
        </p:nvSpPr>
        <p:spPr bwMode="auto">
          <a:xfrm>
            <a:off x="6696882" y="3307942"/>
            <a:ext cx="2031325" cy="33855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允许发送但</a:t>
            </a:r>
            <a:r>
              <a:rPr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尚未发送</a:t>
            </a:r>
          </a:p>
        </p:txBody>
      </p:sp>
      <p:sp>
        <p:nvSpPr>
          <p:cNvPr id="68" name="Rectangle 10"/>
          <p:cNvSpPr>
            <a:spLocks noChangeArrowheads="1"/>
          </p:cNvSpPr>
          <p:nvPr/>
        </p:nvSpPr>
        <p:spPr bwMode="auto">
          <a:xfrm>
            <a:off x="3205618" y="2697264"/>
            <a:ext cx="5777580" cy="600401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2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Rectangle 11"/>
          <p:cNvSpPr>
            <a:spLocks noChangeArrowheads="1"/>
          </p:cNvSpPr>
          <p:nvPr/>
        </p:nvSpPr>
        <p:spPr bwMode="auto">
          <a:xfrm>
            <a:off x="1798198" y="2896908"/>
            <a:ext cx="216281" cy="265704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26</a:t>
            </a:r>
          </a:p>
        </p:txBody>
      </p:sp>
      <p:sp>
        <p:nvSpPr>
          <p:cNvPr id="70" name="Rectangle 12"/>
          <p:cNvSpPr>
            <a:spLocks noChangeArrowheads="1"/>
          </p:cNvSpPr>
          <p:nvPr/>
        </p:nvSpPr>
        <p:spPr bwMode="auto">
          <a:xfrm>
            <a:off x="2087634" y="2895442"/>
            <a:ext cx="216281" cy="265703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27</a:t>
            </a:r>
          </a:p>
        </p:txBody>
      </p:sp>
      <p:sp>
        <p:nvSpPr>
          <p:cNvPr id="71" name="Rectangle 13"/>
          <p:cNvSpPr>
            <a:spLocks noChangeArrowheads="1"/>
          </p:cNvSpPr>
          <p:nvPr/>
        </p:nvSpPr>
        <p:spPr bwMode="auto">
          <a:xfrm>
            <a:off x="2377069" y="2893972"/>
            <a:ext cx="216281" cy="265704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28</a:t>
            </a:r>
          </a:p>
        </p:txBody>
      </p:sp>
      <p:sp>
        <p:nvSpPr>
          <p:cNvPr id="72" name="Rectangle 14"/>
          <p:cNvSpPr>
            <a:spLocks noChangeArrowheads="1"/>
          </p:cNvSpPr>
          <p:nvPr/>
        </p:nvSpPr>
        <p:spPr bwMode="auto">
          <a:xfrm>
            <a:off x="2666505" y="2892506"/>
            <a:ext cx="216281" cy="265703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29</a:t>
            </a:r>
          </a:p>
        </p:txBody>
      </p:sp>
      <p:sp>
        <p:nvSpPr>
          <p:cNvPr id="73" name="Rectangle 15"/>
          <p:cNvSpPr>
            <a:spLocks noChangeArrowheads="1"/>
          </p:cNvSpPr>
          <p:nvPr/>
        </p:nvSpPr>
        <p:spPr bwMode="auto">
          <a:xfrm>
            <a:off x="2955940" y="2891036"/>
            <a:ext cx="216281" cy="265704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30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245375" y="2874890"/>
            <a:ext cx="3110637" cy="280381"/>
            <a:chOff x="2434031" y="1636215"/>
            <a:chExt cx="2332978" cy="210286"/>
          </a:xfrm>
        </p:grpSpPr>
        <p:sp>
          <p:nvSpPr>
            <p:cNvPr id="74" name="Rectangle 16"/>
            <p:cNvSpPr>
              <a:spLocks noChangeArrowheads="1"/>
            </p:cNvSpPr>
            <p:nvPr/>
          </p:nvSpPr>
          <p:spPr bwMode="auto">
            <a:xfrm>
              <a:off x="2434031" y="1647224"/>
              <a:ext cx="162211" cy="19927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31</a:t>
              </a:r>
            </a:p>
          </p:txBody>
        </p:sp>
        <p:sp>
          <p:nvSpPr>
            <p:cNvPr id="75" name="Rectangle 17"/>
            <p:cNvSpPr>
              <a:spLocks noChangeArrowheads="1"/>
            </p:cNvSpPr>
            <p:nvPr/>
          </p:nvSpPr>
          <p:spPr bwMode="auto">
            <a:xfrm>
              <a:off x="2651108" y="1646123"/>
              <a:ext cx="162211" cy="199278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32</a:t>
              </a:r>
            </a:p>
          </p:txBody>
        </p:sp>
        <p:sp>
          <p:nvSpPr>
            <p:cNvPr id="76" name="Rectangle 18"/>
            <p:cNvSpPr>
              <a:spLocks noChangeArrowheads="1"/>
            </p:cNvSpPr>
            <p:nvPr/>
          </p:nvSpPr>
          <p:spPr bwMode="auto">
            <a:xfrm>
              <a:off x="2868185" y="1645023"/>
              <a:ext cx="162211" cy="19927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33</a:t>
              </a:r>
            </a:p>
          </p:txBody>
        </p:sp>
        <p:sp>
          <p:nvSpPr>
            <p:cNvPr id="77" name="Rectangle 19"/>
            <p:cNvSpPr>
              <a:spLocks noChangeArrowheads="1"/>
            </p:cNvSpPr>
            <p:nvPr/>
          </p:nvSpPr>
          <p:spPr bwMode="auto">
            <a:xfrm>
              <a:off x="3085262" y="1643921"/>
              <a:ext cx="162211" cy="199278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34</a:t>
              </a:r>
            </a:p>
          </p:txBody>
        </p:sp>
        <p:sp>
          <p:nvSpPr>
            <p:cNvPr id="78" name="Rectangle 20"/>
            <p:cNvSpPr>
              <a:spLocks noChangeArrowheads="1"/>
            </p:cNvSpPr>
            <p:nvPr/>
          </p:nvSpPr>
          <p:spPr bwMode="auto">
            <a:xfrm>
              <a:off x="3302338" y="1642821"/>
              <a:ext cx="162211" cy="19927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35</a:t>
              </a:r>
            </a:p>
          </p:txBody>
        </p:sp>
        <p:sp>
          <p:nvSpPr>
            <p:cNvPr id="79" name="Rectangle 21"/>
            <p:cNvSpPr>
              <a:spLocks noChangeArrowheads="1"/>
            </p:cNvSpPr>
            <p:nvPr/>
          </p:nvSpPr>
          <p:spPr bwMode="auto">
            <a:xfrm>
              <a:off x="3519415" y="1641719"/>
              <a:ext cx="162211" cy="199278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36</a:t>
              </a:r>
            </a:p>
          </p:txBody>
        </p:sp>
        <p:sp>
          <p:nvSpPr>
            <p:cNvPr id="80" name="Rectangle 22"/>
            <p:cNvSpPr>
              <a:spLocks noChangeArrowheads="1"/>
            </p:cNvSpPr>
            <p:nvPr/>
          </p:nvSpPr>
          <p:spPr bwMode="auto">
            <a:xfrm>
              <a:off x="3736492" y="1640619"/>
              <a:ext cx="162211" cy="19927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37</a:t>
              </a:r>
            </a:p>
          </p:txBody>
        </p:sp>
        <p:sp>
          <p:nvSpPr>
            <p:cNvPr id="81" name="Rectangle 23"/>
            <p:cNvSpPr>
              <a:spLocks noChangeArrowheads="1"/>
            </p:cNvSpPr>
            <p:nvPr/>
          </p:nvSpPr>
          <p:spPr bwMode="auto">
            <a:xfrm>
              <a:off x="3953568" y="1639517"/>
              <a:ext cx="162211" cy="199278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38</a:t>
              </a:r>
            </a:p>
          </p:txBody>
        </p:sp>
        <p:sp>
          <p:nvSpPr>
            <p:cNvPr id="82" name="Rectangle 24"/>
            <p:cNvSpPr>
              <a:spLocks noChangeArrowheads="1"/>
            </p:cNvSpPr>
            <p:nvPr/>
          </p:nvSpPr>
          <p:spPr bwMode="auto">
            <a:xfrm>
              <a:off x="4170645" y="1638417"/>
              <a:ext cx="162211" cy="19927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39</a:t>
              </a:r>
            </a:p>
          </p:txBody>
        </p:sp>
        <p:sp>
          <p:nvSpPr>
            <p:cNvPr id="83" name="Rectangle 25"/>
            <p:cNvSpPr>
              <a:spLocks noChangeArrowheads="1"/>
            </p:cNvSpPr>
            <p:nvPr/>
          </p:nvSpPr>
          <p:spPr bwMode="auto">
            <a:xfrm>
              <a:off x="4387721" y="1637315"/>
              <a:ext cx="162211" cy="199278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40</a:t>
              </a:r>
            </a:p>
          </p:txBody>
        </p:sp>
        <p:sp>
          <p:nvSpPr>
            <p:cNvPr id="84" name="Rectangle 26"/>
            <p:cNvSpPr>
              <a:spLocks noChangeArrowheads="1"/>
            </p:cNvSpPr>
            <p:nvPr/>
          </p:nvSpPr>
          <p:spPr bwMode="auto">
            <a:xfrm>
              <a:off x="4604798" y="1636215"/>
              <a:ext cx="162211" cy="19927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41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429167" y="2861676"/>
            <a:ext cx="2531765" cy="277448"/>
            <a:chOff x="4821875" y="1626305"/>
            <a:chExt cx="1898824" cy="208086"/>
          </a:xfrm>
        </p:grpSpPr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4821875" y="1635113"/>
              <a:ext cx="162211" cy="19927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42</a:t>
              </a:r>
            </a:p>
          </p:txBody>
        </p:sp>
        <p:sp>
          <p:nvSpPr>
            <p:cNvPr id="86" name="Rectangle 28"/>
            <p:cNvSpPr>
              <a:spLocks noChangeArrowheads="1"/>
            </p:cNvSpPr>
            <p:nvPr/>
          </p:nvSpPr>
          <p:spPr bwMode="auto">
            <a:xfrm>
              <a:off x="5038951" y="1634013"/>
              <a:ext cx="162211" cy="199277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43</a:t>
              </a:r>
            </a:p>
          </p:txBody>
        </p:sp>
        <p:sp>
          <p:nvSpPr>
            <p:cNvPr id="87" name="Rectangle 29"/>
            <p:cNvSpPr>
              <a:spLocks noChangeArrowheads="1"/>
            </p:cNvSpPr>
            <p:nvPr/>
          </p:nvSpPr>
          <p:spPr bwMode="auto">
            <a:xfrm>
              <a:off x="5256029" y="1632911"/>
              <a:ext cx="162211" cy="19927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44</a:t>
              </a:r>
            </a:p>
          </p:txBody>
        </p:sp>
        <p:sp>
          <p:nvSpPr>
            <p:cNvPr id="88" name="Rectangle 30"/>
            <p:cNvSpPr>
              <a:spLocks noChangeArrowheads="1"/>
            </p:cNvSpPr>
            <p:nvPr/>
          </p:nvSpPr>
          <p:spPr bwMode="auto">
            <a:xfrm>
              <a:off x="5473105" y="1631811"/>
              <a:ext cx="162211" cy="199277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45</a:t>
              </a:r>
            </a:p>
          </p:txBody>
        </p:sp>
        <p:sp>
          <p:nvSpPr>
            <p:cNvPr id="89" name="Rectangle 31"/>
            <p:cNvSpPr>
              <a:spLocks noChangeArrowheads="1"/>
            </p:cNvSpPr>
            <p:nvPr/>
          </p:nvSpPr>
          <p:spPr bwMode="auto">
            <a:xfrm>
              <a:off x="5690182" y="1630709"/>
              <a:ext cx="162211" cy="19927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46</a:t>
              </a:r>
            </a:p>
          </p:txBody>
        </p:sp>
        <p:sp>
          <p:nvSpPr>
            <p:cNvPr id="90" name="Rectangle 32"/>
            <p:cNvSpPr>
              <a:spLocks noChangeArrowheads="1"/>
            </p:cNvSpPr>
            <p:nvPr/>
          </p:nvSpPr>
          <p:spPr bwMode="auto">
            <a:xfrm>
              <a:off x="5907259" y="1629608"/>
              <a:ext cx="162211" cy="199277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47</a:t>
              </a:r>
            </a:p>
          </p:txBody>
        </p:sp>
        <p:sp>
          <p:nvSpPr>
            <p:cNvPr id="91" name="Rectangle 33"/>
            <p:cNvSpPr>
              <a:spLocks noChangeArrowheads="1"/>
            </p:cNvSpPr>
            <p:nvPr/>
          </p:nvSpPr>
          <p:spPr bwMode="auto">
            <a:xfrm>
              <a:off x="6124335" y="1628507"/>
              <a:ext cx="162211" cy="19927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48</a:t>
              </a:r>
            </a:p>
          </p:txBody>
        </p:sp>
        <p:sp>
          <p:nvSpPr>
            <p:cNvPr id="92" name="Rectangle 34"/>
            <p:cNvSpPr>
              <a:spLocks noChangeArrowheads="1"/>
            </p:cNvSpPr>
            <p:nvPr/>
          </p:nvSpPr>
          <p:spPr bwMode="auto">
            <a:xfrm>
              <a:off x="6341412" y="1627407"/>
              <a:ext cx="162211" cy="199277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49</a:t>
              </a:r>
            </a:p>
          </p:txBody>
        </p:sp>
        <p:sp>
          <p:nvSpPr>
            <p:cNvPr id="93" name="Rectangle 35"/>
            <p:cNvSpPr>
              <a:spLocks noChangeArrowheads="1"/>
            </p:cNvSpPr>
            <p:nvPr/>
          </p:nvSpPr>
          <p:spPr bwMode="auto">
            <a:xfrm>
              <a:off x="6558488" y="1626305"/>
              <a:ext cx="162211" cy="19927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50</a:t>
              </a:r>
            </a:p>
          </p:txBody>
        </p:sp>
      </p:grpSp>
      <p:sp>
        <p:nvSpPr>
          <p:cNvPr id="94" name="Rectangle 36"/>
          <p:cNvSpPr>
            <a:spLocks noChangeArrowheads="1"/>
          </p:cNvSpPr>
          <p:nvPr/>
        </p:nvSpPr>
        <p:spPr bwMode="auto">
          <a:xfrm>
            <a:off x="9034088" y="2860210"/>
            <a:ext cx="216281" cy="26570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51</a:t>
            </a:r>
          </a:p>
        </p:txBody>
      </p:sp>
      <p:sp>
        <p:nvSpPr>
          <p:cNvPr id="95" name="Rectangle 37"/>
          <p:cNvSpPr>
            <a:spLocks noChangeArrowheads="1"/>
          </p:cNvSpPr>
          <p:nvPr/>
        </p:nvSpPr>
        <p:spPr bwMode="auto">
          <a:xfrm>
            <a:off x="9323524" y="2858740"/>
            <a:ext cx="216281" cy="265704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52</a:t>
            </a:r>
          </a:p>
        </p:txBody>
      </p:sp>
      <p:sp>
        <p:nvSpPr>
          <p:cNvPr id="96" name="Rectangle 38"/>
          <p:cNvSpPr>
            <a:spLocks noChangeArrowheads="1"/>
          </p:cNvSpPr>
          <p:nvPr/>
        </p:nvSpPr>
        <p:spPr bwMode="auto">
          <a:xfrm>
            <a:off x="9612958" y="2857274"/>
            <a:ext cx="216281" cy="26570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53</a:t>
            </a:r>
          </a:p>
        </p:txBody>
      </p:sp>
      <p:sp>
        <p:nvSpPr>
          <p:cNvPr id="97" name="Rectangle 39"/>
          <p:cNvSpPr>
            <a:spLocks noChangeArrowheads="1"/>
          </p:cNvSpPr>
          <p:nvPr/>
        </p:nvSpPr>
        <p:spPr bwMode="auto">
          <a:xfrm>
            <a:off x="9902394" y="2855804"/>
            <a:ext cx="216281" cy="265704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54</a:t>
            </a:r>
          </a:p>
        </p:txBody>
      </p:sp>
      <p:sp>
        <p:nvSpPr>
          <p:cNvPr id="98" name="Rectangle 40"/>
          <p:cNvSpPr>
            <a:spLocks noChangeArrowheads="1"/>
          </p:cNvSpPr>
          <p:nvPr/>
        </p:nvSpPr>
        <p:spPr bwMode="auto">
          <a:xfrm>
            <a:off x="10191830" y="2854338"/>
            <a:ext cx="216281" cy="26570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55</a:t>
            </a:r>
          </a:p>
        </p:txBody>
      </p:sp>
      <p:sp>
        <p:nvSpPr>
          <p:cNvPr id="99" name="Text Box 41"/>
          <p:cNvSpPr txBox="1">
            <a:spLocks noChangeArrowheads="1"/>
          </p:cNvSpPr>
          <p:nvPr/>
        </p:nvSpPr>
        <p:spPr bwMode="auto">
          <a:xfrm>
            <a:off x="3652028" y="3324091"/>
            <a:ext cx="20313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已发送但</a:t>
            </a:r>
            <a:r>
              <a:rPr lang="zh-CN" altLang="en-US" sz="16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未收到确认</a:t>
            </a:r>
          </a:p>
        </p:txBody>
      </p:sp>
      <p:sp>
        <p:nvSpPr>
          <p:cNvPr id="100" name="Rectangle 42"/>
          <p:cNvSpPr>
            <a:spLocks noChangeArrowheads="1"/>
          </p:cNvSpPr>
          <p:nvPr/>
        </p:nvSpPr>
        <p:spPr bwMode="auto">
          <a:xfrm>
            <a:off x="10473314" y="2854338"/>
            <a:ext cx="216281" cy="26570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56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176797" y="3164080"/>
            <a:ext cx="404277" cy="845006"/>
            <a:chOff x="2382598" y="2373060"/>
            <a:chExt cx="303208" cy="633755"/>
          </a:xfrm>
        </p:grpSpPr>
        <p:sp>
          <p:nvSpPr>
            <p:cNvPr id="101" name="Line 44"/>
            <p:cNvSpPr>
              <a:spLocks noChangeShapeType="1"/>
            </p:cNvSpPr>
            <p:nvPr/>
          </p:nvSpPr>
          <p:spPr bwMode="auto">
            <a:xfrm flipV="1">
              <a:off x="2515137" y="2373060"/>
              <a:ext cx="0" cy="399656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Text Box 45"/>
            <p:cNvSpPr txBox="1">
              <a:spLocks noChangeArrowheads="1"/>
            </p:cNvSpPr>
            <p:nvPr/>
          </p:nvSpPr>
          <p:spPr bwMode="auto">
            <a:xfrm>
              <a:off x="2382598" y="2752899"/>
              <a:ext cx="30320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16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378083" y="3164080"/>
            <a:ext cx="404277" cy="845006"/>
            <a:chOff x="4783563" y="2373060"/>
            <a:chExt cx="303208" cy="633755"/>
          </a:xfrm>
        </p:grpSpPr>
        <p:sp>
          <p:nvSpPr>
            <p:cNvPr id="103" name="Line 47"/>
            <p:cNvSpPr>
              <a:spLocks noChangeShapeType="1"/>
            </p:cNvSpPr>
            <p:nvPr/>
          </p:nvSpPr>
          <p:spPr bwMode="auto">
            <a:xfrm flipV="1">
              <a:off x="4902980" y="2373060"/>
              <a:ext cx="0" cy="399656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" name="Text Box 48"/>
            <p:cNvSpPr txBox="1">
              <a:spLocks noChangeArrowheads="1"/>
            </p:cNvSpPr>
            <p:nvPr/>
          </p:nvSpPr>
          <p:spPr bwMode="auto">
            <a:xfrm>
              <a:off x="4783563" y="2752899"/>
              <a:ext cx="30320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16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981412" y="3164080"/>
            <a:ext cx="404277" cy="845006"/>
            <a:chOff x="6736060" y="2373060"/>
            <a:chExt cx="303208" cy="633755"/>
          </a:xfrm>
        </p:grpSpPr>
        <p:sp>
          <p:nvSpPr>
            <p:cNvPr id="105" name="Line 50"/>
            <p:cNvSpPr>
              <a:spLocks noChangeShapeType="1"/>
            </p:cNvSpPr>
            <p:nvPr/>
          </p:nvSpPr>
          <p:spPr bwMode="auto">
            <a:xfrm flipV="1">
              <a:off x="6865020" y="2373060"/>
              <a:ext cx="0" cy="399656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51"/>
            <p:cNvSpPr txBox="1">
              <a:spLocks noChangeArrowheads="1"/>
            </p:cNvSpPr>
            <p:nvPr/>
          </p:nvSpPr>
          <p:spPr bwMode="auto">
            <a:xfrm>
              <a:off x="6736060" y="2752899"/>
              <a:ext cx="30320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1600" b="1" baseline="-25000" dirty="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sp>
        <p:nvSpPr>
          <p:cNvPr id="147" name="AutoShape 91"/>
          <p:cNvSpPr>
            <a:spLocks/>
          </p:cNvSpPr>
          <p:nvPr/>
        </p:nvSpPr>
        <p:spPr bwMode="auto">
          <a:xfrm rot="5400000">
            <a:off x="7590028" y="1388382"/>
            <a:ext cx="170285" cy="2523815"/>
          </a:xfrm>
          <a:prstGeom prst="leftBrace">
            <a:avLst>
              <a:gd name="adj1" fmla="val 114009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Text Box 92"/>
          <p:cNvSpPr txBox="1">
            <a:spLocks noChangeArrowheads="1"/>
          </p:cNvSpPr>
          <p:nvPr/>
        </p:nvSpPr>
        <p:spPr bwMode="auto">
          <a:xfrm>
            <a:off x="7156307" y="2237340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可用窗口</a:t>
            </a:r>
          </a:p>
        </p:txBody>
      </p:sp>
      <p:sp>
        <p:nvSpPr>
          <p:cNvPr id="150" name="AutoShape 5"/>
          <p:cNvSpPr>
            <a:spLocks noChangeArrowheads="1"/>
          </p:cNvSpPr>
          <p:nvPr/>
        </p:nvSpPr>
        <p:spPr bwMode="auto">
          <a:xfrm>
            <a:off x="742618" y="827799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51" name="Rectangle 6"/>
          <p:cNvSpPr>
            <a:spLocks noChangeArrowheads="1"/>
          </p:cNvSpPr>
          <p:nvPr/>
        </p:nvSpPr>
        <p:spPr bwMode="auto">
          <a:xfrm>
            <a:off x="5333252" y="783517"/>
            <a:ext cx="155042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发送窗口</a:t>
            </a:r>
          </a:p>
        </p:txBody>
      </p:sp>
    </p:spTree>
    <p:extLst>
      <p:ext uri="{BB962C8B-B14F-4D97-AF65-F5344CB8AC3E}">
        <p14:creationId xmlns:p14="http://schemas.microsoft.com/office/powerpoint/2010/main" val="392695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0"/>
                            </p:stCondLst>
                            <p:childTnLst>
                              <p:par>
                                <p:cTn id="11" presetID="35" presetClass="emph" presetSubtype="0" repeatCount="3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03" name="AutoShape 5"/>
          <p:cNvSpPr>
            <a:spLocks noChangeArrowheads="1"/>
          </p:cNvSpPr>
          <p:nvPr/>
        </p:nvSpPr>
        <p:spPr bwMode="auto">
          <a:xfrm>
            <a:off x="742618" y="825389"/>
            <a:ext cx="1073170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2904" name="Rectangle 6"/>
          <p:cNvSpPr>
            <a:spLocks noChangeArrowheads="1"/>
          </p:cNvSpPr>
          <p:nvPr/>
        </p:nvSpPr>
        <p:spPr bwMode="auto">
          <a:xfrm>
            <a:off x="2742379" y="769027"/>
            <a:ext cx="646843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5.7.1  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利用滑动窗口实现流量控制</a:t>
            </a:r>
          </a:p>
        </p:txBody>
      </p:sp>
      <p:sp>
        <p:nvSpPr>
          <p:cNvPr id="1052905" name="Rectangle 8"/>
          <p:cNvSpPr>
            <a:spLocks noChangeArrowheads="1"/>
          </p:cNvSpPr>
          <p:nvPr/>
        </p:nvSpPr>
        <p:spPr bwMode="auto">
          <a:xfrm>
            <a:off x="742618" y="1340228"/>
            <a:ext cx="10731701" cy="228966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流量控制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(flow control)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：让发送方的发送速率不要太快，使接收方来得及接收。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滑动窗口机制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可以很方便地在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连接上实现对发送方的流量控制。 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42618" y="825659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602063" y="794872"/>
            <a:ext cx="496482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利用可变窗口进行流量控制举例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42618" y="1354745"/>
            <a:ext cx="10731701" cy="438911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567771" y="2500375"/>
            <a:ext cx="0" cy="3009888"/>
          </a:xfrm>
          <a:prstGeom prst="line">
            <a:avLst/>
          </a:prstGeom>
          <a:noFill/>
          <a:ln w="1905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67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37057" y="3241024"/>
            <a:ext cx="3330711" cy="324812"/>
            <a:chOff x="1677792" y="2484555"/>
            <a:chExt cx="2498033" cy="243609"/>
          </a:xfrm>
        </p:grpSpPr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H="1">
              <a:off x="1677792" y="2719123"/>
              <a:ext cx="249803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 flipH="1">
              <a:off x="1824091" y="2484555"/>
              <a:ext cx="2234123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201,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300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47076" y="5099222"/>
            <a:ext cx="3320693" cy="324812"/>
            <a:chOff x="1685307" y="3878203"/>
            <a:chExt cx="2490520" cy="243609"/>
          </a:xfrm>
        </p:grpSpPr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H="1">
              <a:off x="1685307" y="4112773"/>
              <a:ext cx="24905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 flipH="1">
              <a:off x="1902638" y="3878203"/>
              <a:ext cx="2075426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601,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0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234553" y="4479437"/>
            <a:ext cx="3333216" cy="324812"/>
            <a:chOff x="1675914" y="3413364"/>
            <a:chExt cx="2499912" cy="243609"/>
          </a:xfrm>
        </p:grpSpPr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1675914" y="3643597"/>
              <a:ext cx="249991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 flipH="1">
              <a:off x="1824091" y="3413364"/>
              <a:ext cx="2234123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501,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100</a:t>
              </a:r>
            </a:p>
          </p:txBody>
        </p:sp>
      </p:grp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2105527" y="2235579"/>
            <a:ext cx="384723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5419955" y="2235579"/>
            <a:ext cx="371899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5646958" y="3359316"/>
            <a:ext cx="3803928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允许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发送序号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201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至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500 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共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2259606" y="2596952"/>
            <a:ext cx="7585617" cy="470693"/>
            <a:chOff x="1694704" y="1947714"/>
            <a:chExt cx="5689213" cy="353020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694704" y="2190955"/>
              <a:ext cx="2509724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2304992" y="1947714"/>
              <a:ext cx="1245680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101, DATA</a:t>
              </a:r>
            </a:p>
          </p:txBody>
        </p:sp>
        <p:sp>
          <p:nvSpPr>
            <p:cNvPr id="33" name="Rectangle 28"/>
            <p:cNvSpPr>
              <a:spLocks noChangeArrowheads="1"/>
            </p:cNvSpPr>
            <p:nvPr/>
          </p:nvSpPr>
          <p:spPr bwMode="auto">
            <a:xfrm>
              <a:off x="4235217" y="2041640"/>
              <a:ext cx="3148700" cy="2590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101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200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，还能发送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200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258353" y="3516224"/>
            <a:ext cx="8337079" cy="488037"/>
            <a:chOff x="1693764" y="2637168"/>
            <a:chExt cx="6252809" cy="366028"/>
          </a:xfrm>
        </p:grpSpPr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693764" y="2889080"/>
              <a:ext cx="2482062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2304992" y="2637168"/>
              <a:ext cx="1245680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301, DATA</a:t>
              </a:r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4235218" y="2744102"/>
              <a:ext cx="3711355" cy="2590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301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400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，还能再发送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100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字节新数据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260859" y="2303249"/>
            <a:ext cx="7353533" cy="462599"/>
            <a:chOff x="1695644" y="1727436"/>
            <a:chExt cx="5515150" cy="346949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695644" y="1962005"/>
              <a:ext cx="2480184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2383539" y="1727436"/>
              <a:ext cx="1086983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1, DATA</a:t>
              </a:r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auto">
            <a:xfrm>
              <a:off x="4235218" y="1815291"/>
              <a:ext cx="2975576" cy="2590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100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，还能发送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300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263363" y="3839992"/>
            <a:ext cx="7686056" cy="484569"/>
            <a:chOff x="1697522" y="2879993"/>
            <a:chExt cx="5764542" cy="363427"/>
          </a:xfrm>
        </p:grpSpPr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697522" y="3126703"/>
              <a:ext cx="2478304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2304992" y="2879993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401, DATA</a:t>
              </a:r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4235218" y="2984326"/>
              <a:ext cx="3226846" cy="2590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401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500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，不能再发送新数据了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262110" y="4144100"/>
            <a:ext cx="7201602" cy="491509"/>
            <a:chOff x="1696582" y="3108075"/>
            <a:chExt cx="5401201" cy="368632"/>
          </a:xfrm>
        </p:grpSpPr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696582" y="3355654"/>
              <a:ext cx="2479245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304992" y="3108075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201, DATA</a:t>
              </a:r>
            </a:p>
          </p:txBody>
        </p:sp>
        <p:sp>
          <p:nvSpPr>
            <p:cNvPr id="37" name="Rectangle 32"/>
            <p:cNvSpPr>
              <a:spLocks noChangeArrowheads="1"/>
            </p:cNvSpPr>
            <p:nvPr/>
          </p:nvSpPr>
          <p:spPr bwMode="auto">
            <a:xfrm>
              <a:off x="4235218" y="3217613"/>
              <a:ext cx="2862565" cy="2590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超时重传</a:t>
              </a:r>
              <a:r>
                <a:rPr kumimoji="1" lang="zh-CN" altLang="en-US" sz="14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旧的数据，但不能发送新的数据</a:t>
              </a:r>
            </a:p>
          </p:txBody>
        </p:sp>
      </p:grpSp>
      <p:sp>
        <p:nvSpPr>
          <p:cNvPr id="38" name="Rectangle 33"/>
          <p:cNvSpPr>
            <a:spLocks noChangeArrowheads="1"/>
          </p:cNvSpPr>
          <p:nvPr/>
        </p:nvSpPr>
        <p:spPr bwMode="auto">
          <a:xfrm>
            <a:off x="5646957" y="4591947"/>
            <a:ext cx="3744616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允许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发送序号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501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至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600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共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2260857" y="4790481"/>
            <a:ext cx="7125908" cy="460288"/>
            <a:chOff x="1695643" y="3592861"/>
            <a:chExt cx="5344431" cy="345216"/>
          </a:xfrm>
        </p:grpSpPr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695643" y="3823961"/>
              <a:ext cx="2480183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2304992" y="3592861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501, DATA</a:t>
              </a:r>
            </a:p>
          </p:txBody>
        </p:sp>
        <p:sp>
          <p:nvSpPr>
            <p:cNvPr id="39" name="Rectangle 34"/>
            <p:cNvSpPr>
              <a:spLocks noChangeArrowheads="1"/>
            </p:cNvSpPr>
            <p:nvPr/>
          </p:nvSpPr>
          <p:spPr bwMode="auto">
            <a:xfrm>
              <a:off x="4235218" y="3678983"/>
              <a:ext cx="2804856" cy="2590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501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600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，不能再发送了</a:t>
              </a:r>
            </a:p>
          </p:txBody>
        </p:sp>
      </p:grpSp>
      <p:sp>
        <p:nvSpPr>
          <p:cNvPr id="40" name="Rectangle 35"/>
          <p:cNvSpPr>
            <a:spLocks noChangeArrowheads="1"/>
          </p:cNvSpPr>
          <p:nvPr/>
        </p:nvSpPr>
        <p:spPr bwMode="auto">
          <a:xfrm>
            <a:off x="5646958" y="5230235"/>
            <a:ext cx="4706419" cy="3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不允许 </a:t>
            </a:r>
            <a:r>
              <a:rPr kumimoji="1" lang="en-US" altLang="zh-CN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再发送（到序号 </a:t>
            </a:r>
            <a:r>
              <a:rPr kumimoji="1" lang="en-US" altLang="zh-CN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600 </a:t>
            </a:r>
            <a:r>
              <a:rPr kumimoji="1" lang="zh-CN" altLang="en-US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为止的数据都收到了）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255850" y="2804795"/>
            <a:ext cx="2982447" cy="554220"/>
            <a:chOff x="1691887" y="2103596"/>
            <a:chExt cx="2236835" cy="415665"/>
          </a:xfrm>
        </p:grpSpPr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691887" y="2432914"/>
              <a:ext cx="1481082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2004741" y="2199212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201, DATA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3240064" y="2103596"/>
              <a:ext cx="688658" cy="415665"/>
              <a:chOff x="3240064" y="2103596"/>
              <a:chExt cx="688658" cy="415665"/>
            </a:xfrm>
          </p:grpSpPr>
          <p:sp>
            <p:nvSpPr>
              <p:cNvPr id="41" name="AutoShape 36"/>
              <p:cNvSpPr>
                <a:spLocks noChangeArrowheads="1"/>
              </p:cNvSpPr>
              <p:nvPr/>
            </p:nvSpPr>
            <p:spPr bwMode="auto">
              <a:xfrm>
                <a:off x="3240064" y="2103596"/>
                <a:ext cx="688658" cy="415665"/>
              </a:xfrm>
              <a:prstGeom prst="irregularSeal1">
                <a:avLst/>
              </a:prstGeom>
              <a:solidFill>
                <a:srgbClr val="C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Rectangle 37"/>
              <p:cNvSpPr>
                <a:spLocks noChangeArrowheads="1"/>
              </p:cNvSpPr>
              <p:nvPr/>
            </p:nvSpPr>
            <p:spPr bwMode="auto">
              <a:xfrm>
                <a:off x="3359784" y="2184319"/>
                <a:ext cx="568667" cy="2436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333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丢失！</a:t>
                </a:r>
              </a:p>
            </p:txBody>
          </p:sp>
        </p:grpSp>
      </p:grpSp>
      <p:sp>
        <p:nvSpPr>
          <p:cNvPr id="43" name="Line 38"/>
          <p:cNvSpPr>
            <a:spLocks noChangeShapeType="1"/>
          </p:cNvSpPr>
          <p:nvPr/>
        </p:nvSpPr>
        <p:spPr bwMode="auto">
          <a:xfrm>
            <a:off x="2235804" y="2500375"/>
            <a:ext cx="0" cy="3009888"/>
          </a:xfrm>
          <a:prstGeom prst="line">
            <a:avLst/>
          </a:prstGeom>
          <a:noFill/>
          <a:ln w="1905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67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 Box 155"/>
          <p:cNvSpPr txBox="1">
            <a:spLocks noChangeArrowheads="1"/>
          </p:cNvSpPr>
          <p:nvPr/>
        </p:nvSpPr>
        <p:spPr bwMode="auto">
          <a:xfrm>
            <a:off x="1864661" y="1387781"/>
            <a:ext cx="8736647" cy="789319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向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发送数据，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MSS = 100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字节。</a:t>
            </a:r>
            <a:endParaRPr lang="en-US" altLang="zh-CN" sz="2133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在连接建立时，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告诉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：“我的接收窗口 </a:t>
            </a:r>
            <a:r>
              <a:rPr lang="en-US" altLang="zh-CN" sz="2133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rwnd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400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（字节）”。</a:t>
            </a:r>
          </a:p>
        </p:txBody>
      </p:sp>
    </p:spTree>
    <p:extLst>
      <p:ext uri="{BB962C8B-B14F-4D97-AF65-F5344CB8AC3E}">
        <p14:creationId xmlns:p14="http://schemas.microsoft.com/office/powerpoint/2010/main" val="236436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38" grpId="0"/>
      <p:bldP spid="38" grpId="1"/>
      <p:bldP spid="40" grpId="0"/>
      <p:bldP spid="40" grpId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51" name="AutoShape 5"/>
          <p:cNvSpPr>
            <a:spLocks noChangeArrowheads="1"/>
          </p:cNvSpPr>
          <p:nvPr/>
        </p:nvSpPr>
        <p:spPr bwMode="auto">
          <a:xfrm>
            <a:off x="742618" y="825659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2952" name="Rectangle 6"/>
          <p:cNvSpPr>
            <a:spLocks noChangeArrowheads="1"/>
          </p:cNvSpPr>
          <p:nvPr/>
        </p:nvSpPr>
        <p:spPr bwMode="auto">
          <a:xfrm>
            <a:off x="4967821" y="794872"/>
            <a:ext cx="2233304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可能发生死锁</a:t>
            </a:r>
          </a:p>
        </p:txBody>
      </p:sp>
      <p:sp>
        <p:nvSpPr>
          <p:cNvPr id="1052953" name="圆角矩形 6"/>
          <p:cNvSpPr/>
          <p:nvPr/>
        </p:nvSpPr>
        <p:spPr>
          <a:xfrm>
            <a:off x="742618" y="1354744"/>
            <a:ext cx="10731701" cy="500422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52954" name="Line 4"/>
          <p:cNvSpPr>
            <a:spLocks noChangeShapeType="1"/>
          </p:cNvSpPr>
          <p:nvPr/>
        </p:nvSpPr>
        <p:spPr bwMode="auto">
          <a:xfrm>
            <a:off x="5567769" y="2500374"/>
            <a:ext cx="85720" cy="3762967"/>
          </a:xfrm>
          <a:prstGeom prst="line">
            <a:avLst/>
          </a:prstGeom>
          <a:noFill/>
          <a:ln w="19050">
            <a:solidFill>
              <a:srgbClr val="0033CC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 sz="1467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04" name="组合 1"/>
          <p:cNvGrpSpPr/>
          <p:nvPr/>
        </p:nvGrpSpPr>
        <p:grpSpPr>
          <a:xfrm>
            <a:off x="2237057" y="3241024"/>
            <a:ext cx="3330711" cy="324812"/>
            <a:chOff x="1677792" y="2484555"/>
            <a:chExt cx="2498033" cy="243609"/>
          </a:xfrm>
        </p:grpSpPr>
        <p:sp>
          <p:nvSpPr>
            <p:cNvPr id="1052955" name="Line 19"/>
            <p:cNvSpPr>
              <a:spLocks noChangeShapeType="1"/>
            </p:cNvSpPr>
            <p:nvPr/>
          </p:nvSpPr>
          <p:spPr bwMode="auto">
            <a:xfrm flipH="1">
              <a:off x="1677792" y="2719123"/>
              <a:ext cx="249803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56" name="Rectangle 20"/>
            <p:cNvSpPr>
              <a:spLocks noChangeArrowheads="1"/>
            </p:cNvSpPr>
            <p:nvPr/>
          </p:nvSpPr>
          <p:spPr bwMode="auto">
            <a:xfrm flipH="1">
              <a:off x="1824091" y="2484555"/>
              <a:ext cx="2234123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201,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300</a:t>
              </a:r>
            </a:p>
          </p:txBody>
        </p:sp>
      </p:grpSp>
      <p:grpSp>
        <p:nvGrpSpPr>
          <p:cNvPr id="805" name="组合 3"/>
          <p:cNvGrpSpPr/>
          <p:nvPr/>
        </p:nvGrpSpPr>
        <p:grpSpPr>
          <a:xfrm>
            <a:off x="2247076" y="5099222"/>
            <a:ext cx="3320693" cy="324812"/>
            <a:chOff x="1685307" y="3878203"/>
            <a:chExt cx="2490520" cy="243609"/>
          </a:xfrm>
        </p:grpSpPr>
        <p:sp>
          <p:nvSpPr>
            <p:cNvPr id="1052957" name="Line 21"/>
            <p:cNvSpPr>
              <a:spLocks noChangeShapeType="1"/>
            </p:cNvSpPr>
            <p:nvPr/>
          </p:nvSpPr>
          <p:spPr bwMode="auto">
            <a:xfrm flipH="1">
              <a:off x="1685307" y="4112773"/>
              <a:ext cx="24905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58" name="Rectangle 22"/>
            <p:cNvSpPr>
              <a:spLocks noChangeArrowheads="1"/>
            </p:cNvSpPr>
            <p:nvPr/>
          </p:nvSpPr>
          <p:spPr bwMode="auto">
            <a:xfrm flipH="1">
              <a:off x="1902638" y="3878203"/>
              <a:ext cx="2075426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601,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0</a:t>
              </a:r>
            </a:p>
          </p:txBody>
        </p:sp>
      </p:grpSp>
      <p:grpSp>
        <p:nvGrpSpPr>
          <p:cNvPr id="806" name="组合 2"/>
          <p:cNvGrpSpPr/>
          <p:nvPr/>
        </p:nvGrpSpPr>
        <p:grpSpPr>
          <a:xfrm>
            <a:off x="2234553" y="4479437"/>
            <a:ext cx="3333216" cy="324812"/>
            <a:chOff x="1675914" y="3413364"/>
            <a:chExt cx="2499912" cy="243609"/>
          </a:xfrm>
        </p:grpSpPr>
        <p:sp>
          <p:nvSpPr>
            <p:cNvPr id="1052959" name="Line 23"/>
            <p:cNvSpPr>
              <a:spLocks noChangeShapeType="1"/>
            </p:cNvSpPr>
            <p:nvPr/>
          </p:nvSpPr>
          <p:spPr bwMode="auto">
            <a:xfrm flipH="1">
              <a:off x="1675914" y="3643597"/>
              <a:ext cx="249991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60" name="Rectangle 24"/>
            <p:cNvSpPr>
              <a:spLocks noChangeArrowheads="1"/>
            </p:cNvSpPr>
            <p:nvPr/>
          </p:nvSpPr>
          <p:spPr bwMode="auto">
            <a:xfrm flipH="1">
              <a:off x="1824091" y="3413364"/>
              <a:ext cx="2234123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501,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100</a:t>
              </a:r>
            </a:p>
          </p:txBody>
        </p:sp>
      </p:grpSp>
      <p:sp>
        <p:nvSpPr>
          <p:cNvPr id="1052961" name="Rectangle 25"/>
          <p:cNvSpPr>
            <a:spLocks noChangeArrowheads="1"/>
          </p:cNvSpPr>
          <p:nvPr/>
        </p:nvSpPr>
        <p:spPr bwMode="auto">
          <a:xfrm>
            <a:off x="2105527" y="2235579"/>
            <a:ext cx="384723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52962" name="Rectangle 26"/>
          <p:cNvSpPr>
            <a:spLocks noChangeArrowheads="1"/>
          </p:cNvSpPr>
          <p:nvPr/>
        </p:nvSpPr>
        <p:spPr bwMode="auto">
          <a:xfrm>
            <a:off x="5419955" y="2235579"/>
            <a:ext cx="371899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en-US" altLang="zh-CN" sz="1467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2963" name="Rectangle 27"/>
          <p:cNvSpPr>
            <a:spLocks noChangeArrowheads="1"/>
          </p:cNvSpPr>
          <p:nvPr/>
        </p:nvSpPr>
        <p:spPr bwMode="auto">
          <a:xfrm>
            <a:off x="5646958" y="3359316"/>
            <a:ext cx="3803928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允许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发送序号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201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至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500 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共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grpSp>
        <p:nvGrpSpPr>
          <p:cNvPr id="807" name="组合 45"/>
          <p:cNvGrpSpPr/>
          <p:nvPr/>
        </p:nvGrpSpPr>
        <p:grpSpPr>
          <a:xfrm>
            <a:off x="2259606" y="2596952"/>
            <a:ext cx="7585617" cy="470693"/>
            <a:chOff x="1694704" y="1947714"/>
            <a:chExt cx="5689213" cy="353020"/>
          </a:xfrm>
        </p:grpSpPr>
        <p:sp>
          <p:nvSpPr>
            <p:cNvPr id="1052964" name="Line 13"/>
            <p:cNvSpPr>
              <a:spLocks noChangeShapeType="1"/>
            </p:cNvSpPr>
            <p:nvPr/>
          </p:nvSpPr>
          <p:spPr bwMode="auto">
            <a:xfrm>
              <a:off x="1694704" y="2190955"/>
              <a:ext cx="2481121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65" name="Rectangle 14"/>
            <p:cNvSpPr>
              <a:spLocks noChangeArrowheads="1"/>
            </p:cNvSpPr>
            <p:nvPr/>
          </p:nvSpPr>
          <p:spPr bwMode="auto">
            <a:xfrm>
              <a:off x="2304992" y="1947714"/>
              <a:ext cx="1245680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101, DATA</a:t>
              </a:r>
            </a:p>
          </p:txBody>
        </p:sp>
        <p:sp>
          <p:nvSpPr>
            <p:cNvPr id="1052966" name="Rectangle 28"/>
            <p:cNvSpPr>
              <a:spLocks noChangeArrowheads="1"/>
            </p:cNvSpPr>
            <p:nvPr/>
          </p:nvSpPr>
          <p:spPr bwMode="auto">
            <a:xfrm>
              <a:off x="4235217" y="2041640"/>
              <a:ext cx="3148700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101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200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，还能发送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200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</p:grpSp>
      <p:grpSp>
        <p:nvGrpSpPr>
          <p:cNvPr id="808" name="组合 48"/>
          <p:cNvGrpSpPr/>
          <p:nvPr/>
        </p:nvGrpSpPr>
        <p:grpSpPr>
          <a:xfrm>
            <a:off x="2258353" y="3516224"/>
            <a:ext cx="8337079" cy="488037"/>
            <a:chOff x="1693764" y="2637168"/>
            <a:chExt cx="6252809" cy="366028"/>
          </a:xfrm>
        </p:grpSpPr>
        <p:sp>
          <p:nvSpPr>
            <p:cNvPr id="1052967" name="Line 11"/>
            <p:cNvSpPr>
              <a:spLocks noChangeShapeType="1"/>
            </p:cNvSpPr>
            <p:nvPr/>
          </p:nvSpPr>
          <p:spPr bwMode="auto">
            <a:xfrm>
              <a:off x="1693764" y="2889080"/>
              <a:ext cx="2482062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68" name="Rectangle 12"/>
            <p:cNvSpPr>
              <a:spLocks noChangeArrowheads="1"/>
            </p:cNvSpPr>
            <p:nvPr/>
          </p:nvSpPr>
          <p:spPr bwMode="auto">
            <a:xfrm>
              <a:off x="2304992" y="2637168"/>
              <a:ext cx="1245680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301, DATA</a:t>
              </a:r>
            </a:p>
          </p:txBody>
        </p:sp>
        <p:sp>
          <p:nvSpPr>
            <p:cNvPr id="1052969" name="Rectangle 29"/>
            <p:cNvSpPr>
              <a:spLocks noChangeArrowheads="1"/>
            </p:cNvSpPr>
            <p:nvPr/>
          </p:nvSpPr>
          <p:spPr bwMode="auto">
            <a:xfrm>
              <a:off x="4235218" y="2744102"/>
              <a:ext cx="3711355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301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400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，还能再发送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100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字节新数据</a:t>
              </a:r>
            </a:p>
          </p:txBody>
        </p:sp>
      </p:grpSp>
      <p:grpSp>
        <p:nvGrpSpPr>
          <p:cNvPr id="809" name="组合 44"/>
          <p:cNvGrpSpPr/>
          <p:nvPr/>
        </p:nvGrpSpPr>
        <p:grpSpPr>
          <a:xfrm>
            <a:off x="2260859" y="2303249"/>
            <a:ext cx="7353533" cy="462599"/>
            <a:chOff x="1695644" y="1727436"/>
            <a:chExt cx="5515150" cy="346949"/>
          </a:xfrm>
        </p:grpSpPr>
        <p:sp>
          <p:nvSpPr>
            <p:cNvPr id="1052970" name="Line 5"/>
            <p:cNvSpPr>
              <a:spLocks noChangeShapeType="1"/>
            </p:cNvSpPr>
            <p:nvPr/>
          </p:nvSpPr>
          <p:spPr bwMode="auto">
            <a:xfrm>
              <a:off x="1695644" y="1962005"/>
              <a:ext cx="2480184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71" name="Rectangle 6"/>
            <p:cNvSpPr>
              <a:spLocks noChangeArrowheads="1"/>
            </p:cNvSpPr>
            <p:nvPr/>
          </p:nvSpPr>
          <p:spPr bwMode="auto">
            <a:xfrm>
              <a:off x="2383539" y="1727436"/>
              <a:ext cx="1086983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1, DATA</a:t>
              </a:r>
            </a:p>
          </p:txBody>
        </p:sp>
        <p:sp>
          <p:nvSpPr>
            <p:cNvPr id="1052972" name="Rectangle 30"/>
            <p:cNvSpPr>
              <a:spLocks noChangeArrowheads="1"/>
            </p:cNvSpPr>
            <p:nvPr/>
          </p:nvSpPr>
          <p:spPr bwMode="auto">
            <a:xfrm>
              <a:off x="4235218" y="1815291"/>
              <a:ext cx="2975576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100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，还能发送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300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字节</a:t>
              </a:r>
            </a:p>
          </p:txBody>
        </p:sp>
      </p:grpSp>
      <p:grpSp>
        <p:nvGrpSpPr>
          <p:cNvPr id="810" name="组合 49"/>
          <p:cNvGrpSpPr/>
          <p:nvPr/>
        </p:nvGrpSpPr>
        <p:grpSpPr>
          <a:xfrm>
            <a:off x="2263363" y="3839992"/>
            <a:ext cx="7686056" cy="484569"/>
            <a:chOff x="1697522" y="2879993"/>
            <a:chExt cx="5764542" cy="363427"/>
          </a:xfrm>
        </p:grpSpPr>
        <p:sp>
          <p:nvSpPr>
            <p:cNvPr id="1052973" name="Line 9"/>
            <p:cNvSpPr>
              <a:spLocks noChangeShapeType="1"/>
            </p:cNvSpPr>
            <p:nvPr/>
          </p:nvSpPr>
          <p:spPr bwMode="auto">
            <a:xfrm>
              <a:off x="1697522" y="3126703"/>
              <a:ext cx="2478304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74" name="Rectangle 10"/>
            <p:cNvSpPr>
              <a:spLocks noChangeArrowheads="1"/>
            </p:cNvSpPr>
            <p:nvPr/>
          </p:nvSpPr>
          <p:spPr bwMode="auto">
            <a:xfrm>
              <a:off x="2304992" y="2879993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401, DATA</a:t>
              </a:r>
            </a:p>
          </p:txBody>
        </p:sp>
        <p:sp>
          <p:nvSpPr>
            <p:cNvPr id="1052975" name="Rectangle 31"/>
            <p:cNvSpPr>
              <a:spLocks noChangeArrowheads="1"/>
            </p:cNvSpPr>
            <p:nvPr/>
          </p:nvSpPr>
          <p:spPr bwMode="auto">
            <a:xfrm>
              <a:off x="4235218" y="2984326"/>
              <a:ext cx="3226846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401 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>
                  <a:latin typeface="微软雅黑" pitchFamily="34" charset="-122"/>
                  <a:ea typeface="微软雅黑" pitchFamily="34" charset="-122"/>
                </a:rPr>
                <a:t>500</a:t>
              </a:r>
              <a:r>
                <a:rPr kumimoji="1" lang="zh-CN" altLang="en-US" sz="1467" b="1">
                  <a:latin typeface="微软雅黑" pitchFamily="34" charset="-122"/>
                  <a:ea typeface="微软雅黑" pitchFamily="34" charset="-122"/>
                </a:rPr>
                <a:t>，不能再发送新数据了</a:t>
              </a:r>
            </a:p>
          </p:txBody>
        </p:sp>
      </p:grpSp>
      <p:grpSp>
        <p:nvGrpSpPr>
          <p:cNvPr id="811" name="组合 50"/>
          <p:cNvGrpSpPr/>
          <p:nvPr/>
        </p:nvGrpSpPr>
        <p:grpSpPr>
          <a:xfrm>
            <a:off x="2262110" y="4144100"/>
            <a:ext cx="7201602" cy="491509"/>
            <a:chOff x="1696582" y="3108075"/>
            <a:chExt cx="5401201" cy="368632"/>
          </a:xfrm>
        </p:grpSpPr>
        <p:sp>
          <p:nvSpPr>
            <p:cNvPr id="1052976" name="Line 7"/>
            <p:cNvSpPr>
              <a:spLocks noChangeShapeType="1"/>
            </p:cNvSpPr>
            <p:nvPr/>
          </p:nvSpPr>
          <p:spPr bwMode="auto">
            <a:xfrm>
              <a:off x="1696582" y="3355654"/>
              <a:ext cx="2479245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77" name="Rectangle 8"/>
            <p:cNvSpPr>
              <a:spLocks noChangeArrowheads="1"/>
            </p:cNvSpPr>
            <p:nvPr/>
          </p:nvSpPr>
          <p:spPr bwMode="auto">
            <a:xfrm>
              <a:off x="2304992" y="3108075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201, DATA</a:t>
              </a:r>
            </a:p>
          </p:txBody>
        </p:sp>
        <p:sp>
          <p:nvSpPr>
            <p:cNvPr id="1052978" name="Rectangle 32"/>
            <p:cNvSpPr>
              <a:spLocks noChangeArrowheads="1"/>
            </p:cNvSpPr>
            <p:nvPr/>
          </p:nvSpPr>
          <p:spPr bwMode="auto">
            <a:xfrm>
              <a:off x="4235218" y="3217613"/>
              <a:ext cx="2862565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超时重传</a:t>
              </a:r>
              <a:r>
                <a:rPr kumimoji="1" lang="zh-CN" altLang="en-US" sz="1467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旧的数据，但不能发送新的数据</a:t>
              </a:r>
            </a:p>
          </p:txBody>
        </p:sp>
      </p:grpSp>
      <p:sp>
        <p:nvSpPr>
          <p:cNvPr id="1052979" name="Rectangle 33"/>
          <p:cNvSpPr>
            <a:spLocks noChangeArrowheads="1"/>
          </p:cNvSpPr>
          <p:nvPr/>
        </p:nvSpPr>
        <p:spPr bwMode="auto">
          <a:xfrm>
            <a:off x="5646957" y="4591947"/>
            <a:ext cx="3744616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允许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发送序号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501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至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600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共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grpSp>
        <p:nvGrpSpPr>
          <p:cNvPr id="812" name="组合 51"/>
          <p:cNvGrpSpPr/>
          <p:nvPr/>
        </p:nvGrpSpPr>
        <p:grpSpPr>
          <a:xfrm>
            <a:off x="2260857" y="4790481"/>
            <a:ext cx="7125908" cy="460288"/>
            <a:chOff x="1695643" y="3592861"/>
            <a:chExt cx="5344431" cy="345216"/>
          </a:xfrm>
        </p:grpSpPr>
        <p:sp>
          <p:nvSpPr>
            <p:cNvPr id="1052980" name="Line 17"/>
            <p:cNvSpPr>
              <a:spLocks noChangeShapeType="1"/>
            </p:cNvSpPr>
            <p:nvPr/>
          </p:nvSpPr>
          <p:spPr bwMode="auto">
            <a:xfrm>
              <a:off x="1695643" y="3823961"/>
              <a:ext cx="2480183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81" name="Rectangle 18"/>
            <p:cNvSpPr>
              <a:spLocks noChangeArrowheads="1"/>
            </p:cNvSpPr>
            <p:nvPr/>
          </p:nvSpPr>
          <p:spPr bwMode="auto">
            <a:xfrm>
              <a:off x="2304992" y="3592861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501, DATA</a:t>
              </a:r>
            </a:p>
          </p:txBody>
        </p:sp>
        <p:sp>
          <p:nvSpPr>
            <p:cNvPr id="1052982" name="Rectangle 34"/>
            <p:cNvSpPr>
              <a:spLocks noChangeArrowheads="1"/>
            </p:cNvSpPr>
            <p:nvPr/>
          </p:nvSpPr>
          <p:spPr bwMode="auto">
            <a:xfrm>
              <a:off x="4235218" y="3678983"/>
              <a:ext cx="2804856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发送了序号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501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600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，不能再发送了</a:t>
              </a:r>
            </a:p>
          </p:txBody>
        </p:sp>
      </p:grpSp>
      <p:sp>
        <p:nvSpPr>
          <p:cNvPr id="1052983" name="Rectangle 35"/>
          <p:cNvSpPr>
            <a:spLocks noChangeArrowheads="1"/>
          </p:cNvSpPr>
          <p:nvPr/>
        </p:nvSpPr>
        <p:spPr bwMode="auto">
          <a:xfrm>
            <a:off x="5646958" y="5230235"/>
            <a:ext cx="4706419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不允许 </a:t>
            </a:r>
            <a:r>
              <a:rPr kumimoji="1" lang="en-US" altLang="zh-CN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再发送（到序号 </a:t>
            </a:r>
            <a:r>
              <a:rPr kumimoji="1" lang="en-US" altLang="zh-CN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600 </a:t>
            </a:r>
            <a:r>
              <a:rPr kumimoji="1" lang="zh-CN" altLang="en-US" sz="14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为止的数据都收到了）</a:t>
            </a:r>
          </a:p>
        </p:txBody>
      </p:sp>
      <p:grpSp>
        <p:nvGrpSpPr>
          <p:cNvPr id="813" name="组合 47"/>
          <p:cNvGrpSpPr/>
          <p:nvPr/>
        </p:nvGrpSpPr>
        <p:grpSpPr>
          <a:xfrm>
            <a:off x="2255850" y="2804795"/>
            <a:ext cx="2982447" cy="554220"/>
            <a:chOff x="1691887" y="2103596"/>
            <a:chExt cx="2236835" cy="415665"/>
          </a:xfrm>
        </p:grpSpPr>
        <p:sp>
          <p:nvSpPr>
            <p:cNvPr id="1052984" name="Line 15"/>
            <p:cNvSpPr>
              <a:spLocks noChangeShapeType="1"/>
            </p:cNvSpPr>
            <p:nvPr/>
          </p:nvSpPr>
          <p:spPr bwMode="auto">
            <a:xfrm>
              <a:off x="1691887" y="2432914"/>
              <a:ext cx="1481082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85" name="Rectangle 16"/>
            <p:cNvSpPr>
              <a:spLocks noChangeArrowheads="1"/>
            </p:cNvSpPr>
            <p:nvPr/>
          </p:nvSpPr>
          <p:spPr bwMode="auto">
            <a:xfrm>
              <a:off x="2004741" y="2199212"/>
              <a:ext cx="1245679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201, DATA</a:t>
              </a:r>
            </a:p>
          </p:txBody>
        </p:sp>
        <p:grpSp>
          <p:nvGrpSpPr>
            <p:cNvPr id="814" name="组合 46"/>
            <p:cNvGrpSpPr/>
            <p:nvPr/>
          </p:nvGrpSpPr>
          <p:grpSpPr>
            <a:xfrm>
              <a:off x="3240064" y="2103596"/>
              <a:ext cx="688658" cy="415665"/>
              <a:chOff x="3240064" y="2103596"/>
              <a:chExt cx="688658" cy="415665"/>
            </a:xfrm>
          </p:grpSpPr>
          <p:sp>
            <p:nvSpPr>
              <p:cNvPr id="1052986" name="AutoShape 36"/>
              <p:cNvSpPr>
                <a:spLocks noChangeArrowheads="1"/>
              </p:cNvSpPr>
              <p:nvPr/>
            </p:nvSpPr>
            <p:spPr bwMode="auto">
              <a:xfrm>
                <a:off x="3240064" y="2103596"/>
                <a:ext cx="688658" cy="415665"/>
              </a:xfrm>
              <a:prstGeom prst="irregularSeal1">
                <a:avLst/>
              </a:prstGeom>
              <a:solidFill>
                <a:srgbClr val="C0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67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2987" name="Rectangle 37"/>
              <p:cNvSpPr>
                <a:spLocks noChangeArrowheads="1"/>
              </p:cNvSpPr>
              <p:nvPr/>
            </p:nvSpPr>
            <p:spPr bwMode="auto">
              <a:xfrm>
                <a:off x="3359784" y="2184319"/>
                <a:ext cx="568667" cy="2436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120651" tIns="59267" rIns="120651" bIns="59267">
                <a:spAutoFit/>
              </a:bodyPr>
              <a:lstStyle/>
              <a:p>
                <a:pPr defTabSz="1015975" eaLnBrk="0" hangingPunct="0"/>
                <a:r>
                  <a:rPr kumimoji="1" lang="zh-CN" altLang="en-US" sz="1333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丢失！</a:t>
                </a:r>
              </a:p>
            </p:txBody>
          </p:sp>
        </p:grpSp>
      </p:grpSp>
      <p:sp>
        <p:nvSpPr>
          <p:cNvPr id="1052988" name="Line 38"/>
          <p:cNvSpPr>
            <a:spLocks noChangeShapeType="1"/>
          </p:cNvSpPr>
          <p:nvPr/>
        </p:nvSpPr>
        <p:spPr bwMode="auto">
          <a:xfrm>
            <a:off x="2235804" y="2500375"/>
            <a:ext cx="0" cy="3762965"/>
          </a:xfrm>
          <a:prstGeom prst="line">
            <a:avLst/>
          </a:prstGeom>
          <a:noFill/>
          <a:ln w="19050">
            <a:solidFill>
              <a:srgbClr val="0033CC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 sz="1467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2989" name="Text Box 155"/>
          <p:cNvSpPr txBox="1">
            <a:spLocks noChangeArrowheads="1"/>
          </p:cNvSpPr>
          <p:nvPr/>
        </p:nvSpPr>
        <p:spPr bwMode="auto">
          <a:xfrm>
            <a:off x="1864661" y="1387781"/>
            <a:ext cx="8736647" cy="789319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向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发送数据，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MSS = 100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字节。</a:t>
            </a:r>
            <a:endParaRPr lang="en-US" altLang="zh-CN" sz="2133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在连接建立时，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告诉 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：“我的接收窗口 </a:t>
            </a:r>
            <a:r>
              <a:rPr lang="en-US" altLang="zh-CN" sz="2133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rwnd</a:t>
            </a:r>
            <a:r>
              <a:rPr lang="en-US" altLang="zh-CN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= 400</a:t>
            </a:r>
            <a:r>
              <a:rPr lang="zh-CN" altLang="en-US" sz="2133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（字节）”。</a:t>
            </a:r>
          </a:p>
        </p:txBody>
      </p:sp>
      <p:sp>
        <p:nvSpPr>
          <p:cNvPr id="1052990" name="Rectangle 27"/>
          <p:cNvSpPr>
            <a:spLocks noChangeArrowheads="1"/>
          </p:cNvSpPr>
          <p:nvPr/>
        </p:nvSpPr>
        <p:spPr bwMode="auto">
          <a:xfrm>
            <a:off x="5646958" y="5575628"/>
            <a:ext cx="3919345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允许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发送序号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601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至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1000 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共 </a:t>
            </a:r>
            <a:r>
              <a:rPr kumimoji="1" lang="en-US" altLang="zh-CN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400 </a:t>
            </a:r>
            <a:r>
              <a:rPr kumimoji="1" lang="zh-CN" altLang="en-US" sz="14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grpSp>
        <p:nvGrpSpPr>
          <p:cNvPr id="815" name="组合 60"/>
          <p:cNvGrpSpPr/>
          <p:nvPr/>
        </p:nvGrpSpPr>
        <p:grpSpPr>
          <a:xfrm>
            <a:off x="2528311" y="5458738"/>
            <a:ext cx="3051406" cy="324812"/>
            <a:chOff x="1896233" y="4094049"/>
            <a:chExt cx="2288554" cy="243609"/>
          </a:xfrm>
        </p:grpSpPr>
        <p:sp>
          <p:nvSpPr>
            <p:cNvPr id="1052991" name="Rectangle 22"/>
            <p:cNvSpPr>
              <a:spLocks noChangeArrowheads="1"/>
            </p:cNvSpPr>
            <p:nvPr/>
          </p:nvSpPr>
          <p:spPr bwMode="auto">
            <a:xfrm flipH="1">
              <a:off x="1896233" y="4094049"/>
              <a:ext cx="2234123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kumimoji="1" lang="en-US" altLang="zh-CN" sz="1333" b="1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kumimoji="1" lang="en-US" altLang="zh-CN" sz="1333" b="1" dirty="0">
                  <a:latin typeface="微软雅黑" pitchFamily="34" charset="-122"/>
                  <a:ea typeface="微软雅黑" pitchFamily="34" charset="-122"/>
                </a:rPr>
                <a:t> = 601, </a:t>
              </a:r>
              <a:r>
                <a:rPr kumimoji="1" lang="en-US" altLang="zh-CN" sz="1333" b="1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rwnd</a:t>
              </a:r>
              <a:r>
                <a:rPr kumimoji="1" lang="en-US" altLang="zh-CN" sz="13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= 400</a:t>
              </a:r>
            </a:p>
          </p:txBody>
        </p:sp>
        <p:sp>
          <p:nvSpPr>
            <p:cNvPr id="1052992" name="Line 21"/>
            <p:cNvSpPr>
              <a:spLocks noChangeShapeType="1"/>
            </p:cNvSpPr>
            <p:nvPr/>
          </p:nvSpPr>
          <p:spPr bwMode="auto">
            <a:xfrm flipH="1">
              <a:off x="1990896" y="4318963"/>
              <a:ext cx="219389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16" name="组合 7"/>
          <p:cNvGrpSpPr/>
          <p:nvPr/>
        </p:nvGrpSpPr>
        <p:grpSpPr>
          <a:xfrm>
            <a:off x="1798051" y="5397438"/>
            <a:ext cx="918211" cy="554220"/>
            <a:chOff x="944890" y="3823961"/>
            <a:chExt cx="688658" cy="415665"/>
          </a:xfrm>
        </p:grpSpPr>
        <p:sp>
          <p:nvSpPr>
            <p:cNvPr id="1052993" name="AutoShape 36"/>
            <p:cNvSpPr>
              <a:spLocks noChangeArrowheads="1"/>
            </p:cNvSpPr>
            <p:nvPr/>
          </p:nvSpPr>
          <p:spPr bwMode="auto">
            <a:xfrm>
              <a:off x="944890" y="3823961"/>
              <a:ext cx="688658" cy="415665"/>
            </a:xfrm>
            <a:prstGeom prst="irregularSeal1">
              <a:avLst/>
            </a:prstGeom>
            <a:solidFill>
              <a:srgbClr val="C000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67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2994" name="Rectangle 37"/>
            <p:cNvSpPr>
              <a:spLocks noChangeArrowheads="1"/>
            </p:cNvSpPr>
            <p:nvPr/>
          </p:nvSpPr>
          <p:spPr bwMode="auto">
            <a:xfrm>
              <a:off x="1064610" y="3904684"/>
              <a:ext cx="568667" cy="2436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333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丢失！</a:t>
              </a:r>
            </a:p>
          </p:txBody>
        </p:sp>
      </p:grpSp>
      <p:grpSp>
        <p:nvGrpSpPr>
          <p:cNvPr id="817" name="组合 63"/>
          <p:cNvGrpSpPr/>
          <p:nvPr/>
        </p:nvGrpSpPr>
        <p:grpSpPr>
          <a:xfrm>
            <a:off x="901994" y="5900744"/>
            <a:ext cx="5992101" cy="345459"/>
            <a:chOff x="676495" y="4425557"/>
            <a:chExt cx="4494076" cy="259094"/>
          </a:xfrm>
        </p:grpSpPr>
        <p:sp>
          <p:nvSpPr>
            <p:cNvPr id="1052995" name="Rectangle 28"/>
            <p:cNvSpPr>
              <a:spLocks noChangeArrowheads="1"/>
            </p:cNvSpPr>
            <p:nvPr/>
          </p:nvSpPr>
          <p:spPr bwMode="auto">
            <a:xfrm>
              <a:off x="4235217" y="4425557"/>
              <a:ext cx="935354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等待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发送</a:t>
              </a:r>
            </a:p>
          </p:txBody>
        </p:sp>
        <p:sp>
          <p:nvSpPr>
            <p:cNvPr id="1052996" name="Rectangle 28"/>
            <p:cNvSpPr>
              <a:spLocks noChangeArrowheads="1"/>
            </p:cNvSpPr>
            <p:nvPr/>
          </p:nvSpPr>
          <p:spPr bwMode="auto">
            <a:xfrm>
              <a:off x="676495" y="4425557"/>
              <a:ext cx="1056782" cy="2590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等待非 </a:t>
              </a:r>
              <a:r>
                <a:rPr kumimoji="1" lang="en-US" altLang="zh-CN" sz="1467" b="1" dirty="0">
                  <a:latin typeface="微软雅黑" pitchFamily="34" charset="-122"/>
                  <a:ea typeface="微软雅黑" pitchFamily="34" charset="-122"/>
                </a:rPr>
                <a:t>0 </a:t>
              </a:r>
              <a:r>
                <a:rPr kumimoji="1" lang="zh-CN" altLang="en-US" sz="1467" b="1" dirty="0">
                  <a:latin typeface="微软雅黑" pitchFamily="34" charset="-122"/>
                  <a:ea typeface="微软雅黑" pitchFamily="34" charset="-122"/>
                </a:rPr>
                <a:t>窗口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05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990" grpId="0"/>
      <p:bldP spid="1052990" grpId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000" name="AutoShape 5"/>
          <p:cNvSpPr>
            <a:spLocks noChangeArrowheads="1"/>
          </p:cNvSpPr>
          <p:nvPr/>
        </p:nvSpPr>
        <p:spPr bwMode="auto">
          <a:xfrm>
            <a:off x="742618" y="82449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3001" name="Rectangle 6"/>
          <p:cNvSpPr>
            <a:spLocks noChangeArrowheads="1"/>
          </p:cNvSpPr>
          <p:nvPr/>
        </p:nvSpPr>
        <p:spPr bwMode="auto">
          <a:xfrm>
            <a:off x="5162538" y="780213"/>
            <a:ext cx="1891865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持续计时器</a:t>
            </a:r>
          </a:p>
        </p:txBody>
      </p:sp>
      <p:sp>
        <p:nvSpPr>
          <p:cNvPr id="1053002" name="Rectangle 68"/>
          <p:cNvSpPr>
            <a:spLocks noChangeArrowheads="1"/>
          </p:cNvSpPr>
          <p:nvPr/>
        </p:nvSpPr>
        <p:spPr bwMode="auto">
          <a:xfrm>
            <a:off x="742617" y="1289429"/>
            <a:ext cx="10913280" cy="36361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持续计时器 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(persistence timer)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：只要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连接的一方收到对方的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通知，就启动该持续计时器。</a:t>
            </a:r>
          </a:p>
          <a:p>
            <a:pPr marL="836063" lvl="1" indent="-457189">
              <a:lnSpc>
                <a:spcPts val="4000"/>
              </a:lnSpc>
              <a:buClr>
                <a:srgbClr val="CC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若持续计时器设置的时间到期，就发送一个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零窗口探测报文段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（仅携带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字节的数据），对方在确认这个探测报文段时给出当前窗口值。</a:t>
            </a:r>
          </a:p>
          <a:p>
            <a:pPr marL="836063" lvl="1" indent="-457189">
              <a:lnSpc>
                <a:spcPts val="4000"/>
              </a:lnSpc>
              <a:buClr>
                <a:srgbClr val="CC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若窗口仍然是零，收到这个报文段的一方就重新设置持续计时器。</a:t>
            </a:r>
          </a:p>
          <a:p>
            <a:pPr marL="836063" lvl="1" indent="-457189">
              <a:lnSpc>
                <a:spcPts val="4000"/>
              </a:lnSpc>
              <a:buClr>
                <a:srgbClr val="CC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若窗口不是零，则死锁的僵局就可以打破了。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006" name="AutoShape 5"/>
          <p:cNvSpPr>
            <a:spLocks noChangeArrowheads="1"/>
          </p:cNvSpPr>
          <p:nvPr/>
        </p:nvSpPr>
        <p:spPr bwMode="auto">
          <a:xfrm>
            <a:off x="742618" y="822757"/>
            <a:ext cx="1073170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3007" name="Rectangle 6"/>
          <p:cNvSpPr>
            <a:spLocks noChangeArrowheads="1"/>
          </p:cNvSpPr>
          <p:nvPr/>
        </p:nvSpPr>
        <p:spPr bwMode="auto">
          <a:xfrm>
            <a:off x="3714302" y="766395"/>
            <a:ext cx="450315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5.7.2   TCP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的传输效率</a:t>
            </a:r>
          </a:p>
        </p:txBody>
      </p:sp>
      <p:sp>
        <p:nvSpPr>
          <p:cNvPr id="1053008" name="Rectangle 8"/>
          <p:cNvSpPr>
            <a:spLocks noChangeArrowheads="1"/>
          </p:cNvSpPr>
          <p:nvPr/>
        </p:nvSpPr>
        <p:spPr bwMode="auto">
          <a:xfrm>
            <a:off x="742618" y="1373456"/>
            <a:ext cx="10731701" cy="32817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80990" indent="-380990">
              <a:lnSpc>
                <a:spcPts val="36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控制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发送报文段的时机：三种机制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844530" indent="-457189">
              <a:lnSpc>
                <a:spcPts val="36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维持一个变量，它等于最大报文段长度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MSS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。只要缓存中存放的数据达到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MSS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字节时，就组装成一个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报文段发送出去。</a:t>
            </a:r>
          </a:p>
          <a:p>
            <a:pPr marL="844530" indent="-457189">
              <a:lnSpc>
                <a:spcPts val="36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由发送方的应用进程指明要求发送报文段，即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支持的</a:t>
            </a:r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推送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(push)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操作。</a:t>
            </a:r>
          </a:p>
          <a:p>
            <a:pPr marL="844530" indent="-457189">
              <a:lnSpc>
                <a:spcPts val="36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发送方的一个计时器期限到了，这时就把当前已有的缓存数据装入报文段（但长度不能超过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MSS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）发送出去。</a:t>
            </a:r>
          </a:p>
        </p:txBody>
      </p:sp>
      <p:sp>
        <p:nvSpPr>
          <p:cNvPr id="1053009" name="矩形 1"/>
          <p:cNvSpPr/>
          <p:nvPr/>
        </p:nvSpPr>
        <p:spPr>
          <a:xfrm>
            <a:off x="1864660" y="4760625"/>
            <a:ext cx="8881035" cy="51180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buClr>
                <a:srgbClr val="0070C0"/>
              </a:buClr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如何控制 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发送报文段的时机仍然是一个较为复杂的问题。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742618" y="831156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3967500" y="786875"/>
            <a:ext cx="428194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拥塞控制与流量控制的区别</a:t>
            </a:r>
          </a:p>
        </p:txBody>
      </p:sp>
      <p:graphicFrame>
        <p:nvGraphicFramePr>
          <p:cNvPr id="2" name="图示 1"/>
          <p:cNvGraphicFramePr/>
          <p:nvPr/>
        </p:nvGraphicFramePr>
        <p:xfrm>
          <a:off x="1416116" y="1389775"/>
          <a:ext cx="9481269" cy="4593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579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742618" y="823542"/>
            <a:ext cx="1073170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3494973" y="754989"/>
            <a:ext cx="52020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5.8.2  TCP </a:t>
            </a:r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的拥塞控制方法</a:t>
            </a: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742618" y="1361673"/>
            <a:ext cx="10731701" cy="341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采用基于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滑动窗口的方法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进行拥塞控制，属于闭环控制方法。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发送方维持一个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拥塞窗口 </a:t>
            </a:r>
            <a:r>
              <a:rPr lang="en-US" altLang="zh-CN" sz="2667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cwnd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(Congestion Window)</a:t>
            </a: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拥塞窗口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的大小取决于网络的拥塞程度，并且是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动态变化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发送端利用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拥塞窗口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根据网络的拥塞情况调整发送的数据量。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发送窗口大小不仅取决于接收方窗口，还取决于网络的拥塞状况。</a:t>
            </a:r>
            <a:endParaRPr lang="en-US" altLang="zh-CN" sz="2667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真正的发送窗口值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sp>
        <p:nvSpPr>
          <p:cNvPr id="40" name="矩形 39"/>
          <p:cNvSpPr/>
          <p:nvPr/>
        </p:nvSpPr>
        <p:spPr>
          <a:xfrm>
            <a:off x="742618" y="4915300"/>
            <a:ext cx="10731701" cy="665368"/>
          </a:xfrm>
          <a:prstGeom prst="rect">
            <a:avLst/>
          </a:prstGeom>
          <a:solidFill>
            <a:srgbClr val="FFFF99"/>
          </a:solidFill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真正的发送窗口值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Min (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接收方通知的窗口值，拥塞窗口值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398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18"/>
          <p:cNvGrpSpPr>
            <a:grpSpLocks/>
          </p:cNvGrpSpPr>
          <p:nvPr/>
        </p:nvGrpSpPr>
        <p:grpSpPr bwMode="auto">
          <a:xfrm>
            <a:off x="6774839" y="4221089"/>
            <a:ext cx="3176858" cy="1052915"/>
            <a:chOff x="3349" y="2890"/>
            <a:chExt cx="2452" cy="729"/>
          </a:xfrm>
        </p:grpSpPr>
        <p:grpSp>
          <p:nvGrpSpPr>
            <p:cNvPr id="57" name="Group 19"/>
            <p:cNvGrpSpPr>
              <a:grpSpLocks/>
            </p:cNvGrpSpPr>
            <p:nvPr/>
          </p:nvGrpSpPr>
          <p:grpSpPr bwMode="auto">
            <a:xfrm>
              <a:off x="3477" y="2890"/>
              <a:ext cx="2324" cy="600"/>
              <a:chOff x="3477" y="2890"/>
              <a:chExt cx="2324" cy="600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3881" y="2890"/>
                <a:ext cx="1920" cy="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000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死锁（吞吐量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= 0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itchFamily="34" charset="-122"/>
                    <a:ea typeface="微软雅黑" pitchFamily="34" charset="-122"/>
                  </a:rPr>
                  <a:t>）</a:t>
                </a:r>
              </a:p>
            </p:txBody>
          </p:sp>
          <p:sp>
            <p:nvSpPr>
              <p:cNvPr id="60" name="Line 21"/>
              <p:cNvSpPr>
                <a:spLocks noChangeShapeType="1"/>
              </p:cNvSpPr>
              <p:nvPr/>
            </p:nvSpPr>
            <p:spPr bwMode="auto">
              <a:xfrm flipH="1">
                <a:off x="3477" y="3104"/>
                <a:ext cx="457" cy="38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8" name="Oval 22"/>
            <p:cNvSpPr>
              <a:spLocks noChangeArrowheads="1"/>
            </p:cNvSpPr>
            <p:nvPr/>
          </p:nvSpPr>
          <p:spPr bwMode="auto">
            <a:xfrm>
              <a:off x="3349" y="3485"/>
              <a:ext cx="141" cy="134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1" name="Group 23"/>
          <p:cNvGrpSpPr>
            <a:grpSpLocks/>
          </p:cNvGrpSpPr>
          <p:nvPr/>
        </p:nvGrpSpPr>
        <p:grpSpPr bwMode="auto">
          <a:xfrm>
            <a:off x="3270559" y="3682714"/>
            <a:ext cx="5199316" cy="2198266"/>
            <a:chOff x="651" y="2544"/>
            <a:chExt cx="4013" cy="1522"/>
          </a:xfrm>
        </p:grpSpPr>
        <p:sp>
          <p:nvSpPr>
            <p:cNvPr id="62" name="Line 24"/>
            <p:cNvSpPr>
              <a:spLocks noChangeShapeType="1"/>
            </p:cNvSpPr>
            <p:nvPr/>
          </p:nvSpPr>
          <p:spPr bwMode="auto">
            <a:xfrm>
              <a:off x="2585" y="3737"/>
              <a:ext cx="8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25"/>
            <p:cNvSpPr>
              <a:spLocks noChangeShapeType="1"/>
            </p:cNvSpPr>
            <p:nvPr/>
          </p:nvSpPr>
          <p:spPr bwMode="auto">
            <a:xfrm>
              <a:off x="1633" y="3737"/>
              <a:ext cx="9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4" name="Group 26"/>
            <p:cNvGrpSpPr>
              <a:grpSpLocks/>
            </p:cNvGrpSpPr>
            <p:nvPr/>
          </p:nvGrpSpPr>
          <p:grpSpPr bwMode="auto">
            <a:xfrm>
              <a:off x="651" y="2544"/>
              <a:ext cx="4013" cy="1522"/>
              <a:chOff x="651" y="2544"/>
              <a:chExt cx="4013" cy="1522"/>
            </a:xfrm>
          </p:grpSpPr>
          <p:grpSp>
            <p:nvGrpSpPr>
              <p:cNvPr id="65" name="Group 27"/>
              <p:cNvGrpSpPr>
                <a:grpSpLocks/>
              </p:cNvGrpSpPr>
              <p:nvPr/>
            </p:nvGrpSpPr>
            <p:grpSpPr bwMode="auto">
              <a:xfrm>
                <a:off x="651" y="2544"/>
                <a:ext cx="4013" cy="1252"/>
                <a:chOff x="651" y="2544"/>
                <a:chExt cx="4013" cy="1252"/>
              </a:xfrm>
            </p:grpSpPr>
            <p:sp>
              <p:nvSpPr>
                <p:cNvPr id="68" name="Freeform 28"/>
                <p:cNvSpPr>
                  <a:spLocks/>
                </p:cNvSpPr>
                <p:nvPr/>
              </p:nvSpPr>
              <p:spPr bwMode="auto">
                <a:xfrm>
                  <a:off x="651" y="2595"/>
                  <a:ext cx="2773" cy="964"/>
                </a:xfrm>
                <a:custGeom>
                  <a:avLst/>
                  <a:gdLst>
                    <a:gd name="T0" fmla="*/ 0 w 1728"/>
                    <a:gd name="T1" fmla="*/ 964 h 781"/>
                    <a:gd name="T2" fmla="*/ 1204 w 1728"/>
                    <a:gd name="T3" fmla="*/ 186 h 781"/>
                    <a:gd name="T4" fmla="*/ 1733 w 1728"/>
                    <a:gd name="T5" fmla="*/ 23 h 781"/>
                    <a:gd name="T6" fmla="*/ 2109 w 1728"/>
                    <a:gd name="T7" fmla="*/ 46 h 781"/>
                    <a:gd name="T8" fmla="*/ 2388 w 1728"/>
                    <a:gd name="T9" fmla="*/ 216 h 781"/>
                    <a:gd name="T10" fmla="*/ 2571 w 1728"/>
                    <a:gd name="T11" fmla="*/ 453 h 781"/>
                    <a:gd name="T12" fmla="*/ 2706 w 1728"/>
                    <a:gd name="T13" fmla="*/ 727 h 781"/>
                    <a:gd name="T14" fmla="*/ 2773 w 1728"/>
                    <a:gd name="T15" fmla="*/ 964 h 78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728" h="781">
                      <a:moveTo>
                        <a:pt x="0" y="781"/>
                      </a:moveTo>
                      <a:cubicBezTo>
                        <a:pt x="285" y="529"/>
                        <a:pt x="570" y="278"/>
                        <a:pt x="750" y="151"/>
                      </a:cubicBezTo>
                      <a:cubicBezTo>
                        <a:pt x="930" y="24"/>
                        <a:pt x="986" y="38"/>
                        <a:pt x="1080" y="19"/>
                      </a:cubicBezTo>
                      <a:cubicBezTo>
                        <a:pt x="1174" y="0"/>
                        <a:pt x="1246" y="11"/>
                        <a:pt x="1314" y="37"/>
                      </a:cubicBezTo>
                      <a:cubicBezTo>
                        <a:pt x="1382" y="63"/>
                        <a:pt x="1440" y="120"/>
                        <a:pt x="1488" y="175"/>
                      </a:cubicBezTo>
                      <a:cubicBezTo>
                        <a:pt x="1536" y="230"/>
                        <a:pt x="1569" y="298"/>
                        <a:pt x="1602" y="367"/>
                      </a:cubicBezTo>
                      <a:cubicBezTo>
                        <a:pt x="1635" y="436"/>
                        <a:pt x="1665" y="520"/>
                        <a:pt x="1686" y="589"/>
                      </a:cubicBezTo>
                      <a:cubicBezTo>
                        <a:pt x="1707" y="658"/>
                        <a:pt x="1717" y="719"/>
                        <a:pt x="1728" y="781"/>
                      </a:cubicBezTo>
                    </a:path>
                  </a:pathLst>
                </a:custGeom>
                <a:noFill/>
                <a:ln w="38100" cmpd="sng">
                  <a:solidFill>
                    <a:srgbClr val="00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Line 29"/>
                <p:cNvSpPr>
                  <a:spLocks noChangeShapeType="1"/>
                </p:cNvSpPr>
                <p:nvPr/>
              </p:nvSpPr>
              <p:spPr bwMode="auto">
                <a:xfrm>
                  <a:off x="2576" y="2611"/>
                  <a:ext cx="0" cy="9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532" y="2544"/>
                  <a:ext cx="1132" cy="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l" eaLnBrk="1" hangingPunct="1"/>
                  <a:r>
                    <a:rPr lang="zh-CN" altLang="en-US" sz="2000" dirty="0">
                      <a:solidFill>
                        <a:srgbClr val="000066"/>
                      </a:solidFill>
                      <a:latin typeface="微软雅黑" pitchFamily="34" charset="-122"/>
                      <a:ea typeface="微软雅黑" pitchFamily="34" charset="-122"/>
                    </a:rPr>
                    <a:t>无拥塞控制</a:t>
                  </a:r>
                </a:p>
              </p:txBody>
            </p:sp>
            <p:sp>
              <p:nvSpPr>
                <p:cNvPr id="71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3125" y="2759"/>
                  <a:ext cx="453" cy="1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Line 32"/>
                <p:cNvSpPr>
                  <a:spLocks noChangeShapeType="1"/>
                </p:cNvSpPr>
                <p:nvPr/>
              </p:nvSpPr>
              <p:spPr bwMode="auto">
                <a:xfrm>
                  <a:off x="1619" y="2848"/>
                  <a:ext cx="0" cy="71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Line 33"/>
                <p:cNvSpPr>
                  <a:spLocks noChangeShapeType="1"/>
                </p:cNvSpPr>
                <p:nvPr/>
              </p:nvSpPr>
              <p:spPr bwMode="auto">
                <a:xfrm>
                  <a:off x="2576" y="3559"/>
                  <a:ext cx="0" cy="23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4" name="Line 34"/>
                <p:cNvSpPr>
                  <a:spLocks noChangeShapeType="1"/>
                </p:cNvSpPr>
                <p:nvPr/>
              </p:nvSpPr>
              <p:spPr bwMode="auto">
                <a:xfrm>
                  <a:off x="3424" y="3559"/>
                  <a:ext cx="0" cy="23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5" name="Line 35"/>
                <p:cNvSpPr>
                  <a:spLocks noChangeShapeType="1"/>
                </p:cNvSpPr>
                <p:nvPr/>
              </p:nvSpPr>
              <p:spPr bwMode="auto">
                <a:xfrm>
                  <a:off x="1619" y="3559"/>
                  <a:ext cx="0" cy="23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66" name="Text Box 36"/>
              <p:cNvSpPr txBox="1">
                <a:spLocks noChangeArrowheads="1"/>
              </p:cNvSpPr>
              <p:nvPr/>
            </p:nvSpPr>
            <p:spPr bwMode="auto">
              <a:xfrm>
                <a:off x="2773" y="3589"/>
                <a:ext cx="499" cy="2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 eaLnBrk="1" hangingPunct="1">
                  <a:defRPr sz="1800" b="1">
                    <a:latin typeface="微软雅黑" pitchFamily="34" charset="-122"/>
                    <a:ea typeface="微软雅黑" pitchFamily="34" charset="-122"/>
                  </a:defRPr>
                </a:lvl1pPr>
                <a:lvl2pPr marL="742950" indent="-285750">
                  <a:defRPr b="1">
                    <a:latin typeface="Tahoma" pitchFamily="34" charset="0"/>
                  </a:defRPr>
                </a:lvl2pPr>
                <a:lvl3pPr marL="1143000" indent="-228600">
                  <a:defRPr b="1">
                    <a:latin typeface="Tahoma" pitchFamily="34" charset="0"/>
                  </a:defRPr>
                </a:lvl3pPr>
                <a:lvl4pPr marL="1600200" indent="-228600">
                  <a:defRPr b="1">
                    <a:latin typeface="Tahoma" pitchFamily="34" charset="0"/>
                  </a:defRPr>
                </a:lvl4pPr>
                <a:lvl5pPr marL="2057400" indent="-228600">
                  <a:defRPr b="1"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9pPr>
              </a:lstStyle>
              <a:p>
                <a:r>
                  <a:rPr lang="zh-CN" altLang="en-US" dirty="0"/>
                  <a:t>拥塞</a:t>
                </a:r>
              </a:p>
            </p:txBody>
          </p:sp>
          <p:sp>
            <p:nvSpPr>
              <p:cNvPr id="67" name="Text Box 37"/>
              <p:cNvSpPr txBox="1">
                <a:spLocks noChangeArrowheads="1"/>
              </p:cNvSpPr>
              <p:nvPr/>
            </p:nvSpPr>
            <p:spPr bwMode="auto">
              <a:xfrm>
                <a:off x="1853" y="3619"/>
                <a:ext cx="499" cy="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 eaLnBrk="1" hangingPunct="1">
                  <a:defRPr sz="1800" b="1">
                    <a:latin typeface="微软雅黑" pitchFamily="34" charset="-122"/>
                    <a:ea typeface="微软雅黑" pitchFamily="34" charset="-122"/>
                  </a:defRPr>
                </a:lvl1pPr>
                <a:lvl2pPr marL="742950" indent="-285750">
                  <a:defRPr b="1">
                    <a:latin typeface="Tahoma" pitchFamily="34" charset="0"/>
                  </a:defRPr>
                </a:lvl2pPr>
                <a:lvl3pPr marL="1143000" indent="-228600">
                  <a:defRPr b="1">
                    <a:latin typeface="Tahoma" pitchFamily="34" charset="0"/>
                  </a:defRPr>
                </a:lvl3pPr>
                <a:lvl4pPr marL="1600200" indent="-228600">
                  <a:defRPr b="1">
                    <a:latin typeface="Tahoma" pitchFamily="34" charset="0"/>
                  </a:defRPr>
                </a:lvl4pPr>
                <a:lvl5pPr marL="2057400" indent="-228600">
                  <a:defRPr b="1"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latin typeface="Tahoma" pitchFamily="34" charset="0"/>
                  </a:defRPr>
                </a:lvl9pPr>
              </a:lstStyle>
              <a:p>
                <a:r>
                  <a:rPr lang="zh-CN" altLang="en-US" dirty="0"/>
                  <a:t>轻度</a:t>
                </a:r>
              </a:p>
              <a:p>
                <a:r>
                  <a:rPr lang="zh-CN" altLang="en-US" dirty="0"/>
                  <a:t>拥塞</a:t>
                </a:r>
              </a:p>
            </p:txBody>
          </p:sp>
        </p:grpSp>
      </p:grpSp>
      <p:sp>
        <p:nvSpPr>
          <p:cNvPr id="41" name="Line 3"/>
          <p:cNvSpPr>
            <a:spLocks noChangeShapeType="1"/>
          </p:cNvSpPr>
          <p:nvPr/>
        </p:nvSpPr>
        <p:spPr bwMode="auto">
          <a:xfrm rot="16200000">
            <a:off x="1667417" y="3630496"/>
            <a:ext cx="316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8224717" y="5319859"/>
            <a:ext cx="14315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提供的负载</a:t>
            </a:r>
          </a:p>
        </p:txBody>
      </p:sp>
      <p:sp>
        <p:nvSpPr>
          <p:cNvPr id="43" name="Text Box 5"/>
          <p:cNvSpPr txBox="1">
            <a:spLocks noChangeArrowheads="1"/>
          </p:cNvSpPr>
          <p:nvPr/>
        </p:nvSpPr>
        <p:spPr bwMode="auto">
          <a:xfrm>
            <a:off x="3251122" y="1973747"/>
            <a:ext cx="9644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吞吐量</a:t>
            </a:r>
          </a:p>
        </p:txBody>
      </p:sp>
      <p:grpSp>
        <p:nvGrpSpPr>
          <p:cNvPr id="44" name="Group 6"/>
          <p:cNvGrpSpPr>
            <a:grpSpLocks/>
          </p:cNvGrpSpPr>
          <p:nvPr/>
        </p:nvGrpSpPr>
        <p:grpSpPr bwMode="auto">
          <a:xfrm>
            <a:off x="3251121" y="2564904"/>
            <a:ext cx="5288716" cy="2592568"/>
            <a:chOff x="651" y="1764"/>
            <a:chExt cx="4082" cy="1795"/>
          </a:xfrm>
        </p:grpSpPr>
        <p:sp>
          <p:nvSpPr>
            <p:cNvPr id="45" name="Line 7"/>
            <p:cNvSpPr>
              <a:spLocks noChangeShapeType="1"/>
            </p:cNvSpPr>
            <p:nvPr/>
          </p:nvSpPr>
          <p:spPr bwMode="auto">
            <a:xfrm flipV="1">
              <a:off x="651" y="2077"/>
              <a:ext cx="1925" cy="148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8"/>
            <p:cNvSpPr>
              <a:spLocks noChangeShapeType="1"/>
            </p:cNvSpPr>
            <p:nvPr/>
          </p:nvSpPr>
          <p:spPr bwMode="auto">
            <a:xfrm>
              <a:off x="2576" y="2077"/>
              <a:ext cx="215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2901" y="1764"/>
              <a:ext cx="1528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00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理想的拥塞控制</a:t>
              </a:r>
            </a:p>
          </p:txBody>
        </p:sp>
      </p:grpSp>
      <p:grpSp>
        <p:nvGrpSpPr>
          <p:cNvPr id="49" name="Group 11"/>
          <p:cNvGrpSpPr>
            <a:grpSpLocks/>
          </p:cNvGrpSpPr>
          <p:nvPr/>
        </p:nvGrpSpPr>
        <p:grpSpPr bwMode="auto">
          <a:xfrm>
            <a:off x="3251122" y="3084582"/>
            <a:ext cx="5365158" cy="2072610"/>
            <a:chOff x="651" y="2124"/>
            <a:chExt cx="4141" cy="1435"/>
          </a:xfrm>
        </p:grpSpPr>
        <p:sp>
          <p:nvSpPr>
            <p:cNvPr id="50" name="Freeform 12"/>
            <p:cNvSpPr>
              <a:spLocks/>
            </p:cNvSpPr>
            <p:nvPr/>
          </p:nvSpPr>
          <p:spPr bwMode="auto">
            <a:xfrm>
              <a:off x="651" y="2422"/>
              <a:ext cx="4141" cy="1137"/>
            </a:xfrm>
            <a:custGeom>
              <a:avLst/>
              <a:gdLst>
                <a:gd name="T0" fmla="*/ 0 w 2581"/>
                <a:gd name="T1" fmla="*/ 1137 h 921"/>
                <a:gd name="T2" fmla="*/ 1405 w 2581"/>
                <a:gd name="T3" fmla="*/ 426 h 921"/>
                <a:gd name="T4" fmla="*/ 2002 w 2581"/>
                <a:gd name="T5" fmla="*/ 226 h 921"/>
                <a:gd name="T6" fmla="*/ 2541 w 2581"/>
                <a:gd name="T7" fmla="*/ 130 h 921"/>
                <a:gd name="T8" fmla="*/ 3032 w 2581"/>
                <a:gd name="T9" fmla="*/ 78 h 921"/>
                <a:gd name="T10" fmla="*/ 3581 w 2581"/>
                <a:gd name="T11" fmla="*/ 26 h 921"/>
                <a:gd name="T12" fmla="*/ 4072 w 2581"/>
                <a:gd name="T13" fmla="*/ 4 h 921"/>
                <a:gd name="T14" fmla="*/ 3995 w 2581"/>
                <a:gd name="T15" fmla="*/ 4 h 9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81" h="921">
                  <a:moveTo>
                    <a:pt x="0" y="921"/>
                  </a:moveTo>
                  <a:cubicBezTo>
                    <a:pt x="334" y="694"/>
                    <a:pt x="668" y="468"/>
                    <a:pt x="876" y="345"/>
                  </a:cubicBezTo>
                  <a:cubicBezTo>
                    <a:pt x="1084" y="222"/>
                    <a:pt x="1130" y="223"/>
                    <a:pt x="1248" y="183"/>
                  </a:cubicBezTo>
                  <a:cubicBezTo>
                    <a:pt x="1366" y="143"/>
                    <a:pt x="1477" y="125"/>
                    <a:pt x="1584" y="105"/>
                  </a:cubicBezTo>
                  <a:cubicBezTo>
                    <a:pt x="1691" y="85"/>
                    <a:pt x="1782" y="77"/>
                    <a:pt x="1890" y="63"/>
                  </a:cubicBezTo>
                  <a:cubicBezTo>
                    <a:pt x="1998" y="49"/>
                    <a:pt x="2124" y="31"/>
                    <a:pt x="2232" y="21"/>
                  </a:cubicBezTo>
                  <a:cubicBezTo>
                    <a:pt x="2340" y="11"/>
                    <a:pt x="2495" y="6"/>
                    <a:pt x="2538" y="3"/>
                  </a:cubicBezTo>
                  <a:cubicBezTo>
                    <a:pt x="2581" y="0"/>
                    <a:pt x="2498" y="3"/>
                    <a:pt x="2490" y="3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1" name="Group 13"/>
            <p:cNvGrpSpPr>
              <a:grpSpLocks/>
            </p:cNvGrpSpPr>
            <p:nvPr/>
          </p:nvGrpSpPr>
          <p:grpSpPr bwMode="auto">
            <a:xfrm>
              <a:off x="2451" y="2124"/>
              <a:ext cx="1528" cy="439"/>
              <a:chOff x="2451" y="2124"/>
              <a:chExt cx="1528" cy="439"/>
            </a:xfrm>
          </p:grpSpPr>
          <p:sp>
            <p:nvSpPr>
              <p:cNvPr id="52" name="Text Box 14"/>
              <p:cNvSpPr txBox="1">
                <a:spLocks noChangeArrowheads="1"/>
              </p:cNvSpPr>
              <p:nvPr/>
            </p:nvSpPr>
            <p:spPr bwMode="auto">
              <a:xfrm>
                <a:off x="2451" y="2124"/>
                <a:ext cx="1528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000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实际的拥塞控制</a:t>
                </a:r>
              </a:p>
            </p:txBody>
          </p:sp>
          <p:sp>
            <p:nvSpPr>
              <p:cNvPr id="53" name="Line 15"/>
              <p:cNvSpPr>
                <a:spLocks noChangeShapeType="1"/>
              </p:cNvSpPr>
              <p:nvPr/>
            </p:nvSpPr>
            <p:spPr bwMode="auto">
              <a:xfrm>
                <a:off x="3016" y="2387"/>
                <a:ext cx="100" cy="1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54" name="Line 16"/>
          <p:cNvSpPr>
            <a:spLocks noChangeShapeType="1"/>
          </p:cNvSpPr>
          <p:nvPr/>
        </p:nvSpPr>
        <p:spPr bwMode="auto">
          <a:xfrm>
            <a:off x="3251469" y="5157192"/>
            <a:ext cx="5689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 Box 17"/>
          <p:cNvSpPr txBox="1">
            <a:spLocks noChangeArrowheads="1"/>
          </p:cNvSpPr>
          <p:nvPr/>
        </p:nvSpPr>
        <p:spPr bwMode="auto">
          <a:xfrm>
            <a:off x="2946309" y="5064700"/>
            <a:ext cx="3775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>
                <a:solidFill>
                  <a:srgbClr val="333399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48" name="文本框 8">
            <a:extLst>
              <a:ext uri="{FF2B5EF4-FFF2-40B4-BE49-F238E27FC236}">
                <a16:creationId xmlns:a16="http://schemas.microsoft.com/office/drawing/2014/main" id="{F60FE04C-FDC0-41CB-9DDD-492C0B90F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92" y="351793"/>
            <a:ext cx="73453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chemeClr val="accent2"/>
                </a:solidFill>
              </a:rPr>
              <a:t>TCP</a:t>
            </a:r>
            <a:r>
              <a:rPr lang="zh-CN" altLang="en-US" dirty="0">
                <a:solidFill>
                  <a:schemeClr val="accent2"/>
                </a:solidFill>
              </a:rPr>
              <a:t>拥塞控制的作用</a:t>
            </a:r>
          </a:p>
        </p:txBody>
      </p:sp>
    </p:spTree>
    <p:extLst>
      <p:ext uri="{BB962C8B-B14F-4D97-AF65-F5344CB8AC3E}">
        <p14:creationId xmlns:p14="http://schemas.microsoft.com/office/powerpoint/2010/main" val="397107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186" name="AutoShape 5"/>
          <p:cNvSpPr>
            <a:spLocks noChangeArrowheads="1"/>
          </p:cNvSpPr>
          <p:nvPr/>
        </p:nvSpPr>
        <p:spPr bwMode="auto">
          <a:xfrm>
            <a:off x="742618" y="829375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3187" name="Rectangle 6"/>
          <p:cNvSpPr>
            <a:spLocks noChangeArrowheads="1"/>
          </p:cNvSpPr>
          <p:nvPr/>
        </p:nvSpPr>
        <p:spPr bwMode="auto">
          <a:xfrm>
            <a:off x="3455346" y="785093"/>
            <a:ext cx="5306260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发送方判断拥塞的方法：隐式反馈</a:t>
            </a:r>
          </a:p>
        </p:txBody>
      </p:sp>
      <p:graphicFrame>
        <p:nvGraphicFramePr>
          <p:cNvPr id="4194315" name="图示 10"/>
          <p:cNvGraphicFramePr>
            <a:graphicFrameLocks/>
          </p:cNvGraphicFramePr>
          <p:nvPr/>
        </p:nvGraphicFramePr>
        <p:xfrm>
          <a:off x="1166729" y="1540603"/>
          <a:ext cx="9906624" cy="2100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53188" name="矩形 1"/>
          <p:cNvSpPr/>
          <p:nvPr/>
        </p:nvSpPr>
        <p:spPr>
          <a:xfrm>
            <a:off x="1581482" y="3880136"/>
            <a:ext cx="9053973" cy="106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因传输出差错而丢弃分组的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概率很小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（远小于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1 %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因此，发送方在超时重传计时器启动时，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就判断网络出现了拥塞。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189" name="AutoShape 5"/>
          <p:cNvSpPr>
            <a:spLocks noChangeArrowheads="1"/>
          </p:cNvSpPr>
          <p:nvPr/>
        </p:nvSpPr>
        <p:spPr bwMode="auto">
          <a:xfrm>
            <a:off x="742618" y="826040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3190" name="Rectangle 6"/>
          <p:cNvSpPr>
            <a:spLocks noChangeArrowheads="1"/>
          </p:cNvSpPr>
          <p:nvPr/>
        </p:nvSpPr>
        <p:spPr bwMode="auto">
          <a:xfrm>
            <a:off x="4612965" y="781759"/>
            <a:ext cx="2991012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拥塞控制算法</a:t>
            </a:r>
          </a:p>
        </p:txBody>
      </p:sp>
      <p:sp>
        <p:nvSpPr>
          <p:cNvPr id="1053191" name="Rectangle 68"/>
          <p:cNvSpPr>
            <a:spLocks noChangeArrowheads="1"/>
          </p:cNvSpPr>
          <p:nvPr/>
        </p:nvSpPr>
        <p:spPr bwMode="auto">
          <a:xfrm>
            <a:off x="742618" y="1306666"/>
            <a:ext cx="10731701" cy="28539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四种拥塞控制算法（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RFC 5681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） ：</a:t>
            </a:r>
          </a:p>
          <a:p>
            <a:pPr marL="844530" indent="-457189">
              <a:lnSpc>
                <a:spcPts val="44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慢开始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(slow-start)</a:t>
            </a:r>
          </a:p>
          <a:p>
            <a:pPr marL="844530" indent="-457189">
              <a:lnSpc>
                <a:spcPts val="44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拥塞避免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(congestion avoidance)</a:t>
            </a:r>
          </a:p>
          <a:p>
            <a:pPr marL="844530" indent="-457189">
              <a:lnSpc>
                <a:spcPts val="44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快重传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(fast retransmit)</a:t>
            </a:r>
          </a:p>
          <a:p>
            <a:pPr marL="844530" indent="-457189">
              <a:lnSpc>
                <a:spcPts val="44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快恢复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(fast recovery)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Oval 55">
            <a:extLst>
              <a:ext uri="{FF2B5EF4-FFF2-40B4-BE49-F238E27FC236}">
                <a16:creationId xmlns:a16="http://schemas.microsoft.com/office/drawing/2014/main" id="{4D7B6684-370A-4F62-9999-01FB3DC8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1" y="2800350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39" name="Oval 60">
            <a:extLst>
              <a:ext uri="{FF2B5EF4-FFF2-40B4-BE49-F238E27FC236}">
                <a16:creationId xmlns:a16="http://schemas.microsoft.com/office/drawing/2014/main" id="{9A4414E7-CEEA-45B6-9305-EC5E013D3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6" y="2057400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0" name="Oval 61">
            <a:extLst>
              <a:ext uri="{FF2B5EF4-FFF2-40B4-BE49-F238E27FC236}">
                <a16:creationId xmlns:a16="http://schemas.microsoft.com/office/drawing/2014/main" id="{F56D2E7A-7896-4E61-98C3-52912D4CE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439" y="1979613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1" name="Oval 62">
            <a:extLst>
              <a:ext uri="{FF2B5EF4-FFF2-40B4-BE49-F238E27FC236}">
                <a16:creationId xmlns:a16="http://schemas.microsoft.com/office/drawing/2014/main" id="{861A130F-5BC9-4FBD-8B1A-8B4F0829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1817688"/>
            <a:ext cx="93662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2" name="Oval 63">
            <a:extLst>
              <a:ext uri="{FF2B5EF4-FFF2-40B4-BE49-F238E27FC236}">
                <a16:creationId xmlns:a16="http://schemas.microsoft.com/office/drawing/2014/main" id="{A1DA45F5-7C4E-466A-AB49-6AE353F2A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563" y="1900239"/>
            <a:ext cx="93662" cy="73025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3" name="Oval 64">
            <a:extLst>
              <a:ext uri="{FF2B5EF4-FFF2-40B4-BE49-F238E27FC236}">
                <a16:creationId xmlns:a16="http://schemas.microsoft.com/office/drawing/2014/main" id="{1C9F1FF4-A443-4C9D-BBC5-C24B7006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1" y="1735138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4" name="Oval 65">
            <a:extLst>
              <a:ext uri="{FF2B5EF4-FFF2-40B4-BE49-F238E27FC236}">
                <a16:creationId xmlns:a16="http://schemas.microsoft.com/office/drawing/2014/main" id="{0F069E22-C6D1-4D75-B795-598D2EF91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1" y="1657350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5" name="Oval 67">
            <a:extLst>
              <a:ext uri="{FF2B5EF4-FFF2-40B4-BE49-F238E27FC236}">
                <a16:creationId xmlns:a16="http://schemas.microsoft.com/office/drawing/2014/main" id="{4545DD13-9DAC-49F5-9DED-A638EC38A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826" y="1563688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6" name="Line 84">
            <a:extLst>
              <a:ext uri="{FF2B5EF4-FFF2-40B4-BE49-F238E27FC236}">
                <a16:creationId xmlns:a16="http://schemas.microsoft.com/office/drawing/2014/main" id="{1FF9C751-195F-4E97-A1BD-644B23BBD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925" y="2179638"/>
            <a:ext cx="877888" cy="0"/>
          </a:xfrm>
          <a:prstGeom prst="line">
            <a:avLst/>
          </a:prstGeom>
          <a:noFill/>
          <a:ln w="9525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47" name="Oval 96">
            <a:extLst>
              <a:ext uri="{FF2B5EF4-FFF2-40B4-BE49-F238E27FC236}">
                <a16:creationId xmlns:a16="http://schemas.microsoft.com/office/drawing/2014/main" id="{64739F80-3A09-4F8D-A4F1-D441DE05B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38" y="2465388"/>
            <a:ext cx="93662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8" name="Oval 97">
            <a:extLst>
              <a:ext uri="{FF2B5EF4-FFF2-40B4-BE49-F238E27FC236}">
                <a16:creationId xmlns:a16="http://schemas.microsoft.com/office/drawing/2014/main" id="{7F4FF846-30A2-44EB-A1DD-0C2D249A4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1" y="2389188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49" name="Oval 98">
            <a:extLst>
              <a:ext uri="{FF2B5EF4-FFF2-40B4-BE49-F238E27FC236}">
                <a16:creationId xmlns:a16="http://schemas.microsoft.com/office/drawing/2014/main" id="{006B23F9-D745-48FA-9271-62A420B5A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4" y="2305050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0" name="Oval 99">
            <a:extLst>
              <a:ext uri="{FF2B5EF4-FFF2-40B4-BE49-F238E27FC236}">
                <a16:creationId xmlns:a16="http://schemas.microsoft.com/office/drawing/2014/main" id="{09185258-6E31-4F57-A578-C1AFCCA49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2230438"/>
            <a:ext cx="93662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1" name="Oval 100">
            <a:extLst>
              <a:ext uri="{FF2B5EF4-FFF2-40B4-BE49-F238E27FC236}">
                <a16:creationId xmlns:a16="http://schemas.microsoft.com/office/drawing/2014/main" id="{A89CED08-A9EB-4A86-8661-085208495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6" y="2144713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2" name="Oval 101">
            <a:extLst>
              <a:ext uri="{FF2B5EF4-FFF2-40B4-BE49-F238E27FC236}">
                <a16:creationId xmlns:a16="http://schemas.microsoft.com/office/drawing/2014/main" id="{FDE1F98D-9D6F-4938-94E6-E640DB8A3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2071688"/>
            <a:ext cx="93662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3" name="Oval 102">
            <a:extLst>
              <a:ext uri="{FF2B5EF4-FFF2-40B4-BE49-F238E27FC236}">
                <a16:creationId xmlns:a16="http://schemas.microsoft.com/office/drawing/2014/main" id="{A2C96CC9-CC84-4424-9BF7-DFE387F0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1" y="1982788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4" name="Oval 103">
            <a:extLst>
              <a:ext uri="{FF2B5EF4-FFF2-40B4-BE49-F238E27FC236}">
                <a16:creationId xmlns:a16="http://schemas.microsoft.com/office/drawing/2014/main" id="{D9D0B650-D05A-4CE6-B757-4CCFD94B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414" y="1895475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5" name="Oval 104">
            <a:extLst>
              <a:ext uri="{FF2B5EF4-FFF2-40B4-BE49-F238E27FC236}">
                <a16:creationId xmlns:a16="http://schemas.microsoft.com/office/drawing/2014/main" id="{36FE4660-12D1-43E2-838A-CA85A822D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3776" y="1824038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7956" name="Freeform 68">
            <a:extLst>
              <a:ext uri="{FF2B5EF4-FFF2-40B4-BE49-F238E27FC236}">
                <a16:creationId xmlns:a16="http://schemas.microsoft.com/office/drawing/2014/main" id="{303F82CC-EDEC-4519-97E8-6D70E7477314}"/>
              </a:ext>
            </a:extLst>
          </p:cNvPr>
          <p:cNvSpPr>
            <a:spLocks/>
          </p:cNvSpPr>
          <p:nvPr/>
        </p:nvSpPr>
        <p:spPr bwMode="auto">
          <a:xfrm>
            <a:off x="3557589" y="1528763"/>
            <a:ext cx="2947987" cy="1860550"/>
          </a:xfrm>
          <a:custGeom>
            <a:avLst/>
            <a:gdLst>
              <a:gd name="T0" fmla="*/ 2147483646 w 1773"/>
              <a:gd name="T1" fmla="*/ 0 h 1370"/>
              <a:gd name="T2" fmla="*/ 2147483646 w 1773"/>
              <a:gd name="T3" fmla="*/ 2147483646 h 1370"/>
              <a:gd name="T4" fmla="*/ 2147483646 w 1773"/>
              <a:gd name="T5" fmla="*/ 2147483646 h 1370"/>
              <a:gd name="T6" fmla="*/ 2147483646 w 1773"/>
              <a:gd name="T7" fmla="*/ 2147483646 h 1370"/>
              <a:gd name="T8" fmla="*/ 2147483646 w 1773"/>
              <a:gd name="T9" fmla="*/ 2147483646 h 1370"/>
              <a:gd name="T10" fmla="*/ 2147483646 w 1773"/>
              <a:gd name="T11" fmla="*/ 2147483646 h 13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73" h="1370">
                <a:moveTo>
                  <a:pt x="1773" y="0"/>
                </a:moveTo>
                <a:lnTo>
                  <a:pt x="618" y="487"/>
                </a:lnTo>
                <a:lnTo>
                  <a:pt x="480" y="961"/>
                </a:lnTo>
                <a:lnTo>
                  <a:pt x="331" y="1201"/>
                </a:lnTo>
                <a:lnTo>
                  <a:pt x="187" y="1321"/>
                </a:lnTo>
                <a:cubicBezTo>
                  <a:pt x="47" y="1370"/>
                  <a:pt x="0" y="1369"/>
                  <a:pt x="55" y="1369"/>
                </a:cubicBezTo>
              </a:path>
            </a:pathLst>
          </a:custGeom>
          <a:noFill/>
          <a:ln w="28575" cmpd="sng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57" name="Text Box 54">
            <a:extLst>
              <a:ext uri="{FF2B5EF4-FFF2-40B4-BE49-F238E27FC236}">
                <a16:creationId xmlns:a16="http://schemas.microsoft.com/office/drawing/2014/main" id="{A85EAA71-1A84-4E3C-9624-CE1F2278D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1" y="1366839"/>
            <a:ext cx="4413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24</a:t>
            </a:r>
          </a:p>
        </p:txBody>
      </p:sp>
      <p:sp>
        <p:nvSpPr>
          <p:cNvPr id="167959" name="Line 5">
            <a:extLst>
              <a:ext uri="{FF2B5EF4-FFF2-40B4-BE49-F238E27FC236}">
                <a16:creationId xmlns:a16="http://schemas.microsoft.com/office/drawing/2014/main" id="{65697DF8-2737-415E-8EA3-5D0738525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4" y="3484563"/>
            <a:ext cx="5665787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0" name="Line 6">
            <a:extLst>
              <a:ext uri="{FF2B5EF4-FFF2-40B4-BE49-F238E27FC236}">
                <a16:creationId xmlns:a16="http://schemas.microsoft.com/office/drawing/2014/main" id="{542BBA76-155F-4259-8F8F-41C7317E4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1201739"/>
            <a:ext cx="0" cy="228282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sm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1" name="Line 7">
            <a:extLst>
              <a:ext uri="{FF2B5EF4-FFF2-40B4-BE49-F238E27FC236}">
                <a16:creationId xmlns:a16="http://schemas.microsoft.com/office/drawing/2014/main" id="{4DDAAB50-8502-44B9-9B3F-685AF52BC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6675" y="3419475"/>
            <a:ext cx="0" cy="650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2" name="Line 8">
            <a:extLst>
              <a:ext uri="{FF2B5EF4-FFF2-40B4-BE49-F238E27FC236}">
                <a16:creationId xmlns:a16="http://schemas.microsoft.com/office/drawing/2014/main" id="{E23D983C-DE83-4AD4-A65A-31C20AA784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3" name="Line 9">
            <a:extLst>
              <a:ext uri="{FF2B5EF4-FFF2-40B4-BE49-F238E27FC236}">
                <a16:creationId xmlns:a16="http://schemas.microsoft.com/office/drawing/2014/main" id="{8BD629E4-DB56-43F0-BD06-A3BBA4590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4" name="Line 10">
            <a:extLst>
              <a:ext uri="{FF2B5EF4-FFF2-40B4-BE49-F238E27FC236}">
                <a16:creationId xmlns:a16="http://schemas.microsoft.com/office/drawing/2014/main" id="{D191AB7A-7255-4E24-ACCF-851C7BD9D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5813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5" name="Line 11">
            <a:extLst>
              <a:ext uri="{FF2B5EF4-FFF2-40B4-BE49-F238E27FC236}">
                <a16:creationId xmlns:a16="http://schemas.microsoft.com/office/drawing/2014/main" id="{1126BEBA-6F0C-4D8B-B7A4-48E0A6426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3938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6" name="Line 12">
            <a:extLst>
              <a:ext uri="{FF2B5EF4-FFF2-40B4-BE49-F238E27FC236}">
                <a16:creationId xmlns:a16="http://schemas.microsoft.com/office/drawing/2014/main" id="{7E547D91-51C8-476D-AB10-4A04D2801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3650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7" name="Line 13">
            <a:extLst>
              <a:ext uri="{FF2B5EF4-FFF2-40B4-BE49-F238E27FC236}">
                <a16:creationId xmlns:a16="http://schemas.microsoft.com/office/drawing/2014/main" id="{A59EB3E3-CE3E-4743-9A23-95031B07C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363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8" name="Line 14">
            <a:extLst>
              <a:ext uri="{FF2B5EF4-FFF2-40B4-BE49-F238E27FC236}">
                <a16:creationId xmlns:a16="http://schemas.microsoft.com/office/drawing/2014/main" id="{F32A2483-B9D0-42DE-9478-D97A08DA1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3075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9" name="Line 15">
            <a:extLst>
              <a:ext uri="{FF2B5EF4-FFF2-40B4-BE49-F238E27FC236}">
                <a16:creationId xmlns:a16="http://schemas.microsoft.com/office/drawing/2014/main" id="{A94549FE-E6E7-412C-B8AE-2354094AB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0" name="Line 16">
            <a:extLst>
              <a:ext uri="{FF2B5EF4-FFF2-40B4-BE49-F238E27FC236}">
                <a16:creationId xmlns:a16="http://schemas.microsoft.com/office/drawing/2014/main" id="{4D7A1381-D676-4AD8-8187-3AC8B5922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1" name="Line 17">
            <a:extLst>
              <a:ext uri="{FF2B5EF4-FFF2-40B4-BE49-F238E27FC236}">
                <a16:creationId xmlns:a16="http://schemas.microsoft.com/office/drawing/2014/main" id="{881DAAAC-B38F-4475-B059-2B64EFEC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2" name="Line 18">
            <a:extLst>
              <a:ext uri="{FF2B5EF4-FFF2-40B4-BE49-F238E27FC236}">
                <a16:creationId xmlns:a16="http://schemas.microsoft.com/office/drawing/2014/main" id="{C75E8D7A-4A7E-49B4-A4C7-96FCF91BA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0338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3" name="Line 19">
            <a:extLst>
              <a:ext uri="{FF2B5EF4-FFF2-40B4-BE49-F238E27FC236}">
                <a16:creationId xmlns:a16="http://schemas.microsoft.com/office/drawing/2014/main" id="{ED3F7E3B-5B7D-4CFD-92D0-2109AF3C3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8463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4" name="Line 20">
            <a:extLst>
              <a:ext uri="{FF2B5EF4-FFF2-40B4-BE49-F238E27FC236}">
                <a16:creationId xmlns:a16="http://schemas.microsoft.com/office/drawing/2014/main" id="{F69BA8DB-6AB4-40B1-8A15-555BB0267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8175" y="3419475"/>
            <a:ext cx="0" cy="650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5" name="Line 21">
            <a:extLst>
              <a:ext uri="{FF2B5EF4-FFF2-40B4-BE49-F238E27FC236}">
                <a16:creationId xmlns:a16="http://schemas.microsoft.com/office/drawing/2014/main" id="{145F5B2E-CD8B-4B9C-A059-B7889BADE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7888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6" name="Line 22">
            <a:extLst>
              <a:ext uri="{FF2B5EF4-FFF2-40B4-BE49-F238E27FC236}">
                <a16:creationId xmlns:a16="http://schemas.microsoft.com/office/drawing/2014/main" id="{BCDD7A2B-EE3F-4091-BF10-1A65F0D8D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7" name="Line 23">
            <a:extLst>
              <a:ext uri="{FF2B5EF4-FFF2-40B4-BE49-F238E27FC236}">
                <a16:creationId xmlns:a16="http://schemas.microsoft.com/office/drawing/2014/main" id="{458CC45D-0E62-4C26-852C-60E85CE09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7313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8" name="Line 24">
            <a:extLst>
              <a:ext uri="{FF2B5EF4-FFF2-40B4-BE49-F238E27FC236}">
                <a16:creationId xmlns:a16="http://schemas.microsoft.com/office/drawing/2014/main" id="{FE1E3A8E-D9DE-4935-AC40-8C400EAD2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5438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9" name="Line 25">
            <a:extLst>
              <a:ext uri="{FF2B5EF4-FFF2-40B4-BE49-F238E27FC236}">
                <a16:creationId xmlns:a16="http://schemas.microsoft.com/office/drawing/2014/main" id="{DA8300A1-F88F-4B4D-8F47-11F3044DC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5150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0" name="Line 26">
            <a:extLst>
              <a:ext uri="{FF2B5EF4-FFF2-40B4-BE49-F238E27FC236}">
                <a16:creationId xmlns:a16="http://schemas.microsoft.com/office/drawing/2014/main" id="{18A426FB-4477-4539-BECC-769585A9F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4863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1" name="Line 27">
            <a:extLst>
              <a:ext uri="{FF2B5EF4-FFF2-40B4-BE49-F238E27FC236}">
                <a16:creationId xmlns:a16="http://schemas.microsoft.com/office/drawing/2014/main" id="{0D558D18-D73F-43F9-BADF-9CC69AF72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4575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2" name="Line 28">
            <a:extLst>
              <a:ext uri="{FF2B5EF4-FFF2-40B4-BE49-F238E27FC236}">
                <a16:creationId xmlns:a16="http://schemas.microsoft.com/office/drawing/2014/main" id="{82979FAB-3707-45C3-BF1F-2FD34AB8C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2700" y="3354389"/>
            <a:ext cx="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3" name="Line 30">
            <a:extLst>
              <a:ext uri="{FF2B5EF4-FFF2-40B4-BE49-F238E27FC236}">
                <a16:creationId xmlns:a16="http://schemas.microsoft.com/office/drawing/2014/main" id="{0A1C2246-4384-46C3-90C1-D34F6EB61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3159125"/>
            <a:ext cx="239712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4" name="Line 31">
            <a:extLst>
              <a:ext uri="{FF2B5EF4-FFF2-40B4-BE49-F238E27FC236}">
                <a16:creationId xmlns:a16="http://schemas.microsoft.com/office/drawing/2014/main" id="{BB6292B7-DB63-42A0-B817-EE0D63ACD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2833688"/>
            <a:ext cx="239712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5" name="Line 32">
            <a:extLst>
              <a:ext uri="{FF2B5EF4-FFF2-40B4-BE49-F238E27FC236}">
                <a16:creationId xmlns:a16="http://schemas.microsoft.com/office/drawing/2014/main" id="{3F9AC4BD-D7B6-4D54-969B-E85DB34C9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2506663"/>
            <a:ext cx="239712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6" name="Line 33">
            <a:extLst>
              <a:ext uri="{FF2B5EF4-FFF2-40B4-BE49-F238E27FC236}">
                <a16:creationId xmlns:a16="http://schemas.microsoft.com/office/drawing/2014/main" id="{8472FE98-41BB-461F-8FBA-CADC9542C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2179638"/>
            <a:ext cx="239712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7" name="Line 34">
            <a:extLst>
              <a:ext uri="{FF2B5EF4-FFF2-40B4-BE49-F238E27FC236}">
                <a16:creationId xmlns:a16="http://schemas.microsoft.com/office/drawing/2014/main" id="{B52F4110-F671-4A62-8E86-C83F061D4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1854200"/>
            <a:ext cx="239712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8" name="Line 35">
            <a:extLst>
              <a:ext uri="{FF2B5EF4-FFF2-40B4-BE49-F238E27FC236}">
                <a16:creationId xmlns:a16="http://schemas.microsoft.com/office/drawing/2014/main" id="{7EE6DEA0-5331-44D7-A2A4-64C1B96C5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6963" y="1528763"/>
            <a:ext cx="239712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9" name="Text Box 36">
            <a:extLst>
              <a:ext uri="{FF2B5EF4-FFF2-40B4-BE49-F238E27FC236}">
                <a16:creationId xmlns:a16="http://schemas.microsoft.com/office/drawing/2014/main" id="{8F3F33C4-8D2B-424A-97F0-D63C943EB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3486150"/>
            <a:ext cx="312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7990" name="Text Box 37">
            <a:extLst>
              <a:ext uri="{FF2B5EF4-FFF2-40B4-BE49-F238E27FC236}">
                <a16:creationId xmlns:a16="http://schemas.microsoft.com/office/drawing/2014/main" id="{E00308E2-0C56-4ED1-B60B-7E3A620D2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3486150"/>
            <a:ext cx="312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7991" name="Text Box 38">
            <a:extLst>
              <a:ext uri="{FF2B5EF4-FFF2-40B4-BE49-F238E27FC236}">
                <a16:creationId xmlns:a16="http://schemas.microsoft.com/office/drawing/2014/main" id="{896D037B-8251-4597-8E78-6CDD813E3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3486150"/>
            <a:ext cx="312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67992" name="Text Box 39">
            <a:extLst>
              <a:ext uri="{FF2B5EF4-FFF2-40B4-BE49-F238E27FC236}">
                <a16:creationId xmlns:a16="http://schemas.microsoft.com/office/drawing/2014/main" id="{5346627C-5B63-434F-82F6-7516FFAE6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439" y="3486150"/>
            <a:ext cx="312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67993" name="Text Box 40">
            <a:extLst>
              <a:ext uri="{FF2B5EF4-FFF2-40B4-BE49-F238E27FC236}">
                <a16:creationId xmlns:a16="http://schemas.microsoft.com/office/drawing/2014/main" id="{0E5776CE-FFAC-43CF-83C6-29CCEEDE7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9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67994" name="Text Box 41">
            <a:extLst>
              <a:ext uri="{FF2B5EF4-FFF2-40B4-BE49-F238E27FC236}">
                <a16:creationId xmlns:a16="http://schemas.microsoft.com/office/drawing/2014/main" id="{86A3D0A9-8BAE-4E54-998B-DAAD25F6F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4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167995" name="Text Box 42">
            <a:extLst>
              <a:ext uri="{FF2B5EF4-FFF2-40B4-BE49-F238E27FC236}">
                <a16:creationId xmlns:a16="http://schemas.microsoft.com/office/drawing/2014/main" id="{708AF404-D57C-421B-A084-5AA0F1233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1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167996" name="Text Box 43">
            <a:extLst>
              <a:ext uri="{FF2B5EF4-FFF2-40B4-BE49-F238E27FC236}">
                <a16:creationId xmlns:a16="http://schemas.microsoft.com/office/drawing/2014/main" id="{BE624EBD-F85A-4ACB-A198-73FDD581C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6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167997" name="Text Box 44">
            <a:extLst>
              <a:ext uri="{FF2B5EF4-FFF2-40B4-BE49-F238E27FC236}">
                <a16:creationId xmlns:a16="http://schemas.microsoft.com/office/drawing/2014/main" id="{08DB744D-7301-4CA6-8480-AE35912A2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9701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167998" name="Text Box 45">
            <a:extLst>
              <a:ext uri="{FF2B5EF4-FFF2-40B4-BE49-F238E27FC236}">
                <a16:creationId xmlns:a16="http://schemas.microsoft.com/office/drawing/2014/main" id="{F23EA664-F75A-41AE-8358-F8DB62AEC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26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167999" name="Text Box 46">
            <a:extLst>
              <a:ext uri="{FF2B5EF4-FFF2-40B4-BE49-F238E27FC236}">
                <a16:creationId xmlns:a16="http://schemas.microsoft.com/office/drawing/2014/main" id="{D0370A89-D60B-431E-8D85-4C5F5E705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264" y="34861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168000" name="Text Box 47">
            <a:extLst>
              <a:ext uri="{FF2B5EF4-FFF2-40B4-BE49-F238E27FC236}">
                <a16:creationId xmlns:a16="http://schemas.microsoft.com/office/drawing/2014/main" id="{B1AF062A-6813-43BD-98B7-C79870906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900" y="3486150"/>
            <a:ext cx="312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68001" name="Text Box 48">
            <a:extLst>
              <a:ext uri="{FF2B5EF4-FFF2-40B4-BE49-F238E27FC236}">
                <a16:creationId xmlns:a16="http://schemas.microsoft.com/office/drawing/2014/main" id="{3C8BAF10-ABD7-461A-B64C-BE784E8D3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3290889"/>
            <a:ext cx="312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68002" name="Text Box 49">
            <a:extLst>
              <a:ext uri="{FF2B5EF4-FFF2-40B4-BE49-F238E27FC236}">
                <a16:creationId xmlns:a16="http://schemas.microsoft.com/office/drawing/2014/main" id="{985829C9-BAD5-4BC7-84B4-A45CB9A10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963864"/>
            <a:ext cx="312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8003" name="Text Box 50">
            <a:extLst>
              <a:ext uri="{FF2B5EF4-FFF2-40B4-BE49-F238E27FC236}">
                <a16:creationId xmlns:a16="http://schemas.microsoft.com/office/drawing/2014/main" id="{D40B9B8F-D472-4160-84E5-C7C74E7CB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649539"/>
            <a:ext cx="312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68004" name="Text Box 51">
            <a:extLst>
              <a:ext uri="{FF2B5EF4-FFF2-40B4-BE49-F238E27FC236}">
                <a16:creationId xmlns:a16="http://schemas.microsoft.com/office/drawing/2014/main" id="{E7175482-05DA-46C1-BA29-BA53B79A9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1" y="2333625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168005" name="Text Box 52">
            <a:extLst>
              <a:ext uri="{FF2B5EF4-FFF2-40B4-BE49-F238E27FC236}">
                <a16:creationId xmlns:a16="http://schemas.microsoft.com/office/drawing/2014/main" id="{1E082869-0AAC-44D4-AE59-F278724BA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1" y="2017714"/>
            <a:ext cx="4413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168006" name="Text Box 53">
            <a:extLst>
              <a:ext uri="{FF2B5EF4-FFF2-40B4-BE49-F238E27FC236}">
                <a16:creationId xmlns:a16="http://schemas.microsoft.com/office/drawing/2014/main" id="{46A031C0-B5F4-4F5F-AB6D-8A4E23F04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1" y="1692275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168007" name="Oval 56">
            <a:extLst>
              <a:ext uri="{FF2B5EF4-FFF2-40B4-BE49-F238E27FC236}">
                <a16:creationId xmlns:a16="http://schemas.microsoft.com/office/drawing/2014/main" id="{5A8BD2E2-58D4-49E2-A90A-8C286B945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6" y="3125788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08" name="Oval 57">
            <a:extLst>
              <a:ext uri="{FF2B5EF4-FFF2-40B4-BE49-F238E27FC236}">
                <a16:creationId xmlns:a16="http://schemas.microsoft.com/office/drawing/2014/main" id="{C9BFBCCD-87D0-4AEA-A58F-6AE90351D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6" y="3338513"/>
            <a:ext cx="93663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09" name="Oval 58">
            <a:extLst>
              <a:ext uri="{FF2B5EF4-FFF2-40B4-BE49-F238E27FC236}">
                <a16:creationId xmlns:a16="http://schemas.microsoft.com/office/drawing/2014/main" id="{BF6F9F23-5B2E-4FBF-BDCF-070645CD6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939" y="3281363"/>
            <a:ext cx="92075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0" name="Oval 59">
            <a:extLst>
              <a:ext uri="{FF2B5EF4-FFF2-40B4-BE49-F238E27FC236}">
                <a16:creationId xmlns:a16="http://schemas.microsoft.com/office/drawing/2014/main" id="{EE2837B6-4D68-488F-9F20-F5A958AEB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2144713"/>
            <a:ext cx="93662" cy="76200"/>
          </a:xfrm>
          <a:prstGeom prst="ellipse">
            <a:avLst/>
          </a:prstGeom>
          <a:solidFill>
            <a:schemeClr val="tx2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1" name="Oval 66">
            <a:extLst>
              <a:ext uri="{FF2B5EF4-FFF2-40B4-BE49-F238E27FC236}">
                <a16:creationId xmlns:a16="http://schemas.microsoft.com/office/drawing/2014/main" id="{808A9593-778E-4E3D-9EF8-F4C0B28C1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6" y="1482725"/>
            <a:ext cx="93663" cy="76200"/>
          </a:xfrm>
          <a:prstGeom prst="ellipse">
            <a:avLst/>
          </a:prstGeom>
          <a:solidFill>
            <a:schemeClr val="tx1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2" name="Oval 69">
            <a:extLst>
              <a:ext uri="{FF2B5EF4-FFF2-40B4-BE49-F238E27FC236}">
                <a16:creationId xmlns:a16="http://schemas.microsoft.com/office/drawing/2014/main" id="{A190F58D-21AC-4C18-9A28-CA5362C4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38" y="2465388"/>
            <a:ext cx="93662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3" name="Oval 70">
            <a:extLst>
              <a:ext uri="{FF2B5EF4-FFF2-40B4-BE49-F238E27FC236}">
                <a16:creationId xmlns:a16="http://schemas.microsoft.com/office/drawing/2014/main" id="{0FF5B095-874A-4274-83B4-98A7A807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4" y="3273425"/>
            <a:ext cx="92075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4" name="Oval 71">
            <a:extLst>
              <a:ext uri="{FF2B5EF4-FFF2-40B4-BE49-F238E27FC236}">
                <a16:creationId xmlns:a16="http://schemas.microsoft.com/office/drawing/2014/main" id="{5DBD49FC-C1F4-4EAE-A76E-F380D3943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9" y="3113088"/>
            <a:ext cx="92075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5" name="Oval 72">
            <a:extLst>
              <a:ext uri="{FF2B5EF4-FFF2-40B4-BE49-F238E27FC236}">
                <a16:creationId xmlns:a16="http://schemas.microsoft.com/office/drawing/2014/main" id="{879AC08F-E775-47E5-A901-5FCF84EA9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3338513"/>
            <a:ext cx="93662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6" name="Oval 73">
            <a:extLst>
              <a:ext uri="{FF2B5EF4-FFF2-40B4-BE49-F238E27FC236}">
                <a16:creationId xmlns:a16="http://schemas.microsoft.com/office/drawing/2014/main" id="{A0C00067-F79B-4F84-969B-538B67FB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038" y="2792413"/>
            <a:ext cx="93662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7" name="Oval 74">
            <a:extLst>
              <a:ext uri="{FF2B5EF4-FFF2-40B4-BE49-F238E27FC236}">
                <a16:creationId xmlns:a16="http://schemas.microsoft.com/office/drawing/2014/main" id="{1B237844-8E26-4420-A8A9-32D87677E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2379663"/>
            <a:ext cx="93662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8" name="Oval 75">
            <a:extLst>
              <a:ext uri="{FF2B5EF4-FFF2-40B4-BE49-F238E27FC236}">
                <a16:creationId xmlns:a16="http://schemas.microsoft.com/office/drawing/2014/main" id="{B3E78922-D645-4B1E-A219-863625B91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3776" y="2135188"/>
            <a:ext cx="93663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19" name="Oval 76">
            <a:extLst>
              <a:ext uri="{FF2B5EF4-FFF2-40B4-BE49-F238E27FC236}">
                <a16:creationId xmlns:a16="http://schemas.microsoft.com/office/drawing/2014/main" id="{BE92DE45-D360-45BD-917F-EBD2D8FF7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939" y="2293938"/>
            <a:ext cx="92075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20" name="Oval 77">
            <a:extLst>
              <a:ext uri="{FF2B5EF4-FFF2-40B4-BE49-F238E27FC236}">
                <a16:creationId xmlns:a16="http://schemas.microsoft.com/office/drawing/2014/main" id="{5F707B9D-B630-49F9-927C-FA2EFC8DB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4063" y="2217738"/>
            <a:ext cx="93662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21" name="Text Box 78">
            <a:extLst>
              <a:ext uri="{FF2B5EF4-FFF2-40B4-BE49-F238E27FC236}">
                <a16:creationId xmlns:a16="http://schemas.microsoft.com/office/drawing/2014/main" id="{AB32DC80-62DB-4CDC-9154-ED1B6F75D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2701" y="3160714"/>
            <a:ext cx="1108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传输轮次</a:t>
            </a:r>
          </a:p>
        </p:txBody>
      </p:sp>
      <p:sp>
        <p:nvSpPr>
          <p:cNvPr id="168022" name="Text Box 79">
            <a:extLst>
              <a:ext uri="{FF2B5EF4-FFF2-40B4-BE49-F238E27FC236}">
                <a16:creationId xmlns:a16="http://schemas.microsoft.com/office/drawing/2014/main" id="{4BFDB275-0169-4B9F-AD9D-D87699678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514" y="952500"/>
            <a:ext cx="171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拥塞窗口 </a:t>
            </a:r>
            <a:r>
              <a:rPr kumimoji="0"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cwnd</a:t>
            </a:r>
          </a:p>
        </p:txBody>
      </p:sp>
      <p:sp>
        <p:nvSpPr>
          <p:cNvPr id="168023" name="Text Box 80">
            <a:extLst>
              <a:ext uri="{FF2B5EF4-FFF2-40B4-BE49-F238E27FC236}">
                <a16:creationId xmlns:a16="http://schemas.microsoft.com/office/drawing/2014/main" id="{5D402661-C2AC-4258-ADDE-7940CA6E6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6" y="784725"/>
            <a:ext cx="2289175" cy="646112"/>
          </a:xfrm>
          <a:prstGeom prst="rect">
            <a:avLst/>
          </a:prstGeom>
          <a:solidFill>
            <a:srgbClr val="CCECFF"/>
          </a:solidFill>
          <a:ln w="9525">
            <a:solidFill>
              <a:srgbClr val="3333CC"/>
            </a:solidFill>
            <a:miter lim="800000"/>
            <a:headEnd/>
            <a:tailEnd/>
          </a:ln>
          <a:effectLst>
            <a:outerShdw dist="45791" dir="2021404" algn="ctr" rotWithShape="0">
              <a:schemeClr val="bg2"/>
            </a:outerShdw>
          </a:effectLst>
        </p:spPr>
        <p:txBody>
          <a:bodyPr wrap="none">
            <a:spAutoFit/>
          </a:bodyPr>
          <a:lstStyle>
            <a:defPPr>
              <a:defRPr lang="zh-CN"/>
            </a:defPPr>
            <a:lvl1pPr algn="ctr" eaLnBrk="1" hangingPunct="1">
              <a:buClrTx/>
              <a:buSzTx/>
              <a:buFontTx/>
              <a:buNone/>
              <a:defRPr kumimoji="0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收到 </a:t>
            </a:r>
            <a:r>
              <a:rPr lang="en-US" altLang="zh-CN" dirty="0"/>
              <a:t>3 </a:t>
            </a:r>
            <a:r>
              <a:rPr lang="zh-CN" altLang="en-US" dirty="0"/>
              <a:t>个重复的确认</a:t>
            </a:r>
          </a:p>
          <a:p>
            <a:r>
              <a:rPr lang="zh-CN" altLang="en-US" dirty="0"/>
              <a:t>执行快重传算法</a:t>
            </a:r>
          </a:p>
        </p:txBody>
      </p:sp>
      <p:sp>
        <p:nvSpPr>
          <p:cNvPr id="168024" name="Line 81">
            <a:extLst>
              <a:ext uri="{FF2B5EF4-FFF2-40B4-BE49-F238E27FC236}">
                <a16:creationId xmlns:a16="http://schemas.microsoft.com/office/drawing/2014/main" id="{3DCD3320-C350-48AB-975F-7B827EF9DD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49297" y="1535113"/>
            <a:ext cx="93663" cy="339089"/>
          </a:xfrm>
          <a:prstGeom prst="line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68025" name="Line 82">
            <a:extLst>
              <a:ext uri="{FF2B5EF4-FFF2-40B4-BE49-F238E27FC236}">
                <a16:creationId xmlns:a16="http://schemas.microsoft.com/office/drawing/2014/main" id="{DEE7711C-636C-49E6-816E-0B3DEB711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988" y="1711325"/>
            <a:ext cx="601662" cy="18415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026" name="Rectangle 83">
            <a:extLst>
              <a:ext uri="{FF2B5EF4-FFF2-40B4-BE49-F238E27FC236}">
                <a16:creationId xmlns:a16="http://schemas.microsoft.com/office/drawing/2014/main" id="{A1E0D9F5-97DC-40E5-A4DE-B62B2C2DF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925" y="1462088"/>
            <a:ext cx="198438" cy="1739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27" name="Line 86">
            <a:extLst>
              <a:ext uri="{FF2B5EF4-FFF2-40B4-BE49-F238E27FC236}">
                <a16:creationId xmlns:a16="http://schemas.microsoft.com/office/drawing/2014/main" id="{B19331B7-EC84-4503-B657-9BC9D4DC427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717925" y="2506663"/>
            <a:ext cx="3030538" cy="6350"/>
          </a:xfrm>
          <a:prstGeom prst="line">
            <a:avLst/>
          </a:prstGeom>
          <a:noFill/>
          <a:ln w="9525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028" name="Rectangle 87">
            <a:extLst>
              <a:ext uri="{FF2B5EF4-FFF2-40B4-BE49-F238E27FC236}">
                <a16:creationId xmlns:a16="http://schemas.microsoft.com/office/drawing/2014/main" id="{1CAB7D52-D5A6-464A-80B6-A600646AB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013" y="3290889"/>
            <a:ext cx="2552700" cy="1285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29" name="Rectangle 88">
            <a:extLst>
              <a:ext uri="{FF2B5EF4-FFF2-40B4-BE49-F238E27FC236}">
                <a16:creationId xmlns:a16="http://schemas.microsoft.com/office/drawing/2014/main" id="{EEA1D4F3-D29B-42D8-87F2-508984343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3290889"/>
            <a:ext cx="1835150" cy="1285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 b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8030" name="Line 89">
            <a:extLst>
              <a:ext uri="{FF2B5EF4-FFF2-40B4-BE49-F238E27FC236}">
                <a16:creationId xmlns:a16="http://schemas.microsoft.com/office/drawing/2014/main" id="{1FEBE2D7-46F0-4B8B-BFC3-E20E8E27B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0600" y="1535114"/>
            <a:ext cx="0" cy="9794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031" name="Text Box 90">
            <a:extLst>
              <a:ext uri="{FF2B5EF4-FFF2-40B4-BE49-F238E27FC236}">
                <a16:creationId xmlns:a16="http://schemas.microsoft.com/office/drawing/2014/main" id="{64AF8357-4F2D-46B3-9516-9C03E454C7DD}"/>
              </a:ext>
            </a:extLst>
          </p:cNvPr>
          <p:cNvSpPr txBox="1">
            <a:spLocks noChangeArrowheads="1"/>
          </p:cNvSpPr>
          <p:nvPr/>
        </p:nvSpPr>
        <p:spPr bwMode="auto">
          <a:xfrm rot="18754259">
            <a:off x="3587918" y="2699683"/>
            <a:ext cx="8985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慢开始</a:t>
            </a:r>
          </a:p>
        </p:txBody>
      </p:sp>
      <p:sp>
        <p:nvSpPr>
          <p:cNvPr id="168032" name="Line 91">
            <a:extLst>
              <a:ext uri="{FF2B5EF4-FFF2-40B4-BE49-F238E27FC236}">
                <a16:creationId xmlns:a16="http://schemas.microsoft.com/office/drawing/2014/main" id="{0DA8795A-C66F-42E5-8402-75701BE49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8475" y="3240089"/>
            <a:ext cx="558800" cy="130175"/>
          </a:xfrm>
          <a:prstGeom prst="line">
            <a:avLst/>
          </a:prstGeom>
          <a:noFill/>
          <a:ln w="9525">
            <a:noFill/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29" name="Text Box 92">
            <a:extLst>
              <a:ext uri="{FF2B5EF4-FFF2-40B4-BE49-F238E27FC236}">
                <a16:creationId xmlns:a16="http://schemas.microsoft.com/office/drawing/2014/main" id="{E1022F65-0EED-431C-A105-79072026B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1" y="1916114"/>
            <a:ext cx="1255713" cy="369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kumimoji="1" sz="28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ü"/>
              <a:defRPr kumimoji="1" sz="24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kumimoji="1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kumimoji="1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kumimoji="1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kumimoji="1" sz="200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1800" dirty="0">
                <a:solidFill>
                  <a:schemeClr val="tx1"/>
                </a:solidFill>
                <a:highlight>
                  <a:srgbClr val="FFFFCC"/>
                </a:highligh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“</a:t>
            </a:r>
            <a:r>
              <a:rPr kumimoji="0" lang="zh-CN" altLang="en-US" sz="1800" dirty="0">
                <a:solidFill>
                  <a:schemeClr val="tx1"/>
                </a:solidFill>
                <a:highlight>
                  <a:srgbClr val="FFFFCC"/>
                </a:highligh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乘法减小”</a:t>
            </a:r>
          </a:p>
        </p:txBody>
      </p:sp>
      <p:sp>
        <p:nvSpPr>
          <p:cNvPr id="168034" name="Text Box 93">
            <a:extLst>
              <a:ext uri="{FF2B5EF4-FFF2-40B4-BE49-F238E27FC236}">
                <a16:creationId xmlns:a16="http://schemas.microsoft.com/office/drawing/2014/main" id="{3B3B6F05-8824-4288-A597-658AC243E0C9}"/>
              </a:ext>
            </a:extLst>
          </p:cNvPr>
          <p:cNvSpPr txBox="1">
            <a:spLocks noChangeArrowheads="1"/>
          </p:cNvSpPr>
          <p:nvPr/>
        </p:nvSpPr>
        <p:spPr bwMode="auto">
          <a:xfrm rot="20579944">
            <a:off x="6645275" y="1625601"/>
            <a:ext cx="15684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“加法增大”</a:t>
            </a:r>
          </a:p>
        </p:txBody>
      </p:sp>
      <p:sp>
        <p:nvSpPr>
          <p:cNvPr id="168035" name="Freeform 94">
            <a:extLst>
              <a:ext uri="{FF2B5EF4-FFF2-40B4-BE49-F238E27FC236}">
                <a16:creationId xmlns:a16="http://schemas.microsoft.com/office/drawing/2014/main" id="{293F802A-22CB-44B7-8FFB-7572B58699C1}"/>
              </a:ext>
            </a:extLst>
          </p:cNvPr>
          <p:cNvSpPr>
            <a:spLocks/>
          </p:cNvSpPr>
          <p:nvPr/>
        </p:nvSpPr>
        <p:spPr bwMode="auto">
          <a:xfrm>
            <a:off x="6496051" y="1538289"/>
            <a:ext cx="2314575" cy="1843087"/>
          </a:xfrm>
          <a:custGeom>
            <a:avLst/>
            <a:gdLst>
              <a:gd name="T0" fmla="*/ 0 w 1392"/>
              <a:gd name="T1" fmla="*/ 0 h 1356"/>
              <a:gd name="T2" fmla="*/ 2147483646 w 1392"/>
              <a:gd name="T3" fmla="*/ 2147483646 h 1356"/>
              <a:gd name="T4" fmla="*/ 2147483646 w 1392"/>
              <a:gd name="T5" fmla="*/ 2147483646 h 1356"/>
              <a:gd name="T6" fmla="*/ 2147483646 w 1392"/>
              <a:gd name="T7" fmla="*/ 2147483646 h 1356"/>
              <a:gd name="T8" fmla="*/ 2147483646 w 1392"/>
              <a:gd name="T9" fmla="*/ 2147483646 h 1356"/>
              <a:gd name="T10" fmla="*/ 2147483646 w 1392"/>
              <a:gd name="T11" fmla="*/ 2147483646 h 1356"/>
              <a:gd name="T12" fmla="*/ 2147483646 w 1392"/>
              <a:gd name="T13" fmla="*/ 2147483646 h 13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92" h="1356">
                <a:moveTo>
                  <a:pt x="0" y="0"/>
                </a:moveTo>
                <a:lnTo>
                  <a:pt x="152" y="1356"/>
                </a:lnTo>
                <a:lnTo>
                  <a:pt x="300" y="1300"/>
                </a:lnTo>
                <a:lnTo>
                  <a:pt x="448" y="1188"/>
                </a:lnTo>
                <a:lnTo>
                  <a:pt x="576" y="952"/>
                </a:lnTo>
                <a:lnTo>
                  <a:pt x="728" y="708"/>
                </a:lnTo>
                <a:lnTo>
                  <a:pt x="1392" y="428"/>
                </a:lnTo>
              </a:path>
            </a:pathLst>
          </a:custGeom>
          <a:noFill/>
          <a:ln w="9525" cap="flat" cmpd="sng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57" name="Text Box 106">
            <a:extLst>
              <a:ext uri="{FF2B5EF4-FFF2-40B4-BE49-F238E27FC236}">
                <a16:creationId xmlns:a16="http://schemas.microsoft.com/office/drawing/2014/main" id="{68A7677C-23F1-4BA0-96CB-DE54CBAE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090" y="2756456"/>
            <a:ext cx="1569661" cy="369332"/>
          </a:xfrm>
          <a:prstGeom prst="rect">
            <a:avLst/>
          </a:prstGeom>
          <a:solidFill>
            <a:srgbClr val="CCECFF"/>
          </a:solidFill>
          <a:ln w="9525">
            <a:solidFill>
              <a:srgbClr val="3333CC"/>
            </a:solidFill>
            <a:miter lim="800000"/>
            <a:headEnd/>
            <a:tailEnd/>
          </a:ln>
          <a:effectLst>
            <a:outerShdw dist="45791" dir="2021404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出现超时重传</a:t>
            </a:r>
          </a:p>
        </p:txBody>
      </p:sp>
      <p:sp>
        <p:nvSpPr>
          <p:cNvPr id="168038" name="Text Box 107">
            <a:extLst>
              <a:ext uri="{FF2B5EF4-FFF2-40B4-BE49-F238E27FC236}">
                <a16:creationId xmlns:a16="http://schemas.microsoft.com/office/drawing/2014/main" id="{A41A05D5-47AB-4280-8D23-02FEDE3DC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92" y="1684413"/>
            <a:ext cx="1120820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ssthresh</a:t>
            </a:r>
            <a:r>
              <a:rPr kumimoji="0" lang="en-US" altLang="zh-CN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初始值</a:t>
            </a:r>
          </a:p>
        </p:txBody>
      </p:sp>
      <p:sp>
        <p:nvSpPr>
          <p:cNvPr id="168039" name="Text Box 108">
            <a:extLst>
              <a:ext uri="{FF2B5EF4-FFF2-40B4-BE49-F238E27FC236}">
                <a16:creationId xmlns:a16="http://schemas.microsoft.com/office/drawing/2014/main" id="{0A99862A-8BB8-4081-AEC7-7C7CF8C8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613" y="1501776"/>
            <a:ext cx="15684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“加法增大”</a:t>
            </a:r>
          </a:p>
        </p:txBody>
      </p:sp>
      <p:sp>
        <p:nvSpPr>
          <p:cNvPr id="168040" name="Text Box 109">
            <a:extLst>
              <a:ext uri="{FF2B5EF4-FFF2-40B4-BE49-F238E27FC236}">
                <a16:creationId xmlns:a16="http://schemas.microsoft.com/office/drawing/2014/main" id="{09CC205F-670A-47CB-B293-A039070B1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312" y="2485307"/>
            <a:ext cx="1056700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调整后 </a:t>
            </a:r>
            <a:endParaRPr kumimoji="0" lang="en-US" altLang="zh-CN" sz="1800" b="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ssthresh</a:t>
            </a:r>
            <a:endParaRPr kumimoji="0" lang="zh-CN" altLang="en-US" sz="1800" b="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8041" name="Line 110">
            <a:extLst>
              <a:ext uri="{FF2B5EF4-FFF2-40B4-BE49-F238E27FC236}">
                <a16:creationId xmlns:a16="http://schemas.microsoft.com/office/drawing/2014/main" id="{3E31E74A-3F46-4CC1-A033-54614EE87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1562" y="2896746"/>
            <a:ext cx="319088" cy="35367"/>
          </a:xfrm>
          <a:prstGeom prst="line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8042" name="Line 111">
            <a:extLst>
              <a:ext uri="{FF2B5EF4-FFF2-40B4-BE49-F238E27FC236}">
                <a16:creationId xmlns:a16="http://schemas.microsoft.com/office/drawing/2014/main" id="{3BD648F7-93D1-4BA7-8E51-C15AC4C663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2350" y="3246439"/>
            <a:ext cx="558800" cy="130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043" name="Text Box 112">
            <a:extLst>
              <a:ext uri="{FF2B5EF4-FFF2-40B4-BE49-F238E27FC236}">
                <a16:creationId xmlns:a16="http://schemas.microsoft.com/office/drawing/2014/main" id="{1304A187-53E8-4B79-AB15-4F733116D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9" y="3068639"/>
            <a:ext cx="10493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慢开始</a:t>
            </a:r>
          </a:p>
        </p:txBody>
      </p:sp>
      <p:sp>
        <p:nvSpPr>
          <p:cNvPr id="168044" name="Text Box 113">
            <a:extLst>
              <a:ext uri="{FF2B5EF4-FFF2-40B4-BE49-F238E27FC236}">
                <a16:creationId xmlns:a16="http://schemas.microsoft.com/office/drawing/2014/main" id="{4DEE5253-30D2-4DE6-A209-B1453F8F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039" y="2533650"/>
            <a:ext cx="8969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Char char="•"/>
              <a:defRPr kumimoji="1" sz="2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快恢复</a:t>
            </a:r>
          </a:p>
        </p:txBody>
      </p:sp>
      <p:sp>
        <p:nvSpPr>
          <p:cNvPr id="168045" name="Line 114">
            <a:extLst>
              <a:ext uri="{FF2B5EF4-FFF2-40B4-BE49-F238E27FC236}">
                <a16:creationId xmlns:a16="http://schemas.microsoft.com/office/drawing/2014/main" id="{F6EE427C-1872-4FB7-BDCE-DD744D958D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4100" y="2535239"/>
            <a:ext cx="585788" cy="16192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046" name="Freeform 95">
            <a:extLst>
              <a:ext uri="{FF2B5EF4-FFF2-40B4-BE49-F238E27FC236}">
                <a16:creationId xmlns:a16="http://schemas.microsoft.com/office/drawing/2014/main" id="{023190CD-F045-4ADA-B106-7D4D101CAD14}"/>
              </a:ext>
            </a:extLst>
          </p:cNvPr>
          <p:cNvSpPr>
            <a:spLocks/>
          </p:cNvSpPr>
          <p:nvPr/>
        </p:nvSpPr>
        <p:spPr bwMode="auto">
          <a:xfrm>
            <a:off x="6510339" y="1519238"/>
            <a:ext cx="2224087" cy="995362"/>
          </a:xfrm>
          <a:custGeom>
            <a:avLst/>
            <a:gdLst>
              <a:gd name="T0" fmla="*/ 0 w 1338"/>
              <a:gd name="T1" fmla="*/ 0 h 732"/>
              <a:gd name="T2" fmla="*/ 2147483646 w 1338"/>
              <a:gd name="T3" fmla="*/ 2147483646 h 732"/>
              <a:gd name="T4" fmla="*/ 2147483646 w 1338"/>
              <a:gd name="T5" fmla="*/ 2147483646 h 7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38" h="732">
                <a:moveTo>
                  <a:pt x="0" y="0"/>
                </a:moveTo>
                <a:lnTo>
                  <a:pt x="138" y="732"/>
                </a:lnTo>
                <a:lnTo>
                  <a:pt x="1338" y="234"/>
                </a:lnTo>
              </a:path>
            </a:pathLst>
          </a:custGeom>
          <a:noFill/>
          <a:ln w="28575" cmpd="sng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047" name="Line 85">
            <a:extLst>
              <a:ext uri="{FF2B5EF4-FFF2-40B4-BE49-F238E27FC236}">
                <a16:creationId xmlns:a16="http://schemas.microsoft.com/office/drawing/2014/main" id="{43490EC7-FCF8-4E48-A44F-CB74F54521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925" y="1528763"/>
            <a:ext cx="4387850" cy="0"/>
          </a:xfrm>
          <a:prstGeom prst="line">
            <a:avLst/>
          </a:prstGeom>
          <a:noFill/>
          <a:ln w="9525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793E013-0AC4-417F-9C3E-066CE9D4BFC4}"/>
              </a:ext>
            </a:extLst>
          </p:cNvPr>
          <p:cNvCxnSpPr>
            <a:cxnSpLocks/>
          </p:cNvCxnSpPr>
          <p:nvPr/>
        </p:nvCxnSpPr>
        <p:spPr bwMode="auto">
          <a:xfrm flipV="1">
            <a:off x="3029132" y="2573337"/>
            <a:ext cx="390443" cy="1483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85E779DF-0465-4F89-BCA7-76928E373661}"/>
              </a:ext>
            </a:extLst>
          </p:cNvPr>
          <p:cNvCxnSpPr>
            <a:cxnSpLocks/>
          </p:cNvCxnSpPr>
          <p:nvPr/>
        </p:nvCxnSpPr>
        <p:spPr bwMode="auto">
          <a:xfrm>
            <a:off x="2998317" y="2054300"/>
            <a:ext cx="371347" cy="1189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2" name="Text Box 155">
            <a:extLst>
              <a:ext uri="{FF2B5EF4-FFF2-40B4-BE49-F238E27FC236}">
                <a16:creationId xmlns:a16="http://schemas.microsoft.com/office/drawing/2014/main" id="{C6C35016-6A41-4EAA-A92A-5A69173B2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860" y="4113286"/>
            <a:ext cx="7755906" cy="1422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当拥塞窗口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cwnd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= 24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如果发送方连续收到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个对同一个报文段的重复确认（记为 </a:t>
            </a:r>
            <a:r>
              <a:rPr lang="en-US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3-ACK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）。发送方改为执行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快重传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快恢复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如果发送方出现超时重传直接接入慢开始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1000" fill="hold"/>
                                        <p:tgtEl>
                                          <p:spTgt spid="4515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7" grpId="0" autoUpdateAnimBg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452" name="圆角矩形 149"/>
          <p:cNvSpPr/>
          <p:nvPr/>
        </p:nvSpPr>
        <p:spPr>
          <a:xfrm>
            <a:off x="726860" y="1351049"/>
            <a:ext cx="10738281" cy="438911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938" name="组合 150"/>
          <p:cNvGrpSpPr/>
          <p:nvPr/>
        </p:nvGrpSpPr>
        <p:grpSpPr>
          <a:xfrm>
            <a:off x="1787372" y="1487669"/>
            <a:ext cx="9109369" cy="2985305"/>
            <a:chOff x="1340529" y="1115751"/>
            <a:chExt cx="6832027" cy="2238978"/>
          </a:xfrm>
        </p:grpSpPr>
        <p:grpSp>
          <p:nvGrpSpPr>
            <p:cNvPr id="939" name="组合 151"/>
            <p:cNvGrpSpPr/>
            <p:nvPr/>
          </p:nvGrpSpPr>
          <p:grpSpPr>
            <a:xfrm>
              <a:off x="1340529" y="1115751"/>
              <a:ext cx="6785378" cy="2238978"/>
              <a:chOff x="333887" y="840152"/>
              <a:chExt cx="9604971" cy="3061386"/>
            </a:xfrm>
          </p:grpSpPr>
          <p:sp>
            <p:nvSpPr>
              <p:cNvPr id="1054454" name="Text Box 140"/>
              <p:cNvSpPr txBox="1">
                <a:spLocks noChangeArrowheads="1"/>
              </p:cNvSpPr>
              <p:nvPr/>
            </p:nvSpPr>
            <p:spPr bwMode="auto">
              <a:xfrm>
                <a:off x="4758802" y="942059"/>
                <a:ext cx="4226625" cy="6280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ts val="2133"/>
                  </a:lnSpc>
                </a:pPr>
                <a:r>
                  <a:rPr lang="zh-CN" altLang="en-US" sz="1600" b="1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超时（网络发生拥塞，执行拥塞避免算法）</a:t>
                </a:r>
                <a:endParaRPr lang="en-US" altLang="zh-CN" sz="1600" b="1" kern="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eaLnBrk="1" hangingPunct="1">
                  <a:lnSpc>
                    <a:spcPts val="2133"/>
                  </a:lnSpc>
                </a:pPr>
                <a:r>
                  <a:rPr lang="zh-CN" altLang="en-US" sz="1600" b="1" kern="0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第 </a:t>
                </a:r>
                <a:r>
                  <a:rPr lang="en-US" altLang="zh-CN" sz="1600" b="1" kern="0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 </a:t>
                </a:r>
                <a:r>
                  <a:rPr lang="zh-CN" altLang="en-US" sz="1600" b="1" kern="0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次调整 </a:t>
                </a:r>
                <a:r>
                  <a:rPr lang="en-US" altLang="zh-CN" sz="1600" b="1" kern="0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ssthresh</a:t>
                </a:r>
                <a:endParaRPr lang="en-US" altLang="zh-CN" sz="16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55" name="Line 2"/>
              <p:cNvSpPr>
                <a:spLocks noChangeShapeType="1"/>
              </p:cNvSpPr>
              <p:nvPr/>
            </p:nvSpPr>
            <p:spPr bwMode="auto">
              <a:xfrm flipV="1">
                <a:off x="1883792" y="3639369"/>
                <a:ext cx="6211887" cy="476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56" name="Line 3"/>
              <p:cNvSpPr>
                <a:spLocks noChangeShapeType="1"/>
              </p:cNvSpPr>
              <p:nvPr/>
            </p:nvSpPr>
            <p:spPr bwMode="auto">
              <a:xfrm>
                <a:off x="1882204" y="1161281"/>
                <a:ext cx="1588" cy="2482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57" name="Line 4"/>
              <p:cNvSpPr>
                <a:spLocks noChangeShapeType="1"/>
              </p:cNvSpPr>
              <p:nvPr/>
            </p:nvSpPr>
            <p:spPr bwMode="auto">
              <a:xfrm>
                <a:off x="2112392" y="3567931"/>
                <a:ext cx="0" cy="762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58" name="Line 5"/>
              <p:cNvSpPr>
                <a:spLocks noChangeShapeType="1"/>
              </p:cNvSpPr>
              <p:nvPr/>
            </p:nvSpPr>
            <p:spPr bwMode="auto">
              <a:xfrm>
                <a:off x="23409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59" name="Line 6"/>
              <p:cNvSpPr>
                <a:spLocks noChangeShapeType="1"/>
              </p:cNvSpPr>
              <p:nvPr/>
            </p:nvSpPr>
            <p:spPr bwMode="auto">
              <a:xfrm>
                <a:off x="25695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0" name="Line 7"/>
              <p:cNvSpPr>
                <a:spLocks noChangeShapeType="1"/>
              </p:cNvSpPr>
              <p:nvPr/>
            </p:nvSpPr>
            <p:spPr bwMode="auto">
              <a:xfrm>
                <a:off x="27981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1" name="Line 8"/>
              <p:cNvSpPr>
                <a:spLocks noChangeShapeType="1"/>
              </p:cNvSpPr>
              <p:nvPr/>
            </p:nvSpPr>
            <p:spPr bwMode="auto">
              <a:xfrm>
                <a:off x="30267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2" name="Line 9"/>
              <p:cNvSpPr>
                <a:spLocks noChangeShapeType="1"/>
              </p:cNvSpPr>
              <p:nvPr/>
            </p:nvSpPr>
            <p:spPr bwMode="auto">
              <a:xfrm>
                <a:off x="32553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3" name="Line 10"/>
              <p:cNvSpPr>
                <a:spLocks noChangeShapeType="1"/>
              </p:cNvSpPr>
              <p:nvPr/>
            </p:nvSpPr>
            <p:spPr bwMode="auto">
              <a:xfrm>
                <a:off x="34839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4" name="Line 11"/>
              <p:cNvSpPr>
                <a:spLocks noChangeShapeType="1"/>
              </p:cNvSpPr>
              <p:nvPr/>
            </p:nvSpPr>
            <p:spPr bwMode="auto">
              <a:xfrm>
                <a:off x="37125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5" name="Line 12"/>
              <p:cNvSpPr>
                <a:spLocks noChangeShapeType="1"/>
              </p:cNvSpPr>
              <p:nvPr/>
            </p:nvSpPr>
            <p:spPr bwMode="auto">
              <a:xfrm>
                <a:off x="39411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6" name="Line 13"/>
              <p:cNvSpPr>
                <a:spLocks noChangeShapeType="1"/>
              </p:cNvSpPr>
              <p:nvPr/>
            </p:nvSpPr>
            <p:spPr bwMode="auto">
              <a:xfrm>
                <a:off x="41697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7" name="Line 14"/>
              <p:cNvSpPr>
                <a:spLocks noChangeShapeType="1"/>
              </p:cNvSpPr>
              <p:nvPr/>
            </p:nvSpPr>
            <p:spPr bwMode="auto">
              <a:xfrm>
                <a:off x="43983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8" name="Line 15"/>
              <p:cNvSpPr>
                <a:spLocks noChangeShapeType="1"/>
              </p:cNvSpPr>
              <p:nvPr/>
            </p:nvSpPr>
            <p:spPr bwMode="auto">
              <a:xfrm>
                <a:off x="46269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69" name="Line 16"/>
              <p:cNvSpPr>
                <a:spLocks noChangeShapeType="1"/>
              </p:cNvSpPr>
              <p:nvPr/>
            </p:nvSpPr>
            <p:spPr bwMode="auto">
              <a:xfrm>
                <a:off x="48555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0" name="Line 17"/>
              <p:cNvSpPr>
                <a:spLocks noChangeShapeType="1"/>
              </p:cNvSpPr>
              <p:nvPr/>
            </p:nvSpPr>
            <p:spPr bwMode="auto">
              <a:xfrm>
                <a:off x="5084192" y="3567931"/>
                <a:ext cx="0" cy="762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1" name="Line 18"/>
              <p:cNvSpPr>
                <a:spLocks noChangeShapeType="1"/>
              </p:cNvSpPr>
              <p:nvPr/>
            </p:nvSpPr>
            <p:spPr bwMode="auto">
              <a:xfrm>
                <a:off x="53127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2" name="Line 19"/>
              <p:cNvSpPr>
                <a:spLocks noChangeShapeType="1"/>
              </p:cNvSpPr>
              <p:nvPr/>
            </p:nvSpPr>
            <p:spPr bwMode="auto">
              <a:xfrm>
                <a:off x="55413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3" name="Line 20"/>
              <p:cNvSpPr>
                <a:spLocks noChangeShapeType="1"/>
              </p:cNvSpPr>
              <p:nvPr/>
            </p:nvSpPr>
            <p:spPr bwMode="auto">
              <a:xfrm>
                <a:off x="57699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4" name="Line 21"/>
              <p:cNvSpPr>
                <a:spLocks noChangeShapeType="1"/>
              </p:cNvSpPr>
              <p:nvPr/>
            </p:nvSpPr>
            <p:spPr bwMode="auto">
              <a:xfrm>
                <a:off x="59985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5" name="Line 22"/>
              <p:cNvSpPr>
                <a:spLocks noChangeShapeType="1"/>
              </p:cNvSpPr>
              <p:nvPr/>
            </p:nvSpPr>
            <p:spPr bwMode="auto">
              <a:xfrm>
                <a:off x="62271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6" name="Line 23"/>
              <p:cNvSpPr>
                <a:spLocks noChangeShapeType="1"/>
              </p:cNvSpPr>
              <p:nvPr/>
            </p:nvSpPr>
            <p:spPr bwMode="auto">
              <a:xfrm>
                <a:off x="64557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7" name="Line 24"/>
              <p:cNvSpPr>
                <a:spLocks noChangeShapeType="1"/>
              </p:cNvSpPr>
              <p:nvPr/>
            </p:nvSpPr>
            <p:spPr bwMode="auto">
              <a:xfrm>
                <a:off x="66843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8" name="Line 25"/>
              <p:cNvSpPr>
                <a:spLocks noChangeShapeType="1"/>
              </p:cNvSpPr>
              <p:nvPr/>
            </p:nvSpPr>
            <p:spPr bwMode="auto">
              <a:xfrm>
                <a:off x="6912992" y="349173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79" name="Line 40"/>
              <p:cNvSpPr>
                <a:spLocks noChangeShapeType="1"/>
              </p:cNvSpPr>
              <p:nvPr/>
            </p:nvSpPr>
            <p:spPr bwMode="auto">
              <a:xfrm>
                <a:off x="1883792" y="3263131"/>
                <a:ext cx="228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80" name="Line 41"/>
              <p:cNvSpPr>
                <a:spLocks noChangeShapeType="1"/>
              </p:cNvSpPr>
              <p:nvPr/>
            </p:nvSpPr>
            <p:spPr bwMode="auto">
              <a:xfrm>
                <a:off x="1883792" y="2882131"/>
                <a:ext cx="228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81" name="Line 42"/>
              <p:cNvSpPr>
                <a:spLocks noChangeShapeType="1"/>
              </p:cNvSpPr>
              <p:nvPr/>
            </p:nvSpPr>
            <p:spPr bwMode="auto">
              <a:xfrm>
                <a:off x="1883792" y="2501131"/>
                <a:ext cx="228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82" name="Line 43"/>
              <p:cNvSpPr>
                <a:spLocks noChangeShapeType="1"/>
              </p:cNvSpPr>
              <p:nvPr/>
            </p:nvSpPr>
            <p:spPr bwMode="auto">
              <a:xfrm>
                <a:off x="1883792" y="2120131"/>
                <a:ext cx="228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83" name="Line 44"/>
              <p:cNvSpPr>
                <a:spLocks noChangeShapeType="1"/>
              </p:cNvSpPr>
              <p:nvPr/>
            </p:nvSpPr>
            <p:spPr bwMode="auto">
              <a:xfrm>
                <a:off x="1883792" y="1739131"/>
                <a:ext cx="228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84" name="Line 45"/>
              <p:cNvSpPr>
                <a:spLocks noChangeShapeType="1"/>
              </p:cNvSpPr>
              <p:nvPr/>
            </p:nvSpPr>
            <p:spPr bwMode="auto">
              <a:xfrm>
                <a:off x="1883792" y="1358131"/>
                <a:ext cx="228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485" name="Text Box 77"/>
              <p:cNvSpPr txBox="1">
                <a:spLocks noChangeArrowheads="1"/>
              </p:cNvSpPr>
              <p:nvPr/>
            </p:nvSpPr>
            <p:spPr bwMode="auto">
              <a:xfrm>
                <a:off x="2159477" y="3588569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1054486" name="Text Box 78"/>
              <p:cNvSpPr txBox="1">
                <a:spLocks noChangeArrowheads="1"/>
              </p:cNvSpPr>
              <p:nvPr/>
            </p:nvSpPr>
            <p:spPr bwMode="auto">
              <a:xfrm>
                <a:off x="2616678" y="3588569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</a:p>
            </p:txBody>
          </p:sp>
          <p:sp>
            <p:nvSpPr>
              <p:cNvPr id="1054487" name="Text Box 79"/>
              <p:cNvSpPr txBox="1">
                <a:spLocks noChangeArrowheads="1"/>
              </p:cNvSpPr>
              <p:nvPr/>
            </p:nvSpPr>
            <p:spPr bwMode="auto">
              <a:xfrm>
                <a:off x="3073878" y="3588569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6</a:t>
                </a:r>
              </a:p>
            </p:txBody>
          </p:sp>
          <p:sp>
            <p:nvSpPr>
              <p:cNvPr id="1054488" name="Text Box 80"/>
              <p:cNvSpPr txBox="1">
                <a:spLocks noChangeArrowheads="1"/>
              </p:cNvSpPr>
              <p:nvPr/>
            </p:nvSpPr>
            <p:spPr bwMode="auto">
              <a:xfrm>
                <a:off x="3543779" y="3588569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8</a:t>
                </a:r>
              </a:p>
            </p:txBody>
          </p:sp>
          <p:sp>
            <p:nvSpPr>
              <p:cNvPr id="1054489" name="Text Box 81"/>
              <p:cNvSpPr txBox="1">
                <a:spLocks noChangeArrowheads="1"/>
              </p:cNvSpPr>
              <p:nvPr/>
            </p:nvSpPr>
            <p:spPr bwMode="auto">
              <a:xfrm>
                <a:off x="3924778" y="3588569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10</a:t>
                </a:r>
              </a:p>
            </p:txBody>
          </p:sp>
          <p:sp>
            <p:nvSpPr>
              <p:cNvPr id="1054490" name="Text Box 82"/>
              <p:cNvSpPr txBox="1">
                <a:spLocks noChangeArrowheads="1"/>
              </p:cNvSpPr>
              <p:nvPr/>
            </p:nvSpPr>
            <p:spPr bwMode="auto">
              <a:xfrm>
                <a:off x="4420079" y="3588569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12</a:t>
                </a:r>
              </a:p>
            </p:txBody>
          </p:sp>
          <p:sp>
            <p:nvSpPr>
              <p:cNvPr id="1054491" name="Text Box 83"/>
              <p:cNvSpPr txBox="1">
                <a:spLocks noChangeArrowheads="1"/>
              </p:cNvSpPr>
              <p:nvPr/>
            </p:nvSpPr>
            <p:spPr bwMode="auto">
              <a:xfrm>
                <a:off x="4851878" y="3588569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14</a:t>
                </a:r>
              </a:p>
            </p:txBody>
          </p:sp>
          <p:sp>
            <p:nvSpPr>
              <p:cNvPr id="1054492" name="Text Box 84"/>
              <p:cNvSpPr txBox="1">
                <a:spLocks noChangeArrowheads="1"/>
              </p:cNvSpPr>
              <p:nvPr/>
            </p:nvSpPr>
            <p:spPr bwMode="auto">
              <a:xfrm>
                <a:off x="5309079" y="3588569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16</a:t>
                </a:r>
              </a:p>
            </p:txBody>
          </p:sp>
          <p:sp>
            <p:nvSpPr>
              <p:cNvPr id="1054493" name="Text Box 85"/>
              <p:cNvSpPr txBox="1">
                <a:spLocks noChangeArrowheads="1"/>
              </p:cNvSpPr>
              <p:nvPr/>
            </p:nvSpPr>
            <p:spPr bwMode="auto">
              <a:xfrm>
                <a:off x="5782155" y="3588569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18</a:t>
                </a:r>
              </a:p>
            </p:txBody>
          </p:sp>
          <p:sp>
            <p:nvSpPr>
              <p:cNvPr id="1054494" name="Text Box 86"/>
              <p:cNvSpPr txBox="1">
                <a:spLocks noChangeArrowheads="1"/>
              </p:cNvSpPr>
              <p:nvPr/>
            </p:nvSpPr>
            <p:spPr bwMode="auto">
              <a:xfrm>
                <a:off x="6239353" y="3588569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20</a:t>
                </a:r>
              </a:p>
            </p:txBody>
          </p:sp>
          <p:sp>
            <p:nvSpPr>
              <p:cNvPr id="1054495" name="Text Box 87"/>
              <p:cNvSpPr txBox="1">
                <a:spLocks noChangeArrowheads="1"/>
              </p:cNvSpPr>
              <p:nvPr/>
            </p:nvSpPr>
            <p:spPr bwMode="auto">
              <a:xfrm>
                <a:off x="6683853" y="3596503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22</a:t>
                </a:r>
              </a:p>
            </p:txBody>
          </p:sp>
          <p:sp>
            <p:nvSpPr>
              <p:cNvPr id="1054496" name="Text Box 89"/>
              <p:cNvSpPr txBox="1">
                <a:spLocks noChangeArrowheads="1"/>
              </p:cNvSpPr>
              <p:nvPr/>
            </p:nvSpPr>
            <p:spPr bwMode="auto">
              <a:xfrm>
                <a:off x="1740377" y="3588568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1054497" name="Text Box 90"/>
              <p:cNvSpPr txBox="1">
                <a:spLocks noChangeArrowheads="1"/>
              </p:cNvSpPr>
              <p:nvPr/>
            </p:nvSpPr>
            <p:spPr bwMode="auto">
              <a:xfrm>
                <a:off x="1617091" y="3439344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1054498" name="Text Box 91"/>
              <p:cNvSpPr txBox="1">
                <a:spLocks noChangeArrowheads="1"/>
              </p:cNvSpPr>
              <p:nvPr/>
            </p:nvSpPr>
            <p:spPr bwMode="auto">
              <a:xfrm>
                <a:off x="1597771" y="3058344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</a:p>
            </p:txBody>
          </p:sp>
          <p:sp>
            <p:nvSpPr>
              <p:cNvPr id="1054499" name="Text Box 92"/>
              <p:cNvSpPr txBox="1">
                <a:spLocks noChangeArrowheads="1"/>
              </p:cNvSpPr>
              <p:nvPr/>
            </p:nvSpPr>
            <p:spPr bwMode="auto">
              <a:xfrm>
                <a:off x="1597771" y="2690043"/>
                <a:ext cx="308372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8</a:t>
                </a:r>
              </a:p>
            </p:txBody>
          </p:sp>
          <p:sp>
            <p:nvSpPr>
              <p:cNvPr id="1054500" name="Text Box 93"/>
              <p:cNvSpPr txBox="1">
                <a:spLocks noChangeArrowheads="1"/>
              </p:cNvSpPr>
              <p:nvPr/>
            </p:nvSpPr>
            <p:spPr bwMode="auto">
              <a:xfrm>
                <a:off x="1483472" y="2321744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12</a:t>
                </a:r>
              </a:p>
            </p:txBody>
          </p:sp>
          <p:sp>
            <p:nvSpPr>
              <p:cNvPr id="1054501" name="Text Box 94"/>
              <p:cNvSpPr txBox="1">
                <a:spLocks noChangeArrowheads="1"/>
              </p:cNvSpPr>
              <p:nvPr/>
            </p:nvSpPr>
            <p:spPr bwMode="auto">
              <a:xfrm>
                <a:off x="1483472" y="1953444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16</a:t>
                </a:r>
              </a:p>
            </p:txBody>
          </p:sp>
          <p:sp>
            <p:nvSpPr>
              <p:cNvPr id="1054502" name="Text Box 95"/>
              <p:cNvSpPr txBox="1">
                <a:spLocks noChangeArrowheads="1"/>
              </p:cNvSpPr>
              <p:nvPr/>
            </p:nvSpPr>
            <p:spPr bwMode="auto">
              <a:xfrm>
                <a:off x="1483472" y="1572444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20</a:t>
                </a:r>
              </a:p>
            </p:txBody>
          </p:sp>
          <p:sp>
            <p:nvSpPr>
              <p:cNvPr id="1054503" name="Text Box 96"/>
              <p:cNvSpPr txBox="1">
                <a:spLocks noChangeArrowheads="1"/>
              </p:cNvSpPr>
              <p:nvPr/>
            </p:nvSpPr>
            <p:spPr bwMode="auto">
              <a:xfrm>
                <a:off x="1483472" y="1191444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24</a:t>
                </a:r>
              </a:p>
            </p:txBody>
          </p:sp>
          <p:sp>
            <p:nvSpPr>
              <p:cNvPr id="1054504" name="Oval 102"/>
              <p:cNvSpPr>
                <a:spLocks noChangeArrowheads="1"/>
              </p:cNvSpPr>
              <p:nvPr/>
            </p:nvSpPr>
            <p:spPr bwMode="auto">
              <a:xfrm>
                <a:off x="2521967" y="284403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05" name="Oval 103"/>
              <p:cNvSpPr>
                <a:spLocks noChangeArrowheads="1"/>
              </p:cNvSpPr>
              <p:nvPr/>
            </p:nvSpPr>
            <p:spPr bwMode="auto">
              <a:xfrm>
                <a:off x="2293367" y="322503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06" name="Oval 104"/>
              <p:cNvSpPr>
                <a:spLocks noChangeArrowheads="1"/>
              </p:cNvSpPr>
              <p:nvPr/>
            </p:nvSpPr>
            <p:spPr bwMode="auto">
              <a:xfrm>
                <a:off x="1845692" y="347268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07" name="Oval 105"/>
              <p:cNvSpPr>
                <a:spLocks noChangeArrowheads="1"/>
              </p:cNvSpPr>
              <p:nvPr/>
            </p:nvSpPr>
            <p:spPr bwMode="auto">
              <a:xfrm>
                <a:off x="2055242" y="3406006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08" name="Oval 106"/>
              <p:cNvSpPr>
                <a:spLocks noChangeArrowheads="1"/>
              </p:cNvSpPr>
              <p:nvPr/>
            </p:nvSpPr>
            <p:spPr bwMode="auto">
              <a:xfrm>
                <a:off x="2750567" y="2078856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09" name="Oval 107"/>
              <p:cNvSpPr>
                <a:spLocks noChangeArrowheads="1"/>
              </p:cNvSpPr>
              <p:nvPr/>
            </p:nvSpPr>
            <p:spPr bwMode="auto">
              <a:xfrm>
                <a:off x="2979167" y="1977256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0" name="Oval 108"/>
              <p:cNvSpPr>
                <a:spLocks noChangeArrowheads="1"/>
              </p:cNvSpPr>
              <p:nvPr/>
            </p:nvSpPr>
            <p:spPr bwMode="auto">
              <a:xfrm>
                <a:off x="3207767" y="188676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1" name="Oval 109"/>
              <p:cNvSpPr>
                <a:spLocks noChangeArrowheads="1"/>
              </p:cNvSpPr>
              <p:nvPr/>
            </p:nvSpPr>
            <p:spPr bwMode="auto">
              <a:xfrm>
                <a:off x="3669729" y="169626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2" name="Oval 110"/>
              <p:cNvSpPr>
                <a:spLocks noChangeArrowheads="1"/>
              </p:cNvSpPr>
              <p:nvPr/>
            </p:nvSpPr>
            <p:spPr bwMode="auto">
              <a:xfrm>
                <a:off x="3436367" y="179151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3" name="Oval 113"/>
              <p:cNvSpPr>
                <a:spLocks noChangeArrowheads="1"/>
              </p:cNvSpPr>
              <p:nvPr/>
            </p:nvSpPr>
            <p:spPr bwMode="auto">
              <a:xfrm>
                <a:off x="3898329" y="160101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4" name="Oval 114"/>
              <p:cNvSpPr>
                <a:spLocks noChangeArrowheads="1"/>
              </p:cNvSpPr>
              <p:nvPr/>
            </p:nvSpPr>
            <p:spPr bwMode="auto">
              <a:xfrm>
                <a:off x="4122167" y="151053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5" name="Oval 116"/>
              <p:cNvSpPr>
                <a:spLocks noChangeArrowheads="1"/>
              </p:cNvSpPr>
              <p:nvPr/>
            </p:nvSpPr>
            <p:spPr bwMode="auto">
              <a:xfrm>
                <a:off x="4574604" y="1305744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6" name="Oval 117"/>
              <p:cNvSpPr>
                <a:spLocks noChangeArrowheads="1"/>
              </p:cNvSpPr>
              <p:nvPr/>
            </p:nvSpPr>
            <p:spPr bwMode="auto">
              <a:xfrm>
                <a:off x="4350767" y="1400994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7" name="Freeform 118"/>
              <p:cNvSpPr/>
              <p:nvPr/>
            </p:nvSpPr>
            <p:spPr bwMode="auto">
              <a:xfrm>
                <a:off x="1807592" y="1358131"/>
                <a:ext cx="2814637" cy="2174875"/>
              </a:xfrm>
              <a:custGeom>
                <a:avLst/>
                <a:gdLst>
                  <a:gd name="T0" fmla="*/ 2147483647 w 1773"/>
                  <a:gd name="T1" fmla="*/ 0 h 1370"/>
                  <a:gd name="T2" fmla="*/ 2147483647 w 1773"/>
                  <a:gd name="T3" fmla="*/ 2147483647 h 1370"/>
                  <a:gd name="T4" fmla="*/ 2147483647 w 1773"/>
                  <a:gd name="T5" fmla="*/ 2147483647 h 1370"/>
                  <a:gd name="T6" fmla="*/ 2147483647 w 1773"/>
                  <a:gd name="T7" fmla="*/ 2147483647 h 1370"/>
                  <a:gd name="T8" fmla="*/ 2147483647 w 1773"/>
                  <a:gd name="T9" fmla="*/ 2147483647 h 1370"/>
                  <a:gd name="T10" fmla="*/ 2147483647 w 1773"/>
                  <a:gd name="T11" fmla="*/ 2147483647 h 1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73"/>
                  <a:gd name="T19" fmla="*/ 0 h 1370"/>
                  <a:gd name="T20" fmla="*/ 1773 w 1773"/>
                  <a:gd name="T21" fmla="*/ 1370 h 1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73" h="1370">
                    <a:moveTo>
                      <a:pt x="1773" y="0"/>
                    </a:moveTo>
                    <a:lnTo>
                      <a:pt x="618" y="487"/>
                    </a:lnTo>
                    <a:lnTo>
                      <a:pt x="480" y="961"/>
                    </a:lnTo>
                    <a:lnTo>
                      <a:pt x="331" y="1201"/>
                    </a:lnTo>
                    <a:lnTo>
                      <a:pt x="187" y="1321"/>
                    </a:lnTo>
                    <a:cubicBezTo>
                      <a:pt x="47" y="1370"/>
                      <a:pt x="0" y="1369"/>
                      <a:pt x="55" y="1369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8" name="Text Box 134"/>
              <p:cNvSpPr txBox="1">
                <a:spLocks noChangeArrowheads="1"/>
              </p:cNvSpPr>
              <p:nvPr/>
            </p:nvSpPr>
            <p:spPr bwMode="auto">
              <a:xfrm>
                <a:off x="8097265" y="3444105"/>
                <a:ext cx="1555819" cy="347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lvl="0" eaLnBrk="1" hangingPunct="1"/>
                <a:r>
                  <a:rPr lang="zh-CN" altLang="en-US" sz="1600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往返时延 </a:t>
                </a:r>
                <a:r>
                  <a:rPr lang="en-US" altLang="zh-CN" sz="1600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RTT</a:t>
                </a:r>
                <a:endParaRPr lang="zh-CN" altLang="en-US" sz="16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19" name="Text Box 135"/>
              <p:cNvSpPr txBox="1">
                <a:spLocks noChangeArrowheads="1"/>
              </p:cNvSpPr>
              <p:nvPr/>
            </p:nvSpPr>
            <p:spPr bwMode="auto">
              <a:xfrm>
                <a:off x="951930" y="840152"/>
                <a:ext cx="1780461" cy="347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zh-CN" altLang="en-US" sz="1600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拥塞窗口  </a:t>
                </a:r>
                <a:r>
                  <a:rPr lang="en-US" altLang="zh-CN" sz="1600" b="1" kern="0" dirty="0" err="1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cwnd</a:t>
                </a:r>
                <a:endParaRPr lang="en-US" altLang="zh-CN" sz="16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20" name="Text Box 140"/>
              <p:cNvSpPr txBox="1">
                <a:spLocks noChangeArrowheads="1"/>
              </p:cNvSpPr>
              <p:nvPr/>
            </p:nvSpPr>
            <p:spPr bwMode="auto">
              <a:xfrm>
                <a:off x="6895233" y="1724855"/>
                <a:ext cx="3043625" cy="347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lvl="0" eaLnBrk="1" hangingPunct="1"/>
                <a:r>
                  <a:rPr lang="en-US" altLang="zh-CN" sz="1600" b="1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3-ACK</a:t>
                </a:r>
                <a:r>
                  <a:rPr lang="zh-CN" altLang="en-US" sz="1600" b="1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（执行快恢复算法）</a:t>
                </a:r>
              </a:p>
            </p:txBody>
          </p:sp>
          <p:sp>
            <p:nvSpPr>
              <p:cNvPr id="1054521" name="Line 156"/>
              <p:cNvSpPr>
                <a:spLocks noChangeShapeType="1"/>
              </p:cNvSpPr>
              <p:nvPr/>
            </p:nvSpPr>
            <p:spPr bwMode="auto">
              <a:xfrm>
                <a:off x="1959992" y="2120131"/>
                <a:ext cx="8382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22" name="Line 146"/>
              <p:cNvSpPr>
                <a:spLocks noChangeShapeType="1"/>
              </p:cNvSpPr>
              <p:nvPr/>
            </p:nvSpPr>
            <p:spPr bwMode="auto">
              <a:xfrm flipV="1">
                <a:off x="1959992" y="1351781"/>
                <a:ext cx="2679700" cy="63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23" name="Text Box 203"/>
              <p:cNvSpPr txBox="1">
                <a:spLocks noChangeArrowheads="1"/>
              </p:cNvSpPr>
              <p:nvPr/>
            </p:nvSpPr>
            <p:spPr bwMode="auto">
              <a:xfrm>
                <a:off x="7861989" y="2038610"/>
                <a:ext cx="1314157" cy="5996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defTabSz="1219170" eaLnBrk="1" hangingPunct="1"/>
                <a:r>
                  <a:rPr lang="en-US" altLang="zh-CN" sz="1600" b="1" kern="0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TCP Reno </a:t>
                </a:r>
              </a:p>
              <a:p>
                <a:pPr algn="ctr" defTabSz="1219170" eaLnBrk="1" hangingPunct="1"/>
                <a:r>
                  <a:rPr lang="zh-CN" altLang="en-US" sz="1600" b="1" kern="0" dirty="0">
                    <a:solidFill>
                      <a:srgbClr val="000099"/>
                    </a:solidFill>
                    <a:latin typeface="微软雅黑" pitchFamily="34" charset="-122"/>
                    <a:ea typeface="微软雅黑" pitchFamily="34" charset="-122"/>
                  </a:rPr>
                  <a:t>版本</a:t>
                </a:r>
              </a:p>
            </p:txBody>
          </p:sp>
          <p:sp>
            <p:nvSpPr>
              <p:cNvPr id="1054524" name="Text Box 205"/>
              <p:cNvSpPr txBox="1">
                <a:spLocks noChangeArrowheads="1"/>
              </p:cNvSpPr>
              <p:nvPr/>
            </p:nvSpPr>
            <p:spPr bwMode="auto">
              <a:xfrm>
                <a:off x="333887" y="1861369"/>
                <a:ext cx="1132062" cy="5996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defTabSz="1219170" eaLnBrk="1" hangingPunct="1"/>
                <a:r>
                  <a:rPr lang="en-US" altLang="zh-CN" sz="1600" b="1" kern="0" dirty="0" err="1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ssthresh</a:t>
                </a:r>
                <a:endParaRPr lang="en-US" altLang="zh-CN" sz="1600" b="1" kern="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 defTabSz="1219170" eaLnBrk="1" hangingPunct="1"/>
                <a:r>
                  <a:rPr lang="zh-CN" altLang="en-US" sz="1600" b="1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</a:rPr>
                  <a:t> 的初始值</a:t>
                </a:r>
              </a:p>
            </p:txBody>
          </p:sp>
          <p:sp>
            <p:nvSpPr>
              <p:cNvPr id="1054525" name="Line 215"/>
              <p:cNvSpPr>
                <a:spLocks noChangeShapeType="1"/>
              </p:cNvSpPr>
              <p:nvPr/>
            </p:nvSpPr>
            <p:spPr bwMode="auto">
              <a:xfrm flipV="1">
                <a:off x="1388492" y="2148706"/>
                <a:ext cx="214312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26" name="Text Box 206"/>
              <p:cNvSpPr txBox="1">
                <a:spLocks noChangeArrowheads="1"/>
              </p:cNvSpPr>
              <p:nvPr/>
            </p:nvSpPr>
            <p:spPr bwMode="auto">
              <a:xfrm rot="20245475">
                <a:off x="6857132" y="2324367"/>
                <a:ext cx="1067391" cy="347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1600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拥塞避免</a:t>
                </a:r>
              </a:p>
            </p:txBody>
          </p:sp>
          <p:sp>
            <p:nvSpPr>
              <p:cNvPr id="1054527" name="Oval 125"/>
              <p:cNvSpPr>
                <a:spLocks noChangeArrowheads="1"/>
              </p:cNvSpPr>
              <p:nvPr/>
            </p:nvSpPr>
            <p:spPr bwMode="auto">
              <a:xfrm>
                <a:off x="5036567" y="339171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28" name="Oval 126"/>
              <p:cNvSpPr>
                <a:spLocks noChangeArrowheads="1"/>
              </p:cNvSpPr>
              <p:nvPr/>
            </p:nvSpPr>
            <p:spPr bwMode="auto">
              <a:xfrm>
                <a:off x="5266754" y="320598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29" name="Oval 127"/>
              <p:cNvSpPr>
                <a:spLocks noChangeArrowheads="1"/>
              </p:cNvSpPr>
              <p:nvPr/>
            </p:nvSpPr>
            <p:spPr bwMode="auto">
              <a:xfrm>
                <a:off x="4798442" y="3463156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0" name="Oval 128"/>
              <p:cNvSpPr>
                <a:spLocks noChangeArrowheads="1"/>
              </p:cNvSpPr>
              <p:nvPr/>
            </p:nvSpPr>
            <p:spPr bwMode="auto">
              <a:xfrm>
                <a:off x="5501704" y="283768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1" name="Oval 129"/>
              <p:cNvSpPr>
                <a:spLocks noChangeArrowheads="1"/>
              </p:cNvSpPr>
              <p:nvPr/>
            </p:nvSpPr>
            <p:spPr bwMode="auto">
              <a:xfrm>
                <a:off x="5973192" y="2353494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2" name="Oval 130"/>
              <p:cNvSpPr>
                <a:spLocks noChangeArrowheads="1"/>
              </p:cNvSpPr>
              <p:nvPr/>
            </p:nvSpPr>
            <p:spPr bwMode="auto">
              <a:xfrm>
                <a:off x="6646292" y="207726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3" name="Oval 131"/>
              <p:cNvSpPr>
                <a:spLocks noChangeArrowheads="1"/>
              </p:cNvSpPr>
              <p:nvPr/>
            </p:nvSpPr>
            <p:spPr bwMode="auto">
              <a:xfrm>
                <a:off x="6197029" y="225348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4" name="Oval 132"/>
              <p:cNvSpPr>
                <a:spLocks noChangeArrowheads="1"/>
              </p:cNvSpPr>
              <p:nvPr/>
            </p:nvSpPr>
            <p:spPr bwMode="auto">
              <a:xfrm>
                <a:off x="6425629" y="2162994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5" name="Line 147"/>
              <p:cNvSpPr>
                <a:spLocks noChangeShapeType="1"/>
              </p:cNvSpPr>
              <p:nvPr/>
            </p:nvSpPr>
            <p:spPr bwMode="auto">
              <a:xfrm rot="10800000">
                <a:off x="1977454" y="2499544"/>
                <a:ext cx="40386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145976" name="直接连接符 115"/>
              <p:cNvCxnSpPr>
                <a:cxnSpLocks noChangeShapeType="1"/>
              </p:cNvCxnSpPr>
              <p:nvPr/>
            </p:nvCxnSpPr>
            <p:spPr bwMode="auto">
              <a:xfrm>
                <a:off x="4626992" y="1348606"/>
                <a:ext cx="228600" cy="2138363"/>
              </a:xfrm>
              <a:prstGeom prst="line">
                <a:avLst/>
              </a:prstGeom>
              <a:noFill/>
              <a:ln w="19050" algn="ctr">
                <a:solidFill>
                  <a:srgbClr val="0000FF"/>
                </a:solidFill>
                <a:round/>
                <a:headEnd/>
                <a:tailEnd/>
              </a:ln>
            </p:spPr>
          </p:cxnSp>
          <p:sp>
            <p:nvSpPr>
              <p:cNvPr id="1054536" name="Rectangle 161"/>
              <p:cNvSpPr>
                <a:spLocks noChangeArrowheads="1"/>
              </p:cNvSpPr>
              <p:nvPr/>
            </p:nvSpPr>
            <p:spPr bwMode="auto">
              <a:xfrm>
                <a:off x="2485409" y="1712921"/>
                <a:ext cx="431801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defTabSz="1219170"/>
                <a:r>
                  <a:rPr lang="en-US" altLang="zh-CN" sz="2400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  <a:sym typeface="Wingdings" pitchFamily="2" charset="2"/>
                  </a:rPr>
                  <a:t></a:t>
                </a:r>
                <a:endParaRPr lang="zh-CN" altLang="en-US" sz="2400" kern="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7" name="Oval 129"/>
              <p:cNvSpPr>
                <a:spLocks noChangeArrowheads="1"/>
              </p:cNvSpPr>
              <p:nvPr/>
            </p:nvSpPr>
            <p:spPr bwMode="auto">
              <a:xfrm>
                <a:off x="5741417" y="245668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8" name="任意多边形 134"/>
              <p:cNvSpPr/>
              <p:nvPr/>
            </p:nvSpPr>
            <p:spPr bwMode="auto">
              <a:xfrm>
                <a:off x="4846067" y="2109019"/>
                <a:ext cx="1862137" cy="1401762"/>
              </a:xfrm>
              <a:custGeom>
                <a:avLst/>
                <a:gdLst>
                  <a:gd name="T0" fmla="*/ 0 w 1929384"/>
                  <a:gd name="T1" fmla="*/ 1404281 h 1426464"/>
                  <a:gd name="T2" fmla="*/ 224888 w 1929384"/>
                  <a:gd name="T3" fmla="*/ 1336767 h 1426464"/>
                  <a:gd name="T4" fmla="*/ 445365 w 1929384"/>
                  <a:gd name="T5" fmla="*/ 1152231 h 1426464"/>
                  <a:gd name="T6" fmla="*/ 903959 w 1929384"/>
                  <a:gd name="T7" fmla="*/ 409583 h 1426464"/>
                  <a:gd name="T8" fmla="*/ 1860836 w 1929384"/>
                  <a:gd name="T9" fmla="*/ 0 h 14264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9384"/>
                  <a:gd name="T16" fmla="*/ 0 h 1426464"/>
                  <a:gd name="T17" fmla="*/ 1929384 w 1929384"/>
                  <a:gd name="T18" fmla="*/ 1426464 h 14264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9384" h="1426464">
                    <a:moveTo>
                      <a:pt x="0" y="1426464"/>
                    </a:moveTo>
                    <a:lnTo>
                      <a:pt x="233172" y="1357884"/>
                    </a:lnTo>
                    <a:lnTo>
                      <a:pt x="461772" y="1170432"/>
                    </a:lnTo>
                    <a:lnTo>
                      <a:pt x="937260" y="416052"/>
                    </a:lnTo>
                    <a:lnTo>
                      <a:pt x="1929384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39" name="Rectangle 161"/>
              <p:cNvSpPr>
                <a:spLocks noChangeArrowheads="1"/>
              </p:cNvSpPr>
              <p:nvPr/>
            </p:nvSpPr>
            <p:spPr bwMode="auto">
              <a:xfrm>
                <a:off x="4429626" y="976842"/>
                <a:ext cx="358776" cy="288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 defTabSz="1219170"/>
                <a:r>
                  <a:rPr lang="en-US" altLang="zh-CN" sz="2400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  <a:sym typeface="Wingdings" pitchFamily="2" charset="2"/>
                  </a:rPr>
                  <a:t></a:t>
                </a:r>
                <a:endParaRPr lang="zh-CN" altLang="en-US" sz="2400" kern="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145977" name="直接连接符 119"/>
              <p:cNvCxnSpPr>
                <a:cxnSpLocks noChangeShapeType="1"/>
              </p:cNvCxnSpPr>
              <p:nvPr/>
            </p:nvCxnSpPr>
            <p:spPr bwMode="auto">
              <a:xfrm flipH="1">
                <a:off x="6909817" y="2902769"/>
                <a:ext cx="1587" cy="655637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3145978" name="直接连接符 121"/>
              <p:cNvCxnSpPr>
                <a:cxnSpLocks noChangeShapeType="1"/>
              </p:cNvCxnSpPr>
              <p:nvPr/>
            </p:nvCxnSpPr>
            <p:spPr bwMode="auto">
              <a:xfrm>
                <a:off x="1993329" y="2886894"/>
                <a:ext cx="5545138" cy="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sp>
            <p:nvSpPr>
              <p:cNvPr id="1054540" name="Oval 130"/>
              <p:cNvSpPr>
                <a:spLocks noChangeArrowheads="1"/>
              </p:cNvSpPr>
              <p:nvPr/>
            </p:nvSpPr>
            <p:spPr bwMode="auto">
              <a:xfrm>
                <a:off x="6866954" y="284561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41" name="Line 24"/>
              <p:cNvSpPr>
                <a:spLocks noChangeShapeType="1"/>
              </p:cNvSpPr>
              <p:nvPr/>
            </p:nvSpPr>
            <p:spPr bwMode="auto">
              <a:xfrm>
                <a:off x="7367017" y="348538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42" name="Line 22"/>
              <p:cNvSpPr>
                <a:spLocks noChangeShapeType="1"/>
              </p:cNvSpPr>
              <p:nvPr/>
            </p:nvSpPr>
            <p:spPr bwMode="auto">
              <a:xfrm>
                <a:off x="7135242" y="3490144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43" name="Text Box 87"/>
              <p:cNvSpPr txBox="1">
                <a:spLocks noChangeArrowheads="1"/>
              </p:cNvSpPr>
              <p:nvPr/>
            </p:nvSpPr>
            <p:spPr bwMode="auto">
              <a:xfrm>
                <a:off x="7112480" y="3593331"/>
                <a:ext cx="420693" cy="305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333" b="1" kern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24</a:t>
                </a:r>
              </a:p>
            </p:txBody>
          </p:sp>
          <p:sp>
            <p:nvSpPr>
              <p:cNvPr id="1054544" name="Line 22"/>
              <p:cNvSpPr>
                <a:spLocks noChangeShapeType="1"/>
              </p:cNvSpPr>
              <p:nvPr/>
            </p:nvSpPr>
            <p:spPr bwMode="auto">
              <a:xfrm>
                <a:off x="7605142" y="3498081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145979" name="直接连接符 134"/>
              <p:cNvCxnSpPr>
                <a:cxnSpLocks noChangeShapeType="1"/>
                <a:stCxn id="1054538" idx="4"/>
                <a:endCxn id="1054540" idx="3"/>
              </p:cNvCxnSpPr>
              <p:nvPr/>
            </p:nvCxnSpPr>
            <p:spPr bwMode="auto">
              <a:xfrm>
                <a:off x="6706617" y="2109019"/>
                <a:ext cx="200025" cy="785812"/>
              </a:xfrm>
              <a:prstGeom prst="line">
                <a:avLst/>
              </a:prstGeom>
              <a:noFill/>
              <a:ln w="19050" algn="ctr">
                <a:solidFill>
                  <a:srgbClr val="0000FF"/>
                </a:solidFill>
                <a:round/>
                <a:headEnd/>
                <a:tailEnd/>
              </a:ln>
            </p:spPr>
          </p:cxnSp>
          <p:sp>
            <p:nvSpPr>
              <p:cNvPr id="1054545" name="Text Box 206"/>
              <p:cNvSpPr txBox="1">
                <a:spLocks noChangeArrowheads="1"/>
              </p:cNvSpPr>
              <p:nvPr/>
            </p:nvSpPr>
            <p:spPr bwMode="auto">
              <a:xfrm rot="20070649">
                <a:off x="5723061" y="1920698"/>
                <a:ext cx="1067391" cy="347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1600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拥塞避免</a:t>
                </a:r>
              </a:p>
            </p:txBody>
          </p:sp>
          <p:sp>
            <p:nvSpPr>
              <p:cNvPr id="1054546" name="Text Box 206"/>
              <p:cNvSpPr txBox="1">
                <a:spLocks noChangeArrowheads="1"/>
              </p:cNvSpPr>
              <p:nvPr/>
            </p:nvSpPr>
            <p:spPr bwMode="auto">
              <a:xfrm rot="20205303">
                <a:off x="2816109" y="1482407"/>
                <a:ext cx="1067391" cy="347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1600" b="1" kern="0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拥塞避免</a:t>
                </a:r>
              </a:p>
            </p:txBody>
          </p:sp>
          <p:sp>
            <p:nvSpPr>
              <p:cNvPr id="1054547" name="TextBox 147"/>
              <p:cNvSpPr txBox="1">
                <a:spLocks noChangeArrowheads="1"/>
              </p:cNvSpPr>
              <p:nvPr/>
            </p:nvSpPr>
            <p:spPr bwMode="auto">
              <a:xfrm>
                <a:off x="5403008" y="2081222"/>
                <a:ext cx="487066" cy="473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zh-CN" altLang="en-US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  <a:sym typeface="Wingdings" pitchFamily="2" charset="2"/>
                  </a:rPr>
                  <a:t></a:t>
                </a:r>
                <a:endParaRPr lang="zh-CN" altLang="en-US" kern="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48" name="TextBox 148"/>
              <p:cNvSpPr txBox="1">
                <a:spLocks noChangeArrowheads="1"/>
              </p:cNvSpPr>
              <p:nvPr/>
            </p:nvSpPr>
            <p:spPr bwMode="auto">
              <a:xfrm>
                <a:off x="6553947" y="1679583"/>
                <a:ext cx="487066" cy="473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zh-CN" altLang="en-US" kern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  <a:sym typeface="Wingdings" pitchFamily="2" charset="2"/>
                  </a:rPr>
                  <a:t></a:t>
                </a:r>
                <a:endParaRPr lang="zh-CN" altLang="en-US" ker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145980" name="直接连接符 153"/>
              <p:cNvCxnSpPr>
                <a:cxnSpLocks noChangeShapeType="1"/>
              </p:cNvCxnSpPr>
              <p:nvPr/>
            </p:nvCxnSpPr>
            <p:spPr bwMode="auto">
              <a:xfrm flipV="1">
                <a:off x="5774754" y="2532881"/>
                <a:ext cx="11113" cy="98425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3145981" name="直接连接符 254"/>
              <p:cNvCxnSpPr>
                <a:cxnSpLocks noChangeShapeType="1"/>
              </p:cNvCxnSpPr>
              <p:nvPr/>
            </p:nvCxnSpPr>
            <p:spPr bwMode="auto">
              <a:xfrm flipV="1">
                <a:off x="6682804" y="2177281"/>
                <a:ext cx="11113" cy="143510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3145982" name="直接连接符 141"/>
              <p:cNvCxnSpPr>
                <a:cxnSpLocks noChangeShapeType="1"/>
              </p:cNvCxnSpPr>
              <p:nvPr/>
            </p:nvCxnSpPr>
            <p:spPr bwMode="auto">
              <a:xfrm flipV="1">
                <a:off x="6847904" y="2386831"/>
                <a:ext cx="1219200" cy="528638"/>
              </a:xfrm>
              <a:prstGeom prst="line">
                <a:avLst/>
              </a:prstGeom>
              <a:noFill/>
              <a:ln w="19050" algn="ctr">
                <a:solidFill>
                  <a:srgbClr val="0000FF"/>
                </a:solidFill>
                <a:round/>
                <a:headEnd/>
                <a:tailEnd/>
              </a:ln>
            </p:spPr>
          </p:cxnSp>
          <p:sp>
            <p:nvSpPr>
              <p:cNvPr id="1054549" name="Oval 202"/>
              <p:cNvSpPr>
                <a:spLocks noChangeArrowheads="1"/>
              </p:cNvSpPr>
              <p:nvPr/>
            </p:nvSpPr>
            <p:spPr bwMode="auto">
              <a:xfrm>
                <a:off x="7554342" y="2556694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50" name="Oval 130"/>
              <p:cNvSpPr>
                <a:spLocks noChangeArrowheads="1"/>
              </p:cNvSpPr>
              <p:nvPr/>
            </p:nvSpPr>
            <p:spPr bwMode="auto">
              <a:xfrm>
                <a:off x="7092379" y="2745606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51" name="Oval 130"/>
              <p:cNvSpPr>
                <a:spLocks noChangeArrowheads="1"/>
              </p:cNvSpPr>
              <p:nvPr/>
            </p:nvSpPr>
            <p:spPr bwMode="auto">
              <a:xfrm>
                <a:off x="7325742" y="2653531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52" name="TextBox 149"/>
              <p:cNvSpPr txBox="1">
                <a:spLocks noChangeArrowheads="1"/>
              </p:cNvSpPr>
              <p:nvPr/>
            </p:nvSpPr>
            <p:spPr bwMode="auto">
              <a:xfrm>
                <a:off x="6626974" y="2832109"/>
                <a:ext cx="487066" cy="473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defTabSz="1219170" eaLnBrk="1" hangingPunct="1"/>
                <a:r>
                  <a:rPr lang="zh-CN" altLang="en-US" kern="0" dirty="0">
                    <a:solidFill>
                      <a:srgbClr val="CC00CC"/>
                    </a:solidFill>
                    <a:latin typeface="微软雅黑" pitchFamily="34" charset="-122"/>
                    <a:ea typeface="微软雅黑" pitchFamily="34" charset="-122"/>
                    <a:sym typeface="Wingdings" pitchFamily="2" charset="2"/>
                  </a:rPr>
                  <a:t></a:t>
                </a:r>
                <a:endParaRPr lang="zh-CN" altLang="en-US" kern="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4553" name="Oval 202"/>
              <p:cNvSpPr>
                <a:spLocks noChangeArrowheads="1"/>
              </p:cNvSpPr>
              <p:nvPr/>
            </p:nvSpPr>
            <p:spPr bwMode="auto">
              <a:xfrm>
                <a:off x="7790879" y="2439219"/>
                <a:ext cx="88900" cy="889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1219170"/>
                <a:endParaRPr lang="zh-CN" altLang="en-US" sz="1600" b="1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145983" name="直接连接符 261"/>
              <p:cNvCxnSpPr>
                <a:cxnSpLocks noChangeShapeType="1"/>
              </p:cNvCxnSpPr>
              <p:nvPr/>
            </p:nvCxnSpPr>
            <p:spPr bwMode="auto">
              <a:xfrm flipH="1">
                <a:off x="4625404" y="1472431"/>
                <a:ext cx="4763" cy="207645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3145984" name="直接连接符 119"/>
              <p:cNvCxnSpPr>
                <a:cxnSpLocks noChangeShapeType="1"/>
              </p:cNvCxnSpPr>
              <p:nvPr/>
            </p:nvCxnSpPr>
            <p:spPr bwMode="auto">
              <a:xfrm>
                <a:off x="2796604" y="2229669"/>
                <a:ext cx="0" cy="1306512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</p:grpSp>
        <p:sp>
          <p:nvSpPr>
            <p:cNvPr id="1054554" name="Text Box 140"/>
            <p:cNvSpPr txBox="1">
              <a:spLocks noChangeArrowheads="1"/>
            </p:cNvSpPr>
            <p:nvPr/>
          </p:nvSpPr>
          <p:spPr bwMode="auto">
            <a:xfrm>
              <a:off x="6156431" y="2697983"/>
              <a:ext cx="2016125" cy="253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第 </a:t>
              </a:r>
              <a:r>
                <a:rPr lang="en-US" altLang="zh-CN" sz="16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16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次调整 </a:t>
              </a:r>
              <a:r>
                <a:rPr lang="en-US" altLang="zh-CN" sz="1600" b="1" kern="0" dirty="0" err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ssthresh</a:t>
              </a:r>
              <a:r>
                <a:rPr lang="en-US" altLang="zh-CN" sz="16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endParaRPr lang="zh-CN" altLang="en-US" sz="1600" b="1" kern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4555" name="Line 167"/>
            <p:cNvSpPr>
              <a:spLocks noChangeShapeType="1"/>
            </p:cNvSpPr>
            <p:nvPr/>
          </p:nvSpPr>
          <p:spPr bwMode="auto">
            <a:xfrm flipH="1" flipV="1">
              <a:off x="6211355" y="2612454"/>
              <a:ext cx="217488" cy="141287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1054556" name="AutoShape 5"/>
          <p:cNvSpPr>
            <a:spLocks noChangeArrowheads="1"/>
          </p:cNvSpPr>
          <p:nvPr/>
        </p:nvSpPr>
        <p:spPr bwMode="auto">
          <a:xfrm>
            <a:off x="726860" y="828406"/>
            <a:ext cx="10738281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4557" name="矩形 264"/>
          <p:cNvSpPr/>
          <p:nvPr/>
        </p:nvSpPr>
        <p:spPr>
          <a:xfrm>
            <a:off x="821447" y="772085"/>
            <a:ext cx="3940502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拥塞控制算法的实现举例</a:t>
            </a:r>
          </a:p>
        </p:txBody>
      </p:sp>
      <p:sp>
        <p:nvSpPr>
          <p:cNvPr id="1054558" name="Line 167"/>
          <p:cNvSpPr>
            <a:spLocks noChangeShapeType="1"/>
          </p:cNvSpPr>
          <p:nvPr/>
        </p:nvSpPr>
        <p:spPr bwMode="auto">
          <a:xfrm>
            <a:off x="7444031" y="3072579"/>
            <a:ext cx="490461" cy="390055"/>
          </a:xfrm>
          <a:prstGeom prst="line">
            <a:avLst/>
          </a:prstGeom>
          <a:noFill/>
          <a:ln w="57150">
            <a:solidFill>
              <a:srgbClr val="FF00FF">
                <a:alpha val="80000"/>
              </a:srgbClr>
            </a:solidFill>
            <a:round/>
            <a:headEnd type="none"/>
            <a:tailEnd type="triangle" w="med" len="med"/>
          </a:ln>
        </p:spPr>
        <p:txBody>
          <a:bodyPr wrap="none" anchor="ctr"/>
          <a:lstStyle/>
          <a:p>
            <a:pPr defTabSz="1219170"/>
            <a:endParaRPr lang="zh-CN" altLang="en-US" sz="3200" b="1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559" name="圆角矩形 1"/>
          <p:cNvSpPr/>
          <p:nvPr/>
        </p:nvSpPr>
        <p:spPr>
          <a:xfrm>
            <a:off x="726860" y="1426465"/>
            <a:ext cx="10738280" cy="438911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54560" name="AutoShape 5"/>
          <p:cNvSpPr>
            <a:spLocks noChangeArrowheads="1"/>
          </p:cNvSpPr>
          <p:nvPr/>
        </p:nvSpPr>
        <p:spPr bwMode="auto">
          <a:xfrm>
            <a:off x="726860" y="837612"/>
            <a:ext cx="10738280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4561" name="Rectangle 6"/>
          <p:cNvSpPr>
            <a:spLocks noChangeArrowheads="1"/>
          </p:cNvSpPr>
          <p:nvPr/>
        </p:nvSpPr>
        <p:spPr bwMode="auto">
          <a:xfrm>
            <a:off x="4418247" y="806825"/>
            <a:ext cx="3332451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拥塞控制流程图</a:t>
            </a:r>
          </a:p>
        </p:txBody>
      </p:sp>
      <p:grpSp>
        <p:nvGrpSpPr>
          <p:cNvPr id="941" name="组合 30"/>
          <p:cNvGrpSpPr/>
          <p:nvPr/>
        </p:nvGrpSpPr>
        <p:grpSpPr>
          <a:xfrm>
            <a:off x="1843431" y="1518869"/>
            <a:ext cx="8992123" cy="4301136"/>
            <a:chOff x="41479" y="1207205"/>
            <a:chExt cx="10835585" cy="5182905"/>
          </a:xfrm>
        </p:grpSpPr>
        <p:cxnSp>
          <p:nvCxnSpPr>
            <p:cNvPr id="3145985" name="肘形连接符 105"/>
            <p:cNvCxnSpPr>
              <a:cxnSpLocks/>
              <a:endCxn id="1054565" idx="0"/>
            </p:cNvCxnSpPr>
            <p:nvPr/>
          </p:nvCxnSpPr>
          <p:spPr>
            <a:xfrm>
              <a:off x="7565199" y="2730400"/>
              <a:ext cx="1800396" cy="863599"/>
            </a:xfrm>
            <a:prstGeom prst="bentConnector2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986" name="肘形连接符 13"/>
            <p:cNvCxnSpPr>
              <a:cxnSpLocks/>
              <a:endCxn id="1054565" idx="2"/>
            </p:cNvCxnSpPr>
            <p:nvPr/>
          </p:nvCxnSpPr>
          <p:spPr>
            <a:xfrm flipV="1">
              <a:off x="7565199" y="4298658"/>
              <a:ext cx="1800396" cy="592260"/>
            </a:xfrm>
            <a:prstGeom prst="bentConnector2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987" name="直接箭头连接符 4"/>
            <p:cNvCxnSpPr>
              <a:cxnSpLocks/>
            </p:cNvCxnSpPr>
            <p:nvPr/>
          </p:nvCxnSpPr>
          <p:spPr>
            <a:xfrm>
              <a:off x="5005388" y="1668870"/>
              <a:ext cx="0" cy="499555"/>
            </a:xfrm>
            <a:prstGeom prst="straightConnector1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562" name="TextBox 31"/>
            <p:cNvSpPr txBox="1">
              <a:spLocks noChangeArrowheads="1"/>
            </p:cNvSpPr>
            <p:nvPr/>
          </p:nvSpPr>
          <p:spPr bwMode="auto">
            <a:xfrm>
              <a:off x="4091987" y="1207205"/>
              <a:ext cx="1758173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TCP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连接建立</a:t>
              </a:r>
            </a:p>
          </p:txBody>
        </p:sp>
        <p:cxnSp>
          <p:nvCxnSpPr>
            <p:cNvPr id="3145988" name="直接箭头连接符 6"/>
            <p:cNvCxnSpPr>
              <a:cxnSpLocks/>
            </p:cNvCxnSpPr>
            <p:nvPr/>
          </p:nvCxnSpPr>
          <p:spPr>
            <a:xfrm>
              <a:off x="5023645" y="3451125"/>
              <a:ext cx="0" cy="939330"/>
            </a:xfrm>
            <a:prstGeom prst="straightConnector1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563" name="AutoShape 5"/>
            <p:cNvSpPr>
              <a:spLocks noChangeArrowheads="1"/>
            </p:cNvSpPr>
            <p:nvPr/>
          </p:nvSpPr>
          <p:spPr bwMode="auto">
            <a:xfrm>
              <a:off x="2809082" y="4390456"/>
              <a:ext cx="4870860" cy="1169986"/>
            </a:xfrm>
            <a:prstGeom prst="flowChartProcess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4564" name="TextBox 65"/>
            <p:cNvSpPr txBox="1">
              <a:spLocks noChangeArrowheads="1"/>
            </p:cNvSpPr>
            <p:nvPr/>
          </p:nvSpPr>
          <p:spPr bwMode="auto">
            <a:xfrm>
              <a:off x="41479" y="1387974"/>
              <a:ext cx="2733943" cy="70465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ssthresh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</a:t>
              </a:r>
              <a:r>
                <a:rPr lang="en-US" altLang="zh-CN" sz="1600" b="1" dirty="0" err="1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cwnd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/ 2</a:t>
              </a:r>
            </a:p>
            <a:p>
              <a:pPr algn="ctr" eaLnBrk="1" hangingPunct="1"/>
              <a:r>
                <a:rPr lang="en-US" altLang="zh-CN" sz="1600" b="1" dirty="0" err="1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cwnd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1</a:t>
              </a:r>
              <a:endParaRPr lang="zh-CN" altLang="en-US" sz="16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cxnSp>
          <p:nvCxnSpPr>
            <p:cNvPr id="3145989" name="肘形连接符 9"/>
            <p:cNvCxnSpPr>
              <a:cxnSpLocks/>
              <a:stCxn id="1054571" idx="1"/>
              <a:endCxn id="1054564" idx="2"/>
            </p:cNvCxnSpPr>
            <p:nvPr/>
          </p:nvCxnSpPr>
          <p:spPr>
            <a:xfrm rot="10800000">
              <a:off x="1408450" y="2092634"/>
              <a:ext cx="1402454" cy="697284"/>
            </a:xfrm>
            <a:prstGeom prst="bentConnector2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990" name="肘形连接符 10"/>
            <p:cNvCxnSpPr>
              <a:cxnSpLocks/>
              <a:stCxn id="1054563" idx="1"/>
              <a:endCxn id="1054564" idx="2"/>
            </p:cNvCxnSpPr>
            <p:nvPr/>
          </p:nvCxnSpPr>
          <p:spPr>
            <a:xfrm rot="10800000">
              <a:off x="1408450" y="2092634"/>
              <a:ext cx="1400632" cy="2882815"/>
            </a:xfrm>
            <a:prstGeom prst="bentConnector2">
              <a:avLst/>
            </a:prstGeom>
            <a:ln w="127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565" name="TextBox 36"/>
            <p:cNvSpPr txBox="1">
              <a:spLocks noChangeArrowheads="1"/>
            </p:cNvSpPr>
            <p:nvPr/>
          </p:nvSpPr>
          <p:spPr bwMode="auto">
            <a:xfrm>
              <a:off x="7854125" y="3593999"/>
              <a:ext cx="3022939" cy="70465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ssthresh = cwnd / 2</a:t>
              </a:r>
            </a:p>
            <a:p>
              <a:pPr algn="ctr" eaLnBrk="1" hangingPunct="1"/>
              <a:r>
                <a:rPr lang="en-US" altLang="zh-CN" sz="1600" b="1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cwnd = ssthresh</a:t>
              </a:r>
              <a:endParaRPr lang="zh-CN" altLang="en-US" sz="1600" b="1"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cxnSp>
          <p:nvCxnSpPr>
            <p:cNvPr id="3145991" name="直接箭头连接符 12"/>
            <p:cNvCxnSpPr>
              <a:cxnSpLocks/>
              <a:stCxn id="1054565" idx="1"/>
            </p:cNvCxnSpPr>
            <p:nvPr/>
          </p:nvCxnSpPr>
          <p:spPr>
            <a:xfrm flipH="1">
              <a:off x="5022056" y="3946329"/>
              <a:ext cx="2832069" cy="19816"/>
            </a:xfrm>
            <a:prstGeom prst="straightConnector1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992" name="直接箭头连接符 15"/>
            <p:cNvCxnSpPr>
              <a:cxnSpLocks/>
            </p:cNvCxnSpPr>
            <p:nvPr/>
          </p:nvCxnSpPr>
          <p:spPr>
            <a:xfrm>
              <a:off x="5022057" y="5558286"/>
              <a:ext cx="4762" cy="466726"/>
            </a:xfrm>
            <a:prstGeom prst="straightConnector1">
              <a:avLst/>
            </a:prstGeom>
            <a:ln w="12700">
              <a:solidFill>
                <a:srgbClr val="0033CC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566" name="TextBox 114"/>
            <p:cNvSpPr txBox="1">
              <a:spLocks noChangeArrowheads="1"/>
            </p:cNvSpPr>
            <p:nvPr/>
          </p:nvSpPr>
          <p:spPr bwMode="auto">
            <a:xfrm>
              <a:off x="4157879" y="5982150"/>
              <a:ext cx="1758171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TCP </a:t>
              </a: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连接释放</a:t>
              </a:r>
            </a:p>
          </p:txBody>
        </p:sp>
        <p:sp>
          <p:nvSpPr>
            <p:cNvPr id="1054567" name="AutoShape 5"/>
            <p:cNvSpPr>
              <a:spLocks noChangeArrowheads="1"/>
            </p:cNvSpPr>
            <p:nvPr/>
          </p:nvSpPr>
          <p:spPr bwMode="auto">
            <a:xfrm>
              <a:off x="2809081" y="2154138"/>
              <a:ext cx="4870860" cy="1358938"/>
            </a:xfrm>
            <a:prstGeom prst="flowChartProcess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4568" name="Text Box 15"/>
            <p:cNvSpPr txBox="1">
              <a:spLocks noChangeArrowheads="1"/>
            </p:cNvSpPr>
            <p:nvPr/>
          </p:nvSpPr>
          <p:spPr bwMode="auto">
            <a:xfrm>
              <a:off x="4472450" y="2118881"/>
              <a:ext cx="964271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慢开始</a:t>
              </a:r>
            </a:p>
          </p:txBody>
        </p:sp>
        <p:sp>
          <p:nvSpPr>
            <p:cNvPr id="1054569" name="Text Box 16"/>
            <p:cNvSpPr txBox="1">
              <a:spLocks noChangeArrowheads="1"/>
            </p:cNvSpPr>
            <p:nvPr/>
          </p:nvSpPr>
          <p:spPr bwMode="auto">
            <a:xfrm>
              <a:off x="3449325" y="2461318"/>
              <a:ext cx="3197836" cy="7046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初始拥塞窗口 </a:t>
              </a:r>
              <a:r>
                <a:rPr lang="en-US" altLang="zh-CN" sz="1600" b="1" dirty="0" err="1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cwnd</a:t>
              </a:r>
              <a:r>
                <a:rPr lang="en-US" altLang="zh-CN" sz="1600" b="1" dirty="0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 =</a:t>
              </a:r>
              <a:r>
                <a:rPr lang="zh-CN" altLang="en-US" sz="1600" b="1" dirty="0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1600" b="1" dirty="0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1 </a:t>
              </a:r>
              <a:endParaRPr lang="zh-CN" altLang="en-US" sz="1600" b="1" dirty="0">
                <a:solidFill>
                  <a:srgbClr val="00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hangingPunct="1"/>
              <a:r>
                <a:rPr lang="zh-CN" altLang="en-US" sz="1600" b="1" dirty="0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按指数规律</a:t>
              </a:r>
              <a:r>
                <a:rPr lang="zh-CN" altLang="en-US" sz="1467" b="1" dirty="0">
                  <a:solidFill>
                    <a:srgbClr val="00FFFF"/>
                  </a:solidFill>
                  <a:latin typeface="微软雅黑" pitchFamily="34" charset="-122"/>
                  <a:ea typeface="微软雅黑" pitchFamily="34" charset="-122"/>
                </a:rPr>
                <a:t>增大</a:t>
              </a:r>
              <a:endParaRPr lang="en-US" altLang="zh-CN" sz="1600" b="1" u="sng" dirty="0">
                <a:solidFill>
                  <a:srgbClr val="00FFFF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sp>
          <p:nvSpPr>
            <p:cNvPr id="1054570" name="TextBox 25"/>
            <p:cNvSpPr txBox="1">
              <a:spLocks noChangeArrowheads="1"/>
            </p:cNvSpPr>
            <p:nvPr/>
          </p:nvSpPr>
          <p:spPr bwMode="auto">
            <a:xfrm>
              <a:off x="6332090" y="2443063"/>
              <a:ext cx="1395328" cy="7046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 eaLnBrk="1" hangingPunct="1"/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个重复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r" eaLnBrk="1" hangingPunct="1"/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ACK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54571" name="TextBox 26"/>
            <p:cNvSpPr txBox="1">
              <a:spLocks noChangeArrowheads="1"/>
            </p:cNvSpPr>
            <p:nvPr/>
          </p:nvSpPr>
          <p:spPr bwMode="auto">
            <a:xfrm>
              <a:off x="2810904" y="2585937"/>
              <a:ext cx="717022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超时</a:t>
              </a:r>
            </a:p>
          </p:txBody>
        </p:sp>
        <p:sp>
          <p:nvSpPr>
            <p:cNvPr id="1054572" name="TextBox 32"/>
            <p:cNvSpPr txBox="1">
              <a:spLocks noChangeArrowheads="1"/>
            </p:cNvSpPr>
            <p:nvPr/>
          </p:nvSpPr>
          <p:spPr bwMode="auto">
            <a:xfrm>
              <a:off x="3910452" y="3072777"/>
              <a:ext cx="2203142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cwnd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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ssthresh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4573" name="Text Box 15"/>
            <p:cNvSpPr txBox="1">
              <a:spLocks noChangeArrowheads="1"/>
            </p:cNvSpPr>
            <p:nvPr/>
          </p:nvSpPr>
          <p:spPr bwMode="auto">
            <a:xfrm>
              <a:off x="4448482" y="4338229"/>
              <a:ext cx="1211519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solidFill>
                    <a:srgbClr val="A50021"/>
                  </a:solidFill>
                  <a:latin typeface="微软雅黑" pitchFamily="34" charset="-122"/>
                  <a:ea typeface="微软雅黑" pitchFamily="34" charset="-122"/>
                </a:rPr>
                <a:t>拥塞避免</a:t>
              </a:r>
            </a:p>
          </p:txBody>
        </p:sp>
        <p:sp>
          <p:nvSpPr>
            <p:cNvPr id="1054574" name="TextBox 41"/>
            <p:cNvSpPr txBox="1">
              <a:spLocks noChangeArrowheads="1"/>
            </p:cNvSpPr>
            <p:nvPr/>
          </p:nvSpPr>
          <p:spPr bwMode="auto">
            <a:xfrm>
              <a:off x="6379567" y="4642166"/>
              <a:ext cx="1347850" cy="7046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 eaLnBrk="1" hangingPunct="1"/>
              <a:r>
                <a:rPr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 </a:t>
              </a:r>
              <a:r>
                <a:rPr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个重复</a:t>
              </a:r>
              <a:endParaRPr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algn="r" eaLnBrk="1" hangingPunct="1"/>
              <a:r>
                <a:rPr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 </a:t>
              </a:r>
              <a:r>
                <a:rPr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ACK</a:t>
              </a:r>
              <a:endParaRPr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54575" name="TextBox 42"/>
            <p:cNvSpPr txBox="1">
              <a:spLocks noChangeArrowheads="1"/>
            </p:cNvSpPr>
            <p:nvPr/>
          </p:nvSpPr>
          <p:spPr bwMode="auto">
            <a:xfrm>
              <a:off x="2810904" y="4715163"/>
              <a:ext cx="717022" cy="407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超时</a:t>
              </a:r>
            </a:p>
          </p:txBody>
        </p:sp>
        <p:sp>
          <p:nvSpPr>
            <p:cNvPr id="1054576" name="Text Box 16"/>
            <p:cNvSpPr txBox="1">
              <a:spLocks noChangeArrowheads="1"/>
            </p:cNvSpPr>
            <p:nvPr/>
          </p:nvSpPr>
          <p:spPr bwMode="auto">
            <a:xfrm>
              <a:off x="3932017" y="4664561"/>
              <a:ext cx="2220366" cy="7046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拥塞窗口 </a:t>
              </a:r>
              <a:r>
                <a:rPr lang="en-US" altLang="zh-CN" sz="1600" b="1" dirty="0" err="1">
                  <a:latin typeface="微软雅黑" pitchFamily="34" charset="-122"/>
                  <a:ea typeface="微软雅黑" pitchFamily="34" charset="-122"/>
                </a:rPr>
                <a:t>cwnd</a:t>
              </a:r>
              <a:r>
                <a:rPr lang="en-US" altLang="zh-CN" sz="1600" b="1" dirty="0">
                  <a:latin typeface="微软雅黑" pitchFamily="34" charset="-122"/>
                  <a:ea typeface="微软雅黑" pitchFamily="34" charset="-122"/>
                </a:rPr>
                <a:t> </a:t>
              </a:r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 eaLnBrk="1" hangingPunct="1"/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按线性规律增大</a:t>
              </a:r>
              <a:endParaRPr lang="en-US" altLang="zh-CN" sz="1600" b="1" u="sng" dirty="0"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grpSp>
          <p:nvGrpSpPr>
            <p:cNvPr id="942" name="组合 27"/>
            <p:cNvGrpSpPr/>
            <p:nvPr/>
          </p:nvGrpSpPr>
          <p:grpSpPr>
            <a:xfrm>
              <a:off x="2775422" y="1756579"/>
              <a:ext cx="1169466" cy="397559"/>
              <a:chOff x="2775422" y="1756579"/>
              <a:chExt cx="1169466" cy="397559"/>
            </a:xfrm>
          </p:grpSpPr>
          <p:cxnSp>
            <p:nvCxnSpPr>
              <p:cNvPr id="3145993" name="直接连接符 28"/>
              <p:cNvCxnSpPr>
                <a:cxnSpLocks/>
              </p:cNvCxnSpPr>
              <p:nvPr/>
            </p:nvCxnSpPr>
            <p:spPr bwMode="auto">
              <a:xfrm>
                <a:off x="2775422" y="1756579"/>
                <a:ext cx="1169466" cy="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45994" name="直接箭头连接符 29"/>
              <p:cNvCxnSpPr>
                <a:cxnSpLocks/>
              </p:cNvCxnSpPr>
              <p:nvPr/>
            </p:nvCxnSpPr>
            <p:spPr bwMode="auto">
              <a:xfrm>
                <a:off x="3944888" y="1756579"/>
                <a:ext cx="0" cy="397559"/>
              </a:xfrm>
              <a:prstGeom prst="straightConnector1">
                <a:avLst/>
              </a:prstGeom>
              <a:ln w="12700">
                <a:solidFill>
                  <a:srgbClr val="0033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577" name="AutoShape 5"/>
          <p:cNvSpPr>
            <a:spLocks noChangeArrowheads="1"/>
          </p:cNvSpPr>
          <p:nvPr/>
        </p:nvSpPr>
        <p:spPr bwMode="auto">
          <a:xfrm>
            <a:off x="742618" y="836793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4578" name="Rectangle 6"/>
          <p:cNvSpPr>
            <a:spLocks noChangeArrowheads="1"/>
          </p:cNvSpPr>
          <p:nvPr/>
        </p:nvSpPr>
        <p:spPr bwMode="auto">
          <a:xfrm>
            <a:off x="4650377" y="792512"/>
            <a:ext cx="2916183" cy="502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6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发送窗口的上限值</a:t>
            </a:r>
          </a:p>
        </p:txBody>
      </p:sp>
      <p:sp>
        <p:nvSpPr>
          <p:cNvPr id="1054579" name="Rectangle 68"/>
          <p:cNvSpPr>
            <a:spLocks noChangeArrowheads="1"/>
          </p:cNvSpPr>
          <p:nvPr/>
        </p:nvSpPr>
        <p:spPr bwMode="auto">
          <a:xfrm>
            <a:off x="742617" y="2527562"/>
            <a:ext cx="10913280" cy="1071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457189" indent="-457189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rwnd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&lt; 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cwnd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时，是接收方的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接收能力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限制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发送窗口的最大值。</a:t>
            </a:r>
          </a:p>
          <a:p>
            <a:pPr marL="457189" indent="-457189"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cwnd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&lt; 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rwnd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时，是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网络拥塞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限制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发送窗口的最大值。 </a:t>
            </a:r>
          </a:p>
        </p:txBody>
      </p:sp>
      <p:sp>
        <p:nvSpPr>
          <p:cNvPr id="1054580" name="矩形 4"/>
          <p:cNvSpPr/>
          <p:nvPr/>
        </p:nvSpPr>
        <p:spPr>
          <a:xfrm>
            <a:off x="1157396" y="1654850"/>
            <a:ext cx="9689712" cy="708133"/>
          </a:xfrm>
          <a:prstGeom prst="rect">
            <a:avLst/>
          </a:prstGeom>
          <a:solidFill>
            <a:srgbClr val="FFFF99"/>
          </a:solidFill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发送窗口的上限值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Min [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rwnd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667" b="1" dirty="0" err="1">
                <a:latin typeface="微软雅黑" pitchFamily="34" charset="-122"/>
                <a:ea typeface="微软雅黑" pitchFamily="34" charset="-122"/>
              </a:rPr>
              <a:t>cwnd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]                 (5-9)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02" name="AutoShape 5"/>
          <p:cNvSpPr>
            <a:spLocks noChangeArrowheads="1"/>
          </p:cNvSpPr>
          <p:nvPr/>
        </p:nvSpPr>
        <p:spPr bwMode="auto">
          <a:xfrm>
            <a:off x="726858" y="830522"/>
            <a:ext cx="10738281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54803" name="Rectangle 6"/>
          <p:cNvSpPr>
            <a:spLocks noChangeArrowheads="1"/>
          </p:cNvSpPr>
          <p:nvPr/>
        </p:nvSpPr>
        <p:spPr bwMode="auto">
          <a:xfrm>
            <a:off x="4157012" y="761969"/>
            <a:ext cx="387798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运输连接的三个阶段</a:t>
            </a:r>
          </a:p>
        </p:txBody>
      </p:sp>
      <p:sp>
        <p:nvSpPr>
          <p:cNvPr id="1054804" name="Rectangle 8"/>
          <p:cNvSpPr>
            <a:spLocks noChangeArrowheads="1"/>
          </p:cNvSpPr>
          <p:nvPr/>
        </p:nvSpPr>
        <p:spPr bwMode="auto">
          <a:xfrm>
            <a:off x="726858" y="1356083"/>
            <a:ext cx="10738281" cy="334444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是面向连接的协议。</a:t>
            </a:r>
          </a:p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连接有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三个阶段：</a:t>
            </a:r>
          </a:p>
          <a:p>
            <a:pPr marL="844530" indent="-457189">
              <a:lnSpc>
                <a:spcPts val="4267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连接建立</a:t>
            </a:r>
          </a:p>
          <a:p>
            <a:pPr marL="844530" indent="-457189">
              <a:lnSpc>
                <a:spcPts val="4267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数据传送</a:t>
            </a:r>
          </a:p>
          <a:p>
            <a:pPr marL="844530" indent="-457189">
              <a:lnSpc>
                <a:spcPts val="4267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连接释放</a:t>
            </a:r>
          </a:p>
          <a:p>
            <a:pPr marL="380990" indent="-380990">
              <a:lnSpc>
                <a:spcPts val="4267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的连接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管理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就是使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连接的建立和释放都能正常地进行。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031" name="圆角矩形 35"/>
          <p:cNvSpPr/>
          <p:nvPr/>
        </p:nvSpPr>
        <p:spPr>
          <a:xfrm>
            <a:off x="726860" y="865633"/>
            <a:ext cx="10738281" cy="494995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55032" name="Text Box 155"/>
          <p:cNvSpPr txBox="1">
            <a:spLocks noChangeArrowheads="1"/>
          </p:cNvSpPr>
          <p:nvPr/>
        </p:nvSpPr>
        <p:spPr bwMode="auto">
          <a:xfrm>
            <a:off x="3611866" y="975004"/>
            <a:ext cx="5001847" cy="428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的连接建立：采用三报文握手</a:t>
            </a:r>
          </a:p>
        </p:txBody>
      </p:sp>
      <p:grpSp>
        <p:nvGrpSpPr>
          <p:cNvPr id="1045" name="Group 2"/>
          <p:cNvGrpSpPr/>
          <p:nvPr/>
        </p:nvGrpSpPr>
        <p:grpSpPr bwMode="auto">
          <a:xfrm>
            <a:off x="4427863" y="2704456"/>
            <a:ext cx="3433803" cy="2781944"/>
            <a:chOff x="1474" y="1888"/>
            <a:chExt cx="2676" cy="2432"/>
          </a:xfrm>
        </p:grpSpPr>
        <p:sp>
          <p:nvSpPr>
            <p:cNvPr id="1055033" name="Line 3"/>
            <p:cNvSpPr>
              <a:spLocks noChangeShapeType="1"/>
            </p:cNvSpPr>
            <p:nvPr/>
          </p:nvSpPr>
          <p:spPr bwMode="auto">
            <a:xfrm>
              <a:off x="1474" y="1888"/>
              <a:ext cx="0" cy="2432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600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034" name="Line 4"/>
            <p:cNvSpPr>
              <a:spLocks noChangeShapeType="1"/>
            </p:cNvSpPr>
            <p:nvPr/>
          </p:nvSpPr>
          <p:spPr bwMode="auto">
            <a:xfrm>
              <a:off x="4150" y="1888"/>
              <a:ext cx="0" cy="2432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600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46" name="Group 6"/>
          <p:cNvGrpSpPr/>
          <p:nvPr/>
        </p:nvGrpSpPr>
        <p:grpSpPr bwMode="auto">
          <a:xfrm>
            <a:off x="4486889" y="2674952"/>
            <a:ext cx="3323448" cy="683941"/>
            <a:chOff x="1520" y="1865"/>
            <a:chExt cx="2590" cy="533"/>
          </a:xfrm>
        </p:grpSpPr>
        <p:sp>
          <p:nvSpPr>
            <p:cNvPr id="1055035" name="Rectangle 7"/>
            <p:cNvSpPr>
              <a:spLocks noChangeArrowheads="1"/>
            </p:cNvSpPr>
            <p:nvPr/>
          </p:nvSpPr>
          <p:spPr bwMode="auto">
            <a:xfrm rot="665985">
              <a:off x="2088" y="1865"/>
              <a:ext cx="1604" cy="2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120651" tIns="59267" rIns="120651" bIns="59267">
              <a:spAutoFit/>
            </a:bodyPr>
            <a:lstStyle/>
            <a:p>
              <a:pPr defTabSz="1015975" eaLnBrk="0" hangingPunct="0"/>
              <a:r>
                <a:rPr lang="en-US" altLang="zh-CN" sz="1600" b="1" kern="0" dirty="0">
                  <a:latin typeface="微软雅黑" pitchFamily="34" charset="-122"/>
                  <a:ea typeface="微软雅黑" pitchFamily="34" charset="-122"/>
                </a:rPr>
                <a:t>SYN = 1, </a:t>
              </a:r>
              <a:r>
                <a:rPr lang="en-US" altLang="zh-CN" sz="1600" b="1" kern="0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lang="en-US" altLang="zh-CN" sz="1600" b="1" kern="0" dirty="0">
                  <a:latin typeface="微软雅黑" pitchFamily="34" charset="-122"/>
                  <a:ea typeface="微软雅黑" pitchFamily="34" charset="-122"/>
                </a:rPr>
                <a:t> = x</a:t>
              </a:r>
            </a:p>
          </p:txBody>
        </p:sp>
        <p:sp>
          <p:nvSpPr>
            <p:cNvPr id="1055036" name="Line 8"/>
            <p:cNvSpPr>
              <a:spLocks noChangeShapeType="1"/>
            </p:cNvSpPr>
            <p:nvPr/>
          </p:nvSpPr>
          <p:spPr bwMode="auto">
            <a:xfrm>
              <a:off x="1520" y="1893"/>
              <a:ext cx="2590" cy="505"/>
            </a:xfrm>
            <a:prstGeom prst="line">
              <a:avLst/>
            </a:prstGeom>
            <a:noFill/>
            <a:ln w="5715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600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55037" name="Rectangle 9"/>
          <p:cNvSpPr>
            <a:spLocks noChangeArrowheads="1"/>
          </p:cNvSpPr>
          <p:nvPr/>
        </p:nvSpPr>
        <p:spPr bwMode="auto">
          <a:xfrm>
            <a:off x="3697731" y="2216846"/>
            <a:ext cx="1025728" cy="443981"/>
          </a:xfrm>
          <a:prstGeom prst="rect">
            <a:avLst/>
          </a:prstGeom>
          <a:solidFill>
            <a:srgbClr val="66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1219170"/>
            <a:endParaRPr lang="zh-CN" altLang="en-US" sz="1600" b="1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5038" name="Text Box 10"/>
          <p:cNvSpPr txBox="1">
            <a:spLocks noChangeArrowheads="1"/>
          </p:cNvSpPr>
          <p:nvPr/>
        </p:nvSpPr>
        <p:spPr bwMode="auto">
          <a:xfrm>
            <a:off x="3745450" y="2266890"/>
            <a:ext cx="99969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CLOSED</a:t>
            </a:r>
          </a:p>
        </p:txBody>
      </p:sp>
      <p:sp>
        <p:nvSpPr>
          <p:cNvPr id="1055039" name="Rectangle 11"/>
          <p:cNvSpPr>
            <a:spLocks noChangeArrowheads="1"/>
          </p:cNvSpPr>
          <p:nvPr/>
        </p:nvSpPr>
        <p:spPr bwMode="auto">
          <a:xfrm>
            <a:off x="7811622" y="2216846"/>
            <a:ext cx="1045940" cy="443981"/>
          </a:xfrm>
          <a:prstGeom prst="rect">
            <a:avLst/>
          </a:prstGeom>
          <a:solidFill>
            <a:srgbClr val="66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1219170"/>
            <a:endParaRPr lang="zh-CN" altLang="en-US" sz="1600" b="1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5040" name="Text Box 12"/>
          <p:cNvSpPr txBox="1">
            <a:spLocks noChangeArrowheads="1"/>
          </p:cNvSpPr>
          <p:nvPr/>
        </p:nvSpPr>
        <p:spPr bwMode="auto">
          <a:xfrm>
            <a:off x="7867040" y="2266890"/>
            <a:ext cx="99969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CLOSED</a:t>
            </a:r>
          </a:p>
        </p:txBody>
      </p:sp>
      <p:grpSp>
        <p:nvGrpSpPr>
          <p:cNvPr id="1047" name="Group 13"/>
          <p:cNvGrpSpPr/>
          <p:nvPr/>
        </p:nvGrpSpPr>
        <p:grpSpPr bwMode="auto">
          <a:xfrm>
            <a:off x="2463306" y="1944812"/>
            <a:ext cx="1460265" cy="791725"/>
            <a:chOff x="-57" y="1296"/>
            <a:chExt cx="1138" cy="617"/>
          </a:xfrm>
        </p:grpSpPr>
        <p:sp>
          <p:nvSpPr>
            <p:cNvPr id="1055041" name="Rectangle 14"/>
            <p:cNvSpPr>
              <a:spLocks noChangeArrowheads="1"/>
            </p:cNvSpPr>
            <p:nvPr/>
          </p:nvSpPr>
          <p:spPr bwMode="auto">
            <a:xfrm>
              <a:off x="-57" y="1628"/>
              <a:ext cx="829" cy="2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zh-CN" altLang="en-US" sz="1600" b="1" kern="0" dirty="0">
                  <a:latin typeface="微软雅黑" pitchFamily="34" charset="-122"/>
                  <a:ea typeface="微软雅黑" pitchFamily="34" charset="-122"/>
                </a:rPr>
                <a:t>主动打开</a:t>
              </a:r>
            </a:p>
          </p:txBody>
        </p:sp>
        <p:sp>
          <p:nvSpPr>
            <p:cNvPr id="1055042" name="Freeform 15"/>
            <p:cNvSpPr/>
            <p:nvPr/>
          </p:nvSpPr>
          <p:spPr bwMode="auto">
            <a:xfrm>
              <a:off x="-27" y="1296"/>
              <a:ext cx="1108" cy="597"/>
            </a:xfrm>
            <a:custGeom>
              <a:avLst/>
              <a:gdLst>
                <a:gd name="T0" fmla="*/ 832 w 758"/>
                <a:gd name="T1" fmla="*/ 5 h 491"/>
                <a:gd name="T2" fmla="*/ 0 w 758"/>
                <a:gd name="T3" fmla="*/ 0 h 491"/>
                <a:gd name="T4" fmla="*/ 0 w 758"/>
                <a:gd name="T5" fmla="*/ 597 h 491"/>
                <a:gd name="T6" fmla="*/ 650 w 758"/>
                <a:gd name="T7" fmla="*/ 597 h 4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8" h="491">
                  <a:moveTo>
                    <a:pt x="758" y="4"/>
                  </a:moveTo>
                  <a:lnTo>
                    <a:pt x="0" y="0"/>
                  </a:lnTo>
                  <a:lnTo>
                    <a:pt x="0" y="491"/>
                  </a:lnTo>
                  <a:lnTo>
                    <a:pt x="592" y="491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600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48" name="Group 16"/>
          <p:cNvGrpSpPr/>
          <p:nvPr/>
        </p:nvGrpSpPr>
        <p:grpSpPr bwMode="auto">
          <a:xfrm>
            <a:off x="8374946" y="1951229"/>
            <a:ext cx="1584734" cy="1373913"/>
            <a:chOff x="4550" y="1301"/>
            <a:chExt cx="1235" cy="592"/>
          </a:xfrm>
        </p:grpSpPr>
        <p:sp>
          <p:nvSpPr>
            <p:cNvPr id="1055043" name="Rectangle 17"/>
            <p:cNvSpPr>
              <a:spLocks noChangeArrowheads="1"/>
            </p:cNvSpPr>
            <p:nvPr/>
          </p:nvSpPr>
          <p:spPr bwMode="auto">
            <a:xfrm>
              <a:off x="4956" y="1617"/>
              <a:ext cx="829" cy="1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zh-CN" altLang="en-US" sz="1600" b="1" kern="0" dirty="0">
                  <a:latin typeface="微软雅黑" pitchFamily="34" charset="-122"/>
                  <a:ea typeface="微软雅黑" pitchFamily="34" charset="-122"/>
                </a:rPr>
                <a:t>被动打开</a:t>
              </a:r>
            </a:p>
          </p:txBody>
        </p:sp>
        <p:sp>
          <p:nvSpPr>
            <p:cNvPr id="1055044" name="Freeform 18"/>
            <p:cNvSpPr/>
            <p:nvPr/>
          </p:nvSpPr>
          <p:spPr bwMode="auto">
            <a:xfrm>
              <a:off x="4550" y="1301"/>
              <a:ext cx="1209" cy="592"/>
            </a:xfrm>
            <a:custGeom>
              <a:avLst/>
              <a:gdLst>
                <a:gd name="T0" fmla="*/ 0 w 792"/>
                <a:gd name="T1" fmla="*/ 0 h 487"/>
                <a:gd name="T2" fmla="*/ 870 w 792"/>
                <a:gd name="T3" fmla="*/ 5 h 487"/>
                <a:gd name="T4" fmla="*/ 870 w 792"/>
                <a:gd name="T5" fmla="*/ 592 h 487"/>
                <a:gd name="T6" fmla="*/ 201 w 792"/>
                <a:gd name="T7" fmla="*/ 583 h 4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2" h="487">
                  <a:moveTo>
                    <a:pt x="0" y="0"/>
                  </a:moveTo>
                  <a:lnTo>
                    <a:pt x="792" y="4"/>
                  </a:lnTo>
                  <a:lnTo>
                    <a:pt x="792" y="487"/>
                  </a:lnTo>
                  <a:lnTo>
                    <a:pt x="183" y="48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600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55045" name="Rectangle 21"/>
          <p:cNvSpPr>
            <a:spLocks noChangeArrowheads="1"/>
          </p:cNvSpPr>
          <p:nvPr/>
        </p:nvSpPr>
        <p:spPr bwMode="auto">
          <a:xfrm>
            <a:off x="4228969" y="1720254"/>
            <a:ext cx="397547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600" b="1" kern="0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55046" name="Rectangle 22"/>
          <p:cNvSpPr>
            <a:spLocks noChangeArrowheads="1"/>
          </p:cNvSpPr>
          <p:nvPr/>
        </p:nvSpPr>
        <p:spPr bwMode="auto">
          <a:xfrm>
            <a:off x="7610051" y="1720254"/>
            <a:ext cx="384723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600" b="1" kern="0" dirty="0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5047" name="Rectangle 23"/>
          <p:cNvSpPr>
            <a:spLocks noChangeArrowheads="1"/>
          </p:cNvSpPr>
          <p:nvPr/>
        </p:nvSpPr>
        <p:spPr bwMode="auto">
          <a:xfrm>
            <a:off x="3820916" y="1434104"/>
            <a:ext cx="654027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zh-CN" altLang="en-US" sz="1600" b="1" kern="0" dirty="0">
                <a:latin typeface="微软雅黑" pitchFamily="34" charset="-122"/>
                <a:ea typeface="微软雅黑" pitchFamily="34" charset="-122"/>
              </a:rPr>
              <a:t>客户</a:t>
            </a:r>
          </a:p>
        </p:txBody>
      </p:sp>
      <p:sp>
        <p:nvSpPr>
          <p:cNvPr id="1055048" name="Rectangle 24"/>
          <p:cNvSpPr>
            <a:spLocks noChangeArrowheads="1"/>
          </p:cNvSpPr>
          <p:nvPr/>
        </p:nvSpPr>
        <p:spPr bwMode="auto">
          <a:xfrm>
            <a:off x="7859099" y="1434104"/>
            <a:ext cx="859212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zh-CN" altLang="en-US" sz="1600" b="1" kern="0">
                <a:latin typeface="微软雅黑" pitchFamily="34" charset="-122"/>
                <a:ea typeface="微软雅黑" pitchFamily="34" charset="-122"/>
              </a:rPr>
              <a:t>服务器</a:t>
            </a:r>
          </a:p>
        </p:txBody>
      </p:sp>
      <p:pic>
        <p:nvPicPr>
          <p:cNvPr id="2097187" name="Picture 134" descr="jisuanj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93706" y="1760026"/>
            <a:ext cx="424381" cy="424381"/>
          </a:xfrm>
          <a:prstGeom prst="rect">
            <a:avLst/>
          </a:prstGeom>
          <a:noFill/>
        </p:spPr>
      </p:pic>
      <p:pic>
        <p:nvPicPr>
          <p:cNvPr id="2097188" name="Picture 134" descr="jisuanj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44835" y="1760026"/>
            <a:ext cx="424381" cy="424381"/>
          </a:xfrm>
          <a:prstGeom prst="rect">
            <a:avLst/>
          </a:prstGeom>
          <a:noFill/>
        </p:spPr>
      </p:pic>
      <p:grpSp>
        <p:nvGrpSpPr>
          <p:cNvPr id="1049" name="组合 26"/>
          <p:cNvGrpSpPr/>
          <p:nvPr/>
        </p:nvGrpSpPr>
        <p:grpSpPr>
          <a:xfrm>
            <a:off x="4261844" y="3462528"/>
            <a:ext cx="3572288" cy="965277"/>
            <a:chOff x="3196383" y="2596896"/>
            <a:chExt cx="2679216" cy="723958"/>
          </a:xfrm>
        </p:grpSpPr>
        <p:sp>
          <p:nvSpPr>
            <p:cNvPr id="1055050" name="Line 27"/>
            <p:cNvSpPr>
              <a:spLocks noChangeShapeType="1"/>
            </p:cNvSpPr>
            <p:nvPr/>
          </p:nvSpPr>
          <p:spPr bwMode="auto">
            <a:xfrm flipH="1">
              <a:off x="3356206" y="2596896"/>
              <a:ext cx="2519393" cy="723958"/>
            </a:xfrm>
            <a:prstGeom prst="line">
              <a:avLst/>
            </a:prstGeom>
            <a:noFill/>
            <a:ln w="5715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 sz="1600" b="1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051" name="Rectangle 28"/>
            <p:cNvSpPr>
              <a:spLocks noChangeArrowheads="1"/>
            </p:cNvSpPr>
            <p:nvPr/>
          </p:nvSpPr>
          <p:spPr bwMode="auto">
            <a:xfrm rot="20622176" flipH="1">
              <a:off x="3196383" y="2734428"/>
              <a:ext cx="2585915" cy="228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120651" tIns="59267" rIns="120651" bIns="59267">
              <a:spAutoFit/>
            </a:bodyPr>
            <a:lstStyle/>
            <a:p>
              <a:pPr algn="ctr" defTabSz="1015975" eaLnBrk="0" hangingPunct="0"/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SYN = 1, ACK = 1,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 = y,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= x 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 1</a:t>
              </a:r>
              <a:endParaRPr lang="en-US" altLang="zh-CN" sz="1200" b="1" kern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50" name="组合 29"/>
          <p:cNvGrpSpPr/>
          <p:nvPr/>
        </p:nvGrpSpPr>
        <p:grpSpPr>
          <a:xfrm>
            <a:off x="4492812" y="4526393"/>
            <a:ext cx="3323448" cy="648011"/>
            <a:chOff x="3369609" y="3385648"/>
            <a:chExt cx="2492586" cy="486008"/>
          </a:xfrm>
        </p:grpSpPr>
        <p:sp>
          <p:nvSpPr>
            <p:cNvPr id="1055052" name="Line 8"/>
            <p:cNvSpPr>
              <a:spLocks noChangeShapeType="1"/>
            </p:cNvSpPr>
            <p:nvPr/>
          </p:nvSpPr>
          <p:spPr bwMode="auto">
            <a:xfrm>
              <a:off x="3369609" y="3385648"/>
              <a:ext cx="2492586" cy="486008"/>
            </a:xfrm>
            <a:prstGeom prst="line">
              <a:avLst/>
            </a:prstGeom>
            <a:noFill/>
            <a:ln w="5715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600" b="1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053" name="Rectangle 7"/>
            <p:cNvSpPr>
              <a:spLocks noChangeArrowheads="1"/>
            </p:cNvSpPr>
            <p:nvPr/>
          </p:nvSpPr>
          <p:spPr bwMode="auto">
            <a:xfrm rot="665985">
              <a:off x="3673451" y="3400197"/>
              <a:ext cx="2046588" cy="228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120651" tIns="59267" rIns="120651" bIns="59267">
              <a:spAutoFit/>
            </a:bodyPr>
            <a:lstStyle/>
            <a:p>
              <a:pPr defTabSz="1015975" eaLnBrk="0" hangingPunct="0"/>
              <a:r>
                <a:rPr lang="es-ES" altLang="zh-CN" sz="1200" b="1" kern="0" dirty="0">
                  <a:latin typeface="微软雅黑" pitchFamily="34" charset="-122"/>
                  <a:ea typeface="微软雅黑" pitchFamily="34" charset="-122"/>
                </a:rPr>
                <a:t>ACK = 1, seq = x + 1, ack = y+1</a:t>
              </a:r>
            </a:p>
          </p:txBody>
        </p:sp>
      </p:grpSp>
      <p:grpSp>
        <p:nvGrpSpPr>
          <p:cNvPr id="1051" name="Group 15"/>
          <p:cNvGrpSpPr/>
          <p:nvPr/>
        </p:nvGrpSpPr>
        <p:grpSpPr bwMode="auto">
          <a:xfrm>
            <a:off x="5242561" y="5115744"/>
            <a:ext cx="1773625" cy="365647"/>
            <a:chOff x="2088" y="3679"/>
            <a:chExt cx="1494" cy="308"/>
          </a:xfrm>
        </p:grpSpPr>
        <p:sp>
          <p:nvSpPr>
            <p:cNvPr id="1055054" name="AutoShape 16"/>
            <p:cNvSpPr>
              <a:spLocks noChangeArrowheads="1"/>
            </p:cNvSpPr>
            <p:nvPr/>
          </p:nvSpPr>
          <p:spPr bwMode="auto">
            <a:xfrm>
              <a:off x="2088" y="3735"/>
              <a:ext cx="1494" cy="166"/>
            </a:xfrm>
            <a:prstGeom prst="leftRightArrow">
              <a:avLst>
                <a:gd name="adj1" fmla="val 55880"/>
                <a:gd name="adj2" fmla="val 103167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600" b="1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055" name="Rectangle 17"/>
            <p:cNvSpPr>
              <a:spLocks noChangeArrowheads="1"/>
            </p:cNvSpPr>
            <p:nvPr/>
          </p:nvSpPr>
          <p:spPr bwMode="auto">
            <a:xfrm>
              <a:off x="2382" y="3679"/>
              <a:ext cx="897" cy="308"/>
            </a:xfrm>
            <a:prstGeom prst="rect">
              <a:avLst/>
            </a:prstGeom>
            <a:solidFill>
              <a:srgbClr val="66FF99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120651" tIns="59267" rIns="120651" bIns="59267">
              <a:spAutoFit/>
            </a:bodyPr>
            <a:lstStyle/>
            <a:p>
              <a:pPr algn="ctr" defTabSz="1015975" eaLnBrk="0" hangingPunct="0"/>
              <a:r>
                <a:rPr lang="zh-CN" altLang="en-US" sz="1600" b="1" kern="0" dirty="0">
                  <a:latin typeface="微软雅黑" pitchFamily="34" charset="-122"/>
                  <a:ea typeface="微软雅黑" pitchFamily="34" charset="-122"/>
                </a:rPr>
                <a:t>数据传送</a:t>
              </a:r>
            </a:p>
          </p:txBody>
        </p:sp>
      </p:grpSp>
      <p:sp>
        <p:nvSpPr>
          <p:cNvPr id="2" name="Rectangle 13">
            <a:extLst>
              <a:ext uri="{FF2B5EF4-FFF2-40B4-BE49-F238E27FC236}">
                <a16:creationId xmlns:a16="http://schemas.microsoft.com/office/drawing/2014/main" id="{93CB2386-9816-6839-245B-576A9B48F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2327" y="2727454"/>
            <a:ext cx="840199" cy="618573"/>
          </a:xfrm>
          <a:prstGeom prst="rect">
            <a:avLst/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1467" b="1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A7570E85-F46F-7A72-4F9B-08E8823A6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1798" y="2859749"/>
            <a:ext cx="907302" cy="345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467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175" name="圆角矩形 45"/>
          <p:cNvSpPr/>
          <p:nvPr/>
        </p:nvSpPr>
        <p:spPr>
          <a:xfrm>
            <a:off x="726860" y="865633"/>
            <a:ext cx="10738281" cy="494995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55176" name="Text Box 155"/>
          <p:cNvSpPr txBox="1">
            <a:spLocks noChangeArrowheads="1"/>
          </p:cNvSpPr>
          <p:nvPr/>
        </p:nvSpPr>
        <p:spPr bwMode="auto">
          <a:xfrm>
            <a:off x="3611866" y="889660"/>
            <a:ext cx="5001847" cy="789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133" b="1" dirty="0">
                <a:latin typeface="微软雅黑" pitchFamily="34" charset="-122"/>
                <a:ea typeface="微软雅黑" pitchFamily="34" charset="-122"/>
              </a:rPr>
              <a:t>TCP </a:t>
            </a: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的连接释放</a:t>
            </a:r>
            <a:endParaRPr lang="en-US" altLang="zh-CN" sz="2133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2133" b="1" dirty="0"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zh-CN" altLang="en-US" sz="2133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四报文挥手</a:t>
            </a:r>
          </a:p>
        </p:txBody>
      </p:sp>
      <p:sp>
        <p:nvSpPr>
          <p:cNvPr id="1055177" name="AutoShape 6"/>
          <p:cNvSpPr>
            <a:spLocks noChangeArrowheads="1"/>
          </p:cNvSpPr>
          <p:nvPr/>
        </p:nvSpPr>
        <p:spPr bwMode="auto">
          <a:xfrm>
            <a:off x="5219206" y="2078493"/>
            <a:ext cx="1772957" cy="187684"/>
          </a:xfrm>
          <a:prstGeom prst="leftRightArrow">
            <a:avLst>
              <a:gd name="adj1" fmla="val 55880"/>
              <a:gd name="adj2" fmla="val 108285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1333" b="1" ker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90" name="Group 8"/>
          <p:cNvGrpSpPr/>
          <p:nvPr/>
        </p:nvGrpSpPr>
        <p:grpSpPr bwMode="auto">
          <a:xfrm>
            <a:off x="4525133" y="2444417"/>
            <a:ext cx="3073756" cy="571313"/>
            <a:chOff x="1614" y="1484"/>
            <a:chExt cx="2604" cy="484"/>
          </a:xfrm>
        </p:grpSpPr>
        <p:sp>
          <p:nvSpPr>
            <p:cNvPr id="1055178" name="Rectangle 9"/>
            <p:cNvSpPr>
              <a:spLocks noChangeArrowheads="1"/>
            </p:cNvSpPr>
            <p:nvPr/>
          </p:nvSpPr>
          <p:spPr bwMode="auto">
            <a:xfrm rot="597975">
              <a:off x="2412" y="1507"/>
              <a:ext cx="1373" cy="2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en-US" altLang="zh-CN" sz="1333" b="1" kern="0" dirty="0">
                  <a:latin typeface="微软雅黑" pitchFamily="34" charset="-122"/>
                  <a:ea typeface="微软雅黑" pitchFamily="34" charset="-122"/>
                </a:rPr>
                <a:t>FIN = 1, </a:t>
              </a:r>
              <a:r>
                <a:rPr lang="en-US" altLang="zh-CN" sz="1333" b="1" kern="0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lang="en-US" altLang="zh-CN" sz="1333" b="1" kern="0" dirty="0">
                  <a:latin typeface="微软雅黑" pitchFamily="34" charset="-122"/>
                  <a:ea typeface="微软雅黑" pitchFamily="34" charset="-122"/>
                </a:rPr>
                <a:t> = u</a:t>
              </a:r>
            </a:p>
          </p:txBody>
        </p:sp>
        <p:sp>
          <p:nvSpPr>
            <p:cNvPr id="1055179" name="Line 10"/>
            <p:cNvSpPr>
              <a:spLocks noChangeShapeType="1"/>
            </p:cNvSpPr>
            <p:nvPr/>
          </p:nvSpPr>
          <p:spPr bwMode="auto">
            <a:xfrm>
              <a:off x="1614" y="1484"/>
              <a:ext cx="2604" cy="484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55180" name="Rectangle 17"/>
          <p:cNvSpPr>
            <a:spLocks noChangeArrowheads="1"/>
          </p:cNvSpPr>
          <p:nvPr/>
        </p:nvSpPr>
        <p:spPr bwMode="auto">
          <a:xfrm>
            <a:off x="3814533" y="1890809"/>
            <a:ext cx="709420" cy="500489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1333" b="1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5181" name="Rectangle 19"/>
          <p:cNvSpPr>
            <a:spLocks noChangeArrowheads="1"/>
          </p:cNvSpPr>
          <p:nvPr/>
        </p:nvSpPr>
        <p:spPr bwMode="auto">
          <a:xfrm>
            <a:off x="7596527" y="1890808"/>
            <a:ext cx="710600" cy="1100131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1333" b="1" ker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91" name="Group 20"/>
          <p:cNvGrpSpPr/>
          <p:nvPr/>
        </p:nvGrpSpPr>
        <p:grpSpPr bwMode="auto">
          <a:xfrm>
            <a:off x="3741349" y="1829428"/>
            <a:ext cx="4668473" cy="61381"/>
            <a:chOff x="1020" y="481"/>
            <a:chExt cx="4037" cy="46"/>
          </a:xfrm>
        </p:grpSpPr>
        <p:sp>
          <p:nvSpPr>
            <p:cNvPr id="1055182" name="Line 21"/>
            <p:cNvSpPr>
              <a:spLocks noChangeShapeType="1"/>
            </p:cNvSpPr>
            <p:nvPr/>
          </p:nvSpPr>
          <p:spPr bwMode="auto">
            <a:xfrm>
              <a:off x="1020" y="527"/>
              <a:ext cx="4037" cy="0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183" name="Line 22"/>
            <p:cNvSpPr>
              <a:spLocks noChangeShapeType="1"/>
            </p:cNvSpPr>
            <p:nvPr/>
          </p:nvSpPr>
          <p:spPr bwMode="auto">
            <a:xfrm>
              <a:off x="1020" y="481"/>
              <a:ext cx="4037" cy="0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92" name="Group 37"/>
          <p:cNvGrpSpPr/>
          <p:nvPr/>
        </p:nvGrpSpPr>
        <p:grpSpPr bwMode="auto">
          <a:xfrm>
            <a:off x="2804111" y="1627582"/>
            <a:ext cx="1229975" cy="805034"/>
            <a:chOff x="156" y="792"/>
            <a:chExt cx="1042" cy="682"/>
          </a:xfrm>
        </p:grpSpPr>
        <p:sp>
          <p:nvSpPr>
            <p:cNvPr id="1055184" name="Freeform 38"/>
            <p:cNvSpPr/>
            <p:nvPr/>
          </p:nvSpPr>
          <p:spPr bwMode="auto">
            <a:xfrm>
              <a:off x="185" y="792"/>
              <a:ext cx="1013" cy="682"/>
            </a:xfrm>
            <a:custGeom>
              <a:avLst/>
              <a:gdLst>
                <a:gd name="T0" fmla="*/ 849 w 769"/>
                <a:gd name="T1" fmla="*/ 0 h 584"/>
                <a:gd name="T2" fmla="*/ 0 w 769"/>
                <a:gd name="T3" fmla="*/ 11 h 584"/>
                <a:gd name="T4" fmla="*/ 0 w 769"/>
                <a:gd name="T5" fmla="*/ 682 h 584"/>
                <a:gd name="T6" fmla="*/ 666 w 769"/>
                <a:gd name="T7" fmla="*/ 682 h 5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9" h="584">
                  <a:moveTo>
                    <a:pt x="769" y="0"/>
                  </a:moveTo>
                  <a:lnTo>
                    <a:pt x="0" y="9"/>
                  </a:lnTo>
                  <a:lnTo>
                    <a:pt x="0" y="584"/>
                  </a:lnTo>
                  <a:lnTo>
                    <a:pt x="603" y="584"/>
                  </a:lnTo>
                </a:path>
              </a:pathLst>
            </a:custGeom>
            <a:noFill/>
            <a:ln w="28575" cap="flat" cmpd="sng">
              <a:solidFill>
                <a:srgbClr val="3333CC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185" name="Rectangle 39"/>
            <p:cNvSpPr>
              <a:spLocks noChangeArrowheads="1"/>
            </p:cNvSpPr>
            <p:nvPr/>
          </p:nvSpPr>
          <p:spPr bwMode="auto">
            <a:xfrm>
              <a:off x="156" y="1187"/>
              <a:ext cx="788" cy="2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zh-CN" altLang="en-US" sz="1333" b="1" kern="0" dirty="0">
                  <a:latin typeface="微软雅黑" pitchFamily="34" charset="-122"/>
                  <a:ea typeface="微软雅黑" pitchFamily="34" charset="-122"/>
                </a:rPr>
                <a:t>主动关闭</a:t>
              </a:r>
            </a:p>
          </p:txBody>
        </p:sp>
      </p:grpSp>
      <p:sp>
        <p:nvSpPr>
          <p:cNvPr id="1055186" name="Rectangle 42"/>
          <p:cNvSpPr>
            <a:spLocks noChangeArrowheads="1"/>
          </p:cNvSpPr>
          <p:nvPr/>
        </p:nvSpPr>
        <p:spPr bwMode="auto">
          <a:xfrm>
            <a:off x="5674267" y="2014750"/>
            <a:ext cx="961804" cy="335135"/>
          </a:xfrm>
          <a:prstGeom prst="rect">
            <a:avLst/>
          </a:prstGeom>
          <a:solidFill>
            <a:srgbClr val="00FFFF"/>
          </a:solidFill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120651" tIns="59267" rIns="120651" bIns="59267">
            <a:spAutoFit/>
          </a:bodyPr>
          <a:lstStyle/>
          <a:p>
            <a:pPr algn="ctr" defTabSz="1015975" eaLnBrk="0" hangingPunct="0"/>
            <a:r>
              <a:rPr lang="zh-CN" altLang="en-US" sz="1400" b="1" kern="0" dirty="0">
                <a:latin typeface="微软雅黑" pitchFamily="34" charset="-122"/>
                <a:ea typeface="微软雅黑" pitchFamily="34" charset="-122"/>
              </a:rPr>
              <a:t>数据传送</a:t>
            </a:r>
          </a:p>
        </p:txBody>
      </p:sp>
      <p:sp>
        <p:nvSpPr>
          <p:cNvPr id="1055187" name="Rectangle 50"/>
          <p:cNvSpPr>
            <a:spLocks noChangeArrowheads="1"/>
          </p:cNvSpPr>
          <p:nvPr/>
        </p:nvSpPr>
        <p:spPr bwMode="auto">
          <a:xfrm>
            <a:off x="4272527" y="1390321"/>
            <a:ext cx="371899" cy="324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333" b="1" kern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55188" name="Rectangle 51"/>
          <p:cNvSpPr>
            <a:spLocks noChangeArrowheads="1"/>
          </p:cNvSpPr>
          <p:nvPr/>
        </p:nvSpPr>
        <p:spPr bwMode="auto">
          <a:xfrm>
            <a:off x="7518986" y="1390321"/>
            <a:ext cx="360678" cy="324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333" b="1" kern="0" dirty="0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5189" name="Rectangle 52"/>
          <p:cNvSpPr>
            <a:spLocks noChangeArrowheads="1"/>
          </p:cNvSpPr>
          <p:nvPr/>
        </p:nvSpPr>
        <p:spPr bwMode="auto">
          <a:xfrm>
            <a:off x="3848409" y="1101156"/>
            <a:ext cx="654027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zh-CN" altLang="en-US" sz="1600" b="1" kern="0" dirty="0">
                <a:latin typeface="微软雅黑" pitchFamily="34" charset="-122"/>
                <a:ea typeface="微软雅黑" pitchFamily="34" charset="-122"/>
              </a:rPr>
              <a:t>客户</a:t>
            </a:r>
          </a:p>
        </p:txBody>
      </p:sp>
      <p:sp>
        <p:nvSpPr>
          <p:cNvPr id="1055190" name="Rectangle 53"/>
          <p:cNvSpPr>
            <a:spLocks noChangeArrowheads="1"/>
          </p:cNvSpPr>
          <p:nvPr/>
        </p:nvSpPr>
        <p:spPr bwMode="auto">
          <a:xfrm>
            <a:off x="7505297" y="1101156"/>
            <a:ext cx="859212" cy="3659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zh-CN" altLang="en-US" sz="1600" b="1" kern="0" dirty="0">
                <a:latin typeface="微软雅黑" pitchFamily="34" charset="-122"/>
                <a:ea typeface="微软雅黑" pitchFamily="34" charset="-122"/>
              </a:rPr>
              <a:t>服务器</a:t>
            </a:r>
          </a:p>
        </p:txBody>
      </p:sp>
      <p:pic>
        <p:nvPicPr>
          <p:cNvPr id="2097197" name="Picture 134" descr="jisuanj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6311" y="1423115"/>
            <a:ext cx="360277" cy="360277"/>
          </a:xfrm>
          <a:prstGeom prst="rect">
            <a:avLst/>
          </a:prstGeom>
          <a:noFill/>
        </p:spPr>
      </p:pic>
      <p:pic>
        <p:nvPicPr>
          <p:cNvPr id="2097198" name="Picture 134" descr="jisuanj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85179" y="1423115"/>
            <a:ext cx="360277" cy="360277"/>
          </a:xfrm>
          <a:prstGeom prst="rect">
            <a:avLst/>
          </a:prstGeom>
          <a:noFill/>
        </p:spPr>
      </p:pic>
      <p:sp>
        <p:nvSpPr>
          <p:cNvPr id="1055191" name="Rectangle 46"/>
          <p:cNvSpPr>
            <a:spLocks noChangeArrowheads="1"/>
          </p:cNvSpPr>
          <p:nvPr/>
        </p:nvSpPr>
        <p:spPr bwMode="auto">
          <a:xfrm>
            <a:off x="3761355" y="1899071"/>
            <a:ext cx="872036" cy="5299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333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ESTAB-</a:t>
            </a:r>
          </a:p>
          <a:p>
            <a:pPr defTabSz="1015975" eaLnBrk="0" hangingPunct="0"/>
            <a:r>
              <a:rPr lang="en-US" altLang="zh-CN" sz="1333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LISHED</a:t>
            </a:r>
          </a:p>
        </p:txBody>
      </p:sp>
      <p:sp>
        <p:nvSpPr>
          <p:cNvPr id="1055192" name="Rectangle 47"/>
          <p:cNvSpPr>
            <a:spLocks noChangeArrowheads="1"/>
          </p:cNvSpPr>
          <p:nvPr/>
        </p:nvSpPr>
        <p:spPr bwMode="auto">
          <a:xfrm>
            <a:off x="7523843" y="2223682"/>
            <a:ext cx="872036" cy="5299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20651" tIns="59267" rIns="120651" bIns="59267">
            <a:spAutoFit/>
          </a:bodyPr>
          <a:lstStyle/>
          <a:p>
            <a:pPr defTabSz="1015975" eaLnBrk="0" hangingPunct="0"/>
            <a:r>
              <a:rPr lang="en-US" altLang="zh-CN" sz="1333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ESTAB-</a:t>
            </a:r>
          </a:p>
          <a:p>
            <a:pPr defTabSz="1015975" eaLnBrk="0" hangingPunct="0"/>
            <a:r>
              <a:rPr lang="en-US" altLang="zh-CN" sz="1333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LISHED</a:t>
            </a:r>
          </a:p>
        </p:txBody>
      </p:sp>
      <p:grpSp>
        <p:nvGrpSpPr>
          <p:cNvPr id="1093" name="Group 2"/>
          <p:cNvGrpSpPr/>
          <p:nvPr/>
        </p:nvGrpSpPr>
        <p:grpSpPr bwMode="auto">
          <a:xfrm>
            <a:off x="4513207" y="2394625"/>
            <a:ext cx="3095061" cy="2781944"/>
            <a:chOff x="1474" y="1888"/>
            <a:chExt cx="2412" cy="2432"/>
          </a:xfrm>
        </p:grpSpPr>
        <p:sp>
          <p:nvSpPr>
            <p:cNvPr id="1055193" name="Line 3"/>
            <p:cNvSpPr>
              <a:spLocks noChangeShapeType="1"/>
            </p:cNvSpPr>
            <p:nvPr/>
          </p:nvSpPr>
          <p:spPr bwMode="auto">
            <a:xfrm>
              <a:off x="1474" y="1888"/>
              <a:ext cx="0" cy="2432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600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194" name="Line 4"/>
            <p:cNvSpPr>
              <a:spLocks noChangeShapeType="1"/>
            </p:cNvSpPr>
            <p:nvPr/>
          </p:nvSpPr>
          <p:spPr bwMode="auto">
            <a:xfrm>
              <a:off x="3886" y="2409"/>
              <a:ext cx="0" cy="1911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600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94" name="Group 43"/>
          <p:cNvGrpSpPr/>
          <p:nvPr/>
        </p:nvGrpSpPr>
        <p:grpSpPr bwMode="auto">
          <a:xfrm>
            <a:off x="8161934" y="1716110"/>
            <a:ext cx="1002157" cy="1330308"/>
            <a:chOff x="4695" y="867"/>
            <a:chExt cx="849" cy="1127"/>
          </a:xfrm>
        </p:grpSpPr>
        <p:sp>
          <p:nvSpPr>
            <p:cNvPr id="1055196" name="Freeform 44"/>
            <p:cNvSpPr/>
            <p:nvPr/>
          </p:nvSpPr>
          <p:spPr bwMode="auto">
            <a:xfrm>
              <a:off x="4695" y="867"/>
              <a:ext cx="361" cy="1127"/>
            </a:xfrm>
            <a:custGeom>
              <a:avLst/>
              <a:gdLst>
                <a:gd name="T0" fmla="*/ 80 w 451"/>
                <a:gd name="T1" fmla="*/ 1127 h 965"/>
                <a:gd name="T2" fmla="*/ 269 w 451"/>
                <a:gd name="T3" fmla="*/ 1044 h 965"/>
                <a:gd name="T4" fmla="*/ 341 w 451"/>
                <a:gd name="T5" fmla="*/ 827 h 965"/>
                <a:gd name="T6" fmla="*/ 361 w 451"/>
                <a:gd name="T7" fmla="*/ 487 h 965"/>
                <a:gd name="T8" fmla="*/ 341 w 451"/>
                <a:gd name="T9" fmla="*/ 242 h 965"/>
                <a:gd name="T10" fmla="*/ 269 w 451"/>
                <a:gd name="T11" fmla="*/ 84 h 965"/>
                <a:gd name="T12" fmla="*/ 0 w 451"/>
                <a:gd name="T13" fmla="*/ 0 h 9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1" h="965">
                  <a:moveTo>
                    <a:pt x="100" y="965"/>
                  </a:moveTo>
                  <a:cubicBezTo>
                    <a:pt x="139" y="951"/>
                    <a:pt x="282" y="937"/>
                    <a:pt x="336" y="894"/>
                  </a:cubicBezTo>
                  <a:cubicBezTo>
                    <a:pt x="390" y="851"/>
                    <a:pt x="407" y="787"/>
                    <a:pt x="426" y="708"/>
                  </a:cubicBezTo>
                  <a:cubicBezTo>
                    <a:pt x="445" y="629"/>
                    <a:pt x="451" y="500"/>
                    <a:pt x="451" y="417"/>
                  </a:cubicBezTo>
                  <a:cubicBezTo>
                    <a:pt x="451" y="334"/>
                    <a:pt x="445" y="264"/>
                    <a:pt x="426" y="207"/>
                  </a:cubicBezTo>
                  <a:cubicBezTo>
                    <a:pt x="407" y="150"/>
                    <a:pt x="407" y="106"/>
                    <a:pt x="336" y="72"/>
                  </a:cubicBezTo>
                  <a:cubicBezTo>
                    <a:pt x="265" y="38"/>
                    <a:pt x="70" y="15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197" name="Rectangle 45"/>
            <p:cNvSpPr>
              <a:spLocks noChangeArrowheads="1"/>
            </p:cNvSpPr>
            <p:nvPr/>
          </p:nvSpPr>
          <p:spPr bwMode="auto">
            <a:xfrm>
              <a:off x="5047" y="1120"/>
              <a:ext cx="497" cy="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zh-CN" altLang="en-US" sz="1333" b="1" kern="0" dirty="0">
                  <a:latin typeface="微软雅黑" pitchFamily="34" charset="-122"/>
                  <a:ea typeface="微软雅黑" pitchFamily="34" charset="-122"/>
                </a:rPr>
                <a:t>通知</a:t>
              </a:r>
            </a:p>
            <a:p>
              <a:pPr defTabSz="1015975" eaLnBrk="0" hangingPunct="0"/>
              <a:r>
                <a:rPr lang="zh-CN" altLang="en-US" sz="1333" b="1" kern="0" dirty="0">
                  <a:latin typeface="微软雅黑" pitchFamily="34" charset="-122"/>
                  <a:ea typeface="微软雅黑" pitchFamily="34" charset="-122"/>
                </a:rPr>
                <a:t>应用</a:t>
              </a:r>
            </a:p>
            <a:p>
              <a:pPr defTabSz="1015975" eaLnBrk="0" hangingPunct="0"/>
              <a:r>
                <a:rPr lang="zh-CN" altLang="en-US" sz="1333" b="1" kern="0" dirty="0">
                  <a:latin typeface="微软雅黑" pitchFamily="34" charset="-122"/>
                  <a:ea typeface="微软雅黑" pitchFamily="34" charset="-122"/>
                </a:rPr>
                <a:t>进程</a:t>
              </a:r>
            </a:p>
          </p:txBody>
        </p:sp>
      </p:grpSp>
      <p:grpSp>
        <p:nvGrpSpPr>
          <p:cNvPr id="1095" name="组合 31"/>
          <p:cNvGrpSpPr/>
          <p:nvPr/>
        </p:nvGrpSpPr>
        <p:grpSpPr>
          <a:xfrm>
            <a:off x="4509786" y="3376827"/>
            <a:ext cx="3207772" cy="939697"/>
            <a:chOff x="3382340" y="2532621"/>
            <a:chExt cx="2405829" cy="704773"/>
          </a:xfrm>
        </p:grpSpPr>
        <p:sp>
          <p:nvSpPr>
            <p:cNvPr id="1055198" name="AutoShape 5"/>
            <p:cNvSpPr>
              <a:spLocks noChangeArrowheads="1"/>
            </p:cNvSpPr>
            <p:nvPr/>
          </p:nvSpPr>
          <p:spPr bwMode="auto">
            <a:xfrm rot="20948448">
              <a:off x="4076414" y="2692051"/>
              <a:ext cx="377137" cy="131910"/>
            </a:xfrm>
            <a:prstGeom prst="leftArrow">
              <a:avLst>
                <a:gd name="adj1" fmla="val 53620"/>
                <a:gd name="adj2" fmla="val 119816"/>
              </a:avLst>
            </a:prstGeom>
            <a:solidFill>
              <a:srgbClr val="FFFF0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199" name="Rectangle 16"/>
            <p:cNvSpPr>
              <a:spLocks noChangeArrowheads="1"/>
            </p:cNvSpPr>
            <p:nvPr/>
          </p:nvSpPr>
          <p:spPr bwMode="auto">
            <a:xfrm rot="20943314" flipH="1">
              <a:off x="3447382" y="2786404"/>
              <a:ext cx="2340787" cy="2282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FIN = 1, ACK = 1,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 = w,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= u 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 1</a:t>
              </a:r>
              <a:endParaRPr lang="en-US" altLang="zh-CN" sz="1200" b="1" kern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200" name="Rectangle 54"/>
            <p:cNvSpPr>
              <a:spLocks noChangeArrowheads="1"/>
            </p:cNvSpPr>
            <p:nvPr/>
          </p:nvSpPr>
          <p:spPr bwMode="auto">
            <a:xfrm rot="20971112">
              <a:off x="4354552" y="2532621"/>
              <a:ext cx="697308" cy="243609"/>
            </a:xfrm>
            <a:prstGeom prst="rect">
              <a:avLst/>
            </a:prstGeom>
            <a:solidFill>
              <a:srgbClr val="00FFFF"/>
            </a:solidFill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zh-CN" altLang="en-US" sz="1333" b="1" kern="0" dirty="0">
                  <a:latin typeface="微软雅黑" pitchFamily="34" charset="-122"/>
                  <a:ea typeface="微软雅黑" pitchFamily="34" charset="-122"/>
                </a:rPr>
                <a:t>数据传送</a:t>
              </a:r>
            </a:p>
          </p:txBody>
        </p:sp>
        <p:sp>
          <p:nvSpPr>
            <p:cNvPr id="1055201" name="Line 15"/>
            <p:cNvSpPr>
              <a:spLocks noChangeShapeType="1"/>
            </p:cNvSpPr>
            <p:nvPr/>
          </p:nvSpPr>
          <p:spPr bwMode="auto">
            <a:xfrm flipH="1">
              <a:off x="3382340" y="2808025"/>
              <a:ext cx="2305317" cy="429369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96" name="Group 11"/>
          <p:cNvGrpSpPr/>
          <p:nvPr/>
        </p:nvGrpSpPr>
        <p:grpSpPr bwMode="auto">
          <a:xfrm>
            <a:off x="4535757" y="3047597"/>
            <a:ext cx="3073757" cy="572491"/>
            <a:chOff x="1623" y="1995"/>
            <a:chExt cx="2604" cy="485"/>
          </a:xfrm>
        </p:grpSpPr>
        <p:sp>
          <p:nvSpPr>
            <p:cNvPr id="1055202" name="Rectangle 12"/>
            <p:cNvSpPr>
              <a:spLocks noChangeArrowheads="1"/>
            </p:cNvSpPr>
            <p:nvPr/>
          </p:nvSpPr>
          <p:spPr bwMode="auto">
            <a:xfrm rot="20990024" flipH="1">
              <a:off x="1824" y="2006"/>
              <a:ext cx="2047" cy="25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 = v,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= u 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 1</a:t>
              </a:r>
              <a:endParaRPr lang="en-US" altLang="zh-CN" sz="1200" b="1" kern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5203" name="Line 13"/>
            <p:cNvSpPr>
              <a:spLocks noChangeShapeType="1"/>
            </p:cNvSpPr>
            <p:nvPr/>
          </p:nvSpPr>
          <p:spPr bwMode="auto">
            <a:xfrm flipH="1">
              <a:off x="1623" y="1995"/>
              <a:ext cx="2604" cy="485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97" name="组合 44"/>
          <p:cNvGrpSpPr/>
          <p:nvPr/>
        </p:nvGrpSpPr>
        <p:grpSpPr>
          <a:xfrm>
            <a:off x="4525132" y="4360927"/>
            <a:ext cx="3132545" cy="572492"/>
            <a:chOff x="3393849" y="3270695"/>
            <a:chExt cx="2349409" cy="429369"/>
          </a:xfrm>
        </p:grpSpPr>
        <p:sp>
          <p:nvSpPr>
            <p:cNvPr id="1055204" name="Rectangle 7"/>
            <p:cNvSpPr>
              <a:spLocks noChangeArrowheads="1"/>
            </p:cNvSpPr>
            <p:nvPr/>
          </p:nvSpPr>
          <p:spPr bwMode="auto">
            <a:xfrm rot="610931">
              <a:off x="3635708" y="3294225"/>
              <a:ext cx="2107550" cy="228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20651" tIns="59267" rIns="120651" bIns="59267">
              <a:spAutoFit/>
            </a:bodyPr>
            <a:lstStyle/>
            <a:p>
              <a:pPr defTabSz="1015975" eaLnBrk="0" hangingPunct="0"/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ACK = 1,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seq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 = u + 1, </a:t>
              </a:r>
              <a:r>
                <a:rPr lang="en-US" altLang="zh-CN" sz="1200" b="1" kern="0" dirty="0" err="1">
                  <a:latin typeface="微软雅黑" pitchFamily="34" charset="-122"/>
                  <a:ea typeface="微软雅黑" pitchFamily="34" charset="-122"/>
                </a:rPr>
                <a:t>ack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</a:rPr>
                <a:t> = w </a:t>
              </a:r>
              <a:r>
                <a:rPr lang="en-US" altLang="zh-CN" sz="1200" b="1" kern="0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 1</a:t>
              </a:r>
            </a:p>
          </p:txBody>
        </p:sp>
        <p:sp>
          <p:nvSpPr>
            <p:cNvPr id="1055205" name="Line 14"/>
            <p:cNvSpPr>
              <a:spLocks noChangeShapeType="1"/>
            </p:cNvSpPr>
            <p:nvPr/>
          </p:nvSpPr>
          <p:spPr bwMode="auto">
            <a:xfrm>
              <a:off x="3393849" y="3270695"/>
              <a:ext cx="2305317" cy="429369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333" b="1" kern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8FD9A3-A4F6-3F4D-AEE1-71EA04914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7" y="195256"/>
            <a:ext cx="3467125" cy="17049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55DEA3-8B41-8389-41C1-89604994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390766"/>
            <a:ext cx="7005689" cy="18050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42A17C0-EB24-F3BA-C568-2FF0BE5F3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43" y="4493949"/>
            <a:ext cx="4267231" cy="17526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714941-F2C0-0F11-6A08-5B93A5201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474" y="195256"/>
            <a:ext cx="6972351" cy="7810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D69ED82-885B-5D94-EDFE-A8E1FDF5CC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3278" y="1200133"/>
            <a:ext cx="8091547" cy="5334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7003135-B7DA-4DBB-0F9B-BF159A4F54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496" y="3294692"/>
            <a:ext cx="4010054" cy="2905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F856FD6-93E6-2338-2FAE-F22448BD75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029375"/>
            <a:ext cx="4352957" cy="186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057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FF5004-DB35-ACC8-82C0-3411D13B8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52" y="512161"/>
            <a:ext cx="9856173" cy="36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7620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BF2E-BEE3-9C36-EB9B-0C6F3187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E82E0-532F-4889-BDC0-EE359515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8668"/>
            <a:ext cx="10945633" cy="1325563"/>
          </a:xfrm>
        </p:spPr>
        <p:txBody>
          <a:bodyPr/>
          <a:lstStyle/>
          <a:p>
            <a:r>
              <a:rPr lang="zh-CN" altLang="en-US" dirty="0"/>
              <a:t>第五章应用层（选择、简答）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6B6A9-2133-DF61-2356-AA93934C5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90" y="1574231"/>
            <a:ext cx="4508090" cy="4459913"/>
          </a:xfrm>
        </p:spPr>
        <p:txBody>
          <a:bodyPr>
            <a:normAutofit/>
          </a:bodyPr>
          <a:lstStyle/>
          <a:p>
            <a:r>
              <a:rPr lang="en-US" altLang="zh-CN" dirty="0"/>
              <a:t>DNS</a:t>
            </a:r>
            <a:r>
              <a:rPr lang="zh-CN" altLang="en-US" dirty="0"/>
              <a:t>域名解析</a:t>
            </a:r>
            <a:endParaRPr lang="en-US" altLang="zh-CN" dirty="0"/>
          </a:p>
          <a:p>
            <a:r>
              <a:rPr lang="en-US" altLang="zh-CN" dirty="0"/>
              <a:t>WWW</a:t>
            </a:r>
            <a:r>
              <a:rPr lang="zh-CN" altLang="en-US" dirty="0"/>
              <a:t>万维网</a:t>
            </a:r>
            <a:endParaRPr lang="en-US" altLang="zh-CN" dirty="0"/>
          </a:p>
          <a:p>
            <a:r>
              <a:rPr lang="zh-CN" altLang="en-US" dirty="0"/>
              <a:t>邮件传输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74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10553</Words>
  <Application>Microsoft Office PowerPoint</Application>
  <PresentationFormat>宽屏</PresentationFormat>
  <Paragraphs>1980</Paragraphs>
  <Slides>141</Slides>
  <Notes>97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141</vt:i4>
      </vt:variant>
    </vt:vector>
  </HeadingPairs>
  <TitlesOfParts>
    <vt:vector size="155" baseType="lpstr">
      <vt:lpstr>等线</vt:lpstr>
      <vt:lpstr>等线 Light</vt:lpstr>
      <vt:lpstr>Arial</vt:lpstr>
      <vt:lpstr>Arial Rounded MT Bold</vt:lpstr>
      <vt:lpstr>Calibri</vt:lpstr>
      <vt:lpstr>Cambria Math</vt:lpstr>
      <vt:lpstr>Symbol</vt:lpstr>
      <vt:lpstr>Times New Roman</vt:lpstr>
      <vt:lpstr>Wingdings</vt:lpstr>
      <vt:lpstr>黑体</vt:lpstr>
      <vt:lpstr>宋体</vt:lpstr>
      <vt:lpstr>微软雅黑</vt:lpstr>
      <vt:lpstr>微软雅黑</vt:lpstr>
      <vt:lpstr>Office 主题​​</vt:lpstr>
      <vt:lpstr>期末复习</vt:lpstr>
      <vt:lpstr>第一章（填空选择和判断）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第二三章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第四章（重要，选择、填空、简答、综合）</vt:lpstr>
      <vt:lpstr>PowerPoint 演示文稿</vt:lpstr>
      <vt:lpstr>PowerPoint 演示文稿</vt:lpstr>
      <vt:lpstr>PowerPoint 演示文稿</vt:lpstr>
      <vt:lpstr>CIDR 地址块划分举例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RIP</vt:lpstr>
      <vt:lpstr>PowerPoint 演示文稿</vt:lpstr>
      <vt:lpstr>PowerPoint 演示文稿</vt:lpstr>
      <vt:lpstr>PowerPoint 演示文稿</vt:lpstr>
      <vt:lpstr>OSPF</vt:lpstr>
      <vt:lpstr>OSPF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第五章 （重要，选择、填空、简答、案例）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第五章应用层（选择、简答）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期末复习</dc:title>
  <dc:creator>wu mf</dc:creator>
  <cp:lastModifiedBy>mf wu</cp:lastModifiedBy>
  <cp:revision>75</cp:revision>
  <dcterms:created xsi:type="dcterms:W3CDTF">2022-05-05T07:44:01Z</dcterms:created>
  <dcterms:modified xsi:type="dcterms:W3CDTF">2024-11-26T02:25:18Z</dcterms:modified>
</cp:coreProperties>
</file>